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2.xml" ContentType="application/vnd.openxmlformats-officedocument.drawingml.chart+xml"/>
  <Override PartName="/ppt/notesSlides/notesSlide27.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5.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6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77"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doughnutChart>
        <c:varyColors val="1"/>
        <c:ser>
          <c:idx val="0"/>
          <c:order val="0"/>
          <c:tx>
            <c:strRef>
              <c:f>Sheet1!$B$1</c:f>
              <c:strCache>
                <c:ptCount val="1"/>
                <c:pt idx="0">
                  <c:v>영업수익 구성</c:v>
                </c:pt>
              </c:strCache>
            </c:strRef>
          </c:tx>
          <c:spPr>
            <a:solidFill>
              <a:schemeClr val="accent1"/>
            </a:solidFill>
            <a:ln w="9525" cap="flat">
              <a:solidFill>
                <a:srgbClr val="F9F9F9"/>
              </a:solidFill>
              <a:prstDash val="solid"/>
              <a:round/>
            </a:ln>
            <a:effectLst/>
          </c:spPr>
          <c:dPt>
            <c:idx val="0"/>
            <c:bubble3D val="0"/>
            <c:spPr>
              <a:solidFill>
                <a:srgbClr val="E8383D"/>
              </a:solidFill>
              <a:ln w="19050" cap="flat">
                <a:solidFill>
                  <a:srgbClr val="FFFFFF"/>
                </a:solidFill>
                <a:prstDash val="solid"/>
                <a:round/>
              </a:ln>
              <a:effectLst/>
            </c:spPr>
            <c:extLst>
              <c:ext xmlns:c16="http://schemas.microsoft.com/office/drawing/2014/chart" uri="{C3380CC4-5D6E-409C-BE32-E72D297353CC}">
                <c16:uniqueId val="{00000001-8205-4E17-AEE9-311AA7BE81CA}"/>
              </c:ext>
            </c:extLst>
          </c:dPt>
          <c:dPt>
            <c:idx val="1"/>
            <c:bubble3D val="0"/>
            <c:spPr>
              <a:solidFill>
                <a:srgbClr val="D9E0EA"/>
              </a:solidFill>
              <a:ln w="19050" cap="flat">
                <a:solidFill>
                  <a:srgbClr val="FFFFFF"/>
                </a:solidFill>
                <a:prstDash val="solid"/>
                <a:round/>
              </a:ln>
              <a:effectLst/>
            </c:spPr>
            <c:extLst>
              <c:ext xmlns:c16="http://schemas.microsoft.com/office/drawing/2014/chart" uri="{C3380CC4-5D6E-409C-BE32-E72D297353CC}">
                <c16:uniqueId val="{00000003-8205-4E17-AEE9-311AA7BE81CA}"/>
              </c:ext>
            </c:extLst>
          </c:dPt>
          <c:cat>
            <c:strRef>
              <c:f>Sheet1!$A$2:$A$3</c:f>
              <c:strCache>
                <c:ptCount val="2"/>
                <c:pt idx="0">
                  <c:v>매입업무 수익</c:v>
                </c:pt>
                <c:pt idx="1">
                  <c:v>그 외</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8205-4E17-AEE9-311AA7BE81C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전국 합계 MoM</c:v>
                </c:pt>
              </c:strCache>
            </c:strRef>
          </c:tx>
          <c:spPr>
            <a:solidFill>
              <a:srgbClr val="0B1B33"/>
            </a:solidFill>
            <a:effectLst/>
          </c:spPr>
          <c:invertIfNegative val="0"/>
          <c:dLbls>
            <c:numFmt formatCode="0.0" sourceLinked="0"/>
            <c:spPr>
              <a:noFill/>
              <a:ln>
                <a:noFill/>
              </a:ln>
              <a:effectLst/>
            </c:spPr>
            <c:txPr>
              <a:bodyPr/>
              <a:lstStyle/>
              <a:p>
                <a:pPr>
                  <a:defRPr sz="105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2월</c:v>
                </c:pt>
                <c:pt idx="1">
                  <c:v>3월</c:v>
                </c:pt>
                <c:pt idx="2">
                  <c:v>4월</c:v>
                </c:pt>
                <c:pt idx="3">
                  <c:v>5월</c:v>
                </c:pt>
                <c:pt idx="4">
                  <c:v>6월</c:v>
                </c:pt>
              </c:strCache>
            </c:strRef>
          </c:cat>
          <c:val>
            <c:numRef>
              <c:f>Sheet1!$B$2:$B$6</c:f>
              <c:numCache>
                <c:formatCode>General</c:formatCode>
                <c:ptCount val="5"/>
                <c:pt idx="0">
                  <c:v>-6.8</c:v>
                </c:pt>
                <c:pt idx="1">
                  <c:v>16.600000000000001</c:v>
                </c:pt>
                <c:pt idx="2">
                  <c:v>3.3</c:v>
                </c:pt>
                <c:pt idx="3">
                  <c:v>7.9</c:v>
                </c:pt>
                <c:pt idx="4">
                  <c:v>-4.5999999999999996</c:v>
                </c:pt>
              </c:numCache>
            </c:numRef>
          </c:val>
          <c:extLst>
            <c:ext xmlns:c16="http://schemas.microsoft.com/office/drawing/2014/chart" uri="{C3380CC4-5D6E-409C-BE32-E72D297353CC}">
              <c16:uniqueId val="{00000000-109F-4DF4-B94C-E418D5066D2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22"/>
          <c:min val="-1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청송군 편의점</c:v>
                </c:pt>
              </c:strCache>
            </c:strRef>
          </c:tx>
          <c:spPr>
            <a:solidFill>
              <a:srgbClr val="E8383D"/>
            </a:solidFill>
            <a:effectLst/>
          </c:spPr>
          <c:invertIfNegative val="0"/>
          <c:dLbls>
            <c:numFmt formatCode="0.0" sourceLinked="0"/>
            <c:spPr>
              <a:noFill/>
              <a:ln>
                <a:noFill/>
              </a:ln>
              <a:effectLst/>
            </c:spPr>
            <c:txPr>
              <a:bodyPr/>
              <a:lstStyle/>
              <a:p>
                <a:pPr>
                  <a:defRPr sz="10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5월</c:v>
                </c:pt>
                <c:pt idx="1">
                  <c:v>6월</c:v>
                </c:pt>
              </c:strCache>
            </c:strRef>
          </c:cat>
          <c:val>
            <c:numRef>
              <c:f>Sheet1!$B$2:$B$3</c:f>
              <c:numCache>
                <c:formatCode>General</c:formatCode>
                <c:ptCount val="2"/>
                <c:pt idx="0">
                  <c:v>48</c:v>
                </c:pt>
                <c:pt idx="1">
                  <c:v>49.7</c:v>
                </c:pt>
              </c:numCache>
            </c:numRef>
          </c:val>
          <c:extLst>
            <c:ext xmlns:c16="http://schemas.microsoft.com/office/drawing/2014/chart" uri="{C3380CC4-5D6E-409C-BE32-E72D297353CC}">
              <c16:uniqueId val="{00000000-FEC2-43BB-A610-D498403C125D}"/>
            </c:ext>
          </c:extLst>
        </c:ser>
        <c:ser>
          <c:idx val="1"/>
          <c:order val="1"/>
          <c:tx>
            <c:strRef>
              <c:f>Sheet1!$C$1</c:f>
              <c:strCache>
                <c:ptCount val="1"/>
                <c:pt idx="0">
                  <c:v>전국 편의점(외국인)</c:v>
                </c:pt>
              </c:strCache>
            </c:strRef>
          </c:tx>
          <c:spPr>
            <a:solidFill>
              <a:srgbClr val="8CA0BE"/>
            </a:solidFill>
            <a:effectLst/>
          </c:spPr>
          <c:invertIfNegative val="0"/>
          <c:dLbls>
            <c:numFmt formatCode="0.0" sourceLinked="0"/>
            <c:spPr>
              <a:noFill/>
              <a:ln>
                <a:noFill/>
              </a:ln>
              <a:effectLst/>
            </c:spPr>
            <c:txPr>
              <a:bodyPr/>
              <a:lstStyle/>
              <a:p>
                <a:pPr>
                  <a:defRPr sz="10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5월</c:v>
                </c:pt>
                <c:pt idx="1">
                  <c:v>6월</c:v>
                </c:pt>
              </c:strCache>
            </c:strRef>
          </c:cat>
          <c:val>
            <c:numRef>
              <c:f>Sheet1!$C$2:$C$3</c:f>
              <c:numCache>
                <c:formatCode>General</c:formatCode>
                <c:ptCount val="2"/>
                <c:pt idx="0">
                  <c:v>8.1999999999999993</c:v>
                </c:pt>
                <c:pt idx="1">
                  <c:v>-0.6</c:v>
                </c:pt>
              </c:numCache>
            </c:numRef>
          </c:val>
          <c:extLst>
            <c:ext xmlns:c16="http://schemas.microsoft.com/office/drawing/2014/chart" uri="{C3380CC4-5D6E-409C-BE32-E72D297353CC}">
              <c16:uniqueId val="{00000001-FEC2-43BB-A610-D498403C125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60"/>
          <c:min val="-1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무주군 스낵</c:v>
                </c:pt>
              </c:strCache>
            </c:strRef>
          </c:tx>
          <c:spPr>
            <a:solidFill>
              <a:srgbClr val="8CA0BE"/>
            </a:solidFill>
            <a:effectLst/>
          </c:spPr>
          <c:invertIfNegative val="0"/>
          <c:dPt>
            <c:idx val="0"/>
            <c:invertIfNegative val="0"/>
            <c:bubble3D val="0"/>
            <c:spPr>
              <a:solidFill>
                <a:srgbClr val="8CA0BE"/>
              </a:solidFill>
              <a:effectLst/>
            </c:spPr>
            <c:extLst>
              <c:ext xmlns:c16="http://schemas.microsoft.com/office/drawing/2014/chart" uri="{C3380CC4-5D6E-409C-BE32-E72D297353CC}">
                <c16:uniqueId val="{00000001-4E76-4C93-BB01-5882572EC206}"/>
              </c:ext>
            </c:extLst>
          </c:dPt>
          <c:dPt>
            <c:idx val="1"/>
            <c:invertIfNegative val="0"/>
            <c:bubble3D val="0"/>
            <c:spPr>
              <a:solidFill>
                <a:srgbClr val="8CA0BE"/>
              </a:solidFill>
              <a:effectLst/>
            </c:spPr>
            <c:extLst>
              <c:ext xmlns:c16="http://schemas.microsoft.com/office/drawing/2014/chart" uri="{C3380CC4-5D6E-409C-BE32-E72D297353CC}">
                <c16:uniqueId val="{00000003-4E76-4C93-BB01-5882572EC206}"/>
              </c:ext>
            </c:extLst>
          </c:dPt>
          <c:dPt>
            <c:idx val="2"/>
            <c:invertIfNegative val="0"/>
            <c:bubble3D val="0"/>
            <c:spPr>
              <a:solidFill>
                <a:srgbClr val="C4CEDC"/>
              </a:solidFill>
              <a:effectLst/>
            </c:spPr>
            <c:extLst>
              <c:ext xmlns:c16="http://schemas.microsoft.com/office/drawing/2014/chart" uri="{C3380CC4-5D6E-409C-BE32-E72D297353CC}">
                <c16:uniqueId val="{00000005-4E76-4C93-BB01-5882572EC206}"/>
              </c:ext>
            </c:extLst>
          </c:dPt>
          <c:dPt>
            <c:idx val="3"/>
            <c:invertIfNegative val="0"/>
            <c:bubble3D val="0"/>
            <c:spPr>
              <a:solidFill>
                <a:srgbClr val="C4CEDC"/>
              </a:solidFill>
              <a:effectLst/>
            </c:spPr>
            <c:extLst>
              <c:ext xmlns:c16="http://schemas.microsoft.com/office/drawing/2014/chart" uri="{C3380CC4-5D6E-409C-BE32-E72D297353CC}">
                <c16:uniqueId val="{00000007-4E76-4C93-BB01-5882572EC206}"/>
              </c:ext>
            </c:extLst>
          </c:dPt>
          <c:dPt>
            <c:idx val="4"/>
            <c:invertIfNegative val="0"/>
            <c:bubble3D val="0"/>
            <c:spPr>
              <a:solidFill>
                <a:srgbClr val="C4CEDC"/>
              </a:solidFill>
              <a:effectLst/>
            </c:spPr>
            <c:extLst>
              <c:ext xmlns:c16="http://schemas.microsoft.com/office/drawing/2014/chart" uri="{C3380CC4-5D6E-409C-BE32-E72D297353CC}">
                <c16:uniqueId val="{00000009-4E76-4C93-BB01-5882572EC206}"/>
              </c:ext>
            </c:extLst>
          </c:dPt>
          <c:dPt>
            <c:idx val="5"/>
            <c:invertIfNegative val="0"/>
            <c:bubble3D val="0"/>
            <c:spPr>
              <a:solidFill>
                <a:srgbClr val="E8383D"/>
              </a:solidFill>
              <a:effectLst/>
            </c:spPr>
            <c:extLst>
              <c:ext xmlns:c16="http://schemas.microsoft.com/office/drawing/2014/chart" uri="{C3380CC4-5D6E-409C-BE32-E72D297353CC}">
                <c16:uniqueId val="{0000000B-4E76-4C93-BB01-5882572EC206}"/>
              </c:ext>
            </c:extLst>
          </c:dPt>
          <c:dLbls>
            <c:numFmt formatCode="#,##0" sourceLinked="0"/>
            <c:spPr>
              <a:noFill/>
              <a:ln>
                <a:noFill/>
              </a:ln>
              <a:effectLst/>
            </c:spPr>
            <c:txPr>
              <a:bodyPr/>
              <a:lstStyle/>
              <a:p>
                <a:pPr>
                  <a:defRPr sz="105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476</c:v>
                </c:pt>
                <c:pt idx="1">
                  <c:v>540</c:v>
                </c:pt>
                <c:pt idx="2">
                  <c:v>59</c:v>
                </c:pt>
                <c:pt idx="3">
                  <c:v>43</c:v>
                </c:pt>
                <c:pt idx="4">
                  <c:v>38</c:v>
                </c:pt>
                <c:pt idx="5">
                  <c:v>76</c:v>
                </c:pt>
              </c:numCache>
            </c:numRef>
          </c:val>
          <c:extLst>
            <c:ext xmlns:c16="http://schemas.microsoft.com/office/drawing/2014/chart" uri="{C3380CC4-5D6E-409C-BE32-E72D297353CC}">
              <c16:uniqueId val="{0000000C-4E76-4C93-BB01-5882572EC20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6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서양음식</c:v>
                </c:pt>
              </c:strCache>
            </c:strRef>
          </c:tx>
          <c:spPr>
            <a:ln w="31750" cap="flat">
              <a:solidFill>
                <a:srgbClr val="E8383D"/>
              </a:solidFill>
              <a:prstDash val="solid"/>
              <a:round/>
            </a:ln>
            <a:effectLst/>
          </c:spPr>
          <c:marker>
            <c:symbol val="circle"/>
            <c:size val="6"/>
            <c:spPr>
              <a:solidFill>
                <a:srgbClr val="E8383D"/>
              </a:solidFill>
              <a:ln w="9525" cap="flat">
                <a:solidFill>
                  <a:srgbClr val="E8383D"/>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100</c:v>
                </c:pt>
                <c:pt idx="1">
                  <c:v>163.9</c:v>
                </c:pt>
                <c:pt idx="2">
                  <c:v>206.6</c:v>
                </c:pt>
                <c:pt idx="3">
                  <c:v>167.2</c:v>
                </c:pt>
                <c:pt idx="4">
                  <c:v>308.2</c:v>
                </c:pt>
                <c:pt idx="5">
                  <c:v>324.60000000000002</c:v>
                </c:pt>
              </c:numCache>
            </c:numRef>
          </c:val>
          <c:smooth val="0"/>
          <c:extLst>
            <c:ext xmlns:c16="http://schemas.microsoft.com/office/drawing/2014/chart" uri="{C3380CC4-5D6E-409C-BE32-E72D297353CC}">
              <c16:uniqueId val="{00000000-D90E-426C-9A30-CACB74844291}"/>
            </c:ext>
          </c:extLst>
        </c:ser>
        <c:ser>
          <c:idx val="1"/>
          <c:order val="1"/>
          <c:tx>
            <c:strRef>
              <c:f>Sheet1!$C$1</c:f>
              <c:strCache>
                <c:ptCount val="1"/>
                <c:pt idx="0">
                  <c:v>편의점</c:v>
                </c:pt>
              </c:strCache>
            </c:strRef>
          </c:tx>
          <c:spPr>
            <a:ln w="31750" cap="flat">
              <a:solidFill>
                <a:srgbClr val="0B1B33"/>
              </a:solidFill>
              <a:prstDash val="solid"/>
              <a:round/>
            </a:ln>
            <a:effectLst/>
          </c:spPr>
          <c:marker>
            <c:symbol val="circle"/>
            <c:size val="6"/>
            <c:spPr>
              <a:solidFill>
                <a:srgbClr val="0B1B33"/>
              </a:solidFill>
              <a:ln w="9525" cap="flat">
                <a:solidFill>
                  <a:srgbClr val="0B1B33"/>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Sheet1!$C$2:$C$7</c:f>
              <c:numCache>
                <c:formatCode>General</c:formatCode>
                <c:ptCount val="6"/>
                <c:pt idx="0">
                  <c:v>100</c:v>
                </c:pt>
                <c:pt idx="1">
                  <c:v>134.6</c:v>
                </c:pt>
                <c:pt idx="2">
                  <c:v>141.1</c:v>
                </c:pt>
                <c:pt idx="3">
                  <c:v>131.80000000000001</c:v>
                </c:pt>
                <c:pt idx="4">
                  <c:v>195</c:v>
                </c:pt>
                <c:pt idx="5">
                  <c:v>291.89999999999998</c:v>
                </c:pt>
              </c:numCache>
            </c:numRef>
          </c:val>
          <c:smooth val="0"/>
          <c:extLst>
            <c:ext xmlns:c16="http://schemas.microsoft.com/office/drawing/2014/chart" uri="{C3380CC4-5D6E-409C-BE32-E72D297353CC}">
              <c16:uniqueId val="{00000001-D90E-426C-9A30-CACB74844291}"/>
            </c:ext>
          </c:extLst>
        </c:ser>
        <c:ser>
          <c:idx val="2"/>
          <c:order val="2"/>
          <c:tx>
            <c:strRef>
              <c:f>Sheet1!$D$1</c:f>
              <c:strCache>
                <c:ptCount val="1"/>
                <c:pt idx="0">
                  <c:v>슈퍼마켓</c:v>
                </c:pt>
              </c:strCache>
            </c:strRef>
          </c:tx>
          <c:spPr>
            <a:ln w="31750" cap="flat">
              <a:solidFill>
                <a:srgbClr val="3B6FD4"/>
              </a:solidFill>
              <a:prstDash val="solid"/>
              <a:round/>
            </a:ln>
            <a:effectLst/>
          </c:spPr>
          <c:marker>
            <c:symbol val="circle"/>
            <c:size val="6"/>
            <c:spPr>
              <a:solidFill>
                <a:srgbClr val="3B6FD4"/>
              </a:solidFill>
              <a:ln w="9525" cap="flat">
                <a:solidFill>
                  <a:srgbClr val="3B6FD4"/>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Sheet1!$D$2:$D$7</c:f>
              <c:numCache>
                <c:formatCode>General</c:formatCode>
                <c:ptCount val="6"/>
                <c:pt idx="0">
                  <c:v>100</c:v>
                </c:pt>
                <c:pt idx="1">
                  <c:v>102.8</c:v>
                </c:pt>
                <c:pt idx="2">
                  <c:v>116.6</c:v>
                </c:pt>
                <c:pt idx="3">
                  <c:v>119.4</c:v>
                </c:pt>
                <c:pt idx="4">
                  <c:v>166.5</c:v>
                </c:pt>
                <c:pt idx="5">
                  <c:v>194.6</c:v>
                </c:pt>
              </c:numCache>
            </c:numRef>
          </c:val>
          <c:smooth val="0"/>
          <c:extLst>
            <c:ext xmlns:c16="http://schemas.microsoft.com/office/drawing/2014/chart" uri="{C3380CC4-5D6E-409C-BE32-E72D297353CC}">
              <c16:uniqueId val="{00000002-D90E-426C-9A30-CACB74844291}"/>
            </c:ext>
          </c:extLst>
        </c:ser>
        <c:ser>
          <c:idx val="3"/>
          <c:order val="3"/>
          <c:tx>
            <c:strRef>
              <c:f>Sheet1!$E$1</c:f>
              <c:strCache>
                <c:ptCount val="1"/>
                <c:pt idx="0">
                  <c:v>전국 외국인 소비(전 업종)</c:v>
                </c:pt>
              </c:strCache>
            </c:strRef>
          </c:tx>
          <c:spPr>
            <a:ln w="31750" cap="flat">
              <a:solidFill>
                <a:srgbClr val="C4CEDC"/>
              </a:solidFill>
              <a:prstDash val="dash"/>
              <a:round/>
            </a:ln>
            <a:effectLst/>
          </c:spPr>
          <c:marker>
            <c:symbol val="circle"/>
            <c:size val="6"/>
            <c:spPr>
              <a:solidFill>
                <a:srgbClr val="C4CEDC"/>
              </a:solidFill>
              <a:ln w="9525" cap="flat">
                <a:solidFill>
                  <a:srgbClr val="C4CEDC"/>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Sheet1!$E$2:$E$7</c:f>
              <c:numCache>
                <c:formatCode>General</c:formatCode>
                <c:ptCount val="6"/>
                <c:pt idx="0">
                  <c:v>100</c:v>
                </c:pt>
                <c:pt idx="1">
                  <c:v>93.2</c:v>
                </c:pt>
                <c:pt idx="2">
                  <c:v>108.7</c:v>
                </c:pt>
                <c:pt idx="3">
                  <c:v>112.3</c:v>
                </c:pt>
                <c:pt idx="4">
                  <c:v>121.2</c:v>
                </c:pt>
                <c:pt idx="5">
                  <c:v>115.6</c:v>
                </c:pt>
              </c:numCache>
            </c:numRef>
          </c:val>
          <c:smooth val="0"/>
          <c:extLst>
            <c:ext xmlns:c16="http://schemas.microsoft.com/office/drawing/2014/chart" uri="{C3380CC4-5D6E-409C-BE32-E72D297353CC}">
              <c16:uniqueId val="{00000003-D90E-426C-9A30-CACB7484429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350"/>
          <c:min val="50"/>
        </c:scaling>
        <c:delete val="0"/>
        <c:axPos val="l"/>
        <c:majorGridlines>
          <c:spPr>
            <a:ln w="9525" cap="flat">
              <a:solidFill>
                <a:srgbClr val="E6EBF2"/>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algun Gothic"/>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서양음식</c:v>
                </c:pt>
              </c:strCache>
            </c:strRef>
          </c:tx>
          <c:spPr>
            <a:ln w="31750" cap="flat">
              <a:solidFill>
                <a:srgbClr val="E8383D"/>
              </a:solidFill>
              <a:prstDash val="solid"/>
              <a:round/>
            </a:ln>
            <a:effectLst/>
          </c:spPr>
          <c:marker>
            <c:symbol val="circle"/>
            <c:size val="6"/>
            <c:spPr>
              <a:solidFill>
                <a:srgbClr val="E8383D"/>
              </a:solidFill>
              <a:ln w="9525" cap="flat">
                <a:solidFill>
                  <a:srgbClr val="E8383D"/>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100</c:v>
                </c:pt>
                <c:pt idx="1">
                  <c:v>104.2</c:v>
                </c:pt>
                <c:pt idx="2">
                  <c:v>116.9</c:v>
                </c:pt>
                <c:pt idx="3">
                  <c:v>142.9</c:v>
                </c:pt>
                <c:pt idx="4">
                  <c:v>183.1</c:v>
                </c:pt>
                <c:pt idx="5">
                  <c:v>190.1</c:v>
                </c:pt>
              </c:numCache>
            </c:numRef>
          </c:val>
          <c:smooth val="0"/>
          <c:extLst>
            <c:ext xmlns:c16="http://schemas.microsoft.com/office/drawing/2014/chart" uri="{C3380CC4-5D6E-409C-BE32-E72D297353CC}">
              <c16:uniqueId val="{00000000-EEF0-425B-9275-499DA5D2C716}"/>
            </c:ext>
          </c:extLst>
        </c:ser>
        <c:ser>
          <c:idx val="1"/>
          <c:order val="1"/>
          <c:tx>
            <c:strRef>
              <c:f>Sheet1!$C$1</c:f>
              <c:strCache>
                <c:ptCount val="1"/>
                <c:pt idx="0">
                  <c:v>일반한식</c:v>
                </c:pt>
              </c:strCache>
            </c:strRef>
          </c:tx>
          <c:spPr>
            <a:ln w="31750" cap="flat">
              <a:solidFill>
                <a:srgbClr val="3B6FD4"/>
              </a:solidFill>
              <a:prstDash val="solid"/>
              <a:round/>
            </a:ln>
            <a:effectLst/>
          </c:spPr>
          <c:marker>
            <c:symbol val="circle"/>
            <c:size val="6"/>
            <c:spPr>
              <a:solidFill>
                <a:srgbClr val="3B6FD4"/>
              </a:solidFill>
              <a:ln w="9525" cap="flat">
                <a:solidFill>
                  <a:srgbClr val="3B6FD4"/>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Sheet1!$C$2:$C$7</c:f>
              <c:numCache>
                <c:formatCode>General</c:formatCode>
                <c:ptCount val="6"/>
                <c:pt idx="0">
                  <c:v>100</c:v>
                </c:pt>
                <c:pt idx="1">
                  <c:v>101.7</c:v>
                </c:pt>
                <c:pt idx="2">
                  <c:v>117.2</c:v>
                </c:pt>
                <c:pt idx="3">
                  <c:v>128.80000000000001</c:v>
                </c:pt>
                <c:pt idx="4">
                  <c:v>150.6</c:v>
                </c:pt>
                <c:pt idx="5">
                  <c:v>153.80000000000001</c:v>
                </c:pt>
              </c:numCache>
            </c:numRef>
          </c:val>
          <c:smooth val="0"/>
          <c:extLst>
            <c:ext xmlns:c16="http://schemas.microsoft.com/office/drawing/2014/chart" uri="{C3380CC4-5D6E-409C-BE32-E72D297353CC}">
              <c16:uniqueId val="{00000001-EEF0-425B-9275-499DA5D2C716}"/>
            </c:ext>
          </c:extLst>
        </c:ser>
        <c:ser>
          <c:idx val="2"/>
          <c:order val="2"/>
          <c:tx>
            <c:strRef>
              <c:f>Sheet1!$D$1</c:f>
              <c:strCache>
                <c:ptCount val="1"/>
                <c:pt idx="0">
                  <c:v>편의점</c:v>
                </c:pt>
              </c:strCache>
            </c:strRef>
          </c:tx>
          <c:spPr>
            <a:ln w="31750" cap="flat">
              <a:solidFill>
                <a:srgbClr val="0B1B33"/>
              </a:solidFill>
              <a:prstDash val="solid"/>
              <a:round/>
            </a:ln>
            <a:effectLst/>
          </c:spPr>
          <c:marker>
            <c:symbol val="circle"/>
            <c:size val="6"/>
            <c:spPr>
              <a:solidFill>
                <a:srgbClr val="0B1B33"/>
              </a:solidFill>
              <a:ln w="9525" cap="flat">
                <a:solidFill>
                  <a:srgbClr val="0B1B33"/>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Sheet1!$D$2:$D$7</c:f>
              <c:numCache>
                <c:formatCode>General</c:formatCode>
                <c:ptCount val="6"/>
                <c:pt idx="0">
                  <c:v>100</c:v>
                </c:pt>
                <c:pt idx="1">
                  <c:v>97.3</c:v>
                </c:pt>
                <c:pt idx="2">
                  <c:v>101.4</c:v>
                </c:pt>
                <c:pt idx="3">
                  <c:v>116.7</c:v>
                </c:pt>
                <c:pt idx="4">
                  <c:v>137.6</c:v>
                </c:pt>
                <c:pt idx="5">
                  <c:v>151.1</c:v>
                </c:pt>
              </c:numCache>
            </c:numRef>
          </c:val>
          <c:smooth val="0"/>
          <c:extLst>
            <c:ext xmlns:c16="http://schemas.microsoft.com/office/drawing/2014/chart" uri="{C3380CC4-5D6E-409C-BE32-E72D297353CC}">
              <c16:uniqueId val="{00000002-EEF0-425B-9275-499DA5D2C716}"/>
            </c:ext>
          </c:extLst>
        </c:ser>
        <c:ser>
          <c:idx val="3"/>
          <c:order val="3"/>
          <c:tx>
            <c:strRef>
              <c:f>Sheet1!$E$1</c:f>
              <c:strCache>
                <c:ptCount val="1"/>
                <c:pt idx="0">
                  <c:v>전국 외국인 소비(전 업종)</c:v>
                </c:pt>
              </c:strCache>
            </c:strRef>
          </c:tx>
          <c:spPr>
            <a:ln w="31750" cap="flat">
              <a:solidFill>
                <a:srgbClr val="C4CEDC"/>
              </a:solidFill>
              <a:prstDash val="dash"/>
              <a:round/>
            </a:ln>
            <a:effectLst/>
          </c:spPr>
          <c:marker>
            <c:symbol val="circle"/>
            <c:size val="6"/>
            <c:spPr>
              <a:solidFill>
                <a:srgbClr val="C4CEDC"/>
              </a:solidFill>
              <a:ln w="9525" cap="flat">
                <a:solidFill>
                  <a:srgbClr val="C4CEDC"/>
                </a:solidFill>
                <a:prstDash val="solid"/>
                <a:round/>
              </a:ln>
              <a:effectLst/>
            </c:spPr>
          </c:marker>
          <c:cat>
            <c:strRef>
              <c:f>Sheet1!$A$2:$A$7</c:f>
              <c:strCache>
                <c:ptCount val="6"/>
                <c:pt idx="0">
                  <c:v>1월</c:v>
                </c:pt>
                <c:pt idx="1">
                  <c:v>2월</c:v>
                </c:pt>
                <c:pt idx="2">
                  <c:v>3월</c:v>
                </c:pt>
                <c:pt idx="3">
                  <c:v>4월</c:v>
                </c:pt>
                <c:pt idx="4">
                  <c:v>5월</c:v>
                </c:pt>
                <c:pt idx="5">
                  <c:v>6월</c:v>
                </c:pt>
              </c:strCache>
            </c:strRef>
          </c:cat>
          <c:val>
            <c:numRef>
              <c:f>Sheet1!$E$2:$E$7</c:f>
              <c:numCache>
                <c:formatCode>General</c:formatCode>
                <c:ptCount val="6"/>
                <c:pt idx="0">
                  <c:v>100</c:v>
                </c:pt>
                <c:pt idx="1">
                  <c:v>93.2</c:v>
                </c:pt>
                <c:pt idx="2">
                  <c:v>108.7</c:v>
                </c:pt>
                <c:pt idx="3">
                  <c:v>112.3</c:v>
                </c:pt>
                <c:pt idx="4">
                  <c:v>121.2</c:v>
                </c:pt>
                <c:pt idx="5">
                  <c:v>115.6</c:v>
                </c:pt>
              </c:numCache>
            </c:numRef>
          </c:val>
          <c:smooth val="0"/>
          <c:extLst>
            <c:ext xmlns:c16="http://schemas.microsoft.com/office/drawing/2014/chart" uri="{C3380CC4-5D6E-409C-BE32-E72D297353CC}">
              <c16:uniqueId val="{00000003-EEF0-425B-9275-499DA5D2C71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200"/>
          <c:min val="80"/>
        </c:scaling>
        <c:delete val="0"/>
        <c:axPos val="l"/>
        <c:majorGridlines>
          <c:spPr>
            <a:ln w="9525" cap="flat">
              <a:solidFill>
                <a:srgbClr val="E6EBF2"/>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algun Gothic"/>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양양군 일식회집</c:v>
                </c:pt>
              </c:strCache>
            </c:strRef>
          </c:tx>
          <c:spPr>
            <a:solidFill>
              <a:srgbClr val="FF7A7E"/>
            </a:solidFill>
            <a:effectLst/>
          </c:spPr>
          <c:invertIfNegative val="0"/>
          <c:dLbls>
            <c:numFmt formatCode="#,##0" sourceLinked="0"/>
            <c:spPr>
              <a:noFill/>
              <a:ln>
                <a:noFill/>
              </a:ln>
              <a:effectLst/>
            </c:spPr>
            <c:txPr>
              <a:bodyPr/>
              <a:lstStyle/>
              <a:p>
                <a:pPr>
                  <a:defRPr sz="95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42</c:v>
                </c:pt>
                <c:pt idx="1">
                  <c:v>27</c:v>
                </c:pt>
                <c:pt idx="2">
                  <c:v>17</c:v>
                </c:pt>
                <c:pt idx="3">
                  <c:v>14</c:v>
                </c:pt>
                <c:pt idx="4">
                  <c:v>59</c:v>
                </c:pt>
                <c:pt idx="5">
                  <c:v>47</c:v>
                </c:pt>
              </c:numCache>
            </c:numRef>
          </c:val>
          <c:extLst>
            <c:ext xmlns:c16="http://schemas.microsoft.com/office/drawing/2014/chart" uri="{C3380CC4-5D6E-409C-BE32-E72D297353CC}">
              <c16:uniqueId val="{00000000-0424-44E3-A981-C32BECDF3D6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7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카드 초과성장률</c:v>
                </c:pt>
              </c:strCache>
            </c:strRef>
          </c:tx>
          <c:spPr>
            <a:ln w="38100" cap="flat">
              <a:solidFill>
                <a:srgbClr val="E8383D"/>
              </a:solidFill>
              <a:prstDash val="solid"/>
              <a:round/>
            </a:ln>
            <a:effectLst/>
          </c:spPr>
          <c:marker>
            <c:symbol val="circle"/>
            <c:size val="8"/>
            <c:spPr>
              <a:solidFill>
                <a:srgbClr val="E8383D"/>
              </a:solidFill>
              <a:ln w="9525" cap="flat">
                <a:solidFill>
                  <a:srgbClr val="E8383D"/>
                </a:solidFill>
                <a:prstDash val="solid"/>
                <a:round/>
              </a:ln>
              <a:effectLst/>
            </c:spPr>
          </c:marker>
          <c:cat>
            <c:strRef>
              <c:f>Sheet1!$A$2:$A$6</c:f>
              <c:strCache>
                <c:ptCount val="5"/>
                <c:pt idx="0">
                  <c:v>2월</c:v>
                </c:pt>
                <c:pt idx="1">
                  <c:v>3월</c:v>
                </c:pt>
                <c:pt idx="2">
                  <c:v>4월</c:v>
                </c:pt>
                <c:pt idx="3">
                  <c:v>5월</c:v>
                </c:pt>
                <c:pt idx="4">
                  <c:v>6월</c:v>
                </c:pt>
              </c:strCache>
            </c:strRef>
          </c:cat>
          <c:val>
            <c:numRef>
              <c:f>Sheet1!$B$2:$B$6</c:f>
              <c:numCache>
                <c:formatCode>General</c:formatCode>
                <c:ptCount val="5"/>
                <c:pt idx="0">
                  <c:v>12.1</c:v>
                </c:pt>
                <c:pt idx="1">
                  <c:v>21</c:v>
                </c:pt>
                <c:pt idx="2">
                  <c:v>43.4</c:v>
                </c:pt>
                <c:pt idx="3">
                  <c:v>78.900000000000006</c:v>
                </c:pt>
                <c:pt idx="4">
                  <c:v>49.9</c:v>
                </c:pt>
              </c:numCache>
            </c:numRef>
          </c:val>
          <c:smooth val="0"/>
          <c:extLst>
            <c:ext xmlns:c16="http://schemas.microsoft.com/office/drawing/2014/chart" uri="{C3380CC4-5D6E-409C-BE32-E72D297353CC}">
              <c16:uniqueId val="{00000000-04AB-47CA-BE5B-7E6C77A2C067}"/>
            </c:ext>
          </c:extLst>
        </c:ser>
        <c:ser>
          <c:idx val="1"/>
          <c:order val="1"/>
          <c:tx>
            <c:strRef>
              <c:f>Sheet1!$C$1</c:f>
              <c:strCache>
                <c:ptCount val="1"/>
                <c:pt idx="0">
                  <c:v>외국인 방문자 증가율</c:v>
                </c:pt>
              </c:strCache>
            </c:strRef>
          </c:tx>
          <c:spPr>
            <a:ln w="38100" cap="flat">
              <a:solidFill>
                <a:srgbClr val="0B1B33"/>
              </a:solidFill>
              <a:prstDash val="solid"/>
              <a:round/>
            </a:ln>
            <a:effectLst/>
          </c:spPr>
          <c:marker>
            <c:symbol val="circle"/>
            <c:size val="8"/>
            <c:spPr>
              <a:solidFill>
                <a:srgbClr val="0B1B33"/>
              </a:solidFill>
              <a:ln w="9525" cap="flat">
                <a:solidFill>
                  <a:srgbClr val="0B1B33"/>
                </a:solidFill>
                <a:prstDash val="solid"/>
                <a:round/>
              </a:ln>
              <a:effectLst/>
            </c:spPr>
          </c:marker>
          <c:cat>
            <c:strRef>
              <c:f>Sheet1!$A$2:$A$6</c:f>
              <c:strCache>
                <c:ptCount val="5"/>
                <c:pt idx="0">
                  <c:v>2월</c:v>
                </c:pt>
                <c:pt idx="1">
                  <c:v>3월</c:v>
                </c:pt>
                <c:pt idx="2">
                  <c:v>4월</c:v>
                </c:pt>
                <c:pt idx="3">
                  <c:v>5월</c:v>
                </c:pt>
                <c:pt idx="4">
                  <c:v>6월</c:v>
                </c:pt>
              </c:strCache>
            </c:strRef>
          </c:cat>
          <c:val>
            <c:numRef>
              <c:f>Sheet1!$C$2:$C$6</c:f>
              <c:numCache>
                <c:formatCode>General</c:formatCode>
                <c:ptCount val="5"/>
                <c:pt idx="0">
                  <c:v>2.1</c:v>
                </c:pt>
                <c:pt idx="1">
                  <c:v>37.4</c:v>
                </c:pt>
                <c:pt idx="2">
                  <c:v>99.8</c:v>
                </c:pt>
                <c:pt idx="3">
                  <c:v>19.8</c:v>
                </c:pt>
                <c:pt idx="4">
                  <c:v>-8.6999999999999993</c:v>
                </c:pt>
              </c:numCache>
            </c:numRef>
          </c:val>
          <c:smooth val="0"/>
          <c:extLst>
            <c:ext xmlns:c16="http://schemas.microsoft.com/office/drawing/2014/chart" uri="{C3380CC4-5D6E-409C-BE32-E72D297353CC}">
              <c16:uniqueId val="{00000001-04AB-47CA-BE5B-7E6C77A2C06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120"/>
          <c:min val="-20"/>
        </c:scaling>
        <c:delete val="0"/>
        <c:axPos val="l"/>
        <c:majorGridlines>
          <c:spPr>
            <a:ln w="9525" cap="flat">
              <a:solidFill>
                <a:srgbClr val="E6EBF2"/>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64748B"/>
                </a:solidFill>
                <a:latin typeface="Malgun Gothic"/>
              </a:defRPr>
            </a:pPr>
            <a:endParaRPr lang="en-US"/>
          </a:p>
        </c:txPr>
        <c:crossAx val="2094734554"/>
        <c:crosses val="autoZero"/>
        <c:crossBetween val="between"/>
        <c:majorUnit val="20"/>
      </c:valAx>
      <c:spPr>
        <a:noFill/>
        <a:ln>
          <a:noFill/>
        </a:ln>
        <a:effectLst/>
      </c:spPr>
    </c:plotArea>
    <c:legend>
      <c:legendPos val="b"/>
      <c:overlay val="0"/>
      <c:txPr>
        <a:bodyPr/>
        <a:lstStyle/>
        <a:p>
          <a:pPr>
            <a:defRPr sz="105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Spearman ρ</c:v>
                </c:pt>
              </c:strCache>
            </c:strRef>
          </c:tx>
          <c:spPr>
            <a:solidFill>
              <a:srgbClr val="C4CEDC"/>
            </a:solidFill>
            <a:effectLst/>
          </c:spPr>
          <c:invertIfNegative val="0"/>
          <c:dPt>
            <c:idx val="0"/>
            <c:invertIfNegative val="0"/>
            <c:bubble3D val="0"/>
            <c:extLst>
              <c:ext xmlns:c16="http://schemas.microsoft.com/office/drawing/2014/chart" uri="{C3380CC4-5D6E-409C-BE32-E72D297353CC}">
                <c16:uniqueId val="{00000001-DC44-4CB4-A403-A15422C683F4}"/>
              </c:ext>
            </c:extLst>
          </c:dPt>
          <c:dPt>
            <c:idx val="1"/>
            <c:invertIfNegative val="0"/>
            <c:bubble3D val="0"/>
            <c:extLst>
              <c:ext xmlns:c16="http://schemas.microsoft.com/office/drawing/2014/chart" uri="{C3380CC4-5D6E-409C-BE32-E72D297353CC}">
                <c16:uniqueId val="{00000003-DC44-4CB4-A403-A15422C683F4}"/>
              </c:ext>
            </c:extLst>
          </c:dPt>
          <c:dPt>
            <c:idx val="2"/>
            <c:invertIfNegative val="0"/>
            <c:bubble3D val="0"/>
            <c:spPr>
              <a:solidFill>
                <a:srgbClr val="E8383D"/>
              </a:solidFill>
              <a:effectLst/>
            </c:spPr>
            <c:extLst>
              <c:ext xmlns:c16="http://schemas.microsoft.com/office/drawing/2014/chart" uri="{C3380CC4-5D6E-409C-BE32-E72D297353CC}">
                <c16:uniqueId val="{00000005-DC44-4CB4-A403-A15422C683F4}"/>
              </c:ext>
            </c:extLst>
          </c:dPt>
          <c:dPt>
            <c:idx val="3"/>
            <c:invertIfNegative val="0"/>
            <c:bubble3D val="0"/>
            <c:spPr>
              <a:solidFill>
                <a:srgbClr val="E8383D"/>
              </a:solidFill>
              <a:effectLst/>
            </c:spPr>
            <c:extLst>
              <c:ext xmlns:c16="http://schemas.microsoft.com/office/drawing/2014/chart" uri="{C3380CC4-5D6E-409C-BE32-E72D297353CC}">
                <c16:uniqueId val="{00000007-DC44-4CB4-A403-A15422C683F4}"/>
              </c:ext>
            </c:extLst>
          </c:dPt>
          <c:dLbls>
            <c:numFmt formatCode="\+0.00;\−0.00" sourceLinked="0"/>
            <c:spPr>
              <a:noFill/>
              <a:ln>
                <a:noFill/>
              </a:ln>
              <a:effectLst/>
            </c:spPr>
            <c:txPr>
              <a:bodyPr/>
              <a:lstStyle/>
              <a:p>
                <a:pPr>
                  <a:defRPr sz="105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같은 달 (n=40) · p=0.55</c:v>
                </c:pt>
                <c:pt idx="1">
                  <c:v>방문자[m]→카드[m+1] (n=32) · p=0.067</c:v>
                </c:pt>
                <c:pt idx="2">
                  <c:v>카드[m]→방문자[m+1] (n=32) · p=0.0004</c:v>
                </c:pt>
                <c:pt idx="3">
                  <c:v>└ 같은 시차 · 지역 평균 제거 · p=0.006</c:v>
                </c:pt>
              </c:strCache>
            </c:strRef>
          </c:cat>
          <c:val>
            <c:numRef>
              <c:f>Sheet1!$B$2:$B$5</c:f>
              <c:numCache>
                <c:formatCode>General</c:formatCode>
                <c:ptCount val="4"/>
                <c:pt idx="0">
                  <c:v>9.8000000000000004E-2</c:v>
                </c:pt>
                <c:pt idx="1">
                  <c:v>0.32800000000000001</c:v>
                </c:pt>
                <c:pt idx="2">
                  <c:v>-0.59099999999999997</c:v>
                </c:pt>
                <c:pt idx="3">
                  <c:v>-0.47399999999999998</c:v>
                </c:pt>
              </c:numCache>
            </c:numRef>
          </c:val>
          <c:extLst>
            <c:ext xmlns:c16="http://schemas.microsoft.com/office/drawing/2014/chart" uri="{C3380CC4-5D6E-409C-BE32-E72D297353CC}">
              <c16:uniqueId val="{00000008-DC44-4CB4-A403-A15422C683F4}"/>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0.6"/>
          <c:min val="-0.8"/>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카드 초과성장률 (%p)</c:v>
                </c:pt>
              </c:strCache>
            </c:strRef>
          </c:tx>
          <c:spPr>
            <a:solidFill>
              <a:srgbClr val="E8383D"/>
            </a:solidFill>
            <a:effectLst/>
          </c:spPr>
          <c:invertIfNegative val="0"/>
          <c:dLbls>
            <c:numFmt formatCode="0.0" sourceLinked="0"/>
            <c:spPr>
              <a:noFill/>
              <a:ln>
                <a:noFill/>
              </a:ln>
              <a:effectLst/>
            </c:spPr>
            <c:txPr>
              <a:bodyPr/>
              <a:lstStyle/>
              <a:p>
                <a:pPr>
                  <a:defRPr sz="9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2월</c:v>
                </c:pt>
                <c:pt idx="1">
                  <c:v>3월</c:v>
                </c:pt>
                <c:pt idx="2">
                  <c:v>4월</c:v>
                </c:pt>
                <c:pt idx="3">
                  <c:v>5월</c:v>
                </c:pt>
                <c:pt idx="4">
                  <c:v>6월</c:v>
                </c:pt>
              </c:strCache>
            </c:strRef>
          </c:cat>
          <c:val>
            <c:numRef>
              <c:f>Sheet1!$B$2:$B$6</c:f>
              <c:numCache>
                <c:formatCode>General</c:formatCode>
                <c:ptCount val="5"/>
                <c:pt idx="0">
                  <c:v>-2.2999999999999998</c:v>
                </c:pt>
                <c:pt idx="1">
                  <c:v>30</c:v>
                </c:pt>
                <c:pt idx="2">
                  <c:v>24.1</c:v>
                </c:pt>
                <c:pt idx="3">
                  <c:v>23.7</c:v>
                </c:pt>
                <c:pt idx="4">
                  <c:v>-2.5</c:v>
                </c:pt>
              </c:numCache>
            </c:numRef>
          </c:val>
          <c:extLst>
            <c:ext xmlns:c16="http://schemas.microsoft.com/office/drawing/2014/chart" uri="{C3380CC4-5D6E-409C-BE32-E72D297353CC}">
              <c16:uniqueId val="{00000000-E218-444E-AC5D-FA5D213A2414}"/>
            </c:ext>
          </c:extLst>
        </c:ser>
        <c:ser>
          <c:idx val="1"/>
          <c:order val="1"/>
          <c:tx>
            <c:strRef>
              <c:f>Sheet1!$C$1</c:f>
              <c:strCache>
                <c:ptCount val="1"/>
                <c:pt idx="0">
                  <c:v>외국인 방문자 증가율 (%)</c:v>
                </c:pt>
              </c:strCache>
            </c:strRef>
          </c:tx>
          <c:spPr>
            <a:solidFill>
              <a:srgbClr val="0B1B33"/>
            </a:solidFill>
            <a:effectLst/>
          </c:spPr>
          <c:invertIfNegative val="0"/>
          <c:dLbls>
            <c:numFmt formatCode="0.0" sourceLinked="0"/>
            <c:spPr>
              <a:noFill/>
              <a:ln>
                <a:noFill/>
              </a:ln>
              <a:effectLst/>
            </c:spPr>
            <c:txPr>
              <a:bodyPr/>
              <a:lstStyle/>
              <a:p>
                <a:pPr>
                  <a:defRPr sz="9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2월</c:v>
                </c:pt>
                <c:pt idx="1">
                  <c:v>3월</c:v>
                </c:pt>
                <c:pt idx="2">
                  <c:v>4월</c:v>
                </c:pt>
                <c:pt idx="3">
                  <c:v>5월</c:v>
                </c:pt>
                <c:pt idx="4">
                  <c:v>6월</c:v>
                </c:pt>
              </c:strCache>
            </c:strRef>
          </c:cat>
          <c:val>
            <c:numRef>
              <c:f>Sheet1!$C$2:$C$6</c:f>
              <c:numCache>
                <c:formatCode>General</c:formatCode>
                <c:ptCount val="5"/>
                <c:pt idx="0">
                  <c:v>5.5</c:v>
                </c:pt>
                <c:pt idx="1">
                  <c:v>30.4</c:v>
                </c:pt>
                <c:pt idx="2">
                  <c:v>64.599999999999994</c:v>
                </c:pt>
                <c:pt idx="3">
                  <c:v>-11.9</c:v>
                </c:pt>
                <c:pt idx="4">
                  <c:v>-16.600000000000001</c:v>
                </c:pt>
              </c:numCache>
            </c:numRef>
          </c:val>
          <c:extLst>
            <c:ext xmlns:c16="http://schemas.microsoft.com/office/drawing/2014/chart" uri="{C3380CC4-5D6E-409C-BE32-E72D297353CC}">
              <c16:uniqueId val="{00000001-E218-444E-AC5D-FA5D213A241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80"/>
          <c:min val="-3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보령시</c:v>
                </c:pt>
              </c:strCache>
            </c:strRef>
          </c:tx>
          <c:spPr>
            <a:solidFill>
              <a:srgbClr val="8CA0BE"/>
            </a:solidFill>
            <a:effectLst/>
          </c:spPr>
          <c:invertIfNegative val="0"/>
          <c:dPt>
            <c:idx val="0"/>
            <c:invertIfNegative val="0"/>
            <c:bubble3D val="0"/>
            <c:spPr>
              <a:solidFill>
                <a:srgbClr val="8CA0BE"/>
              </a:solidFill>
              <a:effectLst/>
            </c:spPr>
            <c:extLst>
              <c:ext xmlns:c16="http://schemas.microsoft.com/office/drawing/2014/chart" uri="{C3380CC4-5D6E-409C-BE32-E72D297353CC}">
                <c16:uniqueId val="{00000001-2388-447F-9275-7EA8E4F9238B}"/>
              </c:ext>
            </c:extLst>
          </c:dPt>
          <c:dPt>
            <c:idx val="1"/>
            <c:invertIfNegative val="0"/>
            <c:bubble3D val="0"/>
            <c:spPr>
              <a:solidFill>
                <a:srgbClr val="8CA0BE"/>
              </a:solidFill>
              <a:effectLst/>
            </c:spPr>
            <c:extLst>
              <c:ext xmlns:c16="http://schemas.microsoft.com/office/drawing/2014/chart" uri="{C3380CC4-5D6E-409C-BE32-E72D297353CC}">
                <c16:uniqueId val="{00000003-2388-447F-9275-7EA8E4F9238B}"/>
              </c:ext>
            </c:extLst>
          </c:dPt>
          <c:dPt>
            <c:idx val="2"/>
            <c:invertIfNegative val="0"/>
            <c:bubble3D val="0"/>
            <c:spPr>
              <a:solidFill>
                <a:srgbClr val="8CA0BE"/>
              </a:solidFill>
              <a:effectLst/>
            </c:spPr>
            <c:extLst>
              <c:ext xmlns:c16="http://schemas.microsoft.com/office/drawing/2014/chart" uri="{C3380CC4-5D6E-409C-BE32-E72D297353CC}">
                <c16:uniqueId val="{00000005-2388-447F-9275-7EA8E4F9238B}"/>
              </c:ext>
            </c:extLst>
          </c:dPt>
          <c:dPt>
            <c:idx val="3"/>
            <c:invertIfNegative val="0"/>
            <c:bubble3D val="0"/>
            <c:spPr>
              <a:solidFill>
                <a:srgbClr val="8CA0BE"/>
              </a:solidFill>
              <a:effectLst/>
            </c:spPr>
            <c:extLst>
              <c:ext xmlns:c16="http://schemas.microsoft.com/office/drawing/2014/chart" uri="{C3380CC4-5D6E-409C-BE32-E72D297353CC}">
                <c16:uniqueId val="{00000007-2388-447F-9275-7EA8E4F9238B}"/>
              </c:ext>
            </c:extLst>
          </c:dPt>
          <c:dPt>
            <c:idx val="4"/>
            <c:invertIfNegative val="0"/>
            <c:bubble3D val="0"/>
            <c:spPr>
              <a:solidFill>
                <a:srgbClr val="2F55B3"/>
              </a:solidFill>
              <a:effectLst/>
            </c:spPr>
            <c:extLst>
              <c:ext xmlns:c16="http://schemas.microsoft.com/office/drawing/2014/chart" uri="{C3380CC4-5D6E-409C-BE32-E72D297353CC}">
                <c16:uniqueId val="{00000009-2388-447F-9275-7EA8E4F9238B}"/>
              </c:ext>
            </c:extLst>
          </c:dPt>
          <c:dPt>
            <c:idx val="5"/>
            <c:invertIfNegative val="0"/>
            <c:bubble3D val="0"/>
            <c:spPr>
              <a:solidFill>
                <a:srgbClr val="8CA0BE"/>
              </a:solidFill>
              <a:effectLst/>
            </c:spPr>
            <c:extLst>
              <c:ext xmlns:c16="http://schemas.microsoft.com/office/drawing/2014/chart" uri="{C3380CC4-5D6E-409C-BE32-E72D297353CC}">
                <c16:uniqueId val="{0000000B-2388-447F-9275-7EA8E4F9238B}"/>
              </c:ext>
            </c:extLst>
          </c:dPt>
          <c:dLbls>
            <c:numFmt formatCode="#,##0" sourceLinked="0"/>
            <c:spPr>
              <a:noFill/>
              <a:ln>
                <a:noFill/>
              </a:ln>
              <a:effectLst/>
            </c:spPr>
            <c:txPr>
              <a:bodyPr/>
              <a:lstStyle/>
              <a:p>
                <a:pPr>
                  <a:defRPr sz="9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17800</c:v>
                </c:pt>
                <c:pt idx="1">
                  <c:v>14576</c:v>
                </c:pt>
                <c:pt idx="2">
                  <c:v>16965</c:v>
                </c:pt>
                <c:pt idx="3">
                  <c:v>18519</c:v>
                </c:pt>
                <c:pt idx="4">
                  <c:v>23480</c:v>
                </c:pt>
                <c:pt idx="5">
                  <c:v>22700</c:v>
                </c:pt>
              </c:numCache>
            </c:numRef>
          </c:val>
          <c:extLst>
            <c:ext xmlns:c16="http://schemas.microsoft.com/office/drawing/2014/chart" uri="{C3380CC4-5D6E-409C-BE32-E72D297353CC}">
              <c16:uniqueId val="{0000000C-2388-447F-9275-7EA8E4F9238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3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1~4월 점수 (%p)</c:v>
                </c:pt>
              </c:strCache>
            </c:strRef>
          </c:tx>
          <c:spPr>
            <a:solidFill>
              <a:srgbClr val="C4CEDC"/>
            </a:solidFill>
            <a:effectLst/>
          </c:spPr>
          <c:invertIfNegative val="0"/>
          <c:cat>
            <c:strRef>
              <c:f>Sheet1!$A$2:$A$21</c:f>
              <c:strCache>
                <c:ptCount val="20"/>
                <c:pt idx="0">
                  <c:v>청송군 편의점</c:v>
                </c:pt>
                <c:pt idx="1">
                  <c:v>청송군 서양음식</c:v>
                </c:pt>
                <c:pt idx="2">
                  <c:v>청송군 슈퍼마켓</c:v>
                </c:pt>
                <c:pt idx="3">
                  <c:v>봉화군 편의점</c:v>
                </c:pt>
                <c:pt idx="4">
                  <c:v>봉화군 슈퍼마켓</c:v>
                </c:pt>
                <c:pt idx="5">
                  <c:v>봉화군 서양음식</c:v>
                </c:pt>
                <c:pt idx="6">
                  <c:v>봉화군 일반한식</c:v>
                </c:pt>
                <c:pt idx="7">
                  <c:v>고성군 서양음식</c:v>
                </c:pt>
                <c:pt idx="8">
                  <c:v>고성군 편의점</c:v>
                </c:pt>
                <c:pt idx="9">
                  <c:v>고성군 슈퍼마켓</c:v>
                </c:pt>
                <c:pt idx="10">
                  <c:v>영월군 편의점</c:v>
                </c:pt>
                <c:pt idx="11">
                  <c:v>영월군 일반한식</c:v>
                </c:pt>
                <c:pt idx="12">
                  <c:v>영월군 슈퍼마켓</c:v>
                </c:pt>
                <c:pt idx="13">
                  <c:v>영양군 슈퍼마켓</c:v>
                </c:pt>
                <c:pt idx="14">
                  <c:v>영양군 편의점</c:v>
                </c:pt>
                <c:pt idx="15">
                  <c:v>의성군 서양음식</c:v>
                </c:pt>
                <c:pt idx="16">
                  <c:v>의성군 슈퍼마켓</c:v>
                </c:pt>
                <c:pt idx="17">
                  <c:v>양양군 서양음식</c:v>
                </c:pt>
                <c:pt idx="18">
                  <c:v>양양군 편의점</c:v>
                </c:pt>
                <c:pt idx="19">
                  <c:v>양양군 일반한식</c:v>
                </c:pt>
              </c:strCache>
            </c:strRef>
          </c:cat>
          <c:val>
            <c:numRef>
              <c:f>Sheet1!$B$2:$B$21</c:f>
              <c:numCache>
                <c:formatCode>General</c:formatCode>
                <c:ptCount val="20"/>
                <c:pt idx="0">
                  <c:v>-13.8</c:v>
                </c:pt>
                <c:pt idx="1">
                  <c:v>-9</c:v>
                </c:pt>
                <c:pt idx="2">
                  <c:v>2.5</c:v>
                </c:pt>
                <c:pt idx="3">
                  <c:v>0.9</c:v>
                </c:pt>
                <c:pt idx="4">
                  <c:v>12.8</c:v>
                </c:pt>
                <c:pt idx="5">
                  <c:v>5.3</c:v>
                </c:pt>
                <c:pt idx="6">
                  <c:v>7.9</c:v>
                </c:pt>
                <c:pt idx="7">
                  <c:v>32.1</c:v>
                </c:pt>
                <c:pt idx="8">
                  <c:v>7.4</c:v>
                </c:pt>
                <c:pt idx="9">
                  <c:v>22.6</c:v>
                </c:pt>
                <c:pt idx="10">
                  <c:v>22.4</c:v>
                </c:pt>
                <c:pt idx="11">
                  <c:v>6.3</c:v>
                </c:pt>
                <c:pt idx="12">
                  <c:v>1.6</c:v>
                </c:pt>
                <c:pt idx="13">
                  <c:v>32.4</c:v>
                </c:pt>
                <c:pt idx="14">
                  <c:v>6.8</c:v>
                </c:pt>
                <c:pt idx="15">
                  <c:v>-6.1</c:v>
                </c:pt>
                <c:pt idx="16">
                  <c:v>6.6</c:v>
                </c:pt>
                <c:pt idx="17">
                  <c:v>4.7</c:v>
                </c:pt>
                <c:pt idx="18">
                  <c:v>-3.3</c:v>
                </c:pt>
                <c:pt idx="19">
                  <c:v>3.1</c:v>
                </c:pt>
              </c:numCache>
            </c:numRef>
          </c:val>
          <c:extLst>
            <c:ext xmlns:c16="http://schemas.microsoft.com/office/drawing/2014/chart" uri="{C3380CC4-5D6E-409C-BE32-E72D297353CC}">
              <c16:uniqueId val="{00000000-2D0B-4923-A763-215A16E50B6F}"/>
            </c:ext>
          </c:extLst>
        </c:ser>
        <c:ser>
          <c:idx val="1"/>
          <c:order val="1"/>
          <c:tx>
            <c:strRef>
              <c:f>Sheet1!$C$1</c:f>
              <c:strCache>
                <c:ptCount val="1"/>
                <c:pt idx="0">
                  <c:v>4→6월 실측 초과성장 (%p)</c:v>
                </c:pt>
              </c:strCache>
            </c:strRef>
          </c:tx>
          <c:spPr>
            <a:solidFill>
              <a:srgbClr val="E8383D"/>
            </a:solidFill>
            <a:effectLst/>
          </c:spPr>
          <c:invertIfNegative val="0"/>
          <c:cat>
            <c:strRef>
              <c:f>Sheet1!$A$2:$A$21</c:f>
              <c:strCache>
                <c:ptCount val="20"/>
                <c:pt idx="0">
                  <c:v>청송군 편의점</c:v>
                </c:pt>
                <c:pt idx="1">
                  <c:v>청송군 서양음식</c:v>
                </c:pt>
                <c:pt idx="2">
                  <c:v>청송군 슈퍼마켓</c:v>
                </c:pt>
                <c:pt idx="3">
                  <c:v>봉화군 편의점</c:v>
                </c:pt>
                <c:pt idx="4">
                  <c:v>봉화군 슈퍼마켓</c:v>
                </c:pt>
                <c:pt idx="5">
                  <c:v>봉화군 서양음식</c:v>
                </c:pt>
                <c:pt idx="6">
                  <c:v>봉화군 일반한식</c:v>
                </c:pt>
                <c:pt idx="7">
                  <c:v>고성군 서양음식</c:v>
                </c:pt>
                <c:pt idx="8">
                  <c:v>고성군 편의점</c:v>
                </c:pt>
                <c:pt idx="9">
                  <c:v>고성군 슈퍼마켓</c:v>
                </c:pt>
                <c:pt idx="10">
                  <c:v>영월군 편의점</c:v>
                </c:pt>
                <c:pt idx="11">
                  <c:v>영월군 일반한식</c:v>
                </c:pt>
                <c:pt idx="12">
                  <c:v>영월군 슈퍼마켓</c:v>
                </c:pt>
                <c:pt idx="13">
                  <c:v>영양군 슈퍼마켓</c:v>
                </c:pt>
                <c:pt idx="14">
                  <c:v>영양군 편의점</c:v>
                </c:pt>
                <c:pt idx="15">
                  <c:v>의성군 서양음식</c:v>
                </c:pt>
                <c:pt idx="16">
                  <c:v>의성군 슈퍼마켓</c:v>
                </c:pt>
                <c:pt idx="17">
                  <c:v>양양군 서양음식</c:v>
                </c:pt>
                <c:pt idx="18">
                  <c:v>양양군 편의점</c:v>
                </c:pt>
                <c:pt idx="19">
                  <c:v>양양군 일반한식</c:v>
                </c:pt>
              </c:strCache>
            </c:strRef>
          </c:cat>
          <c:val>
            <c:numRef>
              <c:f>Sheet1!$C$2:$C$21</c:f>
              <c:numCache>
                <c:formatCode>General</c:formatCode>
                <c:ptCount val="20"/>
                <c:pt idx="0">
                  <c:v>113.9</c:v>
                </c:pt>
                <c:pt idx="1">
                  <c:v>92.9</c:v>
                </c:pt>
                <c:pt idx="2">
                  <c:v>60.2</c:v>
                </c:pt>
                <c:pt idx="3">
                  <c:v>41.7</c:v>
                </c:pt>
                <c:pt idx="4">
                  <c:v>34.1</c:v>
                </c:pt>
                <c:pt idx="5">
                  <c:v>26.3</c:v>
                </c:pt>
                <c:pt idx="6">
                  <c:v>26.5</c:v>
                </c:pt>
                <c:pt idx="7">
                  <c:v>44.6</c:v>
                </c:pt>
                <c:pt idx="8">
                  <c:v>30.6</c:v>
                </c:pt>
                <c:pt idx="9">
                  <c:v>24.9</c:v>
                </c:pt>
                <c:pt idx="10">
                  <c:v>22.6</c:v>
                </c:pt>
                <c:pt idx="11">
                  <c:v>22.9</c:v>
                </c:pt>
                <c:pt idx="12">
                  <c:v>25.4</c:v>
                </c:pt>
                <c:pt idx="13">
                  <c:v>78.3</c:v>
                </c:pt>
                <c:pt idx="14">
                  <c:v>41.8</c:v>
                </c:pt>
                <c:pt idx="15">
                  <c:v>80.099999999999994</c:v>
                </c:pt>
                <c:pt idx="16">
                  <c:v>24</c:v>
                </c:pt>
                <c:pt idx="17">
                  <c:v>31.9</c:v>
                </c:pt>
                <c:pt idx="18">
                  <c:v>21.9</c:v>
                </c:pt>
                <c:pt idx="19">
                  <c:v>21</c:v>
                </c:pt>
              </c:numCache>
            </c:numRef>
          </c:val>
          <c:extLst>
            <c:ext xmlns:c16="http://schemas.microsoft.com/office/drawing/2014/chart" uri="{C3380CC4-5D6E-409C-BE32-E72D297353CC}">
              <c16:uniqueId val="{00000001-2D0B-4923-A763-215A16E50B6F}"/>
            </c:ext>
          </c:extLst>
        </c:ser>
        <c:dLbls>
          <c:showLegendKey val="0"/>
          <c:showVal val="0"/>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120"/>
          <c:min val="-20"/>
        </c:scaling>
        <c:delete val="0"/>
        <c:axPos val="t"/>
        <c:majorGridlines>
          <c:spPr>
            <a:ln w="9525" cap="flat">
              <a:solidFill>
                <a:srgbClr val="E6EBF2"/>
              </a:solidFill>
              <a:prstDash val="solid"/>
              <a:round/>
            </a:ln>
          </c:spPr>
        </c:majorGridlines>
        <c:numFmt formatCode="0" sourceLinked="0"/>
        <c:majorTickMark val="out"/>
        <c:minorTickMark val="none"/>
        <c:tickLblPos val="low"/>
        <c:spPr>
          <a:ln w="12700" cap="flat">
            <a:noFill/>
            <a:prstDash val="solid"/>
            <a:round/>
          </a:ln>
        </c:spPr>
        <c:txPr>
          <a:bodyPr/>
          <a:lstStyle/>
          <a:p>
            <a:pPr>
              <a:defRPr sz="900" b="0" i="0" u="none" strike="noStrike">
                <a:solidFill>
                  <a:srgbClr val="64748B"/>
                </a:solidFill>
                <a:latin typeface="Malgun Gothic"/>
              </a:defRPr>
            </a:pPr>
            <a:endParaRPr lang="en-US"/>
          </a:p>
        </c:txPr>
        <c:crossAx val="2094734554"/>
        <c:crosses val="autoZero"/>
        <c:crossBetween val="between"/>
        <c:majorUnit val="20"/>
      </c:valAx>
      <c:spPr>
        <a:noFill/>
        <a:ln>
          <a:noFill/>
        </a:ln>
        <a:effectLst/>
      </c:spPr>
    </c:plotArea>
    <c:legend>
      <c:legendPos val="t"/>
      <c:overlay val="0"/>
      <c:txPr>
        <a:bodyPr/>
        <a:lstStyle/>
        <a:p>
          <a:pPr>
            <a:defRPr sz="1050">
              <a:solidFill>
                <a:srgbClr val="14213D"/>
              </a:solidFill>
              <a:latin typeface="Malgun Gothic"/>
              <a:cs typeface="Malgun Gothic"/>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4→6월에도 초과성장이 양(+)인 비율</c:v>
                </c:pt>
              </c:strCache>
            </c:strRef>
          </c:tx>
          <c:spPr>
            <a:solidFill>
              <a:srgbClr val="C4CEDC"/>
            </a:solidFill>
            <a:effectLst/>
          </c:spPr>
          <c:invertIfNegative val="0"/>
          <c:dPt>
            <c:idx val="0"/>
            <c:invertIfNegative val="0"/>
            <c:bubble3D val="0"/>
            <c:spPr>
              <a:solidFill>
                <a:srgbClr val="C4CEDC"/>
              </a:solidFill>
              <a:effectLst/>
            </c:spPr>
            <c:extLst>
              <c:ext xmlns:c16="http://schemas.microsoft.com/office/drawing/2014/chart" uri="{C3380CC4-5D6E-409C-BE32-E72D297353CC}">
                <c16:uniqueId val="{00000001-EA85-4D65-B9BB-EA040E4129F0}"/>
              </c:ext>
            </c:extLst>
          </c:dPt>
          <c:dPt>
            <c:idx val="1"/>
            <c:invertIfNegative val="0"/>
            <c:bubble3D val="0"/>
            <c:spPr>
              <a:solidFill>
                <a:srgbClr val="E8383D"/>
              </a:solidFill>
              <a:effectLst/>
            </c:spPr>
            <c:extLst>
              <c:ext xmlns:c16="http://schemas.microsoft.com/office/drawing/2014/chart" uri="{C3380CC4-5D6E-409C-BE32-E72D297353CC}">
                <c16:uniqueId val="{00000003-EA85-4D65-B9BB-EA040E4129F0}"/>
              </c:ext>
            </c:extLst>
          </c:dPt>
          <c:dLbls>
            <c:numFmt formatCode="0.0&quot;%&quot;" sourceLinked="0"/>
            <c:spPr>
              <a:noFill/>
              <a:ln>
                <a:noFill/>
              </a:ln>
              <a:effectLst/>
            </c:spPr>
            <c:txPr>
              <a:bodyPr/>
              <a:lstStyle/>
              <a:p>
                <a:pPr>
                  <a:defRPr sz="11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전체 2,111개 조합</c:v>
                </c:pt>
                <c:pt idx="1">
                  <c:v>1~4월 초과성장 +10%p 이상 (275개)</c:v>
                </c:pt>
              </c:strCache>
            </c:strRef>
          </c:cat>
          <c:val>
            <c:numRef>
              <c:f>Sheet1!$B$2:$B$3</c:f>
              <c:numCache>
                <c:formatCode>General</c:formatCode>
                <c:ptCount val="2"/>
                <c:pt idx="0">
                  <c:v>54.4</c:v>
                </c:pt>
                <c:pt idx="1">
                  <c:v>36.700000000000003</c:v>
                </c:pt>
              </c:numCache>
            </c:numRef>
          </c:val>
          <c:extLst>
            <c:ext xmlns:c16="http://schemas.microsoft.com/office/drawing/2014/chart" uri="{C3380CC4-5D6E-409C-BE32-E72D297353CC}">
              <c16:uniqueId val="{00000004-EA85-4D65-B9BB-EA040E4129F0}"/>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1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5~6월에도 상대 수준이 1배 초과인 비율</c:v>
                </c:pt>
              </c:strCache>
            </c:strRef>
          </c:tx>
          <c:spPr>
            <a:solidFill>
              <a:srgbClr val="C4CEDC"/>
            </a:solidFill>
            <a:effectLst/>
          </c:spPr>
          <c:invertIfNegative val="0"/>
          <c:dPt>
            <c:idx val="0"/>
            <c:invertIfNegative val="0"/>
            <c:bubble3D val="0"/>
            <c:spPr>
              <a:solidFill>
                <a:srgbClr val="C4CEDC"/>
              </a:solidFill>
              <a:effectLst/>
            </c:spPr>
            <c:extLst>
              <c:ext xmlns:c16="http://schemas.microsoft.com/office/drawing/2014/chart" uri="{C3380CC4-5D6E-409C-BE32-E72D297353CC}">
                <c16:uniqueId val="{00000001-2D36-4D66-A3C6-4F65D974FCF6}"/>
              </c:ext>
            </c:extLst>
          </c:dPt>
          <c:dPt>
            <c:idx val="1"/>
            <c:invertIfNegative val="0"/>
            <c:bubble3D val="0"/>
            <c:spPr>
              <a:solidFill>
                <a:srgbClr val="12A594"/>
              </a:solidFill>
              <a:effectLst/>
            </c:spPr>
            <c:extLst>
              <c:ext xmlns:c16="http://schemas.microsoft.com/office/drawing/2014/chart" uri="{C3380CC4-5D6E-409C-BE32-E72D297353CC}">
                <c16:uniqueId val="{00000003-2D36-4D66-A3C6-4F65D974FCF6}"/>
              </c:ext>
            </c:extLst>
          </c:dPt>
          <c:dLbls>
            <c:numFmt formatCode="0.0&quot;%&quot;" sourceLinked="0"/>
            <c:spPr>
              <a:noFill/>
              <a:ln>
                <a:noFill/>
              </a:ln>
              <a:effectLst/>
            </c:spPr>
            <c:txPr>
              <a:bodyPr/>
              <a:lstStyle/>
              <a:p>
                <a:pPr>
                  <a:defRPr sz="110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무작위 기준선 (평균)</c:v>
                </c:pt>
                <c:pt idx="1">
                  <c:v>3~4월 수준 1.3배 이상 (106개)</c:v>
                </c:pt>
              </c:strCache>
            </c:strRef>
          </c:cat>
          <c:val>
            <c:numRef>
              <c:f>Sheet1!$B$2:$B$3</c:f>
              <c:numCache>
                <c:formatCode>General</c:formatCode>
                <c:ptCount val="2"/>
                <c:pt idx="0">
                  <c:v>83.5</c:v>
                </c:pt>
                <c:pt idx="1">
                  <c:v>100</c:v>
                </c:pt>
              </c:numCache>
            </c:numRef>
          </c:val>
          <c:extLst>
            <c:ext xmlns:c16="http://schemas.microsoft.com/office/drawing/2014/chart" uri="{C3380CC4-5D6E-409C-BE32-E72D297353CC}">
              <c16:uniqueId val="{00000004-2D36-4D66-A3C6-4F65D974FCF6}"/>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1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1→6월 성장률</c:v>
                </c:pt>
              </c:strCache>
            </c:strRef>
          </c:tx>
          <c:spPr>
            <a:solidFill>
              <a:srgbClr val="FF7A7E"/>
            </a:solidFill>
            <a:effectLst/>
          </c:spPr>
          <c:invertIfNegative val="0"/>
          <c:dPt>
            <c:idx val="0"/>
            <c:invertIfNegative val="0"/>
            <c:bubble3D val="0"/>
            <c:extLst>
              <c:ext xmlns:c16="http://schemas.microsoft.com/office/drawing/2014/chart" uri="{C3380CC4-5D6E-409C-BE32-E72D297353CC}">
                <c16:uniqueId val="{00000001-6538-450F-A4DA-1709C657F1DF}"/>
              </c:ext>
            </c:extLst>
          </c:dPt>
          <c:dPt>
            <c:idx val="1"/>
            <c:invertIfNegative val="0"/>
            <c:bubble3D val="0"/>
            <c:spPr>
              <a:solidFill>
                <a:srgbClr val="12A594"/>
              </a:solidFill>
              <a:effectLst/>
            </c:spPr>
            <c:extLst>
              <c:ext xmlns:c16="http://schemas.microsoft.com/office/drawing/2014/chart" uri="{C3380CC4-5D6E-409C-BE32-E72D297353CC}">
                <c16:uniqueId val="{00000003-6538-450F-A4DA-1709C657F1DF}"/>
              </c:ext>
            </c:extLst>
          </c:dPt>
          <c:dPt>
            <c:idx val="2"/>
            <c:invertIfNegative val="0"/>
            <c:bubble3D val="0"/>
            <c:spPr>
              <a:solidFill>
                <a:srgbClr val="F2A20C"/>
              </a:solidFill>
              <a:effectLst/>
            </c:spPr>
            <c:extLst>
              <c:ext xmlns:c16="http://schemas.microsoft.com/office/drawing/2014/chart" uri="{C3380CC4-5D6E-409C-BE32-E72D297353CC}">
                <c16:uniqueId val="{00000005-6538-450F-A4DA-1709C657F1DF}"/>
              </c:ext>
            </c:extLst>
          </c:dPt>
          <c:dPt>
            <c:idx val="3"/>
            <c:invertIfNegative val="0"/>
            <c:bubble3D val="0"/>
            <c:extLst>
              <c:ext xmlns:c16="http://schemas.microsoft.com/office/drawing/2014/chart" uri="{C3380CC4-5D6E-409C-BE32-E72D297353CC}">
                <c16:uniqueId val="{00000007-6538-450F-A4DA-1709C657F1DF}"/>
              </c:ext>
            </c:extLst>
          </c:dPt>
          <c:dPt>
            <c:idx val="4"/>
            <c:invertIfNegative val="0"/>
            <c:bubble3D val="0"/>
            <c:extLst>
              <c:ext xmlns:c16="http://schemas.microsoft.com/office/drawing/2014/chart" uri="{C3380CC4-5D6E-409C-BE32-E72D297353CC}">
                <c16:uniqueId val="{00000009-6538-450F-A4DA-1709C657F1DF}"/>
              </c:ext>
            </c:extLst>
          </c:dPt>
          <c:dPt>
            <c:idx val="5"/>
            <c:invertIfNegative val="0"/>
            <c:bubble3D val="0"/>
            <c:spPr>
              <a:solidFill>
                <a:srgbClr val="F2A20C"/>
              </a:solidFill>
              <a:effectLst/>
            </c:spPr>
            <c:extLst>
              <c:ext xmlns:c16="http://schemas.microsoft.com/office/drawing/2014/chart" uri="{C3380CC4-5D6E-409C-BE32-E72D297353CC}">
                <c16:uniqueId val="{0000000B-6538-450F-A4DA-1709C657F1DF}"/>
              </c:ext>
            </c:extLst>
          </c:dPt>
          <c:dPt>
            <c:idx val="6"/>
            <c:invertIfNegative val="0"/>
            <c:bubble3D val="0"/>
            <c:extLst>
              <c:ext xmlns:c16="http://schemas.microsoft.com/office/drawing/2014/chart" uri="{C3380CC4-5D6E-409C-BE32-E72D297353CC}">
                <c16:uniqueId val="{0000000D-6538-450F-A4DA-1709C657F1DF}"/>
              </c:ext>
            </c:extLst>
          </c:dPt>
          <c:dPt>
            <c:idx val="7"/>
            <c:invertIfNegative val="0"/>
            <c:bubble3D val="0"/>
            <c:spPr>
              <a:solidFill>
                <a:srgbClr val="12A594"/>
              </a:solidFill>
              <a:effectLst/>
            </c:spPr>
            <c:extLst>
              <c:ext xmlns:c16="http://schemas.microsoft.com/office/drawing/2014/chart" uri="{C3380CC4-5D6E-409C-BE32-E72D297353CC}">
                <c16:uniqueId val="{0000000F-6538-450F-A4DA-1709C657F1DF}"/>
              </c:ext>
            </c:extLst>
          </c:dPt>
          <c:dPt>
            <c:idx val="8"/>
            <c:invertIfNegative val="0"/>
            <c:bubble3D val="0"/>
            <c:spPr>
              <a:solidFill>
                <a:srgbClr val="E8383D"/>
              </a:solidFill>
              <a:effectLst/>
            </c:spPr>
            <c:extLst>
              <c:ext xmlns:c16="http://schemas.microsoft.com/office/drawing/2014/chart" uri="{C3380CC4-5D6E-409C-BE32-E72D297353CC}">
                <c16:uniqueId val="{00000011-6538-450F-A4DA-1709C657F1DF}"/>
              </c:ext>
            </c:extLst>
          </c:dPt>
          <c:dPt>
            <c:idx val="9"/>
            <c:invertIfNegative val="0"/>
            <c:bubble3D val="0"/>
            <c:spPr>
              <a:solidFill>
                <a:srgbClr val="0B1B33"/>
              </a:solidFill>
              <a:effectLst/>
            </c:spPr>
            <c:extLst>
              <c:ext xmlns:c16="http://schemas.microsoft.com/office/drawing/2014/chart" uri="{C3380CC4-5D6E-409C-BE32-E72D297353CC}">
                <c16:uniqueId val="{00000013-6538-450F-A4DA-1709C657F1DF}"/>
              </c:ext>
            </c:extLst>
          </c:dPt>
          <c:dLbls>
            <c:numFmt formatCode="0.0" sourceLinked="0"/>
            <c:spPr>
              <a:noFill/>
              <a:ln>
                <a:noFill/>
              </a:ln>
              <a:effectLst/>
            </c:spPr>
            <c:txPr>
              <a:bodyPr/>
              <a:lstStyle/>
              <a:p>
                <a:pPr>
                  <a:defRPr sz="950" b="0" i="0" u="none" strike="noStrike">
                    <a:solidFill>
                      <a:srgbClr val="14213D"/>
                    </a:solidFill>
                    <a:latin typeface="Malgun Gothic"/>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영양군</c:v>
                </c:pt>
                <c:pt idx="1">
                  <c:v>옹진군</c:v>
                </c:pt>
                <c:pt idx="2">
                  <c:v>영월군</c:v>
                </c:pt>
                <c:pt idx="3">
                  <c:v>청송군</c:v>
                </c:pt>
                <c:pt idx="4">
                  <c:v>고성군(강원)</c:v>
                </c:pt>
                <c:pt idx="5">
                  <c:v>의성군</c:v>
                </c:pt>
                <c:pt idx="6">
                  <c:v>봉화군</c:v>
                </c:pt>
                <c:pt idx="7">
                  <c:v>양양군</c:v>
                </c:pt>
                <c:pt idx="8">
                  <c:v>후보 8곳 합산</c:v>
                </c:pt>
                <c:pt idx="9">
                  <c:v>전국 평균</c:v>
                </c:pt>
              </c:strCache>
            </c:strRef>
          </c:cat>
          <c:val>
            <c:numRef>
              <c:f>Sheet1!$B$2:$B$11</c:f>
              <c:numCache>
                <c:formatCode>General</c:formatCode>
                <c:ptCount val="10"/>
                <c:pt idx="0">
                  <c:v>209.6</c:v>
                </c:pt>
                <c:pt idx="1">
                  <c:v>106.2</c:v>
                </c:pt>
                <c:pt idx="2">
                  <c:v>87</c:v>
                </c:pt>
                <c:pt idx="3">
                  <c:v>65.400000000000006</c:v>
                </c:pt>
                <c:pt idx="4">
                  <c:v>63.3</c:v>
                </c:pt>
                <c:pt idx="5">
                  <c:v>40.4</c:v>
                </c:pt>
                <c:pt idx="6">
                  <c:v>39.1</c:v>
                </c:pt>
                <c:pt idx="7">
                  <c:v>22.3</c:v>
                </c:pt>
                <c:pt idx="8">
                  <c:v>58.2</c:v>
                </c:pt>
                <c:pt idx="9">
                  <c:v>3.3</c:v>
                </c:pt>
              </c:numCache>
            </c:numRef>
          </c:val>
          <c:extLst>
            <c:ext xmlns:c16="http://schemas.microsoft.com/office/drawing/2014/chart" uri="{C3380CC4-5D6E-409C-BE32-E72D297353CC}">
              <c16:uniqueId val="{00000014-6538-450F-A4DA-1709C657F1DF}"/>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algun Gothic"/>
              </a:defRPr>
            </a:pPr>
            <a:endParaRPr lang="en-US"/>
          </a:p>
        </c:txPr>
        <c:crossAx val="2094734552"/>
        <c:crosses val="autoZero"/>
        <c:auto val="1"/>
        <c:lblAlgn val="ctr"/>
        <c:lblOffset val="100"/>
        <c:noMultiLvlLbl val="1"/>
      </c:catAx>
      <c:valAx>
        <c:axId val="2094734552"/>
        <c:scaling>
          <c:orientation val="minMax"/>
          <c:max val="2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8606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부제는 요약서 정식 명칭(외국인 인바운드 로컬 디스커버리)과 동일. 큰 제목은 요약서 주제(‘SNS 보다 카드가 먼저 안다’)와 같은 문구에 물음표를 붙여, 검증 결과(H1 조건부 채택 — 카드가 대중 인지보다 먼저인지는 직접 확인하지 못함)와 맞췄다. 지도는 통계청 2018 행정구역 경계 기반이며 후보 8곳의 위치를 표시.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 본문은 01 문제 인식 → 02 가설 설정 → 03 데이터·분석 방법론 → 04 분석 결과 → 05 가설 검증 결과 → 06 서비스 아이디어 제안 → 07 기대효과 및 한계점 → 08 정리·결론 순이다. 붉은 원(04~06)이 이 자료의 핵심 구간(분석·검증·제안)이다. 부록에는 분석 코드와 재현 가이드, 본문에는 싣지 않은 제작 과정·접은 자료의 기록, 출처를 모았다.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 검증 완료(2026.9.21): 글로벌이코노믹 기사 원문 인용 — 4427억원 감소(지난해=2025), 2.08%, 95.7%(309만4000/323만5000), 상한 4.5→3.6%. 더체크: 연매출 3억 이하 신용 0.4%·체크 0.15%.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매입업무 비중은 기사마다 산정 기준이 달라 2024년 79.7%(시사저널e) vs 80.10%(CEOSCORE)로 차이가 있음 → 본 자료는 ‘약 80%’로 통일. 우리카드 이탈: 매입업무 수익의 약 40%를 차지했다는 보도.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1분기 수치: 문체부 2026.4.14~16 발표(스타뉴스·이투데이 재확인). 지역 소비액 4,667억원(+26.8%), 지역 방문율 34.5%(+3.2%p), 지방공항 입국 85만3,905명(+49.7%). 상반기 누적 1,071만 명(문체부 7.28). 다국어·검색·리뷰 인프라 부족은 업계에서 지적되는 문제로 본 자료에서 정량 검증한 수치는 아니며, 그래서 제목과 소제목을 ‘지적이 있다’, ‘공백지대일 수 있다’로 표현했다.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프레임이 이후 H1 해석의 기준. 뒤에서 한국관광 데이터랩(통신데이터 기반 실제 방문자수)과 비교했을 때 대부분의 지역에서 방문자→카드 순서가 나온 것은 이 ‘주의’ 문장과 일치하는 자연스러운 결과.</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요약은 검증 파트와 동일: H2 채택 / H1 조건부 채택(방문자 통계와의 비교까지 수행했고, 대중 인지(검색·뉴스)와의 직접 비교는 하지 못함) / H3 조건부 채택(20/20은 후보를 6개월 전체 신호로 고른 뒤의 사후 확인이라 예측 검증은 아님 — 전국 재검증 결과는 26~27쪽). 검증 계획과 실제 수행의 차이는 부록 A4(40쪽)에 정리했다.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CNT 949,105,068건 / AMT 17조 2,249억원 대비 외국인 CNT 75,509,726건(7.96%) / AMT 1조 2,781억원(7.42%). 255 = SIDO+CCG 고유 조합, 233 = 시군구 명칭 고유값. 정규화·세그먼트·연령대 코드 오차 점검 항목은 데이터 활용(컬럼별 역할) 장에서 다시 다루고, 관광객·장기체류자 미구분 한계는 뒤(신호의 원인 분류)에서 핵심 한계로 확인한다.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활용 정리 한 장. 공모전 제공 데이터의 9개 컬럼이 분석의 어느 단계에 쓰였는지와, 외부 데이터가 무엇을 확인하는 데 쓰였는지를 한 화면에 모았다. AGE_CD는 외국인도 1~6 값을 갖는 정의 오차를 점검했고, 연령대(40세 미만 비율)로 관광객과 체류자를 구분하는 방법은 관광지마다 31~66%로 제각각이라 최종 분석에는 쓰지 않았다(부록 A5). 외부 데이터의 출처는 부록 A6. 외부 데이터는 카드 신호와 순환 참조가 생기지 않는 독립 원천만 교차검증에 썼다(예: BC카드 기반인 네이버 데이터랩 카드 사용통계는 쓰지 않음).</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분석은 이 순서로 정리했다. 노란 밴드의 ML 미사용 이유: 수작업으로 확인한 양호/제외 라벨이 30~40개뿐이라 지도학습은 과적합 위험이 크다. 시행착오와 방향 전환의 기록은 부록 A3~A5에 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전국 11개 업종 합계 CNT MoM(%): 2월 −6.75, 3월 +16.61, 4월 +3.25, 5월 +7.93, 6월 −4.57(national_cnt.pkl 합계 기준). Kruskal-Wallis: national_cnt.pkl의 업종×월 MoM(%) 값을 월(5개 구간, 각 n=11 업종)로 묶어 비교, H=33.83, p=8.07e-07. Shapiro-Wilk: cnt_scores.pkl(n=2,111) 기준 W=0.6768, p=4.63e-53, skew=4.92, mean=0.017, median=0.0059. 두 검정 모두 이 자료가 이미 쓰고 있는 방법론(상대 초과성장률 정의, percentile 기반 육안 검수, Spearman 순위상관 채택)의 통계적 근거를 사후에 확인한 것이다.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스코어 = 최근 2개월(5·6월) 각각의 [지역×업종 MoM − 전국 같은 업종 MoM]의 평균. 청송 편의점: 5월 626/423−1=+48.0%, 전국 편의점 +8.2% → +39.7%p; 6월 937/626−1=+49.7%, 전국 −0.6% → +50.3%p; 평균 +45.0%p(=cnt_scores 값과 일치). AMT·CNT 각각 계산하면 순위가 달라지는데, 방문객이 늘기 시작한 곳을 먼저 포착한다는 목적에 맞는 CNT를 채택했다. 표시값은 반올림 전 값으로 계산해 표시값의 차와 0.1%p 다를 수 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무주군 스낵(외국인 CNT): 476→540→59→43→38→76. 상대 초과성장률은 계절성은 제거하지만 저베이스 반등은 못 거른다는 점을 확인해 육안 검수를 추가. 축제 3건은 통째로 버리지 않고 축제월을 뺀 4월→6월(또는 3→5월) 구간으로 재계산해 순수 신호가 남는지 확인: 곡성 제외 유지, 포천·음성 복귀. 시군구 단위 재집계 때 강원 고성군/경남 고성군이 합쳐지지 않도록 SIDO_NM+CCG_NM 복합키를 사용했다. 축제 일정(1단계 노트북 기준): 곡성 장미축제 5/22~31, 포천 한탄강 봄 가든페스타 5/1~6/7, 음성 품바축제 6/10~14.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전국 계절성: national_cnt.pkl 기준 전월대비 MoM 3월 +16.6%(EDA 장에서 통계 검정, Kruskal-Wallis H=33.83·p&lt;0.001로 유의성 확인). 축제 일정(1단계 노트북 기준): 곡성 장미축제 5/22~31, 포천 한탄강 봄 가든페스타 5/1~6/7, 음성 품바축제 6/10~14 — 축제월을 뺀 재계산 결과 곡성은 신호 소멸(제외 유지), 포천·음성은 신호 잔존(후보 복귀). 보령시: YTN 4/24 사전보도, 5/2~3 보령·AMC 국제 모터페스티벌(대천해수욕장), 5월 외국인 카드 이용 +26.8%(전국 +7.9%) — 이미 알려진 곳의 대조군.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지도 색상 = 지역별 평균 상대 초과성장률(최소건수 필터를 통과한 업종 조합의 단순 평균, 저베이스 반등 4셀 제외, 0~30%p 스케일). 경계 폴리곤 하나에 데이터 지역이 둘 이상 합쳐지는 경우에만 기준규모 가중평균을 썼다. 동명 시군구(강원 고성 vs 경남 고성)는 SIDO+CCG로 구분해 매핑했고, 255개 데이터 지역 전부 경계 폴리곤과 매칭됨. 행정구역 경계는 통계청 2018 기준 지도(southkorea-maps, 단순화)라 최신 개편과 일부 다를 수 있다. 이 지도는 후보 선정 화면이 아니라 전체 분포 화면이다. 후보 밖에도 값이 큰 지역이 있다(예: 함평군은 중국음식이 월 35→111건으로 뛴 한 업종이 평균을 끌어올림). 후보는 여러 업종의 동시 신호, 아티팩트 검수, 개별 뉴스 검증을 거쳐 남긴 8곳이다.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뒤에 나오는 Track 표기의 정의 장이다. 같은 ‘외국인 카드 소비 증가’라도 원인이 다르면 서비스 방향이 달라진다. 계절 요인은 전국 동종업종 차감(상대 초과성장률)으로, 지역 축제는 축제월 제외 재계산과 대조군(보령시)으로, 계절근로자는 지역 언론의 입국 보도와 시점 대조로 다뤘다. Track A(관광 유입형)는 확인된 반증이 없는 옹진·양양과 개별 사건성 뉴스는 없으나 혼합 가능성이 있는 영월·의성(각주 처리), Track B(이주노동 유입형)는 계절근로자 입국이 확인된 청송·영양·봉화·고성이다. 보령시는 후보가 아니라 이미 알려진 곳의 대조군이다. 분류는 정성적 판단이라 경계 사례는 다르게 볼 여지가 있고, Track B는 서비스 관점에서 아이디어 수준으로만 제시한다. 분류 근거 기사는 부록 A6.</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히트맵 값 = cnt_scores(최근 2개월 평균 상대 초과성장률, %p). 봉화군 제과점(+75.5)·양양군 일식회집(+150.1)은 저베이스 반등형으로 판정해 제외 표시. 청송군 3/4, 옹진군 3/4, 봉화군 4/4, 영양군 5/6, 고성군 5/6, 영월군 5/8, 의성군 5/7, 양양군 6/7 — 후보 8곳 모두 3개 업종 이상에서 +10%p 이상(표시값 기준 집계; 양양군 일반한식은 원값 +9.99로 +10.0으로 표기되어 포함). 대조군 보령시는 5/9.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청송군 외국인 CNT 월별: 편의점 321·432·453·423·626·937, 슈퍼마켓 427·439·498·510·711·831, 서양음식 61·100·126·102·188·198. 전 업종 합계 1,442→2,579건(+78.8%), 전국 외국인 전체 +15.6%. 계절근로자: 4/27~5월 중순 451명 순차 입국, 전년비 약 +79%, 119개 농가에 배치(사과 적과·수확 등 투입) — 경북일보 2026.4.29 보도. 1~4월만 보면 편의점(−13.8%p)·서양음식(−9.0%p)은 음수였다(H3 참조).</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양양군 일식회집 42→27→17→14→59→47 (점수 1.50)은 표본이 작아 제외하고, 서양음식 385→732, 편의점 2,533→3,827, 일반한식 704→1,083의 세 업종을 근거로 삼았다. 전국 같은 업종 대비 성장: 서양음식 +90.1% vs +23.0%, 편의점 +51.1% vs +27.5%, 일반한식 +53.8% vs +7.9%.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교란변수(계절근로자) 확인. 청송·영양·봉화·고성은 계절근로자(또는 외국인력) 도입 보도가 있고 소비 급증 시점과 맞물린 것으로 확인됨(영양은 슈퍼마켓 최대 증가 구간과 거의 정확히 겹침). 영월·의성은 혼합 가능해 Track A에 두되 각주로 처리. 양양·옹진은 반증 근거를 못 찾은 상태로 ‘깨끗하다’가 아니라 ‘확인된 반증이 없다’가 정확한 표현(옹진에는 기존 상주 어선원이 있음). 트랙 분류는 정성적 판단이라 경계 사례(예: 봉화 3/24 입국 vs 5월 정점)는 다르게 볼 여지가 있다. 연령대 분포(40세 미만 비율)로 구분하는 방법은 관광지마다 31.4~66.2%로 제각각이라 구분력이 없어 쓰지 않았다(부록 A5).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한국관광 데이터랩 TourAPI(locgoRegnVisitrDDList, 기초지자체 지역방문자수). 지역 필터 파라미터가 없어 전국 시군구를 받아 코드로 필터했고, 기간 쿼리가 정상 작동하는지는 사전 점검(이틀 요청 시 totalCount 740→1584)으로 확인했다. 강원 코드가 42→51로 바뀌어 고성·영월·양양이 누락될 수 있는 점을 응답 직접 조회로 확인했다. 카드 신호와 독립된 원천을 쓰려고 BC카드 기반 통계(네이버 데이터랩 카드 사용통계 등)는 쓰지 않았다. 검색·뉴스 언급량과의 직접 비교는 하지 못했고 후속 과제다. 본문에서 쓰지 않은 자료와 그 이유는 부록 A5(41쪽)에 정리했다.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정점월(카드 초과성장률 최대월 / 방문자 전월대비 증가율 최대월): 옹진 3/4, 영월 4/4, 고성 4/3, 청송 5/4, 봉화 5/4, 의성 5/4, 양양 5/4, 영양 6/4. 방문자가 먼저인 지역 6곳(청송·봉화·고성·의성·양양·영양), 동시 1곳(영월), 카드가 먼저인 지역 1곳(옹진). 방문자 먼저인 지역 중 청송·봉화·영양·고성은 계절근로자 도입이 뉴스로 확인된 지역이라 ‘방문자 급증’이 관광객의 점진적 유입이 아니라 특정 날짜 집단 입국일 가능성이 높고, 카드 소비가 한 달 뒤 늘어나는 것은 정착 후 소비 시작까지의 시차로 해석하는 편이 타당. 결제는 방문과 동시에 일어나므로 카드가 실제 방문보다 앞서는 것 자체가 원리상 어렵다. 옹진군 1곳(n=1)의 정점월 비교이므로 일반화하지 않고, 통계적 유의성 주장에도 쓰지 않는다.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lag0: n=40 Pearson r=-0.030(p=0.855) Spearman ρ=+0.098(p=0.549). 방문자[m]→카드[m+1]: n=32 Pearson r=+0.198(p=0.277) Spearman ρ=+0.328(p=0.067). 카드[m]→방문자[m+1]: n=32 Pearson r=-0.434(p=0.013) Spearman ρ=-0.591(p=0.0004); 지역 평균 제거 Spearman ρ=-0.474(p=0.0061). 평균 곡선은 각 지역의 카드/방문자 시계열을 정점=100으로 나눈 값의 8개 지역 평균(카드 12.1·21.0·43.4·78.9·49.9, 방문자 2.1·37.4·99.8·19.8·-8.7). 음의 상관은 방문자 정점이 카드 정점보다 약 1개월 먼저이기 때문.</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옹진군: 카드 초과성장률 2~6월 -2.3/+30.0/+24.1/+23.7/-2.5%p, 방문자 전월대비 +5.5/+30.4/+64.6/-11.9/-16.6%. 방문자수 166,906→176,009→229,536→377,775→332,677→277,484. 보령시(대조군): YTN이 2026.4.24에 5/2~3 보령·AMC 국제 모터페스티벌을 사전 보도 → 5월 외국인 이용 건수 18,519→23,480(+26.8%, 전국 +7.9%). 축제월을 뺀 4→6월로 재계산해도 대부분 업종에서 10.9~24.0%p 잔여 초과성장이 남아 “이미 유명한 곳의 추가 성장” 대조 사례로 재포지셔닝. 옹진군 E-9-4 657명(2026.6 기준)·E-8 8/31 도입 준비 착수는 내외일보(2026.9.1) 보도로 확인.</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정의: 소비 규모 = 시군구 6개월 누적 이용 건수, 초과성장률 = 시군구 내 (지역×업종) 점수의 평균, 4셀 = 저베이스 반등으로 판정한 무주 스낵·곡성 서양음식·봉화 제과점·양양 일식회집. 보령시를 후보에 포함한 9곳은 원 산출값 기준 평균 34,133건 · +19.7%p. 원 산출값: 후보 8곳 baseline 평균 24,145건(중앙값 18,109) / 성장 +21.03%p; 유명 관광지 10곳(서울 중구·종로구·강남구, 부산 해운대구, 인천 중구, 경주시, 속초시, 강릉시, 제주시, 서귀포시) 1,153,373건 / +0.92%p; 산업단지형 10곳(안산 단원구·시흥·화성·평택·광주 광산·아산·김포·김해·경산·대구 달서) 1,280,025건 / +0.67%p. 비율 22.8배·31.4배, 규모비 47.8배(관광지)·53.0배(산업단지). 4셀(무주 스낵·곡성 서양음식·봉화 제과점·양양 일식회집) 제외 시 후보 8곳 +17.45%p, 비율 18.9배·26.1배. Mann–Whitney U(후보 8곳 vs 관광지/산업단지, 4셀 제외): 각 p=2.29e-05. 규모 통제: 후보·보령·관광지·산업단지형을 뺀 비후보 중 6개월 누적 7만 건 미만(후보 최대 고성군 67,590건을 덮는 값) 63곳, 평균 34,630건, 성장 +4.58%p(원 산출 +4.76%p) → 후보/대조군 3.8배(원 산출 4.4배), U 검정 p=1.5e-05(원 산출 6.9e-06). 규모 기준을 4만·5만·10만·15만 건으로 바꿔도 3.8배 전후가 유지된다(2.8·3.3·4.2·5.0배, 모두 p&lt;0.001). 다만 63곳 중 +15%p 이상이 5곳(함평·군위·곡성·거창·함양)이고 15곳은 후보 최저값(영월 +11.0%p)보다 높아, 후보가 성장률 상위 8곳이라는 뜻은 아니다. 대조군에는 후보처럼 개별 검수를 하지 않아 저베이스 반등형 셀(예: 함평 중국음식 35→111건)이 남아 있다. 후보의 선정 효과가 섞인 비교라 인과·예측 근거가 아니라 위치 확인이다. 요약서의 “3.4만 건, 19.7%p”는 보령시를 포함한 9곳의 원 산출값.</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20개 항목(지역×업종): 청송 편의점/서양음식/슈퍼마켓, 봉화 편의점/슈퍼마켓/서양음식/일반한식, 고성 서양음식/편의점/슈퍼마켓, 영월 편의점/일반한식/슈퍼마켓, 영양 슈퍼마켓/편의점, 의성 서양음식/슈퍼마켓, 양양 서양음식/편의점/일반한식. 1~4월 점수가 음수인 항목은 청송 편의점(-13.8), 청송 서양음식(-9.0), 의성 서양음식(-6.1), 양양 편의점(-3.3). 이 20개는 1~4월 데이터만으로 뽑은 것이 아니라 6개월 전체 신호 기준으로 선정했으므로 ‘사후 확인’으로 표기한다. 1~4월 점수 = 3·4월 전국 동종업종 대비 초과성장률 평균, 4→6월 실측 = 4월→6월 증가율 − 전국 동종업종 증가율(외국인 세그먼트, CNT). 옹진군은 이 20개 항목에 포함되지 않는다.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재검증 방법(외국인 세그먼트 · CNT · 최소건수 필터 통과 2,111개 조합; 상대 수준 = (지역×업종 월평균 ÷ 1~2월 평균) ÷ (전국 동종업종 동일 비율)): ① 1~4월 점수 ≥ +10%p인 275개 조합 중 4→6월 실측이 양(+)인 비율 36.7% (전체 54.4%); train 상위 20개는 15%만 양(+). Spearman ρ=-0.275(조합 단위), -0.363(시군구 단위 255곳). 후보 8곳의 1~4월 점수 순위: 청송 250, 양양 248, 봉화 58, 영월 30, 고성 25, 의성 44, 영양 9, 옹진 6. ② 수준 지속: 1~2월 평균을 1로 두고 전국 동종업종과의 비율로 정규화한 상대 수준이 3~4월 ≥1.3인 조합(106~107개)이 5~6월에 &gt;1을 유지한 비율 100% (전체 50.7%). 각 셀의 6개월 값 순서를 무작위로 섞은 300회 시뮬레이션에서는 같은 조건의 통과율이 평균 83.5%, 95번째 백분위 91.5%. 해석: 성장률(변화율)의 지속은 확인되지 않지만 상승한 수준은 유지 → 단월 급등 알림이 아니라 다월·다업종 주시 목록으로 설계.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 컨셉 한 장. 정식 명칭은 요약서와 같은 “외국인 인바운드 로컬 디스커버리”. 3단계: ① 포착(주시 목록) → ② 전달(지자체·소상공인 조기 알림 + 외국인 이용자 얼리버드 큐레이션) → ③ 행동(크로스보더 QR 첫 결제 리워드·배지). 주시 목록 기준의 ②는 전국 재검증(2,111개 조합)에서 상대 수준 ≥1.3배(3~4월)인 106개 조합이 5~6월에도 모두 1배 초과를 유지한 결과(무작위 기준선 평균 83.5%, 상위 5% 경계 91.5%보다 높음)를 근거로 한 제안이다. ③ 폭넓은 확산 기준은 설계 원칙이며 별도 통계 검증은 하지 못했다. Track B(이주정착지원)는 아이디어 수준으로만 제시.</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와이어프레임(가상 예시). ① 수치는 실제 분석값: 옹진군 카드 초과성장률 3월 +30.0%p, 3~5월 +30.0/+24.1/+23.7%p 3개월 연속 양(+), 방문자 증가율 4월 +64.6%(전월 대비), 계절근로 뉴스 검증에서 확인된 반증 없음. ② 가맹점명은 넣지 않았고 업종(편의점·서양음식·슈퍼마켓)만 표시했다. 실제 서비스는 시군구×업종 집계가 아닌 가맹점 단위 정보와 노출 동의가 필요하다. ③ 리워드 종류·규모는 미정(TBD).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협약 내용은 보도 기준(2026.8.24 체결, 8/25~26 보도). 정확한 표현: BC카드는 전국 가맹점 네트워크와 결제 인프라를 활용해 네이버페이가 외국인 대상 결제 서비스를 제공할 수 있도록 시스템 개발·운영을 지원(뉴스핌), 유니온페이는 해외 결제 서비스와 국내 결제 인프라를 연결하는 연동 기반을 제공(아시아투데이), “크로스보더 QR 결제 활성화를 위한 협력도 이어갈 예정”(글로벌이코노믹·아시아투데이, 미래형), “서비스는 내년도 출시가 목표”(이데일리). ‘크로스보더 QR 결제 사업 발표’로 요약하면 QR이 향후 협력 과제라는 점에서 다소 과장이라 본 자료에서는 위와 같이 적었다. 가맹점 규모 수치는 매체마다 달라 인용하지 않았다.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인사이트: 리뷰·블로그·SNS는 누군가 방문하고 써야 생기는 후행 지표이고, 카드 결제는 리뷰 여부와 무관하게 발생 즉시 데이터가 된다. 단, 결제는 방문과 동시에 일어나므로 방문(유입) 자체보다 앞설 수는 없다 — 방문자통계와의 비교에서 6곳은 방문자가 먼저였고 옹진군만 카드가 1개월 먼저였다. 그래서 본 서비스의 가치는 방문을 예측하는 것이 아니라 후기·검색·뉴스가 쌓이기 전에 이미 일어난 유입을 포착하는 데 있다. WOWPASS 수치: 이코노미스트 기사(가입자 2024.4 약 100만 → 2026.3 약 300만, 키오스크 397대·올해 500대 목표, 2025년 매출 253억·영업이익 24억, 2022년 매출 8억). 다른 카드사·상품과의 기능 비교는 하지 않았고, WOWPASS의 다른 기능에 대한 판단은 담지 않았다. 세 번째 카드(BC카드 자체 상권지수)는 경향신문 2023.8.22 보도(집객력·밀집도·안정성·구매력·성장성 5개 지표, 5등급, 창업자·지자체 대상) 기준이며, 이후 갱신 여부는 확인하지 못했다 — 이 서비스는 이미 형성된 상권을 사후 진단하는 데 초점이 있고, 본 제안은 리뷰·SNS가 쌓이기 전 신호를 원인(관광·이주노동)까지 분류해 사전에 알린다는 점에서 다르다.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이용 금액(AMT) 기준 1→6월 성장률: 영양군 209.6%, 옹진군 106.2%, 영월군 87%, 청송군 65.4%, 고성군(강원) 63.3%, 의성군 40.4%, 봉화군 39.1%, 양양군 22.3%; 8곳 합산 +58.2%(4.14억→6.55억 원), 전국 외국인 소비 +3.28%(약 18배). 6개월 누적 8곳 합계 30.35억 원 = 전국 외국인 카드 소비의 0.24%. Track A 관광 2곳(옹진·양양) +40.1% vs Track B 계절근로자 확인 4곳(청송·영양·봉화·고성) +67.5% — 관광 수요만으로는 과대평가될 수 있다는 근거. 영양군은 1월 소비액이 1,130만 원으로 기저가 작아 +209.6%가 크게 보인다. 이 수치는 매출 예측이 아니며, ‘옹진군 기준 약 1개월’은 카드 신호(3월)와 방문자 증가 정점(4월)의 차이(n=1)이다. 후보 8곳은 성장률이 높은 지역을 골랐으므로 선정 효과가 포함된다.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기본 한계(GENDER_CD=3, n=32, 6개월, 업종 11개, 연령대(AGE_CD) 미세분, 소표본 노이즈, BC 이용실적, 0.24%)에 더해: 대중 인지(검색·뉴스) 직접 비교와 가맹점 노출도 측정 미수행, 카드가 먼저인 곳이 옹진군 1곳(n=1)뿐이라는 점, 후보 선정 효과와 트랙 분류의 정성적 성격, H3 사후 확인·성장률 지속 미확인, 가맹점 단위 서비스 불가. 시차상관 p값은 표본이 독립이 아니라서 과소 추정됐을 가능성이 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 한 장. 각 칸은 “무엇을 물었고(회색) → 어떻게 정했는지(굵게)”의 쌍이다. 1 문제 인식: 수수료 압박과 매입업무 의존 → 외국인 인바운드 소비를 카드로 먼저 포착. 2 가설·방법: 건수(CNT) 기준, 시군구 단위 재집계, 방문자 통계 교차검증. 3 검증: 오탐 제거(육안 검수·축제월 제외), 원인 확인(계절근로자), 전국 재검증. 4 개선안: GENDER_CD=3의 한계를 데이터 개선 제안으로, 새 카드 대신 협약 인프라 위 서비스 레이어. 의사결정 타임라인과 방향 전환의 기록은 부록에 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 장. 왼쪽 “조건부로 말할 수 있는 것”은 H2 채택, H1 조건부(방문자 증가가 카드보다 약 1개월 앞서는 경향 — 시차상관 ρ=-0.591은 방문자 정점이 카드보다 앞선다는 뜻), H3 조건부(수준의 지속). H2의 +17.5%p는 저베이스 반등 4셀 제외값이고, 규모 비슷한 63곳 대비 약 3.8배(선정 효과 포함). 가운데 “아직 답하지 못한 것”은 H1의 원래 의미, 관광객·체류 노동자 구분, 가맹점 단위 서비스. 오른쪽은 BC카드에 하는 세 가지 제안. 마지막 문장은 청송·영양·봉화·고성에서 확인된 GENDER_CD=3의 한계에서 나온 결론.</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표지. A1 분석 코드(노트북 5종 + 수치 재현 스크립트), A2 재현 가이드(실행 순서와 재현 확인 수치), A3 제작 과정 기록(의사결정 타임라인 + 중간 산출물), A4 검증 계획과 실제 수행, A5 접은 자료와 바꾼 결정, A6 출처·참고자료. 본문에서는 결과적으로 사용한 자료·변수(한국관광 데이터랩 방문자수, 계절근로자·지역 축제 변수)만 서술했고, 시도했다가 접은 것들은 A3~A5에 모았다.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노트북 5종: 1단계 전처리(신호 탐지 부록 셀 포함), 2단계 EDA(H2·H3), 5단계 3종(TourAPI 방문자 수집, 시차상관, 구글트렌드 시도). 구글트렌드 노트북은 소규모 지역의 검색량이 희박해 결과를 쓰지 못한 시도의 기록이다. 수치 재현 스크립트는 노트북에 없던 계산(H2 강건성·규모 통제 대조군, AMT 효과, H3 전국 재검증)까지 원본 CSV에서 다시 계산한다. 시차상관 노트북은 원래 필터를 적용하지 않은 합계(pivot_cnt)를 써서 ρ=−0.555가 나왔는데, 본 자료의 −0.591은 필터 통과 조합만 합산한 값이라 USE_RELIABLE 옵션을 추가해 기본값을 본 자료 기준으로 맞췄다.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재현 순서: 1단계 → 2단계 → 5단계(방문자 수집) → 5단계(시차상관) → 재현 스크립트. 재현 스크립트는 다른 노트북과 독립적으로 원본 CSV만으로 실행할 수 있고, 방문자 수(TourAPI 결과 월 합계)는 스크립트 안에 옮겨 적었다. 표의 값은 모두 본문에 실린 수치이며(H2 원 산출값 +21.03%p는 저베이스 반등 4셀을 포함한 값), 스크립트가 기대값과 대조해 ✓/✗를 출력한다. 규모 통제 대조군은 후보·보령·관광지·산업단지형을 뺀 비후보 중 6개월 누적 7만 건 미만 63곳이다. 시차상관은 필터를 적용하지 않으면 ρ=−0.555(p=0.001)로 부호와 유의성은 같다. H3의 ‘성장률 지속’은 전체 54.4% 대비 1~4월 점수 +10%p 이상 조합 36.7%로 지속되지 않았고, ‘수준 지속’은 106개 조합이 100%로 무작위 기준선(평균 83.5%, 95번째 백분위 91.5%)보다 높았다.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프로젝트의 목적은 결론이 아니라 문제 인식 → 가설 → 검증 → 개선안의 의사결정 과정을 남기는 것(9/11). 왼쪽은 회의록에서 뽑은 날짜별 의심과 결정이고, 빨간 점은 방향을 바꾼 결정(9/8 외국인 인바운드 전환, 9/15 계절근로자 오염 가능성, 9/17 구글트렌드 폐기와 TourAPI 전환, 9/21 H3 순환 선택 발견)이다. 오른쪽은 5~6단계에서 만든 중간 차트를 당시 그대로 줄인 것으로, 시차상관 산점도의 제목(카드→방문자)과 “카드 선행” 해석은 이후 검토에서 방문자 정점이 카드보다 먼저라는 해석으로 정정했다.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A4. 본문 검증 파트(H1~H3)에는 결과적으로 수행한 검증만 실었고, 당초 계획한 구성(구글트렌드+빅카인즈, 구글맵 스냅샷)과 실제 수행 내용의 차이를 숨기지 않고 먼저 밝혀 두는 장. 구글트렌드는 9/17 시도(22개 키워드 조합 중 13개 결과 없음, 나머지 9개도 한 달 1일치 값), 유튜브는 totalResults 근사치 문제, 빅카인즈는 API 승인 절차로 미확보. 구글맵 스냅샷은 수행하지 못함. H3는 9/21 재점검에서 후보 선정이 전체 기간 신호 기반이라는 순환성을 발견해 전국 재검증을 추가.</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A5. 구글트렌드 9/17 시도: 22개 키워드 조합 중 13개 비어 있고 나머지 9개도 월 1일치(100/31≈3.226 같은 값). 유튜브: 청송군 61,655건·옹진군 2,255건(인구 2만4천 명 남짓한 청송에 6만 건은 비현실적 → totalResults 근사치+느슨한 매칭). 연령분포 지표는 9/15 도입 → 9/16 폐기(관광지 9곳의 40세 미만 비율 31.4~66.2%). 양양 일식회집은 9/14 8차 개별 검증에서 헤드라인을 폐기. H3는 9/21 재점검에서 후보 선정이 전체 기간 신호 기반이라는 순환성을 발견해 전국 재검증을 추가. 시차상관 산점도의 초기 제목(카드→방문자, 카드 선행)은 이후 검토에서 방문자 정점이 카드 정점보다 먼저라는 해석으로 정정. 계절근로자 재분류는 9/15의 가장 큰 방향 수정이었다.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 정리. 매입업무 비중은 출처마다 산정 기준이 달라(시사저널e 2024년 79.7%, CEOSCORE Daily 2024년 80.10%) 본문에서는 ‘약 80%’로 표기했다. 협약(2026.8.24 체결, 8/25~26 보도)의 QR 결제 협력은 향후 과제로 보도됐고 서비스 출시 목표는 내년이다. 후보 원인 분류에 쓴 지역 언론 기사는 청송·영양·의성(경북일보), 봉화(이로운넷), 고성(더연합타임즈), 옹진(내외일보)이며 각 보도일은 본문에 적었다. 영월군은 개별 사건성 기사를 찾지 못했고 양양군도 분석 기간 내 해당 기사가 없었다. 방한 외국인 통계는 1분기(2026.4 발표)와 상반기(2026.7 발표)를 구분해 표기했다.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chart" Target="../charts/chart11.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7.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2.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9.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hyperlink" Target="https://www.ceoscoredaily.com/page/view/2025082716442978582" TargetMode="External"/><Relationship Id="rId13" Type="http://schemas.openxmlformats.org/officeDocument/2006/relationships/hyperlink" Target="https://www.newspim.com/news/view/20260825000715" TargetMode="External"/><Relationship Id="rId18" Type="http://schemas.openxmlformats.org/officeDocument/2006/relationships/hyperlink" Target="https://www.kyongbuk.co.kr/news/articleView.html?idxno=4071365" TargetMode="External"/><Relationship Id="rId3" Type="http://schemas.openxmlformats.org/officeDocument/2006/relationships/image" Target="../media/image43.png"/><Relationship Id="rId21" Type="http://schemas.openxmlformats.org/officeDocument/2006/relationships/hyperlink" Target="https://www.eroun.net/news/articleView.html?idxno=76343" TargetMode="External"/><Relationship Id="rId7" Type="http://schemas.openxmlformats.org/officeDocument/2006/relationships/hyperlink" Target="https://www.sisajournal-e.com/news/articleView.html?idxno=411307" TargetMode="External"/><Relationship Id="rId12" Type="http://schemas.openxmlformats.org/officeDocument/2006/relationships/image" Target="../media/image44.png"/><Relationship Id="rId17" Type="http://schemas.openxmlformats.org/officeDocument/2006/relationships/image" Target="../media/image15.png"/><Relationship Id="rId2" Type="http://schemas.openxmlformats.org/officeDocument/2006/relationships/notesSlide" Target="../notesSlides/notesSlide42.xml"/><Relationship Id="rId16" Type="http://schemas.openxmlformats.org/officeDocument/2006/relationships/hyperlink" Target="https://edaily.co.kr/News/Read?mediaCodeNo=257&amp;newsId=02912646645550928" TargetMode="External"/><Relationship Id="rId20" Type="http://schemas.openxmlformats.org/officeDocument/2006/relationships/hyperlink" Target="https://www.kyongbuk.co.kr/news/articleView.html?idxno=4081736" TargetMode="External"/><Relationship Id="rId1" Type="http://schemas.openxmlformats.org/officeDocument/2006/relationships/slideLayout" Target="../slideLayouts/slideLayout1.xml"/><Relationship Id="rId6" Type="http://schemas.openxmlformats.org/officeDocument/2006/relationships/hyperlink" Target="https://thecheck.co.kr/2026%EB%85%84-%EC%B9%B4%EB%93%9C%EC%88%98%EC%88%98%EB%A3%8C-%EC%9D%B8%ED%95%98-%EC%B5%9C%EC%A0%80-0-4-%EC%86%8C%EC%83%81%EA%B3%B5%EC%9D%B8-%ED%98%9C%ED%83%9D-%EB%B0%8F-%ED%99%98%EA%B8%89-%EC%A0%95/" TargetMode="External"/><Relationship Id="rId11" Type="http://schemas.openxmlformats.org/officeDocument/2006/relationships/hyperlink" Target="https://economist.co.kr/article/view/ecn202603310058" TargetMode="External"/><Relationship Id="rId24" Type="http://schemas.openxmlformats.org/officeDocument/2006/relationships/image" Target="../media/image45.png"/><Relationship Id="rId5" Type="http://schemas.openxmlformats.org/officeDocument/2006/relationships/hyperlink" Target="https://www.g-enews.com/article/Finance/2026/08/202608211537018754a6e8311f64_1" TargetMode="External"/><Relationship Id="rId15" Type="http://schemas.openxmlformats.org/officeDocument/2006/relationships/hyperlink" Target="https://www.g-enews.com/article/Finance/2026/08/202608251658492785e30fcb1ba8_1" TargetMode="External"/><Relationship Id="rId23" Type="http://schemas.openxmlformats.org/officeDocument/2006/relationships/hyperlink" Target="https://www.naewoeilbo.com/news/articleView.html?idxno=2406137" TargetMode="External"/><Relationship Id="rId10" Type="http://schemas.openxmlformats.org/officeDocument/2006/relationships/hyperlink" Target="https://www.etoday.co.kr/news/view/2576276" TargetMode="External"/><Relationship Id="rId19" Type="http://schemas.openxmlformats.org/officeDocument/2006/relationships/hyperlink" Target="https://www.kyongbuk.co.kr/news/articleView.html?idxno=4075282" TargetMode="External"/><Relationship Id="rId4" Type="http://schemas.openxmlformats.org/officeDocument/2006/relationships/image" Target="../media/image4.png"/><Relationship Id="rId9" Type="http://schemas.openxmlformats.org/officeDocument/2006/relationships/image" Target="../media/image6.png"/><Relationship Id="rId14" Type="http://schemas.openxmlformats.org/officeDocument/2006/relationships/hyperlink" Target="https://www.asiatoday.co.kr/kn/view.php?key=20260825010008353" TargetMode="External"/><Relationship Id="rId22" Type="http://schemas.openxmlformats.org/officeDocument/2006/relationships/hyperlink" Target="https://www.theuniontimes.co.kr/2067421"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a:effectLst/>
      </p:bgPr>
    </p:bg>
    <p:spTree>
      <p:nvGrpSpPr>
        <p:cNvPr id="1" name=""/>
        <p:cNvGrpSpPr/>
        <p:nvPr/>
      </p:nvGrpSpPr>
      <p:grpSpPr>
        <a:xfrm>
          <a:off x="0" y="0"/>
          <a:ext cx="0" cy="0"/>
          <a:chOff x="0" y="0"/>
          <a:chExt cx="0" cy="0"/>
        </a:xfrm>
      </p:grpSpPr>
      <p:pic>
        <p:nvPicPr>
          <p:cNvPr id="2" name="Image 0" descr="figs/cover_map.png"/>
          <p:cNvPicPr>
            <a:picLocks noChangeAspect="1"/>
          </p:cNvPicPr>
          <p:nvPr/>
        </p:nvPicPr>
        <p:blipFill>
          <a:blip r:embed="rId3"/>
          <a:stretch>
            <a:fillRect/>
          </a:stretch>
        </p:blipFill>
        <p:spPr>
          <a:xfrm>
            <a:off x="6336792" y="0"/>
            <a:ext cx="5852160" cy="6858000"/>
          </a:xfrm>
          <a:prstGeom prst="rect">
            <a:avLst/>
          </a:prstGeom>
        </p:spPr>
      </p:pic>
      <p:sp>
        <p:nvSpPr>
          <p:cNvPr id="3" name="Text 0"/>
          <p:cNvSpPr txBox="1"/>
          <p:nvPr/>
        </p:nvSpPr>
        <p:spPr>
          <a:xfrm>
            <a:off x="640080" y="566928"/>
            <a:ext cx="5486400" cy="566928"/>
          </a:xfrm>
          <a:prstGeom prst="rect">
            <a:avLst/>
          </a:prstGeom>
          <a:noFill/>
          <a:ln/>
        </p:spPr>
        <p:txBody>
          <a:bodyPr wrap="square" lIns="0" tIns="0" rIns="0" bIns="0" rtlCol="0" anchor="t"/>
          <a:lstStyle/>
          <a:p>
            <a:pPr marL="0" indent="0">
              <a:lnSpc>
                <a:spcPct val="115000"/>
              </a:lnSpc>
              <a:buNone/>
            </a:pPr>
            <a:r>
              <a:rPr lang="en-US" sz="1250" dirty="0">
                <a:solidFill>
                  <a:srgbClr val="A9B8D0"/>
                </a:solidFill>
                <a:latin typeface="Malgun Gothic" pitchFamily="34" charset="0"/>
                <a:ea typeface="Malgun Gothic" pitchFamily="34" charset="-122"/>
                <a:cs typeface="Malgun Gothic" pitchFamily="34" charset="-120"/>
              </a:rPr>
              <a:t>제1회 </a:t>
            </a:r>
            <a:r>
              <a:rPr lang="en-US" sz="1250" dirty="0" err="1">
                <a:solidFill>
                  <a:srgbClr val="A9B8D0"/>
                </a:solidFill>
                <a:latin typeface="Malgun Gothic" pitchFamily="34" charset="0"/>
                <a:ea typeface="Malgun Gothic" pitchFamily="34" charset="-122"/>
                <a:cs typeface="Malgun Gothic" pitchFamily="34" charset="-120"/>
              </a:rPr>
              <a:t>AI금융빅데이터플랫폼</a:t>
            </a:r>
            <a:r>
              <a:rPr lang="en-US" sz="1250" dirty="0"/>
              <a:t> </a:t>
            </a:r>
            <a:r>
              <a:rPr lang="en-US" sz="1250" dirty="0" err="1">
                <a:solidFill>
                  <a:srgbClr val="A9B8D0"/>
                </a:solidFill>
                <a:latin typeface="Malgun Gothic" pitchFamily="34" charset="0"/>
                <a:ea typeface="Malgun Gothic" pitchFamily="34" charset="-122"/>
                <a:cs typeface="Malgun Gothic" pitchFamily="34" charset="-120"/>
              </a:rPr>
              <a:t>소비데이터</a:t>
            </a:r>
            <a:r>
              <a:rPr lang="en-US" sz="1250" dirty="0">
                <a:solidFill>
                  <a:srgbClr val="A9B8D0"/>
                </a:solidFill>
                <a:latin typeface="Malgun Gothic" pitchFamily="34" charset="0"/>
                <a:ea typeface="Malgun Gothic" pitchFamily="34" charset="-122"/>
                <a:cs typeface="Malgun Gothic" pitchFamily="34" charset="-120"/>
              </a:rPr>
              <a:t> 활용 분석·아이디어 공모전</a:t>
            </a:r>
            <a:endParaRPr lang="en-US" sz="1250" dirty="0"/>
          </a:p>
        </p:txBody>
      </p:sp>
      <p:sp>
        <p:nvSpPr>
          <p:cNvPr id="4" name="Text 1"/>
          <p:cNvSpPr txBox="1"/>
          <p:nvPr/>
        </p:nvSpPr>
        <p:spPr>
          <a:xfrm>
            <a:off x="602502" y="1783080"/>
            <a:ext cx="6850484" cy="1737360"/>
          </a:xfrm>
          <a:prstGeom prst="rect">
            <a:avLst/>
          </a:prstGeom>
          <a:noFill/>
          <a:ln/>
        </p:spPr>
        <p:txBody>
          <a:bodyPr wrap="square" lIns="0" tIns="0" rIns="0" bIns="0" rtlCol="0" anchor="t"/>
          <a:lstStyle/>
          <a:p>
            <a:pPr marL="0" indent="0">
              <a:lnSpc>
                <a:spcPct val="100000"/>
              </a:lnSpc>
              <a:buNone/>
            </a:pPr>
            <a:r>
              <a:rPr lang="ko-KR" altLang="en-US" sz="5300" b="1" dirty="0">
                <a:solidFill>
                  <a:srgbClr val="FFFFFF"/>
                </a:solidFill>
                <a:latin typeface="Malgun Gothic" pitchFamily="34" charset="0"/>
                <a:ea typeface="Malgun Gothic" pitchFamily="34" charset="-122"/>
                <a:cs typeface="Malgun Gothic" pitchFamily="34" charset="-120"/>
              </a:rPr>
              <a:t>인지도 없는 동네</a:t>
            </a:r>
            <a:r>
              <a:rPr lang="en-US" altLang="ko-KR" sz="5300" b="1" dirty="0">
                <a:solidFill>
                  <a:srgbClr val="FFFFFF"/>
                </a:solidFill>
                <a:latin typeface="Malgun Gothic" pitchFamily="34" charset="0"/>
                <a:ea typeface="Malgun Gothic" pitchFamily="34" charset="-122"/>
                <a:cs typeface="Malgun Gothic" pitchFamily="34" charset="-120"/>
              </a:rPr>
              <a:t>,</a:t>
            </a:r>
          </a:p>
          <a:p>
            <a:pPr marL="0" indent="0">
              <a:lnSpc>
                <a:spcPct val="100000"/>
              </a:lnSpc>
              <a:buNone/>
            </a:pPr>
            <a:r>
              <a:rPr lang="ko-KR" altLang="en-US" sz="5300" b="1" dirty="0">
                <a:solidFill>
                  <a:srgbClr val="FFFFFF"/>
                </a:solidFill>
                <a:latin typeface="Malgun Gothic" pitchFamily="34" charset="0"/>
                <a:ea typeface="Malgun Gothic" pitchFamily="34" charset="-122"/>
                <a:cs typeface="Malgun Gothic" pitchFamily="34" charset="-120"/>
              </a:rPr>
              <a:t>카드가 먼저 인지한다</a:t>
            </a:r>
            <a:r>
              <a:rPr lang="en-US" altLang="ko-KR" sz="5300" b="1" dirty="0">
                <a:solidFill>
                  <a:srgbClr val="FFFFFF"/>
                </a:solidFill>
                <a:latin typeface="Malgun Gothic" pitchFamily="34" charset="0"/>
                <a:ea typeface="Malgun Gothic" pitchFamily="34" charset="-122"/>
                <a:cs typeface="Malgun Gothic" pitchFamily="34" charset="-120"/>
              </a:rPr>
              <a:t>?</a:t>
            </a:r>
            <a:endParaRPr lang="en-US" sz="5300" dirty="0"/>
          </a:p>
        </p:txBody>
      </p:sp>
      <p:sp>
        <p:nvSpPr>
          <p:cNvPr id="5" name="Text 2"/>
          <p:cNvSpPr txBox="1"/>
          <p:nvPr/>
        </p:nvSpPr>
        <p:spPr>
          <a:xfrm>
            <a:off x="640080" y="3675888"/>
            <a:ext cx="5669280" cy="457200"/>
          </a:xfrm>
          <a:prstGeom prst="rect">
            <a:avLst/>
          </a:prstGeom>
          <a:noFill/>
          <a:ln/>
        </p:spPr>
        <p:txBody>
          <a:bodyPr wrap="square" lIns="0" tIns="0" rIns="0" bIns="0" rtlCol="0" anchor="t"/>
          <a:lstStyle/>
          <a:p>
            <a:pPr marL="0" indent="0">
              <a:buNone/>
            </a:pPr>
            <a:r>
              <a:rPr lang="en-US" sz="2400" b="1" dirty="0">
                <a:solidFill>
                  <a:srgbClr val="FF7A7E"/>
                </a:solidFill>
                <a:latin typeface="Malgun Gothic" pitchFamily="34" charset="0"/>
                <a:ea typeface="Malgun Gothic" pitchFamily="34" charset="-122"/>
                <a:cs typeface="Malgun Gothic" pitchFamily="34" charset="-120"/>
              </a:rPr>
              <a:t>외국인 인바운드 로컬 디스커버리</a:t>
            </a:r>
            <a:endParaRPr lang="en-US" sz="2400" dirty="0"/>
          </a:p>
        </p:txBody>
      </p:sp>
      <p:sp>
        <p:nvSpPr>
          <p:cNvPr id="6" name="Text 3"/>
          <p:cNvSpPr txBox="1"/>
          <p:nvPr/>
        </p:nvSpPr>
        <p:spPr>
          <a:xfrm>
            <a:off x="640080" y="4315968"/>
            <a:ext cx="5212080" cy="731520"/>
          </a:xfrm>
          <a:prstGeom prst="rect">
            <a:avLst/>
          </a:prstGeom>
          <a:noFill/>
          <a:ln/>
        </p:spPr>
        <p:txBody>
          <a:bodyPr wrap="square" lIns="0" tIns="0" rIns="0" bIns="0" rtlCol="0" anchor="t"/>
          <a:lstStyle/>
          <a:p>
            <a:pPr marL="0" indent="0">
              <a:lnSpc>
                <a:spcPct val="120000"/>
              </a:lnSpc>
              <a:buNone/>
            </a:pPr>
            <a:r>
              <a:rPr lang="en-US" sz="1400" dirty="0">
                <a:solidFill>
                  <a:srgbClr val="A9B8D0"/>
                </a:solidFill>
                <a:latin typeface="Malgun Gothic" pitchFamily="34" charset="0"/>
                <a:ea typeface="Malgun Gothic" pitchFamily="34" charset="-122"/>
                <a:cs typeface="Malgun Gothic" pitchFamily="34" charset="-120"/>
              </a:rPr>
              <a:t>BC카드 소비데이터로 ‘아직 덜 알려진’ 지방 상권을 먼저 찾고, </a:t>
            </a:r>
          </a:p>
          <a:p>
            <a:pPr marL="0" indent="0">
              <a:lnSpc>
                <a:spcPct val="120000"/>
              </a:lnSpc>
              <a:buNone/>
            </a:pPr>
            <a:r>
              <a:rPr lang="en-US" sz="1400" dirty="0">
                <a:solidFill>
                  <a:srgbClr val="A9B8D0"/>
                </a:solidFill>
                <a:latin typeface="Malgun Gothic" pitchFamily="34" charset="0"/>
                <a:ea typeface="Malgun Gothic" pitchFamily="34" charset="-122"/>
                <a:cs typeface="Malgun Gothic" pitchFamily="34" charset="-120"/>
              </a:rPr>
              <a:t>그 신호를 서비스로 바꾸는 제안</a:t>
            </a:r>
            <a:endParaRPr lang="en-US" sz="1400" dirty="0"/>
          </a:p>
        </p:txBody>
      </p:sp>
      <p:sp>
        <p:nvSpPr>
          <p:cNvPr id="7" name="Text 4"/>
          <p:cNvSpPr txBox="1"/>
          <p:nvPr/>
        </p:nvSpPr>
        <p:spPr>
          <a:xfrm>
            <a:off x="640080" y="5909216"/>
            <a:ext cx="5486400" cy="274320"/>
          </a:xfrm>
          <a:prstGeom prst="rect">
            <a:avLst/>
          </a:prstGeom>
          <a:noFill/>
          <a:ln/>
        </p:spPr>
        <p:txBody>
          <a:bodyPr wrap="square" lIns="0" tIns="0" rIns="0" bIns="0" rtlCol="0" anchor="t"/>
          <a:lstStyle/>
          <a:p>
            <a:pPr marL="0" indent="0">
              <a:buNone/>
            </a:pPr>
            <a:r>
              <a:rPr lang="en-US" sz="1350" b="1" dirty="0">
                <a:solidFill>
                  <a:srgbClr val="FFFFFF"/>
                </a:solidFill>
                <a:latin typeface="Malgun Gothic" pitchFamily="34" charset="0"/>
                <a:ea typeface="Malgun Gothic" pitchFamily="34" charset="-122"/>
                <a:cs typeface="Malgun Gothic" pitchFamily="34" charset="-120"/>
              </a:rPr>
              <a:t>윤서영</a:t>
            </a:r>
            <a:r>
              <a:rPr lang="en-US" sz="1350" dirty="0">
                <a:solidFill>
                  <a:srgbClr val="A9B8D0"/>
                </a:solidFill>
                <a:latin typeface="Malgun Gothic" pitchFamily="34" charset="0"/>
                <a:ea typeface="Malgun Gothic" pitchFamily="34" charset="-122"/>
                <a:cs typeface="Malgun Gothic" pitchFamily="34" charset="-120"/>
              </a:rPr>
              <a:t>   충북대학교 · 개인 참가</a:t>
            </a:r>
            <a:endParaRPr lang="en-US" sz="1350" dirty="0"/>
          </a:p>
        </p:txBody>
      </p:sp>
      <p:sp>
        <p:nvSpPr>
          <p:cNvPr id="9" name="Shape 6"/>
          <p:cNvSpPr/>
          <p:nvPr/>
        </p:nvSpPr>
        <p:spPr>
          <a:xfrm>
            <a:off x="6812280" y="5943600"/>
            <a:ext cx="155448" cy="155448"/>
          </a:xfrm>
          <a:prstGeom prst="ellipse">
            <a:avLst/>
          </a:prstGeom>
          <a:solidFill>
            <a:srgbClr val="FF7A7E"/>
          </a:solidFill>
          <a:ln w="12700">
            <a:solidFill>
              <a:srgbClr val="FF7A7E"/>
            </a:solidFill>
            <a:prstDash val="solid"/>
          </a:ln>
        </p:spPr>
        <p:txBody>
          <a:bodyPr/>
          <a:lstStyle/>
          <a:p>
            <a:endParaRPr lang="ko-KR" altLang="en-US"/>
          </a:p>
        </p:txBody>
      </p:sp>
      <p:sp>
        <p:nvSpPr>
          <p:cNvPr id="10" name="Text 7"/>
          <p:cNvSpPr txBox="1"/>
          <p:nvPr/>
        </p:nvSpPr>
        <p:spPr>
          <a:xfrm>
            <a:off x="7059168" y="5907024"/>
            <a:ext cx="2011680" cy="237744"/>
          </a:xfrm>
          <a:prstGeom prst="rect">
            <a:avLst/>
          </a:prstGeom>
          <a:noFill/>
          <a:ln/>
        </p:spPr>
        <p:txBody>
          <a:bodyPr wrap="square" lIns="0" tIns="0" rIns="0" bIns="0" rtlCol="0" anchor="ctr"/>
          <a:lstStyle/>
          <a:p>
            <a:pPr marL="0" indent="0">
              <a:buNone/>
            </a:pPr>
            <a:r>
              <a:rPr lang="en-US" sz="1050" dirty="0">
                <a:solidFill>
                  <a:srgbClr val="A9B8D0"/>
                </a:solidFill>
                <a:latin typeface="Malgun Gothic" pitchFamily="34" charset="0"/>
                <a:ea typeface="Malgun Gothic" pitchFamily="34" charset="-122"/>
                <a:cs typeface="Malgun Gothic" pitchFamily="34" charset="-120"/>
              </a:rPr>
              <a:t>초과성장 신호 후보 8곳</a:t>
            </a:r>
            <a:endParaRPr lang="en-US" sz="1050" dirty="0"/>
          </a:p>
        </p:txBody>
      </p:sp>
      <p:sp>
        <p:nvSpPr>
          <p:cNvPr id="11" name="Shape 8"/>
          <p:cNvSpPr/>
          <p:nvPr/>
        </p:nvSpPr>
        <p:spPr>
          <a:xfrm>
            <a:off x="9189720" y="5943600"/>
            <a:ext cx="155448" cy="155448"/>
          </a:xfrm>
          <a:prstGeom prst="ellipse">
            <a:avLst/>
          </a:prstGeom>
          <a:ln w="15875">
            <a:solidFill>
              <a:srgbClr val="F2A20C"/>
            </a:solidFill>
            <a:prstDash val="dash"/>
          </a:ln>
        </p:spPr>
        <p:txBody>
          <a:bodyPr/>
          <a:lstStyle/>
          <a:p>
            <a:endParaRPr lang="ko-KR" altLang="en-US"/>
          </a:p>
        </p:txBody>
      </p:sp>
      <p:sp>
        <p:nvSpPr>
          <p:cNvPr id="12" name="Text 9"/>
          <p:cNvSpPr txBox="1"/>
          <p:nvPr/>
        </p:nvSpPr>
        <p:spPr>
          <a:xfrm>
            <a:off x="9436608" y="5907024"/>
            <a:ext cx="2377440" cy="237744"/>
          </a:xfrm>
          <a:prstGeom prst="rect">
            <a:avLst/>
          </a:prstGeom>
          <a:noFill/>
          <a:ln/>
        </p:spPr>
        <p:txBody>
          <a:bodyPr wrap="square" lIns="0" tIns="0" rIns="0" bIns="0" rtlCol="0" anchor="ctr"/>
          <a:lstStyle/>
          <a:p>
            <a:pPr marL="0" indent="0">
              <a:buNone/>
            </a:pPr>
            <a:r>
              <a:rPr lang="en-US" sz="1050" dirty="0">
                <a:solidFill>
                  <a:srgbClr val="A9B8D0"/>
                </a:solidFill>
                <a:latin typeface="Malgun Gothic" pitchFamily="34" charset="0"/>
                <a:ea typeface="Malgun Gothic" pitchFamily="34" charset="-122"/>
                <a:cs typeface="Malgun Gothic" pitchFamily="34" charset="-120"/>
              </a:rPr>
              <a:t>이미 알려진 곳 (대조군 · 보령시)</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00  </a:t>
            </a:r>
            <a:r>
              <a:rPr lang="en-US" sz="1150" b="1" dirty="0">
                <a:solidFill>
                  <a:srgbClr val="64748B"/>
                </a:solidFill>
                <a:latin typeface="Malgun Gothic" pitchFamily="34" charset="0"/>
                <a:ea typeface="Malgun Gothic" pitchFamily="34" charset="-122"/>
                <a:cs typeface="Malgun Gothic" pitchFamily="34" charset="-120"/>
              </a:rPr>
              <a:t>목차</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목차</a:t>
            </a:r>
            <a:endParaRPr lang="en-US" sz="2400" dirty="0"/>
          </a:p>
        </p:txBody>
      </p:sp>
      <p:sp>
        <p:nvSpPr>
          <p:cNvPr id="6" name="Shape 4"/>
          <p:cNvSpPr/>
          <p:nvPr/>
        </p:nvSpPr>
        <p:spPr>
          <a:xfrm>
            <a:off x="548640" y="1371600"/>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31520" y="1449324"/>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8" name="Text 6"/>
          <p:cNvSpPr txBox="1"/>
          <p:nvPr/>
        </p:nvSpPr>
        <p:spPr>
          <a:xfrm>
            <a:off x="731520" y="1449324"/>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01</a:t>
            </a:r>
            <a:endParaRPr lang="en-US" sz="1050" dirty="0"/>
          </a:p>
        </p:txBody>
      </p:sp>
      <p:sp>
        <p:nvSpPr>
          <p:cNvPr id="9" name="Text 7"/>
          <p:cNvSpPr txBox="1"/>
          <p:nvPr/>
        </p:nvSpPr>
        <p:spPr>
          <a:xfrm>
            <a:off x="1234440" y="1371600"/>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문제 인식</a:t>
            </a:r>
            <a:endParaRPr lang="en-US" sz="1300" dirty="0"/>
          </a:p>
        </p:txBody>
      </p:sp>
      <p:sp>
        <p:nvSpPr>
          <p:cNvPr id="10" name="Text 8"/>
          <p:cNvSpPr txBox="1"/>
          <p:nvPr/>
        </p:nvSpPr>
        <p:spPr>
          <a:xfrm>
            <a:off x="4023360" y="1371600"/>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카드 수수료 압박과 BC카드의 매입업무 의존, 그리고 외국인 소비가 늘어나는 지방의 정보 공백</a:t>
            </a:r>
            <a:endParaRPr lang="en-US" sz="1000" dirty="0"/>
          </a:p>
        </p:txBody>
      </p:sp>
      <p:sp>
        <p:nvSpPr>
          <p:cNvPr id="11" name="Shape 9"/>
          <p:cNvSpPr/>
          <p:nvPr/>
        </p:nvSpPr>
        <p:spPr>
          <a:xfrm>
            <a:off x="10607040" y="1485900"/>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2" name="Text 10"/>
          <p:cNvSpPr txBox="1"/>
          <p:nvPr/>
        </p:nvSpPr>
        <p:spPr>
          <a:xfrm>
            <a:off x="10607040" y="1485900"/>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3–5쪽</a:t>
            </a:r>
            <a:endParaRPr lang="en-US" sz="950" dirty="0"/>
          </a:p>
        </p:txBody>
      </p:sp>
      <p:sp>
        <p:nvSpPr>
          <p:cNvPr id="13" name="Shape 11"/>
          <p:cNvSpPr/>
          <p:nvPr/>
        </p:nvSpPr>
        <p:spPr>
          <a:xfrm>
            <a:off x="548640" y="1911096"/>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14" name="Shape 12"/>
          <p:cNvSpPr/>
          <p:nvPr/>
        </p:nvSpPr>
        <p:spPr>
          <a:xfrm>
            <a:off x="731520" y="1988820"/>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5" name="Text 13"/>
          <p:cNvSpPr txBox="1"/>
          <p:nvPr/>
        </p:nvSpPr>
        <p:spPr>
          <a:xfrm>
            <a:off x="731520" y="1988820"/>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02</a:t>
            </a:r>
            <a:endParaRPr lang="en-US" sz="1050" dirty="0"/>
          </a:p>
        </p:txBody>
      </p:sp>
      <p:sp>
        <p:nvSpPr>
          <p:cNvPr id="16" name="Text 14"/>
          <p:cNvSpPr txBox="1"/>
          <p:nvPr/>
        </p:nvSpPr>
        <p:spPr>
          <a:xfrm>
            <a:off x="1234440" y="1911096"/>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가설 설정</a:t>
            </a:r>
            <a:endParaRPr lang="en-US" sz="1300" dirty="0"/>
          </a:p>
        </p:txBody>
      </p:sp>
      <p:sp>
        <p:nvSpPr>
          <p:cNvPr id="17" name="Text 15"/>
          <p:cNvSpPr txBox="1"/>
          <p:nvPr/>
        </p:nvSpPr>
        <p:spPr>
          <a:xfrm>
            <a:off x="4023360" y="1911096"/>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리뷰·SNS는 후행, 카드 결제는 즉시 남는다는 발상과 세 가설 (H1 선행성 · H2 사각지대 · H3 지속성)</a:t>
            </a:r>
            <a:endParaRPr lang="en-US" sz="1000" dirty="0"/>
          </a:p>
        </p:txBody>
      </p:sp>
      <p:sp>
        <p:nvSpPr>
          <p:cNvPr id="18" name="Shape 16"/>
          <p:cNvSpPr/>
          <p:nvPr/>
        </p:nvSpPr>
        <p:spPr>
          <a:xfrm>
            <a:off x="10607040" y="2025396"/>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9" name="Text 17"/>
          <p:cNvSpPr txBox="1"/>
          <p:nvPr/>
        </p:nvSpPr>
        <p:spPr>
          <a:xfrm>
            <a:off x="10607040" y="2025396"/>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6–7쪽</a:t>
            </a:r>
            <a:endParaRPr lang="en-US" sz="950" dirty="0"/>
          </a:p>
        </p:txBody>
      </p:sp>
      <p:sp>
        <p:nvSpPr>
          <p:cNvPr id="20" name="Shape 18"/>
          <p:cNvSpPr/>
          <p:nvPr/>
        </p:nvSpPr>
        <p:spPr>
          <a:xfrm>
            <a:off x="548640" y="2450592"/>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21" name="Shape 19"/>
          <p:cNvSpPr/>
          <p:nvPr/>
        </p:nvSpPr>
        <p:spPr>
          <a:xfrm>
            <a:off x="731520" y="252831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22" name="Text 20"/>
          <p:cNvSpPr txBox="1"/>
          <p:nvPr/>
        </p:nvSpPr>
        <p:spPr>
          <a:xfrm>
            <a:off x="731520" y="2528316"/>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03</a:t>
            </a:r>
            <a:endParaRPr lang="en-US" sz="1050" dirty="0"/>
          </a:p>
        </p:txBody>
      </p:sp>
      <p:sp>
        <p:nvSpPr>
          <p:cNvPr id="23" name="Text 21"/>
          <p:cNvSpPr txBox="1"/>
          <p:nvPr/>
        </p:nvSpPr>
        <p:spPr>
          <a:xfrm>
            <a:off x="1234440" y="2450592"/>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데이터 · 분석 방법론</a:t>
            </a:r>
            <a:endParaRPr lang="en-US" sz="1300" dirty="0"/>
          </a:p>
        </p:txBody>
      </p:sp>
      <p:sp>
        <p:nvSpPr>
          <p:cNvPr id="24" name="Text 22"/>
          <p:cNvSpPr txBox="1"/>
          <p:nvPr/>
        </p:nvSpPr>
        <p:spPr>
          <a:xfrm>
            <a:off x="4023360" y="2450592"/>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제공 데이터의 구성과 활용 방식(피벗 테이블 생성 포함), 외부 데이터 결합, 0~7단계 분석 파이프라인</a:t>
            </a:r>
            <a:endParaRPr lang="en-US" sz="1000" dirty="0"/>
          </a:p>
        </p:txBody>
      </p:sp>
      <p:sp>
        <p:nvSpPr>
          <p:cNvPr id="25" name="Shape 23"/>
          <p:cNvSpPr/>
          <p:nvPr/>
        </p:nvSpPr>
        <p:spPr>
          <a:xfrm>
            <a:off x="10607040" y="2564892"/>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6" name="Text 24"/>
          <p:cNvSpPr txBox="1"/>
          <p:nvPr/>
        </p:nvSpPr>
        <p:spPr>
          <a:xfrm>
            <a:off x="10607040" y="2564892"/>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8–10쪽</a:t>
            </a:r>
            <a:endParaRPr lang="en-US" sz="950" dirty="0"/>
          </a:p>
        </p:txBody>
      </p:sp>
      <p:sp>
        <p:nvSpPr>
          <p:cNvPr id="27" name="Shape 25"/>
          <p:cNvSpPr/>
          <p:nvPr/>
        </p:nvSpPr>
        <p:spPr>
          <a:xfrm>
            <a:off x="548640" y="2990088"/>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28" name="Shape 26"/>
          <p:cNvSpPr/>
          <p:nvPr/>
        </p:nvSpPr>
        <p:spPr>
          <a:xfrm>
            <a:off x="731520" y="3067812"/>
            <a:ext cx="329184" cy="329184"/>
          </a:xfrm>
          <a:prstGeom prst="ellipse">
            <a:avLst/>
          </a:prstGeom>
          <a:solidFill>
            <a:srgbClr val="E8383D"/>
          </a:solidFill>
          <a:ln w="12700">
            <a:solidFill>
              <a:srgbClr val="E8383D"/>
            </a:solidFill>
            <a:prstDash val="solid"/>
          </a:ln>
        </p:spPr>
        <p:txBody>
          <a:bodyPr/>
          <a:lstStyle/>
          <a:p>
            <a:endParaRPr lang="ko-KR" altLang="en-US"/>
          </a:p>
        </p:txBody>
      </p:sp>
      <p:sp>
        <p:nvSpPr>
          <p:cNvPr id="29" name="Text 27"/>
          <p:cNvSpPr txBox="1"/>
          <p:nvPr/>
        </p:nvSpPr>
        <p:spPr>
          <a:xfrm>
            <a:off x="731520" y="3067812"/>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04</a:t>
            </a:r>
            <a:endParaRPr lang="en-US" sz="1050" dirty="0"/>
          </a:p>
        </p:txBody>
      </p:sp>
      <p:sp>
        <p:nvSpPr>
          <p:cNvPr id="30" name="Text 28"/>
          <p:cNvSpPr txBox="1"/>
          <p:nvPr/>
        </p:nvSpPr>
        <p:spPr>
          <a:xfrm>
            <a:off x="1234440" y="2990088"/>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분석 결과</a:t>
            </a:r>
            <a:endParaRPr lang="en-US" sz="1300" dirty="0"/>
          </a:p>
        </p:txBody>
      </p:sp>
      <p:sp>
        <p:nvSpPr>
          <p:cNvPr id="31" name="Text 29"/>
          <p:cNvSpPr txBox="1"/>
          <p:nvPr/>
        </p:nvSpPr>
        <p:spPr>
          <a:xfrm>
            <a:off x="4023360" y="2990088"/>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EDA·계절성 검정, 상대 초과성장률 신호 탐지, 오탐 제거·지역축제 통제, 신호 지도, 원인(계절근로자·지역 축제) 분류와 청송·양양 사례</a:t>
            </a:r>
            <a:endParaRPr lang="en-US" sz="1000" dirty="0"/>
          </a:p>
        </p:txBody>
      </p:sp>
      <p:sp>
        <p:nvSpPr>
          <p:cNvPr id="32" name="Shape 30"/>
          <p:cNvSpPr/>
          <p:nvPr/>
        </p:nvSpPr>
        <p:spPr>
          <a:xfrm>
            <a:off x="10607040" y="3104388"/>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3" name="Text 31"/>
          <p:cNvSpPr txBox="1"/>
          <p:nvPr/>
        </p:nvSpPr>
        <p:spPr>
          <a:xfrm>
            <a:off x="10607040" y="3104388"/>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11–20쪽</a:t>
            </a:r>
            <a:endParaRPr lang="en-US" sz="950" dirty="0"/>
          </a:p>
        </p:txBody>
      </p:sp>
      <p:sp>
        <p:nvSpPr>
          <p:cNvPr id="34" name="Shape 32"/>
          <p:cNvSpPr/>
          <p:nvPr/>
        </p:nvSpPr>
        <p:spPr>
          <a:xfrm>
            <a:off x="548640" y="3529584"/>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35" name="Shape 33"/>
          <p:cNvSpPr/>
          <p:nvPr/>
        </p:nvSpPr>
        <p:spPr>
          <a:xfrm>
            <a:off x="731520" y="3607308"/>
            <a:ext cx="329184" cy="329184"/>
          </a:xfrm>
          <a:prstGeom prst="ellipse">
            <a:avLst/>
          </a:prstGeom>
          <a:solidFill>
            <a:srgbClr val="E8383D"/>
          </a:solidFill>
          <a:ln w="12700">
            <a:solidFill>
              <a:srgbClr val="E8383D"/>
            </a:solidFill>
            <a:prstDash val="solid"/>
          </a:ln>
        </p:spPr>
        <p:txBody>
          <a:bodyPr/>
          <a:lstStyle/>
          <a:p>
            <a:endParaRPr lang="ko-KR" altLang="en-US"/>
          </a:p>
        </p:txBody>
      </p:sp>
      <p:sp>
        <p:nvSpPr>
          <p:cNvPr id="36" name="Text 34"/>
          <p:cNvSpPr txBox="1"/>
          <p:nvPr/>
        </p:nvSpPr>
        <p:spPr>
          <a:xfrm>
            <a:off x="731520" y="3607308"/>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05</a:t>
            </a:r>
            <a:endParaRPr lang="en-US" sz="1050" dirty="0"/>
          </a:p>
        </p:txBody>
      </p:sp>
      <p:sp>
        <p:nvSpPr>
          <p:cNvPr id="37" name="Text 35"/>
          <p:cNvSpPr txBox="1"/>
          <p:nvPr/>
        </p:nvSpPr>
        <p:spPr>
          <a:xfrm>
            <a:off x="1234440" y="3529584"/>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가설 검증 결과</a:t>
            </a:r>
            <a:endParaRPr lang="en-US" sz="1300" dirty="0"/>
          </a:p>
        </p:txBody>
      </p:sp>
      <p:sp>
        <p:nvSpPr>
          <p:cNvPr id="38" name="Text 36"/>
          <p:cNvSpPr txBox="1"/>
          <p:nvPr/>
        </p:nvSpPr>
        <p:spPr>
          <a:xfrm>
            <a:off x="4023360" y="3529584"/>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H1 방문자수와의 정점·시차 비교, H2 소비 규모 대비 성장, H3 전국 재검증</a:t>
            </a:r>
            <a:endParaRPr lang="en-US" sz="1000" dirty="0"/>
          </a:p>
        </p:txBody>
      </p:sp>
      <p:sp>
        <p:nvSpPr>
          <p:cNvPr id="39" name="Shape 37"/>
          <p:cNvSpPr/>
          <p:nvPr/>
        </p:nvSpPr>
        <p:spPr>
          <a:xfrm>
            <a:off x="10607040" y="3643884"/>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0" name="Text 38"/>
          <p:cNvSpPr txBox="1"/>
          <p:nvPr/>
        </p:nvSpPr>
        <p:spPr>
          <a:xfrm>
            <a:off x="10607040" y="3643884"/>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21–27쪽</a:t>
            </a:r>
            <a:endParaRPr lang="en-US" sz="950" dirty="0"/>
          </a:p>
        </p:txBody>
      </p:sp>
      <p:sp>
        <p:nvSpPr>
          <p:cNvPr id="41" name="Shape 39"/>
          <p:cNvSpPr/>
          <p:nvPr/>
        </p:nvSpPr>
        <p:spPr>
          <a:xfrm>
            <a:off x="548640" y="4069080"/>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42" name="Shape 40"/>
          <p:cNvSpPr/>
          <p:nvPr/>
        </p:nvSpPr>
        <p:spPr>
          <a:xfrm>
            <a:off x="731520" y="4146804"/>
            <a:ext cx="329184" cy="329184"/>
          </a:xfrm>
          <a:prstGeom prst="ellipse">
            <a:avLst/>
          </a:prstGeom>
          <a:solidFill>
            <a:srgbClr val="E8383D"/>
          </a:solidFill>
          <a:ln w="12700">
            <a:solidFill>
              <a:srgbClr val="E8383D"/>
            </a:solidFill>
            <a:prstDash val="solid"/>
          </a:ln>
        </p:spPr>
        <p:txBody>
          <a:bodyPr/>
          <a:lstStyle/>
          <a:p>
            <a:endParaRPr lang="ko-KR" altLang="en-US"/>
          </a:p>
        </p:txBody>
      </p:sp>
      <p:sp>
        <p:nvSpPr>
          <p:cNvPr id="43" name="Text 41"/>
          <p:cNvSpPr txBox="1"/>
          <p:nvPr/>
        </p:nvSpPr>
        <p:spPr>
          <a:xfrm>
            <a:off x="731520" y="4146804"/>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06</a:t>
            </a:r>
            <a:endParaRPr lang="en-US" sz="1050" dirty="0"/>
          </a:p>
        </p:txBody>
      </p:sp>
      <p:sp>
        <p:nvSpPr>
          <p:cNvPr id="44" name="Text 42"/>
          <p:cNvSpPr txBox="1"/>
          <p:nvPr/>
        </p:nvSpPr>
        <p:spPr>
          <a:xfrm>
            <a:off x="1234440" y="4069080"/>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서비스 아이디어 제안</a:t>
            </a:r>
            <a:endParaRPr lang="en-US" sz="1300" dirty="0"/>
          </a:p>
        </p:txBody>
      </p:sp>
      <p:sp>
        <p:nvSpPr>
          <p:cNvPr id="45" name="Text 43"/>
          <p:cNvSpPr txBox="1"/>
          <p:nvPr/>
        </p:nvSpPr>
        <p:spPr>
          <a:xfrm>
            <a:off x="4023360" y="4069080"/>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로컬 디스커버리 컨셉과 화면 구상, 협약 기반 실현 가능성·로드맵, 차별점</a:t>
            </a:r>
            <a:endParaRPr lang="en-US" sz="1000" dirty="0"/>
          </a:p>
        </p:txBody>
      </p:sp>
      <p:sp>
        <p:nvSpPr>
          <p:cNvPr id="46" name="Shape 44"/>
          <p:cNvSpPr/>
          <p:nvPr/>
        </p:nvSpPr>
        <p:spPr>
          <a:xfrm>
            <a:off x="10607040" y="4183380"/>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7" name="Text 45"/>
          <p:cNvSpPr txBox="1"/>
          <p:nvPr/>
        </p:nvSpPr>
        <p:spPr>
          <a:xfrm>
            <a:off x="10607040" y="4183380"/>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28–31쪽</a:t>
            </a:r>
            <a:endParaRPr lang="en-US" sz="950" dirty="0"/>
          </a:p>
        </p:txBody>
      </p:sp>
      <p:sp>
        <p:nvSpPr>
          <p:cNvPr id="48" name="Shape 46"/>
          <p:cNvSpPr/>
          <p:nvPr/>
        </p:nvSpPr>
        <p:spPr>
          <a:xfrm>
            <a:off x="548640" y="4608576"/>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49" name="Shape 47"/>
          <p:cNvSpPr/>
          <p:nvPr/>
        </p:nvSpPr>
        <p:spPr>
          <a:xfrm>
            <a:off x="731520" y="4686300"/>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50" name="Text 48"/>
          <p:cNvSpPr txBox="1"/>
          <p:nvPr/>
        </p:nvSpPr>
        <p:spPr>
          <a:xfrm>
            <a:off x="731520" y="4686300"/>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07</a:t>
            </a:r>
            <a:endParaRPr lang="en-US" sz="1050" dirty="0"/>
          </a:p>
        </p:txBody>
      </p:sp>
      <p:sp>
        <p:nvSpPr>
          <p:cNvPr id="51" name="Text 49"/>
          <p:cNvSpPr txBox="1"/>
          <p:nvPr/>
        </p:nvSpPr>
        <p:spPr>
          <a:xfrm>
            <a:off x="1234440" y="4608576"/>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기대효과 및 한계점</a:t>
            </a:r>
            <a:endParaRPr lang="en-US" sz="1300" dirty="0"/>
          </a:p>
        </p:txBody>
      </p:sp>
      <p:sp>
        <p:nvSpPr>
          <p:cNvPr id="52" name="Text 50"/>
          <p:cNvSpPr txBox="1"/>
          <p:nvPr/>
        </p:nvSpPr>
        <p:spPr>
          <a:xfrm>
            <a:off x="4023360" y="4608576"/>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후보 지역의 소비 성장 근거와 이해관계자별 효과, 한계와 보완 방법</a:t>
            </a:r>
            <a:endParaRPr lang="en-US" sz="1000" dirty="0"/>
          </a:p>
        </p:txBody>
      </p:sp>
      <p:sp>
        <p:nvSpPr>
          <p:cNvPr id="53" name="Shape 51"/>
          <p:cNvSpPr/>
          <p:nvPr/>
        </p:nvSpPr>
        <p:spPr>
          <a:xfrm>
            <a:off x="10607040" y="4722876"/>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54" name="Text 52"/>
          <p:cNvSpPr txBox="1"/>
          <p:nvPr/>
        </p:nvSpPr>
        <p:spPr>
          <a:xfrm>
            <a:off x="10607040" y="4722876"/>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32–33쪽</a:t>
            </a:r>
            <a:endParaRPr lang="en-US" sz="950" dirty="0"/>
          </a:p>
        </p:txBody>
      </p:sp>
      <p:sp>
        <p:nvSpPr>
          <p:cNvPr id="55" name="Shape 53"/>
          <p:cNvSpPr/>
          <p:nvPr/>
        </p:nvSpPr>
        <p:spPr>
          <a:xfrm>
            <a:off x="548640" y="5148072"/>
            <a:ext cx="11091672" cy="484632"/>
          </a:xfrm>
          <a:prstGeom prst="roundRect">
            <a:avLst>
              <a:gd name="adj" fmla="val 18868"/>
            </a:avLst>
          </a:prstGeom>
          <a:solidFill>
            <a:srgbClr val="F3F6FB"/>
          </a:solidFill>
          <a:ln w="12700">
            <a:solidFill>
              <a:srgbClr val="F3F6FB"/>
            </a:solidFill>
            <a:prstDash val="solid"/>
          </a:ln>
        </p:spPr>
        <p:txBody>
          <a:bodyPr/>
          <a:lstStyle/>
          <a:p>
            <a:endParaRPr lang="ko-KR" altLang="en-US"/>
          </a:p>
        </p:txBody>
      </p:sp>
      <p:sp>
        <p:nvSpPr>
          <p:cNvPr id="56" name="Shape 54"/>
          <p:cNvSpPr/>
          <p:nvPr/>
        </p:nvSpPr>
        <p:spPr>
          <a:xfrm>
            <a:off x="731520" y="522579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57" name="Text 55"/>
          <p:cNvSpPr txBox="1"/>
          <p:nvPr/>
        </p:nvSpPr>
        <p:spPr>
          <a:xfrm>
            <a:off x="731520" y="5225796"/>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08</a:t>
            </a:r>
            <a:endParaRPr lang="en-US" sz="1050" dirty="0"/>
          </a:p>
        </p:txBody>
      </p:sp>
      <p:sp>
        <p:nvSpPr>
          <p:cNvPr id="58" name="Text 56"/>
          <p:cNvSpPr txBox="1"/>
          <p:nvPr/>
        </p:nvSpPr>
        <p:spPr>
          <a:xfrm>
            <a:off x="1234440" y="5148072"/>
            <a:ext cx="2697480" cy="484632"/>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정리 · 결론</a:t>
            </a:r>
            <a:endParaRPr lang="en-US" sz="1300" dirty="0"/>
          </a:p>
        </p:txBody>
      </p:sp>
      <p:sp>
        <p:nvSpPr>
          <p:cNvPr id="59" name="Text 57"/>
          <p:cNvSpPr txBox="1"/>
          <p:nvPr/>
        </p:nvSpPr>
        <p:spPr>
          <a:xfrm>
            <a:off x="4023360" y="5148072"/>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문제 → 가설 → 검증 → 개선안 흐름, 답한 것과 답하지 못한 것, BC카드에 하는 제안</a:t>
            </a:r>
            <a:endParaRPr lang="en-US" sz="1000" dirty="0"/>
          </a:p>
        </p:txBody>
      </p:sp>
      <p:sp>
        <p:nvSpPr>
          <p:cNvPr id="60" name="Shape 58"/>
          <p:cNvSpPr/>
          <p:nvPr/>
        </p:nvSpPr>
        <p:spPr>
          <a:xfrm>
            <a:off x="10607040" y="5262372"/>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61" name="Text 59"/>
          <p:cNvSpPr txBox="1"/>
          <p:nvPr/>
        </p:nvSpPr>
        <p:spPr>
          <a:xfrm>
            <a:off x="10607040" y="5262372"/>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34–35쪽</a:t>
            </a:r>
            <a:endParaRPr lang="en-US" sz="950" dirty="0"/>
          </a:p>
        </p:txBody>
      </p:sp>
      <p:sp>
        <p:nvSpPr>
          <p:cNvPr id="62" name="Shape 60"/>
          <p:cNvSpPr/>
          <p:nvPr/>
        </p:nvSpPr>
        <p:spPr>
          <a:xfrm>
            <a:off x="548640" y="5687568"/>
            <a:ext cx="11091672" cy="484632"/>
          </a:xfrm>
          <a:prstGeom prst="roundRect">
            <a:avLst>
              <a:gd name="adj" fmla="val 18868"/>
            </a:avLst>
          </a:prstGeom>
          <a:solidFill>
            <a:srgbClr val="FFFFFF"/>
          </a:solidFill>
          <a:ln w="9525">
            <a:solidFill>
              <a:srgbClr val="D9E0EA"/>
            </a:solidFill>
            <a:prstDash val="solid"/>
          </a:ln>
        </p:spPr>
        <p:txBody>
          <a:bodyPr/>
          <a:lstStyle/>
          <a:p>
            <a:endParaRPr lang="ko-KR" altLang="en-US"/>
          </a:p>
        </p:txBody>
      </p:sp>
      <p:sp>
        <p:nvSpPr>
          <p:cNvPr id="63" name="Shape 61"/>
          <p:cNvSpPr/>
          <p:nvPr/>
        </p:nvSpPr>
        <p:spPr>
          <a:xfrm>
            <a:off x="731520" y="5765292"/>
            <a:ext cx="329184" cy="329184"/>
          </a:xfrm>
          <a:prstGeom prst="ellipse">
            <a:avLst/>
          </a:prstGeom>
          <a:solidFill>
            <a:srgbClr val="8CA0BE"/>
          </a:solidFill>
          <a:ln w="12700">
            <a:solidFill>
              <a:srgbClr val="E8383D"/>
            </a:solidFill>
            <a:prstDash val="solid"/>
          </a:ln>
        </p:spPr>
        <p:txBody>
          <a:bodyPr/>
          <a:lstStyle/>
          <a:p>
            <a:endParaRPr lang="ko-KR" altLang="en-US"/>
          </a:p>
        </p:txBody>
      </p:sp>
      <p:sp>
        <p:nvSpPr>
          <p:cNvPr id="64" name="Text 62"/>
          <p:cNvSpPr txBox="1"/>
          <p:nvPr/>
        </p:nvSpPr>
        <p:spPr>
          <a:xfrm>
            <a:off x="731520" y="5765292"/>
            <a:ext cx="329184"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A</a:t>
            </a:r>
            <a:endParaRPr lang="en-US" sz="1050" dirty="0"/>
          </a:p>
        </p:txBody>
      </p:sp>
      <p:sp>
        <p:nvSpPr>
          <p:cNvPr id="65" name="Text 63"/>
          <p:cNvSpPr txBox="1"/>
          <p:nvPr/>
        </p:nvSpPr>
        <p:spPr>
          <a:xfrm>
            <a:off x="1234440" y="5687568"/>
            <a:ext cx="2697480" cy="484632"/>
          </a:xfrm>
          <a:prstGeom prst="rect">
            <a:avLst/>
          </a:prstGeom>
          <a:noFill/>
          <a:ln/>
        </p:spPr>
        <p:txBody>
          <a:bodyPr wrap="square" lIns="0" tIns="0" rIns="0" bIns="0" rtlCol="0" anchor="ctr"/>
          <a:lstStyle/>
          <a:p>
            <a:pPr marL="0" indent="0">
              <a:buNone/>
            </a:pPr>
            <a:r>
              <a:rPr lang="en-US" sz="1300" b="1" dirty="0">
                <a:solidFill>
                  <a:srgbClr val="64748B"/>
                </a:solidFill>
                <a:latin typeface="Malgun Gothic" pitchFamily="34" charset="0"/>
                <a:ea typeface="Malgun Gothic" pitchFamily="34" charset="-122"/>
                <a:cs typeface="Malgun Gothic" pitchFamily="34" charset="-120"/>
              </a:rPr>
              <a:t>부록</a:t>
            </a:r>
            <a:endParaRPr lang="en-US" sz="1300" dirty="0"/>
          </a:p>
        </p:txBody>
      </p:sp>
      <p:sp>
        <p:nvSpPr>
          <p:cNvPr id="66" name="Text 64"/>
          <p:cNvSpPr txBox="1"/>
          <p:nvPr/>
        </p:nvSpPr>
        <p:spPr>
          <a:xfrm>
            <a:off x="4023360" y="5687568"/>
            <a:ext cx="6446520" cy="484632"/>
          </a:xfrm>
          <a:prstGeom prst="rect">
            <a:avLst/>
          </a:prstGeom>
          <a:noFill/>
          <a:ln/>
        </p:spPr>
        <p:txBody>
          <a:bodyPr wrap="square" lIns="0" tIns="0" rIns="0" bIns="0" rtlCol="0" anchor="ctr"/>
          <a:lstStyle/>
          <a:p>
            <a:pPr marL="0" indent="0">
              <a:lnSpc>
                <a:spcPct val="108000"/>
              </a:lnSpc>
              <a:buNone/>
            </a:pPr>
            <a:r>
              <a:rPr lang="en-US" sz="1000" dirty="0">
                <a:solidFill>
                  <a:srgbClr val="3A475C"/>
                </a:solidFill>
                <a:latin typeface="Malgun Gothic" pitchFamily="34" charset="0"/>
                <a:ea typeface="Malgun Gothic" pitchFamily="34" charset="-122"/>
                <a:cs typeface="Malgun Gothic" pitchFamily="34" charset="-120"/>
              </a:rPr>
              <a:t>분석 코드·재현 가이드, 제작 과정 기록, 접은 자료와 바꾼 결정, 출처·참고자료</a:t>
            </a:r>
            <a:endParaRPr lang="en-US" sz="1000" dirty="0"/>
          </a:p>
        </p:txBody>
      </p:sp>
      <p:sp>
        <p:nvSpPr>
          <p:cNvPr id="67" name="Shape 65"/>
          <p:cNvSpPr/>
          <p:nvPr/>
        </p:nvSpPr>
        <p:spPr>
          <a:xfrm>
            <a:off x="10607040" y="5801868"/>
            <a:ext cx="896112"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68" name="Text 66"/>
          <p:cNvSpPr txBox="1"/>
          <p:nvPr/>
        </p:nvSpPr>
        <p:spPr>
          <a:xfrm>
            <a:off x="10607040" y="5801868"/>
            <a:ext cx="896112" cy="256032"/>
          </a:xfrm>
          <a:prstGeom prst="rect">
            <a:avLst/>
          </a:prstGeom>
          <a:noFill/>
          <a:ln/>
        </p:spPr>
        <p:txBody>
          <a:bodyPr wrap="square" lIns="0" tIns="0" rIns="0" bIns="0" rtlCol="0" anchor="ctr"/>
          <a:lstStyle/>
          <a:p>
            <a:pPr marL="0" indent="0" algn="ctr">
              <a:buNone/>
            </a:pPr>
            <a:r>
              <a:rPr lang="en-US" sz="950" b="1" dirty="0">
                <a:solidFill>
                  <a:srgbClr val="64748B"/>
                </a:solidFill>
                <a:latin typeface="Malgun Gothic" pitchFamily="34" charset="0"/>
                <a:ea typeface="Malgun Gothic" pitchFamily="34" charset="-122"/>
                <a:cs typeface="Malgun Gothic" pitchFamily="34" charset="-120"/>
              </a:rPr>
              <a:t>36–42쪽</a:t>
            </a:r>
            <a:endParaRPr lang="en-US" sz="950" dirty="0"/>
          </a:p>
        </p:txBody>
      </p:sp>
      <p:sp>
        <p:nvSpPr>
          <p:cNvPr id="69" name="Text 67"/>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70" name="Text 68"/>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 / 42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01  </a:t>
            </a:r>
            <a:r>
              <a:rPr lang="en-US" sz="1150" b="1" dirty="0">
                <a:solidFill>
                  <a:srgbClr val="64748B"/>
                </a:solidFill>
                <a:latin typeface="Malgun Gothic" pitchFamily="34" charset="0"/>
                <a:ea typeface="Malgun Gothic" pitchFamily="34" charset="-122"/>
                <a:cs typeface="Malgun Gothic" pitchFamily="34" charset="-120"/>
              </a:rPr>
              <a:t>문제 인식</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카드 결제에서 나오는 수익 기반이 구조적으로 얇아지고 있다</a:t>
            </a:r>
            <a:endParaRPr lang="en-US" sz="2400" dirty="0"/>
          </a:p>
        </p:txBody>
      </p:sp>
      <p:sp>
        <p:nvSpPr>
          <p:cNvPr id="6" name="Shape 4"/>
          <p:cNvSpPr/>
          <p:nvPr/>
        </p:nvSpPr>
        <p:spPr>
          <a:xfrm>
            <a:off x="548640" y="1737360"/>
            <a:ext cx="6720840" cy="1316736"/>
          </a:xfrm>
          <a:prstGeom prst="roundRect">
            <a:avLst>
              <a:gd name="adj" fmla="val 8333"/>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77240" y="1906981"/>
            <a:ext cx="566928" cy="566928"/>
          </a:xfrm>
          <a:prstGeom prst="ellipse">
            <a:avLst/>
          </a:prstGeom>
          <a:solidFill>
            <a:srgbClr val="0B1B33"/>
          </a:solidFill>
          <a:ln w="12700">
            <a:solidFill>
              <a:srgbClr val="0B1B33"/>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904799" y="2039112"/>
            <a:ext cx="311810" cy="311810"/>
          </a:xfrm>
          <a:prstGeom prst="rect">
            <a:avLst/>
          </a:prstGeom>
        </p:spPr>
      </p:pic>
      <p:sp>
        <p:nvSpPr>
          <p:cNvPr id="9" name="Text 6"/>
          <p:cNvSpPr txBox="1"/>
          <p:nvPr/>
        </p:nvSpPr>
        <p:spPr>
          <a:xfrm>
            <a:off x="1618488" y="2003450"/>
            <a:ext cx="5486400" cy="292608"/>
          </a:xfrm>
          <a:prstGeom prst="rect">
            <a:avLst/>
          </a:prstGeom>
          <a:noFill/>
          <a:ln/>
        </p:spPr>
        <p:txBody>
          <a:bodyPr wrap="square" lIns="0" tIns="0" rIns="0" bIns="0" rtlCol="0" anchor="t"/>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정부의 가맹점 수수료 규제</a:t>
            </a:r>
            <a:endParaRPr lang="en-US" sz="1500" dirty="0"/>
          </a:p>
        </p:txBody>
      </p:sp>
      <p:sp>
        <p:nvSpPr>
          <p:cNvPr id="10" name="Text 7"/>
          <p:cNvSpPr txBox="1"/>
          <p:nvPr/>
        </p:nvSpPr>
        <p:spPr>
          <a:xfrm>
            <a:off x="1618488" y="2350922"/>
            <a:ext cx="5486400" cy="731520"/>
          </a:xfrm>
          <a:prstGeom prst="rect">
            <a:avLst/>
          </a:prstGeom>
          <a:noFill/>
          <a:ln/>
        </p:spPr>
        <p:txBody>
          <a:bodyPr wrap="square" lIns="0" tIns="0" rIns="0" bIns="0" rtlCol="0" anchor="t"/>
          <a:lstStyle/>
          <a:p>
            <a:pPr marL="0" indent="0">
              <a:lnSpc>
                <a:spcPct val="115000"/>
              </a:lnSpc>
              <a:buNone/>
            </a:pPr>
            <a:r>
              <a:rPr lang="en-US" sz="1200" dirty="0">
                <a:solidFill>
                  <a:srgbClr val="3A475C"/>
                </a:solidFill>
                <a:latin typeface="Malgun Gothic" pitchFamily="34" charset="0"/>
                <a:ea typeface="Malgun Gothic" pitchFamily="34" charset="-122"/>
                <a:cs typeface="Malgun Gothic" pitchFamily="34" charset="-120"/>
              </a:rPr>
              <a:t>연매출 3억원 이하 영세 가맹점의 우대 수수료율은 신용카드 0.4%·체크카드 0.15%까지 낮아졌다. 규제가 이어질수록 결제 한 건에서 남는 몫은 줄어든다.</a:t>
            </a:r>
            <a:endParaRPr lang="en-US" sz="1200" dirty="0"/>
          </a:p>
        </p:txBody>
      </p:sp>
      <p:sp>
        <p:nvSpPr>
          <p:cNvPr id="11" name="Shape 8"/>
          <p:cNvSpPr/>
          <p:nvPr/>
        </p:nvSpPr>
        <p:spPr>
          <a:xfrm>
            <a:off x="548640" y="3200400"/>
            <a:ext cx="6720840" cy="1316736"/>
          </a:xfrm>
          <a:prstGeom prst="roundRect">
            <a:avLst>
              <a:gd name="adj" fmla="val 8333"/>
            </a:avLst>
          </a:prstGeom>
          <a:solidFill>
            <a:srgbClr val="F3F6FB"/>
          </a:solidFill>
          <a:ln w="12700">
            <a:solidFill>
              <a:srgbClr val="F3F6FB"/>
            </a:solidFill>
            <a:prstDash val="solid"/>
          </a:ln>
        </p:spPr>
        <p:txBody>
          <a:bodyPr/>
          <a:lstStyle/>
          <a:p>
            <a:endParaRPr lang="ko-KR" altLang="en-US"/>
          </a:p>
        </p:txBody>
      </p:sp>
      <p:sp>
        <p:nvSpPr>
          <p:cNvPr id="12" name="Shape 9"/>
          <p:cNvSpPr/>
          <p:nvPr/>
        </p:nvSpPr>
        <p:spPr>
          <a:xfrm>
            <a:off x="777240" y="3402025"/>
            <a:ext cx="566928" cy="566928"/>
          </a:xfrm>
          <a:prstGeom prst="ellipse">
            <a:avLst/>
          </a:prstGeom>
          <a:solidFill>
            <a:srgbClr val="0B1B33"/>
          </a:solidFill>
          <a:ln w="12700">
            <a:solidFill>
              <a:srgbClr val="0B1B33"/>
            </a:solidFill>
            <a:prstDash val="solid"/>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904799" y="3529584"/>
            <a:ext cx="311810" cy="311810"/>
          </a:xfrm>
          <a:prstGeom prst="rect">
            <a:avLst/>
          </a:prstGeom>
        </p:spPr>
      </p:pic>
      <p:sp>
        <p:nvSpPr>
          <p:cNvPr id="14" name="Text 10"/>
          <p:cNvSpPr txBox="1"/>
          <p:nvPr/>
        </p:nvSpPr>
        <p:spPr>
          <a:xfrm>
            <a:off x="1618488" y="3466490"/>
            <a:ext cx="5486400" cy="292608"/>
          </a:xfrm>
          <a:prstGeom prst="rect">
            <a:avLst/>
          </a:prstGeom>
          <a:noFill/>
          <a:ln/>
        </p:spPr>
        <p:txBody>
          <a:bodyPr wrap="square" lIns="0" tIns="0" rIns="0" bIns="0" rtlCol="0" anchor="t"/>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간편결제 플랫폼의 수수료 요구</a:t>
            </a:r>
            <a:endParaRPr lang="en-US" sz="1500" dirty="0"/>
          </a:p>
        </p:txBody>
      </p:sp>
      <p:sp>
        <p:nvSpPr>
          <p:cNvPr id="15" name="Text 11"/>
          <p:cNvSpPr txBox="1"/>
          <p:nvPr/>
        </p:nvSpPr>
        <p:spPr>
          <a:xfrm>
            <a:off x="1618488" y="3813962"/>
            <a:ext cx="5486400" cy="731520"/>
          </a:xfrm>
          <a:prstGeom prst="rect">
            <a:avLst/>
          </a:prstGeom>
          <a:noFill/>
          <a:ln/>
        </p:spPr>
        <p:txBody>
          <a:bodyPr wrap="square" lIns="0" tIns="0" rIns="0" bIns="0" rtlCol="0" anchor="t"/>
          <a:lstStyle/>
          <a:p>
            <a:pPr marL="0" indent="0">
              <a:lnSpc>
                <a:spcPct val="115000"/>
              </a:lnSpc>
              <a:buNone/>
            </a:pPr>
            <a:r>
              <a:rPr lang="en-US" sz="1200" dirty="0">
                <a:solidFill>
                  <a:srgbClr val="3A475C"/>
                </a:solidFill>
                <a:latin typeface="Malgun Gothic" pitchFamily="34" charset="0"/>
                <a:ea typeface="Malgun Gothic" pitchFamily="34" charset="-122"/>
                <a:cs typeface="Malgun Gothic" pitchFamily="34" charset="-120"/>
              </a:rPr>
              <a:t>삼성페이·애플페이 같은 결제 플랫폼이 카드사에 수수료를 요구하면서, 카드결제가 만드는 수익이 한 번 더 나뉜다.</a:t>
            </a:r>
            <a:endParaRPr lang="en-US" sz="1200" dirty="0"/>
          </a:p>
        </p:txBody>
      </p:sp>
      <p:sp>
        <p:nvSpPr>
          <p:cNvPr id="16" name="Shape 12"/>
          <p:cNvSpPr/>
          <p:nvPr/>
        </p:nvSpPr>
        <p:spPr>
          <a:xfrm>
            <a:off x="548640" y="4663440"/>
            <a:ext cx="6720840" cy="1316736"/>
          </a:xfrm>
          <a:prstGeom prst="roundRect">
            <a:avLst>
              <a:gd name="adj" fmla="val 8333"/>
            </a:avLst>
          </a:prstGeom>
          <a:solidFill>
            <a:srgbClr val="F3F6FB"/>
          </a:solidFill>
          <a:ln w="12700">
            <a:solidFill>
              <a:srgbClr val="F3F6FB"/>
            </a:solidFill>
            <a:prstDash val="solid"/>
          </a:ln>
        </p:spPr>
        <p:txBody>
          <a:bodyPr/>
          <a:lstStyle/>
          <a:p>
            <a:endParaRPr lang="ko-KR" altLang="en-US"/>
          </a:p>
        </p:txBody>
      </p:sp>
      <p:sp>
        <p:nvSpPr>
          <p:cNvPr id="17" name="Shape 13"/>
          <p:cNvSpPr/>
          <p:nvPr/>
        </p:nvSpPr>
        <p:spPr>
          <a:xfrm>
            <a:off x="777240" y="4865065"/>
            <a:ext cx="566928" cy="566928"/>
          </a:xfrm>
          <a:prstGeom prst="ellipse">
            <a:avLst/>
          </a:prstGeom>
          <a:solidFill>
            <a:srgbClr val="0B1B33"/>
          </a:solidFill>
          <a:ln w="12700">
            <a:solidFill>
              <a:srgbClr val="0B1B33"/>
            </a:solidFill>
            <a:prstDash val="solid"/>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904799" y="4992624"/>
            <a:ext cx="311810" cy="311810"/>
          </a:xfrm>
          <a:prstGeom prst="rect">
            <a:avLst/>
          </a:prstGeom>
        </p:spPr>
      </p:pic>
      <p:sp>
        <p:nvSpPr>
          <p:cNvPr id="19" name="Text 14"/>
          <p:cNvSpPr txBox="1"/>
          <p:nvPr/>
        </p:nvSpPr>
        <p:spPr>
          <a:xfrm>
            <a:off x="1618488" y="4929530"/>
            <a:ext cx="5486400" cy="292608"/>
          </a:xfrm>
          <a:prstGeom prst="rect">
            <a:avLst/>
          </a:prstGeom>
          <a:noFill/>
          <a:ln/>
        </p:spPr>
        <p:txBody>
          <a:bodyPr wrap="square" lIns="0" tIns="0" rIns="0" bIns="0" rtlCol="0" anchor="t"/>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선불충전금(페이머니) 결제로의 이탈</a:t>
            </a:r>
            <a:endParaRPr lang="en-US" sz="1500" dirty="0"/>
          </a:p>
        </p:txBody>
      </p:sp>
      <p:sp>
        <p:nvSpPr>
          <p:cNvPr id="20" name="Text 15"/>
          <p:cNvSpPr txBox="1"/>
          <p:nvPr/>
        </p:nvSpPr>
        <p:spPr>
          <a:xfrm>
            <a:off x="1618488" y="5277002"/>
            <a:ext cx="5486400" cy="731520"/>
          </a:xfrm>
          <a:prstGeom prst="rect">
            <a:avLst/>
          </a:prstGeom>
          <a:noFill/>
          <a:ln/>
        </p:spPr>
        <p:txBody>
          <a:bodyPr wrap="square" lIns="0" tIns="0" rIns="0" bIns="0" rtlCol="0" anchor="t"/>
          <a:lstStyle/>
          <a:p>
            <a:pPr marL="0" indent="0">
              <a:lnSpc>
                <a:spcPct val="115000"/>
              </a:lnSpc>
              <a:buNone/>
            </a:pPr>
            <a:r>
              <a:rPr lang="en-US" sz="1200" dirty="0">
                <a:solidFill>
                  <a:srgbClr val="3A475C"/>
                </a:solidFill>
                <a:latin typeface="Malgun Gothic" pitchFamily="34" charset="0"/>
                <a:ea typeface="Malgun Gothic" pitchFamily="34" charset="-122"/>
                <a:cs typeface="Malgun Gothic" pitchFamily="34" charset="-120"/>
              </a:rPr>
              <a:t>카카오페이·토스페이 등 선불충전금 결제가 커질수록, 카드결제 자체에서 발생하는 수익 기반이 압박받는다.</a:t>
            </a:r>
            <a:endParaRPr lang="en-US" sz="1200" dirty="0"/>
          </a:p>
        </p:txBody>
      </p:sp>
      <p:sp>
        <p:nvSpPr>
          <p:cNvPr id="21" name="Shape 16"/>
          <p:cNvSpPr/>
          <p:nvPr/>
        </p:nvSpPr>
        <p:spPr>
          <a:xfrm>
            <a:off x="7543800" y="1737360"/>
            <a:ext cx="4096512" cy="4242816"/>
          </a:xfrm>
          <a:prstGeom prst="roundRect">
            <a:avLst>
              <a:gd name="adj" fmla="val 2679"/>
            </a:avLst>
          </a:prstGeom>
          <a:solidFill>
            <a:srgbClr val="0B1B33"/>
          </a:solidFill>
          <a:ln w="12700">
            <a:solidFill>
              <a:srgbClr val="0B1B33"/>
            </a:solidFill>
            <a:prstDash val="solid"/>
          </a:ln>
        </p:spPr>
        <p:txBody>
          <a:bodyPr/>
          <a:lstStyle/>
          <a:p>
            <a:endParaRPr lang="ko-KR" altLang="en-US"/>
          </a:p>
        </p:txBody>
      </p:sp>
      <p:sp>
        <p:nvSpPr>
          <p:cNvPr id="22" name="Text 17"/>
          <p:cNvSpPr txBox="1"/>
          <p:nvPr/>
        </p:nvSpPr>
        <p:spPr>
          <a:xfrm>
            <a:off x="7818120" y="1920240"/>
            <a:ext cx="3566160" cy="502920"/>
          </a:xfrm>
          <a:prstGeom prst="rect">
            <a:avLst/>
          </a:prstGeom>
          <a:noFill/>
          <a:ln/>
        </p:spPr>
        <p:txBody>
          <a:bodyPr wrap="square" lIns="0" tIns="0" rIns="0" bIns="0" rtlCol="0" anchor="b"/>
          <a:lstStyle/>
          <a:p>
            <a:pPr marL="0" indent="0">
              <a:buNone/>
            </a:pPr>
            <a:r>
              <a:rPr lang="en-US" sz="3000" b="1" dirty="0">
                <a:solidFill>
                  <a:srgbClr val="FF7A7E"/>
                </a:solidFill>
                <a:latin typeface="Malgun Gothic" pitchFamily="34" charset="0"/>
                <a:ea typeface="Malgun Gothic" pitchFamily="34" charset="-122"/>
                <a:cs typeface="Malgun Gothic" pitchFamily="34" charset="-120"/>
              </a:rPr>
              <a:t>−4,427억원</a:t>
            </a:r>
            <a:endParaRPr lang="en-US" sz="3000" dirty="0"/>
          </a:p>
        </p:txBody>
      </p:sp>
      <p:sp>
        <p:nvSpPr>
          <p:cNvPr id="23" name="Text 18"/>
          <p:cNvSpPr txBox="1"/>
          <p:nvPr/>
        </p:nvSpPr>
        <p:spPr>
          <a:xfrm>
            <a:off x="7818120" y="2468880"/>
            <a:ext cx="3566160" cy="274320"/>
          </a:xfrm>
          <a:prstGeom prst="rect">
            <a:avLst/>
          </a:prstGeom>
          <a:noFill/>
          <a:ln/>
        </p:spPr>
        <p:txBody>
          <a:bodyPr wrap="square" lIns="0" tIns="0" rIns="0" bIns="0" rtlCol="0" anchor="t"/>
          <a:lstStyle/>
          <a:p>
            <a:pPr marL="0" indent="0">
              <a:buNone/>
            </a:pPr>
            <a:r>
              <a:rPr lang="en-US" sz="1150" b="1" dirty="0">
                <a:solidFill>
                  <a:srgbClr val="FFFFFF"/>
                </a:solidFill>
                <a:latin typeface="Malgun Gothic" pitchFamily="34" charset="0"/>
                <a:ea typeface="Malgun Gothic" pitchFamily="34" charset="-122"/>
                <a:cs typeface="Malgun Gothic" pitchFamily="34" charset="-120"/>
              </a:rPr>
              <a:t>8개 전업 카드사의 가맹점수수료 수익 감소 (2025년)</a:t>
            </a:r>
            <a:endParaRPr lang="en-US" sz="1150" dirty="0"/>
          </a:p>
        </p:txBody>
      </p:sp>
      <p:sp>
        <p:nvSpPr>
          <p:cNvPr id="24" name="Text 19"/>
          <p:cNvSpPr txBox="1"/>
          <p:nvPr/>
        </p:nvSpPr>
        <p:spPr>
          <a:xfrm>
            <a:off x="7818120" y="2743200"/>
            <a:ext cx="3566160" cy="411480"/>
          </a:xfrm>
          <a:prstGeom prst="rect">
            <a:avLst/>
          </a:prstGeom>
          <a:noFill/>
          <a:ln/>
        </p:spPr>
        <p:txBody>
          <a:bodyPr wrap="square" lIns="0" tIns="0" rIns="0" bIns="0" rtlCol="0" anchor="t"/>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신용·체크카드 이용액은 +3.5%(42조원) 늘었는데도</a:t>
            </a:r>
            <a:endParaRPr lang="en-US" sz="1000" dirty="0"/>
          </a:p>
        </p:txBody>
      </p:sp>
      <p:sp>
        <p:nvSpPr>
          <p:cNvPr id="25" name="Text 20"/>
          <p:cNvSpPr txBox="1"/>
          <p:nvPr/>
        </p:nvSpPr>
        <p:spPr>
          <a:xfrm>
            <a:off x="7818120" y="3255264"/>
            <a:ext cx="3566160" cy="502920"/>
          </a:xfrm>
          <a:prstGeom prst="rect">
            <a:avLst/>
          </a:prstGeom>
          <a:noFill/>
          <a:ln/>
        </p:spPr>
        <p:txBody>
          <a:bodyPr wrap="square" lIns="0" tIns="0" rIns="0" bIns="0" rtlCol="0" anchor="b"/>
          <a:lstStyle/>
          <a:p>
            <a:pPr marL="0" indent="0">
              <a:buNone/>
            </a:pPr>
            <a:r>
              <a:rPr lang="en-US" sz="3000" b="1" dirty="0">
                <a:solidFill>
                  <a:srgbClr val="FFFFFF"/>
                </a:solidFill>
                <a:latin typeface="Malgun Gothic" pitchFamily="34" charset="0"/>
                <a:ea typeface="Malgun Gothic" pitchFamily="34" charset="-122"/>
                <a:cs typeface="Malgun Gothic" pitchFamily="34" charset="-120"/>
              </a:rPr>
              <a:t>2.08%</a:t>
            </a:r>
            <a:endParaRPr lang="en-US" sz="3000" dirty="0"/>
          </a:p>
        </p:txBody>
      </p:sp>
      <p:sp>
        <p:nvSpPr>
          <p:cNvPr id="26" name="Text 21"/>
          <p:cNvSpPr txBox="1"/>
          <p:nvPr/>
        </p:nvSpPr>
        <p:spPr>
          <a:xfrm>
            <a:off x="7818120" y="3803904"/>
            <a:ext cx="3566160" cy="274320"/>
          </a:xfrm>
          <a:prstGeom prst="rect">
            <a:avLst/>
          </a:prstGeom>
          <a:noFill/>
          <a:ln/>
        </p:spPr>
        <p:txBody>
          <a:bodyPr wrap="square" lIns="0" tIns="0" rIns="0" bIns="0" rtlCol="0" anchor="t"/>
          <a:lstStyle/>
          <a:p>
            <a:pPr marL="0" indent="0">
              <a:buNone/>
            </a:pPr>
            <a:r>
              <a:rPr lang="en-US" sz="1150" b="1" dirty="0">
                <a:solidFill>
                  <a:srgbClr val="FFFFFF"/>
                </a:solidFill>
                <a:latin typeface="Malgun Gothic" pitchFamily="34" charset="0"/>
                <a:ea typeface="Malgun Gothic" pitchFamily="34" charset="-122"/>
                <a:cs typeface="Malgun Gothic" pitchFamily="34" charset="-120"/>
              </a:rPr>
              <a:t>카드업계 평균 수수료율 (2025년 실적)</a:t>
            </a:r>
            <a:endParaRPr lang="en-US" sz="1150" dirty="0"/>
          </a:p>
        </p:txBody>
      </p:sp>
      <p:sp>
        <p:nvSpPr>
          <p:cNvPr id="27" name="Text 22"/>
          <p:cNvSpPr txBox="1"/>
          <p:nvPr/>
        </p:nvSpPr>
        <p:spPr>
          <a:xfrm>
            <a:off x="7818120" y="4078224"/>
            <a:ext cx="3566160" cy="411480"/>
          </a:xfrm>
          <a:prstGeom prst="rect">
            <a:avLst/>
          </a:prstGeom>
          <a:noFill/>
          <a:ln/>
        </p:spPr>
        <p:txBody>
          <a:bodyPr wrap="square" lIns="0" tIns="0" rIns="0" bIns="0" rtlCol="0" anchor="t"/>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일반가맹점 상한 4.5% → 3.6%, 2024년 재산정 이후 2% 선</a:t>
            </a:r>
            <a:endParaRPr lang="en-US" sz="1000" dirty="0"/>
          </a:p>
        </p:txBody>
      </p:sp>
      <p:sp>
        <p:nvSpPr>
          <p:cNvPr id="28" name="Text 23"/>
          <p:cNvSpPr txBox="1"/>
          <p:nvPr/>
        </p:nvSpPr>
        <p:spPr>
          <a:xfrm>
            <a:off x="7818120" y="4590288"/>
            <a:ext cx="3566160" cy="502920"/>
          </a:xfrm>
          <a:prstGeom prst="rect">
            <a:avLst/>
          </a:prstGeom>
          <a:noFill/>
          <a:ln/>
        </p:spPr>
        <p:txBody>
          <a:bodyPr wrap="square" lIns="0" tIns="0" rIns="0" bIns="0" rtlCol="0" anchor="b"/>
          <a:lstStyle/>
          <a:p>
            <a:pPr marL="0" indent="0">
              <a:buNone/>
            </a:pPr>
            <a:r>
              <a:rPr lang="en-US" sz="3000" b="1" dirty="0">
                <a:solidFill>
                  <a:srgbClr val="FFFFFF"/>
                </a:solidFill>
                <a:latin typeface="Malgun Gothic" pitchFamily="34" charset="0"/>
                <a:ea typeface="Malgun Gothic" pitchFamily="34" charset="-122"/>
                <a:cs typeface="Malgun Gothic" pitchFamily="34" charset="-120"/>
              </a:rPr>
              <a:t>95.7%</a:t>
            </a:r>
            <a:endParaRPr lang="en-US" sz="3000" dirty="0"/>
          </a:p>
        </p:txBody>
      </p:sp>
      <p:sp>
        <p:nvSpPr>
          <p:cNvPr id="29" name="Text 24"/>
          <p:cNvSpPr txBox="1"/>
          <p:nvPr/>
        </p:nvSpPr>
        <p:spPr>
          <a:xfrm>
            <a:off x="7818120" y="5138928"/>
            <a:ext cx="3566160" cy="274320"/>
          </a:xfrm>
          <a:prstGeom prst="rect">
            <a:avLst/>
          </a:prstGeom>
          <a:noFill/>
          <a:ln/>
        </p:spPr>
        <p:txBody>
          <a:bodyPr wrap="square" lIns="0" tIns="0" rIns="0" bIns="0" rtlCol="0" anchor="t"/>
          <a:lstStyle/>
          <a:p>
            <a:pPr marL="0" indent="0">
              <a:buNone/>
            </a:pPr>
            <a:r>
              <a:rPr lang="en-US" sz="1150" b="1" dirty="0">
                <a:solidFill>
                  <a:srgbClr val="FFFFFF"/>
                </a:solidFill>
                <a:latin typeface="Malgun Gothic" pitchFamily="34" charset="0"/>
                <a:ea typeface="Malgun Gothic" pitchFamily="34" charset="-122"/>
                <a:cs typeface="Malgun Gothic" pitchFamily="34" charset="-120"/>
              </a:rPr>
              <a:t>우대 수수료율 적용 가맹점 비중</a:t>
            </a:r>
            <a:endParaRPr lang="en-US" sz="1150" dirty="0"/>
          </a:p>
        </p:txBody>
      </p:sp>
      <p:sp>
        <p:nvSpPr>
          <p:cNvPr id="30" name="Text 25"/>
          <p:cNvSpPr txBox="1"/>
          <p:nvPr/>
        </p:nvSpPr>
        <p:spPr>
          <a:xfrm>
            <a:off x="7818120" y="5413248"/>
            <a:ext cx="3566160" cy="411480"/>
          </a:xfrm>
          <a:prstGeom prst="rect">
            <a:avLst/>
          </a:prstGeom>
          <a:noFill/>
          <a:ln/>
        </p:spPr>
        <p:txBody>
          <a:bodyPr wrap="square" lIns="0" tIns="0" rIns="0" bIns="0" rtlCol="0" anchor="t"/>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전체 323.5만 곳 중 309.4만 곳 (2026 하반기)</a:t>
            </a:r>
            <a:endParaRPr lang="en-US" sz="1000" dirty="0"/>
          </a:p>
        </p:txBody>
      </p:sp>
      <p:sp>
        <p:nvSpPr>
          <p:cNvPr id="31" name="Text 2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2" name="Text 2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 / 42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01  </a:t>
            </a:r>
            <a:r>
              <a:rPr lang="en-US" sz="1150" b="1" dirty="0">
                <a:solidFill>
                  <a:srgbClr val="64748B"/>
                </a:solidFill>
                <a:latin typeface="Malgun Gothic" pitchFamily="34" charset="0"/>
                <a:ea typeface="Malgun Gothic" pitchFamily="34" charset="-122"/>
                <a:cs typeface="Malgun Gothic" pitchFamily="34" charset="-120"/>
              </a:rPr>
              <a:t>문제 인식</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BC카드는 영업수익의 약 80%가 매입업무 — 이 압박에 더 직접 노출돼 있다</a:t>
            </a:r>
            <a:endParaRPr lang="en-US" sz="2400" dirty="0"/>
          </a:p>
        </p:txBody>
      </p:sp>
      <p:graphicFrame>
        <p:nvGraphicFramePr>
          <p:cNvPr id="6" name="Chart 0"/>
          <p:cNvGraphicFramePr/>
          <p:nvPr/>
        </p:nvGraphicFramePr>
        <p:xfrm>
          <a:off x="640080" y="1783080"/>
          <a:ext cx="33832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234440" y="3017520"/>
            <a:ext cx="2194560" cy="548640"/>
          </a:xfrm>
          <a:prstGeom prst="rect">
            <a:avLst/>
          </a:prstGeom>
          <a:noFill/>
          <a:ln/>
        </p:spPr>
        <p:txBody>
          <a:bodyPr wrap="square" lIns="0" tIns="0" rIns="0" bIns="0" rtlCol="0" anchor="ctr"/>
          <a:lstStyle/>
          <a:p>
            <a:pPr marL="0" indent="0" algn="ctr">
              <a:buNone/>
            </a:pPr>
            <a:r>
              <a:rPr lang="en-US" sz="3000" b="1" dirty="0">
                <a:solidFill>
                  <a:srgbClr val="E8383D"/>
                </a:solidFill>
                <a:latin typeface="Malgun Gothic" pitchFamily="34" charset="0"/>
                <a:ea typeface="Malgun Gothic" pitchFamily="34" charset="-122"/>
                <a:cs typeface="Malgun Gothic" pitchFamily="34" charset="-120"/>
              </a:rPr>
              <a:t>약 80%</a:t>
            </a:r>
            <a:endParaRPr lang="en-US" sz="3000" dirty="0"/>
          </a:p>
        </p:txBody>
      </p:sp>
      <p:sp>
        <p:nvSpPr>
          <p:cNvPr id="8" name="Text 5"/>
          <p:cNvSpPr txBox="1"/>
          <p:nvPr/>
        </p:nvSpPr>
        <p:spPr>
          <a:xfrm>
            <a:off x="1234440" y="3566160"/>
            <a:ext cx="2194560" cy="274320"/>
          </a:xfrm>
          <a:prstGeom prst="rect">
            <a:avLst/>
          </a:prstGeom>
          <a:noFill/>
          <a:ln/>
        </p:spPr>
        <p:txBody>
          <a:bodyPr wrap="square" lIns="0" tIns="0" rIns="0" bIns="0" rtlCol="0" anchor="t"/>
          <a:lstStyle/>
          <a:p>
            <a:pPr marL="0" indent="0" algn="ctr">
              <a:buNone/>
            </a:pPr>
            <a:r>
              <a:rPr lang="en-US" sz="1150" dirty="0">
                <a:solidFill>
                  <a:srgbClr val="64748B"/>
                </a:solidFill>
                <a:latin typeface="Malgun Gothic" pitchFamily="34" charset="0"/>
                <a:ea typeface="Malgun Gothic" pitchFamily="34" charset="-122"/>
                <a:cs typeface="Malgun Gothic" pitchFamily="34" charset="-120"/>
              </a:rPr>
              <a:t>매입업무 수익 비중</a:t>
            </a:r>
            <a:endParaRPr lang="en-US" sz="1150" dirty="0"/>
          </a:p>
        </p:txBody>
      </p:sp>
      <p:sp>
        <p:nvSpPr>
          <p:cNvPr id="9" name="Shape 6"/>
          <p:cNvSpPr/>
          <p:nvPr/>
        </p:nvSpPr>
        <p:spPr>
          <a:xfrm>
            <a:off x="777240" y="5296756"/>
            <a:ext cx="146304" cy="146304"/>
          </a:xfrm>
          <a:prstGeom prst="ellipse">
            <a:avLst/>
          </a:prstGeom>
          <a:solidFill>
            <a:srgbClr val="E8383D"/>
          </a:solidFill>
          <a:ln w="12700">
            <a:solidFill>
              <a:srgbClr val="E8383D"/>
            </a:solidFill>
            <a:prstDash val="solid"/>
          </a:ln>
        </p:spPr>
        <p:txBody>
          <a:bodyPr/>
          <a:lstStyle/>
          <a:p>
            <a:endParaRPr lang="ko-KR" altLang="en-US"/>
          </a:p>
        </p:txBody>
      </p:sp>
      <p:sp>
        <p:nvSpPr>
          <p:cNvPr id="10" name="Text 7"/>
          <p:cNvSpPr txBox="1"/>
          <p:nvPr/>
        </p:nvSpPr>
        <p:spPr>
          <a:xfrm>
            <a:off x="1024128" y="5276088"/>
            <a:ext cx="3108960" cy="237744"/>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매입업무(결제 프로세싱 대행) 수익</a:t>
            </a:r>
            <a:endParaRPr lang="en-US" sz="1050" dirty="0"/>
          </a:p>
        </p:txBody>
      </p:sp>
      <p:sp>
        <p:nvSpPr>
          <p:cNvPr id="11" name="Shape 8"/>
          <p:cNvSpPr/>
          <p:nvPr/>
        </p:nvSpPr>
        <p:spPr>
          <a:xfrm>
            <a:off x="777240" y="5598508"/>
            <a:ext cx="146304" cy="146304"/>
          </a:xfrm>
          <a:prstGeom prst="ellipse">
            <a:avLst/>
          </a:prstGeom>
          <a:solidFill>
            <a:srgbClr val="D9E0EA"/>
          </a:solidFill>
          <a:ln w="12700">
            <a:solidFill>
              <a:srgbClr val="E8383D"/>
            </a:solidFill>
            <a:prstDash val="solid"/>
          </a:ln>
        </p:spPr>
        <p:txBody>
          <a:bodyPr/>
          <a:lstStyle/>
          <a:p>
            <a:endParaRPr lang="ko-KR" altLang="en-US"/>
          </a:p>
        </p:txBody>
      </p:sp>
      <p:sp>
        <p:nvSpPr>
          <p:cNvPr id="12" name="Text 9"/>
          <p:cNvSpPr txBox="1"/>
          <p:nvPr/>
        </p:nvSpPr>
        <p:spPr>
          <a:xfrm>
            <a:off x="1024128" y="5577840"/>
            <a:ext cx="3291840" cy="237744"/>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그 외 (자체카드 · 금융 · 신사업 등)</a:t>
            </a:r>
            <a:endParaRPr lang="en-US" sz="1050" dirty="0"/>
          </a:p>
        </p:txBody>
      </p:sp>
      <p:sp>
        <p:nvSpPr>
          <p:cNvPr id="13" name="Shape 10"/>
          <p:cNvSpPr/>
          <p:nvPr/>
        </p:nvSpPr>
        <p:spPr>
          <a:xfrm>
            <a:off x="4572000" y="1737360"/>
            <a:ext cx="7068312" cy="1371600"/>
          </a:xfrm>
          <a:prstGeom prst="roundRect">
            <a:avLst>
              <a:gd name="adj" fmla="val 8000"/>
            </a:avLst>
          </a:prstGeom>
          <a:solidFill>
            <a:srgbClr val="F3F6FB"/>
          </a:solidFill>
          <a:ln w="12700">
            <a:solidFill>
              <a:srgbClr val="F3F6FB"/>
            </a:solidFill>
            <a:prstDash val="solid"/>
          </a:ln>
        </p:spPr>
        <p:txBody>
          <a:bodyPr/>
          <a:lstStyle/>
          <a:p>
            <a:endParaRPr lang="ko-KR" altLang="en-US"/>
          </a:p>
        </p:txBody>
      </p:sp>
      <p:sp>
        <p:nvSpPr>
          <p:cNvPr id="14" name="Text 11"/>
          <p:cNvSpPr txBox="1"/>
          <p:nvPr/>
        </p:nvSpPr>
        <p:spPr>
          <a:xfrm>
            <a:off x="4846320" y="2012306"/>
            <a:ext cx="2743200" cy="274320"/>
          </a:xfrm>
          <a:prstGeom prst="rect">
            <a:avLst/>
          </a:prstGeom>
          <a:noFill/>
          <a:ln/>
        </p:spPr>
        <p:txBody>
          <a:bodyPr wrap="square" lIns="0" tIns="0" rIns="0" bIns="0" rtlCol="0" anchor="t"/>
          <a:lstStyle/>
          <a:p>
            <a:pPr marL="0" indent="0">
              <a:buNone/>
            </a:pPr>
            <a:r>
              <a:rPr lang="en-US" sz="1350" b="1" dirty="0">
                <a:solidFill>
                  <a:srgbClr val="B7232B"/>
                </a:solidFill>
                <a:latin typeface="Malgun Gothic" pitchFamily="34" charset="0"/>
                <a:ea typeface="Malgun Gothic" pitchFamily="34" charset="-122"/>
                <a:cs typeface="Malgun Gothic" pitchFamily="34" charset="-120"/>
              </a:rPr>
              <a:t>매입업무란?</a:t>
            </a:r>
            <a:endParaRPr lang="en-US" sz="1350" dirty="0"/>
          </a:p>
        </p:txBody>
      </p:sp>
      <p:sp>
        <p:nvSpPr>
          <p:cNvPr id="15" name="Text 12"/>
          <p:cNvSpPr txBox="1"/>
          <p:nvPr/>
        </p:nvSpPr>
        <p:spPr>
          <a:xfrm>
            <a:off x="4846320" y="2407502"/>
            <a:ext cx="6583680" cy="822960"/>
          </a:xfrm>
          <a:prstGeom prst="rect">
            <a:avLst/>
          </a:prstGeom>
          <a:noFill/>
          <a:ln/>
        </p:spPr>
        <p:txBody>
          <a:bodyPr wrap="square" lIns="0" tIns="0" rIns="0" bIns="0" rtlCol="0" anchor="t"/>
          <a:lstStyle/>
          <a:p>
            <a:pPr marL="0" indent="0">
              <a:lnSpc>
                <a:spcPct val="115000"/>
              </a:lnSpc>
              <a:buNone/>
            </a:pPr>
            <a:r>
              <a:rPr lang="en-US" sz="1200" dirty="0">
                <a:solidFill>
                  <a:srgbClr val="3A475C"/>
                </a:solidFill>
                <a:latin typeface="Malgun Gothic" pitchFamily="34" charset="0"/>
                <a:ea typeface="Malgun Gothic" pitchFamily="34" charset="-122"/>
                <a:cs typeface="Malgun Gothic" pitchFamily="34" charset="-120"/>
              </a:rPr>
              <a:t>회원사(은행 등) 카드의 가맹점 결제를 대신 처리·정산해 주고 받는 대행 수익. 결제 물량과 수수료 구조에 연동돼, 수수료 인하와 회원사 이탈의 영향을 받기 쉽다.</a:t>
            </a:r>
            <a:endParaRPr lang="en-US" sz="1200" dirty="0"/>
          </a:p>
        </p:txBody>
      </p:sp>
      <p:sp>
        <p:nvSpPr>
          <p:cNvPr id="16" name="Text 13"/>
          <p:cNvSpPr txBox="1"/>
          <p:nvPr/>
        </p:nvSpPr>
        <p:spPr>
          <a:xfrm>
            <a:off x="4572000" y="3310128"/>
            <a:ext cx="7040880" cy="274320"/>
          </a:xfrm>
          <a:prstGeom prst="rect">
            <a:avLst/>
          </a:prstGeom>
          <a:noFill/>
          <a:ln/>
        </p:spPr>
        <p:txBody>
          <a:bodyPr wrap="square" lIns="0" tIns="0" rIns="0" bIns="0" rtlCol="0" anchor="t"/>
          <a:lstStyle/>
          <a:p>
            <a:pPr marL="0" indent="0">
              <a:buNone/>
            </a:pPr>
            <a:r>
              <a:rPr lang="en-US" sz="1350" b="1" dirty="0">
                <a:solidFill>
                  <a:srgbClr val="14213D"/>
                </a:solidFill>
                <a:latin typeface="Malgun Gothic" pitchFamily="34" charset="0"/>
                <a:ea typeface="Malgun Gothic" pitchFamily="34" charset="-122"/>
                <a:cs typeface="Malgun Gothic" pitchFamily="34" charset="-120"/>
              </a:rPr>
              <a:t>의존도는 낮아지는 중이지만 여전히 높다</a:t>
            </a:r>
            <a:endParaRPr lang="en-US" sz="1350" dirty="0"/>
          </a:p>
        </p:txBody>
      </p:sp>
      <p:sp>
        <p:nvSpPr>
          <p:cNvPr id="17" name="Shape 14"/>
          <p:cNvSpPr/>
          <p:nvPr/>
        </p:nvSpPr>
        <p:spPr>
          <a:xfrm>
            <a:off x="4572000" y="3675888"/>
            <a:ext cx="2148840" cy="960120"/>
          </a:xfrm>
          <a:prstGeom prst="roundRect">
            <a:avLst>
              <a:gd name="adj" fmla="val 9524"/>
            </a:avLst>
          </a:prstGeom>
          <a:solidFill>
            <a:srgbClr val="FFFFFF"/>
          </a:solidFill>
          <a:ln w="9525">
            <a:solidFill>
              <a:srgbClr val="D9E0EA"/>
            </a:solidFill>
            <a:prstDash val="solid"/>
          </a:ln>
        </p:spPr>
        <p:txBody>
          <a:bodyPr/>
          <a:lstStyle/>
          <a:p>
            <a:endParaRPr lang="ko-KR" altLang="en-US"/>
          </a:p>
        </p:txBody>
      </p:sp>
      <p:sp>
        <p:nvSpPr>
          <p:cNvPr id="18" name="Text 15"/>
          <p:cNvSpPr txBox="1"/>
          <p:nvPr/>
        </p:nvSpPr>
        <p:spPr>
          <a:xfrm>
            <a:off x="4572000" y="3749040"/>
            <a:ext cx="2148840" cy="502920"/>
          </a:xfrm>
          <a:prstGeom prst="rect">
            <a:avLst/>
          </a:prstGeom>
          <a:noFill/>
          <a:ln/>
        </p:spPr>
        <p:txBody>
          <a:bodyPr wrap="square" lIns="0" tIns="0" rIns="0" bIns="0" rtlCol="0" anchor="ctr"/>
          <a:lstStyle/>
          <a:p>
            <a:pPr marL="0" indent="0" algn="ctr">
              <a:buNone/>
            </a:pPr>
            <a:r>
              <a:rPr lang="en-US" sz="2600" b="1" dirty="0">
                <a:solidFill>
                  <a:srgbClr val="64748B"/>
                </a:solidFill>
                <a:latin typeface="Malgun Gothic" pitchFamily="34" charset="0"/>
                <a:ea typeface="Malgun Gothic" pitchFamily="34" charset="-122"/>
                <a:cs typeface="Malgun Gothic" pitchFamily="34" charset="-120"/>
              </a:rPr>
              <a:t>88.1%</a:t>
            </a:r>
            <a:endParaRPr lang="en-US" sz="2600" dirty="0"/>
          </a:p>
        </p:txBody>
      </p:sp>
      <p:sp>
        <p:nvSpPr>
          <p:cNvPr id="19" name="Text 16"/>
          <p:cNvSpPr txBox="1"/>
          <p:nvPr/>
        </p:nvSpPr>
        <p:spPr>
          <a:xfrm>
            <a:off x="4572000" y="4279392"/>
            <a:ext cx="2148840" cy="256032"/>
          </a:xfrm>
          <a:prstGeom prst="rect">
            <a:avLst/>
          </a:prstGeom>
          <a:noFill/>
          <a:ln/>
        </p:spPr>
        <p:txBody>
          <a:bodyPr wrap="square" lIns="0" tIns="0" rIns="0" bIns="0" rtlCol="0" anchor="t"/>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2021년 말</a:t>
            </a:r>
            <a:endParaRPr lang="en-US" sz="1050" dirty="0"/>
          </a:p>
        </p:txBody>
      </p:sp>
      <p:pic>
        <p:nvPicPr>
          <p:cNvPr id="20" name="Image 0" descr="preencoded.png"/>
          <p:cNvPicPr>
            <a:picLocks noChangeAspect="1"/>
          </p:cNvPicPr>
          <p:nvPr/>
        </p:nvPicPr>
        <p:blipFill>
          <a:blip r:embed="rId4"/>
          <a:stretch>
            <a:fillRect/>
          </a:stretch>
        </p:blipFill>
        <p:spPr>
          <a:xfrm>
            <a:off x="6775704" y="4041648"/>
            <a:ext cx="201168" cy="201168"/>
          </a:xfrm>
          <a:prstGeom prst="rect">
            <a:avLst/>
          </a:prstGeom>
        </p:spPr>
      </p:pic>
      <p:sp>
        <p:nvSpPr>
          <p:cNvPr id="21" name="Shape 17"/>
          <p:cNvSpPr/>
          <p:nvPr/>
        </p:nvSpPr>
        <p:spPr>
          <a:xfrm>
            <a:off x="7031736" y="3675888"/>
            <a:ext cx="2148840" cy="960120"/>
          </a:xfrm>
          <a:prstGeom prst="roundRect">
            <a:avLst>
              <a:gd name="adj" fmla="val 9524"/>
            </a:avLst>
          </a:prstGeom>
          <a:solidFill>
            <a:srgbClr val="FFFFFF"/>
          </a:solidFill>
          <a:ln w="9525">
            <a:solidFill>
              <a:srgbClr val="D9E0EA"/>
            </a:solidFill>
            <a:prstDash val="solid"/>
          </a:ln>
        </p:spPr>
        <p:txBody>
          <a:bodyPr/>
          <a:lstStyle/>
          <a:p>
            <a:endParaRPr lang="ko-KR" altLang="en-US"/>
          </a:p>
        </p:txBody>
      </p:sp>
      <p:sp>
        <p:nvSpPr>
          <p:cNvPr id="22" name="Text 18"/>
          <p:cNvSpPr txBox="1"/>
          <p:nvPr/>
        </p:nvSpPr>
        <p:spPr>
          <a:xfrm>
            <a:off x="7031736" y="3749040"/>
            <a:ext cx="2148840" cy="502920"/>
          </a:xfrm>
          <a:prstGeom prst="rect">
            <a:avLst/>
          </a:prstGeom>
          <a:noFill/>
          <a:ln/>
        </p:spPr>
        <p:txBody>
          <a:bodyPr wrap="square" lIns="0" tIns="0" rIns="0" bIns="0" rtlCol="0" anchor="ctr"/>
          <a:lstStyle/>
          <a:p>
            <a:pPr marL="0" indent="0" algn="ctr">
              <a:buNone/>
            </a:pPr>
            <a:r>
              <a:rPr lang="en-US" sz="2600" b="1" dirty="0">
                <a:solidFill>
                  <a:srgbClr val="E8383D"/>
                </a:solidFill>
                <a:latin typeface="Malgun Gothic" pitchFamily="34" charset="0"/>
                <a:ea typeface="Malgun Gothic" pitchFamily="34" charset="-122"/>
                <a:cs typeface="Malgun Gothic" pitchFamily="34" charset="-120"/>
              </a:rPr>
              <a:t>79.7%</a:t>
            </a:r>
            <a:endParaRPr lang="en-US" sz="2600" dirty="0"/>
          </a:p>
        </p:txBody>
      </p:sp>
      <p:sp>
        <p:nvSpPr>
          <p:cNvPr id="23" name="Text 19"/>
          <p:cNvSpPr txBox="1"/>
          <p:nvPr/>
        </p:nvSpPr>
        <p:spPr>
          <a:xfrm>
            <a:off x="7031736" y="4279392"/>
            <a:ext cx="2148840" cy="256032"/>
          </a:xfrm>
          <a:prstGeom prst="rect">
            <a:avLst/>
          </a:prstGeom>
          <a:noFill/>
          <a:ln/>
        </p:spPr>
        <p:txBody>
          <a:bodyPr wrap="square" lIns="0" tIns="0" rIns="0" bIns="0" rtlCol="0" anchor="t"/>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2024년</a:t>
            </a:r>
            <a:endParaRPr lang="en-US" sz="1050" dirty="0"/>
          </a:p>
        </p:txBody>
      </p:sp>
      <p:pic>
        <p:nvPicPr>
          <p:cNvPr id="24" name="Image 1" descr="preencoded.png"/>
          <p:cNvPicPr>
            <a:picLocks noChangeAspect="1"/>
          </p:cNvPicPr>
          <p:nvPr/>
        </p:nvPicPr>
        <p:blipFill>
          <a:blip r:embed="rId4"/>
          <a:stretch>
            <a:fillRect/>
          </a:stretch>
        </p:blipFill>
        <p:spPr>
          <a:xfrm>
            <a:off x="9235440" y="4041648"/>
            <a:ext cx="201168" cy="201168"/>
          </a:xfrm>
          <a:prstGeom prst="rect">
            <a:avLst/>
          </a:prstGeom>
        </p:spPr>
      </p:pic>
      <p:sp>
        <p:nvSpPr>
          <p:cNvPr id="25" name="Shape 20"/>
          <p:cNvSpPr/>
          <p:nvPr/>
        </p:nvSpPr>
        <p:spPr>
          <a:xfrm>
            <a:off x="9491472" y="3675888"/>
            <a:ext cx="2148840" cy="960120"/>
          </a:xfrm>
          <a:prstGeom prst="roundRect">
            <a:avLst>
              <a:gd name="adj" fmla="val 9524"/>
            </a:avLst>
          </a:prstGeom>
          <a:solidFill>
            <a:srgbClr val="FFFFFF"/>
          </a:solidFill>
          <a:ln w="9525">
            <a:solidFill>
              <a:srgbClr val="D9E0EA"/>
            </a:solidFill>
            <a:prstDash val="solid"/>
          </a:ln>
        </p:spPr>
        <p:txBody>
          <a:bodyPr/>
          <a:lstStyle/>
          <a:p>
            <a:endParaRPr lang="ko-KR" altLang="en-US"/>
          </a:p>
        </p:txBody>
      </p:sp>
      <p:sp>
        <p:nvSpPr>
          <p:cNvPr id="26" name="Text 21"/>
          <p:cNvSpPr txBox="1"/>
          <p:nvPr/>
        </p:nvSpPr>
        <p:spPr>
          <a:xfrm>
            <a:off x="9491472" y="3749040"/>
            <a:ext cx="2148840" cy="502920"/>
          </a:xfrm>
          <a:prstGeom prst="rect">
            <a:avLst/>
          </a:prstGeom>
          <a:noFill/>
          <a:ln/>
        </p:spPr>
        <p:txBody>
          <a:bodyPr wrap="square" lIns="0" tIns="0" rIns="0" bIns="0" rtlCol="0" anchor="ctr"/>
          <a:lstStyle/>
          <a:p>
            <a:pPr marL="0" indent="0" algn="ctr">
              <a:buNone/>
            </a:pPr>
            <a:r>
              <a:rPr lang="en-US" sz="2600" b="1" dirty="0">
                <a:solidFill>
                  <a:srgbClr val="E8383D"/>
                </a:solidFill>
                <a:latin typeface="Malgun Gothic" pitchFamily="34" charset="0"/>
                <a:ea typeface="Malgun Gothic" pitchFamily="34" charset="-122"/>
                <a:cs typeface="Malgun Gothic" pitchFamily="34" charset="-120"/>
              </a:rPr>
              <a:t>77.6%</a:t>
            </a:r>
            <a:endParaRPr lang="en-US" sz="2600" dirty="0"/>
          </a:p>
        </p:txBody>
      </p:sp>
      <p:sp>
        <p:nvSpPr>
          <p:cNvPr id="27" name="Text 22"/>
          <p:cNvSpPr txBox="1"/>
          <p:nvPr/>
        </p:nvSpPr>
        <p:spPr>
          <a:xfrm>
            <a:off x="9491472" y="4279392"/>
            <a:ext cx="2148840" cy="256032"/>
          </a:xfrm>
          <a:prstGeom prst="rect">
            <a:avLst/>
          </a:prstGeom>
          <a:noFill/>
          <a:ln/>
        </p:spPr>
        <p:txBody>
          <a:bodyPr wrap="square" lIns="0" tIns="0" rIns="0" bIns="0" rtlCol="0" anchor="t"/>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2025년 상반기</a:t>
            </a:r>
            <a:endParaRPr lang="en-US" sz="1050" dirty="0"/>
          </a:p>
        </p:txBody>
      </p:sp>
      <p:sp>
        <p:nvSpPr>
          <p:cNvPr id="28" name="Text 23"/>
          <p:cNvSpPr txBox="1"/>
          <p:nvPr/>
        </p:nvSpPr>
        <p:spPr>
          <a:xfrm>
            <a:off x="4572000" y="4754880"/>
            <a:ext cx="7040880" cy="457200"/>
          </a:xfrm>
          <a:prstGeom prst="rect">
            <a:avLst/>
          </a:prstGeom>
          <a:noFill/>
          <a:ln/>
        </p:spPr>
        <p:txBody>
          <a:bodyPr wrap="square" lIns="0" tIns="0" rIns="0" bIns="0" rtlCol="0" anchor="t"/>
          <a:lstStyle/>
          <a:p>
            <a:pPr marL="0" indent="0">
              <a:lnSpc>
                <a:spcPct val="110000"/>
              </a:lnSpc>
              <a:buNone/>
            </a:pPr>
            <a:r>
              <a:rPr lang="en-US" sz="1100" dirty="0" err="1">
                <a:solidFill>
                  <a:srgbClr val="3A475C"/>
                </a:solidFill>
                <a:latin typeface="Malgun Gothic" pitchFamily="34" charset="0"/>
                <a:ea typeface="Malgun Gothic" pitchFamily="34" charset="-122"/>
                <a:cs typeface="Malgun Gothic" pitchFamily="34" charset="-120"/>
              </a:rPr>
              <a:t>회원사</a:t>
            </a:r>
            <a:r>
              <a:rPr lang="en-US" sz="1100" dirty="0">
                <a:solidFill>
                  <a:srgbClr val="3A475C"/>
                </a:solidFill>
                <a:latin typeface="Malgun Gothic" pitchFamily="34" charset="0"/>
                <a:ea typeface="Malgun Gothic" pitchFamily="34" charset="-122"/>
                <a:cs typeface="Malgun Gothic" pitchFamily="34" charset="-120"/>
              </a:rPr>
              <a:t> </a:t>
            </a:r>
            <a:r>
              <a:rPr lang="en-US" sz="1100" dirty="0" err="1">
                <a:solidFill>
                  <a:srgbClr val="3A475C"/>
                </a:solidFill>
                <a:latin typeface="Malgun Gothic" pitchFamily="34" charset="0"/>
                <a:ea typeface="Malgun Gothic" pitchFamily="34" charset="-122"/>
                <a:cs typeface="Malgun Gothic" pitchFamily="34" charset="-120"/>
              </a:rPr>
              <a:t>이탈</a:t>
            </a:r>
            <a:r>
              <a:rPr lang="en-US" sz="1100" dirty="0">
                <a:solidFill>
                  <a:srgbClr val="3A475C"/>
                </a:solidFill>
                <a:latin typeface="Malgun Gothic" pitchFamily="34" charset="0"/>
                <a:ea typeface="Malgun Gothic" pitchFamily="34" charset="-122"/>
                <a:cs typeface="Malgun Gothic" pitchFamily="34" charset="-120"/>
              </a:rPr>
              <a:t> — 2022년 전북은행·SC제일은행, 2023년 코나아이·우리카드 (이 중 우리카드는 매입업무 수익의 약 40%를 차지했다는 보도)</a:t>
            </a:r>
            <a:endParaRPr lang="en-US" sz="1100" dirty="0"/>
          </a:p>
        </p:txBody>
      </p:sp>
      <p:sp>
        <p:nvSpPr>
          <p:cNvPr id="29" name="Shape 24"/>
          <p:cNvSpPr/>
          <p:nvPr/>
        </p:nvSpPr>
        <p:spPr>
          <a:xfrm>
            <a:off x="4572000" y="5321808"/>
            <a:ext cx="7068312" cy="658368"/>
          </a:xfrm>
          <a:prstGeom prst="roundRect">
            <a:avLst>
              <a:gd name="adj" fmla="val 13889"/>
            </a:avLst>
          </a:prstGeom>
          <a:solidFill>
            <a:srgbClr val="0B1B33"/>
          </a:solidFill>
          <a:ln w="12700">
            <a:solidFill>
              <a:srgbClr val="0B1B33"/>
            </a:solidFill>
            <a:prstDash val="solid"/>
          </a:ln>
        </p:spPr>
        <p:txBody>
          <a:bodyPr/>
          <a:lstStyle/>
          <a:p>
            <a:endParaRPr lang="ko-KR" altLang="en-US"/>
          </a:p>
        </p:txBody>
      </p:sp>
      <p:sp>
        <p:nvSpPr>
          <p:cNvPr id="30" name="Text 25"/>
          <p:cNvSpPr txBox="1"/>
          <p:nvPr/>
        </p:nvSpPr>
        <p:spPr>
          <a:xfrm>
            <a:off x="4800600" y="5321808"/>
            <a:ext cx="6675120" cy="658368"/>
          </a:xfrm>
          <a:prstGeom prst="rect">
            <a:avLst/>
          </a:prstGeom>
          <a:noFill/>
          <a:ln/>
        </p:spPr>
        <p:txBody>
          <a:bodyPr wrap="square" lIns="0" tIns="0" rIns="0" bIns="0" rtlCol="0" anchor="ctr"/>
          <a:lstStyle/>
          <a:p>
            <a:pPr marL="0" indent="0">
              <a:buNone/>
            </a:pPr>
            <a:r>
              <a:rPr lang="en-US" sz="1250" b="1" dirty="0">
                <a:solidFill>
                  <a:srgbClr val="FFFFFF"/>
                </a:solidFill>
                <a:latin typeface="Malgun Gothic" pitchFamily="34" charset="0"/>
                <a:ea typeface="Malgun Gothic" pitchFamily="34" charset="-122"/>
                <a:cs typeface="Malgun Gothic" pitchFamily="34" charset="-120"/>
              </a:rPr>
              <a:t>필요한 것은 결제 수수료 밖의 부가가치 — 이미 가진 결제 데이터를 서비스로 바꾸는 일</a:t>
            </a:r>
            <a:endParaRPr lang="en-US" sz="1250" dirty="0"/>
          </a:p>
        </p:txBody>
      </p:sp>
      <p:sp>
        <p:nvSpPr>
          <p:cNvPr id="31" name="Text 2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2" name="Text 2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4 / 42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01  </a:t>
            </a:r>
            <a:r>
              <a:rPr lang="en-US" sz="1150" b="1" dirty="0">
                <a:solidFill>
                  <a:srgbClr val="64748B"/>
                </a:solidFill>
                <a:latin typeface="Malgun Gothic" pitchFamily="34" charset="0"/>
                <a:ea typeface="Malgun Gothic" pitchFamily="34" charset="-122"/>
                <a:cs typeface="Malgun Gothic" pitchFamily="34" charset="-120"/>
              </a:rPr>
              <a:t>문제 인식</a:t>
            </a:r>
            <a:endParaRPr lang="en-US" sz="1150" dirty="0"/>
          </a:p>
        </p:txBody>
      </p:sp>
      <p:sp>
        <p:nvSpPr>
          <p:cNvPr id="5" name="Text 3"/>
          <p:cNvSpPr txBox="1"/>
          <p:nvPr/>
        </p:nvSpPr>
        <p:spPr>
          <a:xfrm>
            <a:off x="548640" y="750810"/>
            <a:ext cx="11091672" cy="868680"/>
          </a:xfrm>
          <a:prstGeom prst="rect">
            <a:avLst/>
          </a:prstGeom>
          <a:noFill/>
          <a:ln/>
        </p:spPr>
        <p:txBody>
          <a:bodyPr wrap="square" lIns="0" tIns="0" rIns="0" bIns="0" rtlCol="0" anchor="t"/>
          <a:lstStyle/>
          <a:p>
            <a:pPr marL="0" indent="0">
              <a:lnSpc>
                <a:spcPct val="105000"/>
              </a:lnSpc>
              <a:buNone/>
            </a:pPr>
            <a:r>
              <a:rPr lang="en-US" sz="2400" b="1" dirty="0" err="1">
                <a:solidFill>
                  <a:srgbClr val="14213D"/>
                </a:solidFill>
                <a:latin typeface="Malgun Gothic" pitchFamily="34" charset="0"/>
                <a:ea typeface="Malgun Gothic" pitchFamily="34" charset="-122"/>
                <a:cs typeface="Malgun Gothic" pitchFamily="34" charset="-120"/>
              </a:rPr>
              <a:t>외국인</a:t>
            </a:r>
            <a:r>
              <a:rPr lang="en-US" sz="2400" b="1" dirty="0">
                <a:solidFill>
                  <a:srgbClr val="14213D"/>
                </a:solidFill>
                <a:latin typeface="Malgun Gothic" pitchFamily="34" charset="0"/>
                <a:ea typeface="Malgun Gothic" pitchFamily="34" charset="-122"/>
                <a:cs typeface="Malgun Gothic" pitchFamily="34" charset="-120"/>
              </a:rPr>
              <a:t> </a:t>
            </a:r>
            <a:r>
              <a:rPr lang="en-US" sz="2400" b="1" dirty="0" err="1">
                <a:solidFill>
                  <a:srgbClr val="14213D"/>
                </a:solidFill>
                <a:latin typeface="Malgun Gothic" pitchFamily="34" charset="0"/>
                <a:ea typeface="Malgun Gothic" pitchFamily="34" charset="-122"/>
                <a:cs typeface="Malgun Gothic" pitchFamily="34" charset="-120"/>
              </a:rPr>
              <a:t>소비</a:t>
            </a:r>
            <a:r>
              <a:rPr lang="ko-KR" altLang="en-US" sz="2400" b="1" dirty="0">
                <a:solidFill>
                  <a:srgbClr val="14213D"/>
                </a:solidFill>
                <a:latin typeface="Malgun Gothic" pitchFamily="34" charset="0"/>
                <a:ea typeface="Malgun Gothic" pitchFamily="34" charset="-122"/>
                <a:cs typeface="Malgun Gothic" pitchFamily="34" charset="-120"/>
              </a:rPr>
              <a:t>가 점차 지방으로 퍼지고 있다</a:t>
            </a:r>
            <a:r>
              <a:rPr lang="en-US" altLang="ko-KR" sz="2400" b="1" dirty="0">
                <a:solidFill>
                  <a:srgbClr val="14213D"/>
                </a:solidFill>
                <a:latin typeface="Malgun Gothic" pitchFamily="34" charset="0"/>
                <a:ea typeface="Malgun Gothic" pitchFamily="34" charset="-122"/>
                <a:cs typeface="Malgun Gothic" pitchFamily="34" charset="-120"/>
              </a:rPr>
              <a:t>.</a:t>
            </a:r>
          </a:p>
        </p:txBody>
      </p:sp>
      <p:sp>
        <p:nvSpPr>
          <p:cNvPr id="6" name="Shape 4"/>
          <p:cNvSpPr/>
          <p:nvPr/>
        </p:nvSpPr>
        <p:spPr>
          <a:xfrm>
            <a:off x="548640" y="1737360"/>
            <a:ext cx="2615184" cy="1600200"/>
          </a:xfrm>
          <a:prstGeom prst="roundRect">
            <a:avLst>
              <a:gd name="adj" fmla="val 6857"/>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56232"/>
            <a:ext cx="2157984" cy="548640"/>
          </a:xfrm>
          <a:prstGeom prst="rect">
            <a:avLst/>
          </a:prstGeom>
          <a:noFill/>
          <a:ln/>
        </p:spPr>
        <p:txBody>
          <a:bodyPr wrap="square" lIns="0" tIns="0" rIns="0" bIns="0" rtlCol="0" anchor="b"/>
          <a:lstStyle/>
          <a:p>
            <a:pPr marL="0" indent="0">
              <a:buNone/>
            </a:pPr>
            <a:r>
              <a:rPr lang="en-US" sz="2800" b="1" dirty="0">
                <a:solidFill>
                  <a:srgbClr val="E8383D"/>
                </a:solidFill>
                <a:latin typeface="Malgun Gothic" pitchFamily="34" charset="0"/>
                <a:ea typeface="Malgun Gothic" pitchFamily="34" charset="-122"/>
                <a:cs typeface="Malgun Gothic" pitchFamily="34" charset="-120"/>
              </a:rPr>
              <a:t>475.9만 명</a:t>
            </a:r>
            <a:endParaRPr lang="en-US" sz="2800" dirty="0"/>
          </a:p>
        </p:txBody>
      </p:sp>
      <p:sp>
        <p:nvSpPr>
          <p:cNvPr id="8" name="Text 6"/>
          <p:cNvSpPr txBox="1"/>
          <p:nvPr/>
        </p:nvSpPr>
        <p:spPr>
          <a:xfrm>
            <a:off x="777240" y="2468880"/>
            <a:ext cx="2157984"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2026 1분기 방한 외국인</a:t>
            </a:r>
            <a:endParaRPr lang="en-US" sz="1250" dirty="0"/>
          </a:p>
        </p:txBody>
      </p:sp>
      <p:sp>
        <p:nvSpPr>
          <p:cNvPr id="9" name="Text 7"/>
          <p:cNvSpPr txBox="1"/>
          <p:nvPr/>
        </p:nvSpPr>
        <p:spPr>
          <a:xfrm>
            <a:off x="777240" y="2761488"/>
            <a:ext cx="2157984"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전년 동기 대비 +23.0%</a:t>
            </a:r>
            <a:endParaRPr lang="en-US" sz="1050" dirty="0"/>
          </a:p>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상반기 누적 1,071만 명</a:t>
            </a:r>
            <a:endParaRPr lang="en-US" sz="1050" dirty="0"/>
          </a:p>
        </p:txBody>
      </p:sp>
      <p:sp>
        <p:nvSpPr>
          <p:cNvPr id="10" name="Shape 8"/>
          <p:cNvSpPr/>
          <p:nvPr/>
        </p:nvSpPr>
        <p:spPr>
          <a:xfrm>
            <a:off x="3374136" y="1737360"/>
            <a:ext cx="2615184" cy="1600200"/>
          </a:xfrm>
          <a:prstGeom prst="roundRect">
            <a:avLst>
              <a:gd name="adj" fmla="val 6857"/>
            </a:avLst>
          </a:prstGeom>
          <a:solidFill>
            <a:srgbClr val="F3F6FB"/>
          </a:solidFill>
          <a:ln w="12700">
            <a:solidFill>
              <a:srgbClr val="F3F6FB"/>
            </a:solidFill>
            <a:prstDash val="solid"/>
          </a:ln>
        </p:spPr>
        <p:txBody>
          <a:bodyPr/>
          <a:lstStyle/>
          <a:p>
            <a:endParaRPr lang="ko-KR" altLang="en-US"/>
          </a:p>
        </p:txBody>
      </p:sp>
      <p:sp>
        <p:nvSpPr>
          <p:cNvPr id="11" name="Text 9"/>
          <p:cNvSpPr txBox="1"/>
          <p:nvPr/>
        </p:nvSpPr>
        <p:spPr>
          <a:xfrm>
            <a:off x="3602736" y="1856232"/>
            <a:ext cx="2157984" cy="548640"/>
          </a:xfrm>
          <a:prstGeom prst="rect">
            <a:avLst/>
          </a:prstGeom>
          <a:noFill/>
          <a:ln/>
        </p:spPr>
        <p:txBody>
          <a:bodyPr wrap="square" lIns="0" tIns="0" rIns="0" bIns="0" rtlCol="0" anchor="b"/>
          <a:lstStyle/>
          <a:p>
            <a:pPr marL="0" indent="0">
              <a:buNone/>
            </a:pPr>
            <a:r>
              <a:rPr lang="en-US" sz="2800" b="1" dirty="0">
                <a:solidFill>
                  <a:srgbClr val="E8383D"/>
                </a:solidFill>
                <a:latin typeface="Malgun Gothic" pitchFamily="34" charset="0"/>
                <a:ea typeface="Malgun Gothic" pitchFamily="34" charset="-122"/>
                <a:cs typeface="Malgun Gothic" pitchFamily="34" charset="-120"/>
              </a:rPr>
              <a:t>34.5%</a:t>
            </a:r>
            <a:endParaRPr lang="en-US" sz="2800" dirty="0"/>
          </a:p>
        </p:txBody>
      </p:sp>
      <p:sp>
        <p:nvSpPr>
          <p:cNvPr id="12" name="Text 10"/>
          <p:cNvSpPr txBox="1"/>
          <p:nvPr/>
        </p:nvSpPr>
        <p:spPr>
          <a:xfrm>
            <a:off x="3602736" y="2468880"/>
            <a:ext cx="2157984"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서울 외 지역 방문율</a:t>
            </a:r>
            <a:endParaRPr lang="en-US" sz="1250" dirty="0"/>
          </a:p>
        </p:txBody>
      </p:sp>
      <p:sp>
        <p:nvSpPr>
          <p:cNvPr id="13" name="Text 11"/>
          <p:cNvSpPr txBox="1"/>
          <p:nvPr/>
        </p:nvSpPr>
        <p:spPr>
          <a:xfrm>
            <a:off x="3602736" y="2761488"/>
            <a:ext cx="2157984"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외국인 3명 중 1명 이상 (+3.2%p)</a:t>
            </a:r>
            <a:endParaRPr lang="en-US" sz="1050" dirty="0"/>
          </a:p>
        </p:txBody>
      </p:sp>
      <p:sp>
        <p:nvSpPr>
          <p:cNvPr id="14" name="Shape 12"/>
          <p:cNvSpPr/>
          <p:nvPr/>
        </p:nvSpPr>
        <p:spPr>
          <a:xfrm>
            <a:off x="6199632" y="1737360"/>
            <a:ext cx="2615184" cy="1600200"/>
          </a:xfrm>
          <a:prstGeom prst="roundRect">
            <a:avLst>
              <a:gd name="adj" fmla="val 6857"/>
            </a:avLst>
          </a:prstGeom>
          <a:solidFill>
            <a:srgbClr val="F3F6FB"/>
          </a:solidFill>
          <a:ln w="12700">
            <a:solidFill>
              <a:srgbClr val="F3F6FB"/>
            </a:solidFill>
            <a:prstDash val="solid"/>
          </a:ln>
        </p:spPr>
        <p:txBody>
          <a:bodyPr/>
          <a:lstStyle/>
          <a:p>
            <a:endParaRPr lang="ko-KR" altLang="en-US"/>
          </a:p>
        </p:txBody>
      </p:sp>
      <p:sp>
        <p:nvSpPr>
          <p:cNvPr id="15" name="Text 13"/>
          <p:cNvSpPr txBox="1"/>
          <p:nvPr/>
        </p:nvSpPr>
        <p:spPr>
          <a:xfrm>
            <a:off x="6428232" y="1856232"/>
            <a:ext cx="2157984" cy="548640"/>
          </a:xfrm>
          <a:prstGeom prst="rect">
            <a:avLst/>
          </a:prstGeom>
          <a:noFill/>
          <a:ln/>
        </p:spPr>
        <p:txBody>
          <a:bodyPr wrap="square" lIns="0" tIns="0" rIns="0" bIns="0" rtlCol="0" anchor="b"/>
          <a:lstStyle/>
          <a:p>
            <a:pPr marL="0" indent="0">
              <a:buNone/>
            </a:pPr>
            <a:r>
              <a:rPr lang="en-US" sz="2800" b="1" dirty="0">
                <a:solidFill>
                  <a:srgbClr val="E8383D"/>
                </a:solidFill>
                <a:latin typeface="Malgun Gothic" pitchFamily="34" charset="0"/>
                <a:ea typeface="Malgun Gothic" pitchFamily="34" charset="-122"/>
                <a:cs typeface="Malgun Gothic" pitchFamily="34" charset="-120"/>
              </a:rPr>
              <a:t>4,667억원</a:t>
            </a:r>
            <a:endParaRPr lang="en-US" sz="2800" dirty="0"/>
          </a:p>
        </p:txBody>
      </p:sp>
      <p:sp>
        <p:nvSpPr>
          <p:cNvPr id="16" name="Text 14"/>
          <p:cNvSpPr txBox="1"/>
          <p:nvPr/>
        </p:nvSpPr>
        <p:spPr>
          <a:xfrm>
            <a:off x="6428232" y="2468880"/>
            <a:ext cx="2157984"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외국인의 지역 소비액</a:t>
            </a:r>
            <a:endParaRPr lang="en-US" sz="1250" dirty="0"/>
          </a:p>
        </p:txBody>
      </p:sp>
      <p:sp>
        <p:nvSpPr>
          <p:cNvPr id="17" name="Text 15"/>
          <p:cNvSpPr txBox="1"/>
          <p:nvPr/>
        </p:nvSpPr>
        <p:spPr>
          <a:xfrm>
            <a:off x="6428232" y="2761488"/>
            <a:ext cx="2157984"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1분기, 전년 대비 +26.8%</a:t>
            </a:r>
            <a:endParaRPr lang="en-US" sz="1050" dirty="0"/>
          </a:p>
        </p:txBody>
      </p:sp>
      <p:sp>
        <p:nvSpPr>
          <p:cNvPr id="18" name="Shape 16"/>
          <p:cNvSpPr/>
          <p:nvPr/>
        </p:nvSpPr>
        <p:spPr>
          <a:xfrm>
            <a:off x="9025128" y="1737360"/>
            <a:ext cx="2615184" cy="1600200"/>
          </a:xfrm>
          <a:prstGeom prst="roundRect">
            <a:avLst>
              <a:gd name="adj" fmla="val 6857"/>
            </a:avLst>
          </a:prstGeom>
          <a:solidFill>
            <a:srgbClr val="F3F6FB"/>
          </a:solidFill>
          <a:ln w="12700">
            <a:solidFill>
              <a:srgbClr val="F3F6FB"/>
            </a:solidFill>
            <a:prstDash val="solid"/>
          </a:ln>
        </p:spPr>
        <p:txBody>
          <a:bodyPr/>
          <a:lstStyle/>
          <a:p>
            <a:endParaRPr lang="ko-KR" altLang="en-US"/>
          </a:p>
        </p:txBody>
      </p:sp>
      <p:sp>
        <p:nvSpPr>
          <p:cNvPr id="19" name="Text 17"/>
          <p:cNvSpPr txBox="1"/>
          <p:nvPr/>
        </p:nvSpPr>
        <p:spPr>
          <a:xfrm>
            <a:off x="9253728" y="1856232"/>
            <a:ext cx="2157984" cy="548640"/>
          </a:xfrm>
          <a:prstGeom prst="rect">
            <a:avLst/>
          </a:prstGeom>
          <a:noFill/>
          <a:ln/>
        </p:spPr>
        <p:txBody>
          <a:bodyPr wrap="square" lIns="0" tIns="0" rIns="0" bIns="0" rtlCol="0" anchor="b"/>
          <a:lstStyle/>
          <a:p>
            <a:pPr marL="0" indent="0">
              <a:buNone/>
            </a:pPr>
            <a:r>
              <a:rPr lang="en-US" sz="2800" b="1" dirty="0">
                <a:solidFill>
                  <a:srgbClr val="E8383D"/>
                </a:solidFill>
                <a:latin typeface="Malgun Gothic" pitchFamily="34" charset="0"/>
                <a:ea typeface="Malgun Gothic" pitchFamily="34" charset="-122"/>
                <a:cs typeface="Malgun Gothic" pitchFamily="34" charset="-120"/>
              </a:rPr>
              <a:t>85.4만 명</a:t>
            </a:r>
            <a:endParaRPr lang="en-US" sz="2800" dirty="0"/>
          </a:p>
        </p:txBody>
      </p:sp>
      <p:sp>
        <p:nvSpPr>
          <p:cNvPr id="20" name="Text 18"/>
          <p:cNvSpPr txBox="1"/>
          <p:nvPr/>
        </p:nvSpPr>
        <p:spPr>
          <a:xfrm>
            <a:off x="9253728" y="2468880"/>
            <a:ext cx="2157984"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지방공항 입국 외국인</a:t>
            </a:r>
            <a:endParaRPr lang="en-US" sz="1250" dirty="0"/>
          </a:p>
        </p:txBody>
      </p:sp>
      <p:sp>
        <p:nvSpPr>
          <p:cNvPr id="21" name="Text 19"/>
          <p:cNvSpPr txBox="1"/>
          <p:nvPr/>
        </p:nvSpPr>
        <p:spPr>
          <a:xfrm>
            <a:off x="9253728" y="2761488"/>
            <a:ext cx="2157984"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1분기, 전년 대비 +49.7%</a:t>
            </a:r>
            <a:endParaRPr lang="en-US" sz="1050" dirty="0"/>
          </a:p>
        </p:txBody>
      </p:sp>
      <p:sp>
        <p:nvSpPr>
          <p:cNvPr id="22" name="Text 20"/>
          <p:cNvSpPr txBox="1"/>
          <p:nvPr/>
        </p:nvSpPr>
        <p:spPr>
          <a:xfrm>
            <a:off x="548640" y="3566160"/>
            <a:ext cx="10972800" cy="329184"/>
          </a:xfrm>
          <a:prstGeom prst="rect">
            <a:avLst/>
          </a:prstGeom>
          <a:noFill/>
          <a:ln/>
        </p:spPr>
        <p:txBody>
          <a:bodyPr wrap="square" lIns="0" tIns="0" rIns="0" bIns="0" rtlCol="0" anchor="t"/>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그런데 — 소비가 늘어나는 소규모 지역은 외국인에게 정보 공백지대일 수 있다</a:t>
            </a:r>
            <a:endParaRPr lang="en-US" sz="1500" dirty="0"/>
          </a:p>
        </p:txBody>
      </p:sp>
      <p:sp>
        <p:nvSpPr>
          <p:cNvPr id="23" name="Shape 21"/>
          <p:cNvSpPr/>
          <p:nvPr/>
        </p:nvSpPr>
        <p:spPr>
          <a:xfrm>
            <a:off x="548640" y="4023360"/>
            <a:ext cx="3593592" cy="896112"/>
          </a:xfrm>
          <a:prstGeom prst="roundRect">
            <a:avLst>
              <a:gd name="adj" fmla="val 10204"/>
            </a:avLst>
          </a:prstGeom>
          <a:solidFill>
            <a:srgbClr val="FFFFFF"/>
          </a:solidFill>
          <a:ln w="9525">
            <a:solidFill>
              <a:srgbClr val="D9E0EA"/>
            </a:solidFill>
            <a:prstDash val="solid"/>
          </a:ln>
        </p:spPr>
        <p:txBody>
          <a:bodyPr/>
          <a:lstStyle/>
          <a:p>
            <a:endParaRPr lang="ko-KR" altLang="en-US"/>
          </a:p>
        </p:txBody>
      </p:sp>
      <p:sp>
        <p:nvSpPr>
          <p:cNvPr id="24" name="Shape 22"/>
          <p:cNvSpPr/>
          <p:nvPr/>
        </p:nvSpPr>
        <p:spPr>
          <a:xfrm>
            <a:off x="731520" y="4206240"/>
            <a:ext cx="530352" cy="530352"/>
          </a:xfrm>
          <a:prstGeom prst="ellipse">
            <a:avLst/>
          </a:prstGeom>
          <a:solidFill>
            <a:srgbClr val="F2A20C"/>
          </a:solidFill>
          <a:ln w="12700">
            <a:solidFill>
              <a:srgbClr val="F2A20C"/>
            </a:solidFill>
            <a:prstDash val="solid"/>
          </a:ln>
        </p:spPr>
        <p:txBody>
          <a:bodyPr/>
          <a:lstStyle/>
          <a:p>
            <a:endParaRPr lang="ko-KR" altLang="en-US"/>
          </a:p>
        </p:txBody>
      </p:sp>
      <p:pic>
        <p:nvPicPr>
          <p:cNvPr id="25" name="Image 0" descr="preencoded.png"/>
          <p:cNvPicPr>
            <a:picLocks noChangeAspect="1"/>
          </p:cNvPicPr>
          <p:nvPr/>
        </p:nvPicPr>
        <p:blipFill>
          <a:blip r:embed="rId3"/>
          <a:stretch>
            <a:fillRect/>
          </a:stretch>
        </p:blipFill>
        <p:spPr>
          <a:xfrm>
            <a:off x="850849" y="4325569"/>
            <a:ext cx="291694" cy="291694"/>
          </a:xfrm>
          <a:prstGeom prst="rect">
            <a:avLst/>
          </a:prstGeom>
        </p:spPr>
      </p:pic>
      <p:sp>
        <p:nvSpPr>
          <p:cNvPr id="26" name="Text 23"/>
          <p:cNvSpPr txBox="1"/>
          <p:nvPr/>
        </p:nvSpPr>
        <p:spPr>
          <a:xfrm>
            <a:off x="1417320" y="4177430"/>
            <a:ext cx="2606040" cy="274320"/>
          </a:xfrm>
          <a:prstGeom prst="rect">
            <a:avLst/>
          </a:prstGeom>
          <a:noFill/>
          <a:ln/>
        </p:spPr>
        <p:txBody>
          <a:bodyPr wrap="square" lIns="0" tIns="0" rIns="0" bIns="0" rtlCol="0" anchor="t"/>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다국어 콘텐츠</a:t>
            </a:r>
            <a:endParaRPr lang="en-US" sz="1300" dirty="0"/>
          </a:p>
        </p:txBody>
      </p:sp>
      <p:sp>
        <p:nvSpPr>
          <p:cNvPr id="27" name="Text 24"/>
          <p:cNvSpPr txBox="1"/>
          <p:nvPr/>
        </p:nvSpPr>
        <p:spPr>
          <a:xfrm>
            <a:off x="1417320" y="4470038"/>
            <a:ext cx="2606040"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메뉴판·안내문·결제 안내가 한국어 중심</a:t>
            </a:r>
            <a:endParaRPr lang="en-US" sz="1050" dirty="0"/>
          </a:p>
        </p:txBody>
      </p:sp>
      <p:sp>
        <p:nvSpPr>
          <p:cNvPr id="28" name="Shape 25"/>
          <p:cNvSpPr/>
          <p:nvPr/>
        </p:nvSpPr>
        <p:spPr>
          <a:xfrm>
            <a:off x="4297680" y="4023360"/>
            <a:ext cx="3593592" cy="896112"/>
          </a:xfrm>
          <a:prstGeom prst="roundRect">
            <a:avLst>
              <a:gd name="adj" fmla="val 10204"/>
            </a:avLst>
          </a:prstGeom>
          <a:solidFill>
            <a:srgbClr val="FFFFFF"/>
          </a:solidFill>
          <a:ln w="9525">
            <a:solidFill>
              <a:srgbClr val="D9E0EA"/>
            </a:solidFill>
            <a:prstDash val="solid"/>
          </a:ln>
        </p:spPr>
        <p:txBody>
          <a:bodyPr/>
          <a:lstStyle/>
          <a:p>
            <a:endParaRPr lang="ko-KR" altLang="en-US"/>
          </a:p>
        </p:txBody>
      </p:sp>
      <p:sp>
        <p:nvSpPr>
          <p:cNvPr id="29" name="Shape 26"/>
          <p:cNvSpPr/>
          <p:nvPr/>
        </p:nvSpPr>
        <p:spPr>
          <a:xfrm>
            <a:off x="4480560" y="4206240"/>
            <a:ext cx="530352" cy="530352"/>
          </a:xfrm>
          <a:prstGeom prst="ellipse">
            <a:avLst/>
          </a:prstGeom>
          <a:solidFill>
            <a:srgbClr val="F2A20C"/>
          </a:solidFill>
          <a:ln w="12700">
            <a:solidFill>
              <a:srgbClr val="F2A20C"/>
            </a:solidFill>
            <a:prstDash val="solid"/>
          </a:ln>
        </p:spPr>
        <p:txBody>
          <a:bodyPr/>
          <a:lstStyle/>
          <a:p>
            <a:endParaRPr lang="ko-KR" altLang="en-US"/>
          </a:p>
        </p:txBody>
      </p:sp>
      <p:pic>
        <p:nvPicPr>
          <p:cNvPr id="30" name="Image 1" descr="preencoded.png"/>
          <p:cNvPicPr>
            <a:picLocks noChangeAspect="1"/>
          </p:cNvPicPr>
          <p:nvPr/>
        </p:nvPicPr>
        <p:blipFill>
          <a:blip r:embed="rId4"/>
          <a:stretch>
            <a:fillRect/>
          </a:stretch>
        </p:blipFill>
        <p:spPr>
          <a:xfrm>
            <a:off x="4599889" y="4325569"/>
            <a:ext cx="291694" cy="291694"/>
          </a:xfrm>
          <a:prstGeom prst="rect">
            <a:avLst/>
          </a:prstGeom>
        </p:spPr>
      </p:pic>
      <p:sp>
        <p:nvSpPr>
          <p:cNvPr id="31" name="Text 27"/>
          <p:cNvSpPr txBox="1"/>
          <p:nvPr/>
        </p:nvSpPr>
        <p:spPr>
          <a:xfrm>
            <a:off x="5166360" y="4177430"/>
            <a:ext cx="2606040" cy="274320"/>
          </a:xfrm>
          <a:prstGeom prst="rect">
            <a:avLst/>
          </a:prstGeom>
          <a:noFill/>
          <a:ln/>
        </p:spPr>
        <p:txBody>
          <a:bodyPr wrap="square" lIns="0" tIns="0" rIns="0" bIns="0" rtlCol="0" anchor="t"/>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검색 노출</a:t>
            </a:r>
            <a:endParaRPr lang="en-US" sz="1300" dirty="0"/>
          </a:p>
        </p:txBody>
      </p:sp>
      <p:sp>
        <p:nvSpPr>
          <p:cNvPr id="32" name="Text 28"/>
          <p:cNvSpPr txBox="1"/>
          <p:nvPr/>
        </p:nvSpPr>
        <p:spPr>
          <a:xfrm>
            <a:off x="5166360" y="4470038"/>
            <a:ext cx="2606040"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소규모 지역은 검색량·노출 자체가 희박</a:t>
            </a:r>
            <a:endParaRPr lang="en-US" sz="1050" dirty="0"/>
          </a:p>
        </p:txBody>
      </p:sp>
      <p:sp>
        <p:nvSpPr>
          <p:cNvPr id="33" name="Shape 29"/>
          <p:cNvSpPr/>
          <p:nvPr/>
        </p:nvSpPr>
        <p:spPr>
          <a:xfrm>
            <a:off x="8046720" y="4023360"/>
            <a:ext cx="3593592" cy="896112"/>
          </a:xfrm>
          <a:prstGeom prst="roundRect">
            <a:avLst>
              <a:gd name="adj" fmla="val 10204"/>
            </a:avLst>
          </a:prstGeom>
          <a:solidFill>
            <a:srgbClr val="FFFFFF"/>
          </a:solidFill>
          <a:ln w="9525">
            <a:solidFill>
              <a:srgbClr val="D9E0EA"/>
            </a:solidFill>
            <a:prstDash val="solid"/>
          </a:ln>
        </p:spPr>
        <p:txBody>
          <a:bodyPr/>
          <a:lstStyle/>
          <a:p>
            <a:endParaRPr lang="ko-KR" altLang="en-US"/>
          </a:p>
        </p:txBody>
      </p:sp>
      <p:sp>
        <p:nvSpPr>
          <p:cNvPr id="34" name="Shape 30"/>
          <p:cNvSpPr/>
          <p:nvPr/>
        </p:nvSpPr>
        <p:spPr>
          <a:xfrm>
            <a:off x="8229600" y="4206240"/>
            <a:ext cx="530352" cy="530352"/>
          </a:xfrm>
          <a:prstGeom prst="ellipse">
            <a:avLst/>
          </a:prstGeom>
          <a:solidFill>
            <a:srgbClr val="F2A20C"/>
          </a:solidFill>
          <a:ln w="12700">
            <a:solidFill>
              <a:srgbClr val="F2A20C"/>
            </a:solidFill>
            <a:prstDash val="solid"/>
          </a:ln>
        </p:spPr>
        <p:txBody>
          <a:bodyPr/>
          <a:lstStyle/>
          <a:p>
            <a:endParaRPr lang="ko-KR" altLang="en-US"/>
          </a:p>
        </p:txBody>
      </p:sp>
      <p:pic>
        <p:nvPicPr>
          <p:cNvPr id="35" name="Image 2" descr="preencoded.png"/>
          <p:cNvPicPr>
            <a:picLocks noChangeAspect="1"/>
          </p:cNvPicPr>
          <p:nvPr/>
        </p:nvPicPr>
        <p:blipFill>
          <a:blip r:embed="rId5"/>
          <a:stretch>
            <a:fillRect/>
          </a:stretch>
        </p:blipFill>
        <p:spPr>
          <a:xfrm>
            <a:off x="8348929" y="4325569"/>
            <a:ext cx="291694" cy="291694"/>
          </a:xfrm>
          <a:prstGeom prst="rect">
            <a:avLst/>
          </a:prstGeom>
        </p:spPr>
      </p:pic>
      <p:sp>
        <p:nvSpPr>
          <p:cNvPr id="36" name="Text 31"/>
          <p:cNvSpPr txBox="1"/>
          <p:nvPr/>
        </p:nvSpPr>
        <p:spPr>
          <a:xfrm>
            <a:off x="8915400" y="4177430"/>
            <a:ext cx="2606040" cy="274320"/>
          </a:xfrm>
          <a:prstGeom prst="rect">
            <a:avLst/>
          </a:prstGeom>
          <a:noFill/>
          <a:ln/>
        </p:spPr>
        <p:txBody>
          <a:bodyPr wrap="square" lIns="0" tIns="0" rIns="0" bIns="0" rtlCol="0" anchor="t"/>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리뷰 인프라</a:t>
            </a:r>
            <a:endParaRPr lang="en-US" sz="1300" dirty="0"/>
          </a:p>
        </p:txBody>
      </p:sp>
      <p:sp>
        <p:nvSpPr>
          <p:cNvPr id="37" name="Text 32"/>
          <p:cNvSpPr txBox="1"/>
          <p:nvPr/>
        </p:nvSpPr>
        <p:spPr>
          <a:xfrm>
            <a:off x="8915400" y="4470038"/>
            <a:ext cx="2606040" cy="45720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누군가 후기를 남겨야 생기는 정보</a:t>
            </a:r>
            <a:endParaRPr lang="en-US" sz="1050" dirty="0"/>
          </a:p>
        </p:txBody>
      </p:sp>
      <p:sp>
        <p:nvSpPr>
          <p:cNvPr id="38" name="Shape 33"/>
          <p:cNvSpPr/>
          <p:nvPr/>
        </p:nvSpPr>
        <p:spPr>
          <a:xfrm>
            <a:off x="548640" y="5138928"/>
            <a:ext cx="11091672" cy="841248"/>
          </a:xfrm>
          <a:prstGeom prst="roundRect">
            <a:avLst>
              <a:gd name="adj" fmla="val 13043"/>
            </a:avLst>
          </a:prstGeom>
          <a:solidFill>
            <a:srgbClr val="0B1B33"/>
          </a:solidFill>
          <a:ln w="12700">
            <a:solidFill>
              <a:srgbClr val="0B1B33"/>
            </a:solidFill>
            <a:prstDash val="solid"/>
          </a:ln>
        </p:spPr>
        <p:txBody>
          <a:bodyPr/>
          <a:lstStyle/>
          <a:p>
            <a:endParaRPr lang="ko-KR" altLang="en-US"/>
          </a:p>
        </p:txBody>
      </p:sp>
      <p:sp>
        <p:nvSpPr>
          <p:cNvPr id="39" name="Text 34"/>
          <p:cNvSpPr txBox="1"/>
          <p:nvPr/>
        </p:nvSpPr>
        <p:spPr>
          <a:xfrm>
            <a:off x="822960" y="5138928"/>
            <a:ext cx="10607040" cy="841248"/>
          </a:xfrm>
          <a:prstGeom prst="rect">
            <a:avLst/>
          </a:prstGeom>
          <a:noFill/>
          <a:ln/>
        </p:spPr>
        <p:txBody>
          <a:bodyPr wrap="square" lIns="0" tIns="0" rIns="0" bIns="0" rtlCol="0" anchor="ctr"/>
          <a:lstStyle/>
          <a:p>
            <a:pPr marL="0" indent="0">
              <a:buNone/>
            </a:pPr>
            <a:r>
              <a:rPr lang="en-US" sz="1650" b="1" dirty="0">
                <a:solidFill>
                  <a:srgbClr val="FF7A7E"/>
                </a:solidFill>
                <a:latin typeface="Malgun Gothic" pitchFamily="34" charset="0"/>
                <a:ea typeface="Malgun Gothic" pitchFamily="34" charset="-122"/>
                <a:cs typeface="Malgun Gothic" pitchFamily="34" charset="-120"/>
              </a:rPr>
              <a:t>핵심 </a:t>
            </a:r>
            <a:r>
              <a:rPr lang="en-US" sz="1650" b="1" dirty="0" err="1">
                <a:solidFill>
                  <a:srgbClr val="FF7A7E"/>
                </a:solidFill>
                <a:latin typeface="Malgun Gothic" pitchFamily="34" charset="0"/>
                <a:ea typeface="Malgun Gothic" pitchFamily="34" charset="-122"/>
                <a:cs typeface="Malgun Gothic" pitchFamily="34" charset="-120"/>
              </a:rPr>
              <a:t>질문</a:t>
            </a:r>
            <a:r>
              <a:rPr lang="en-US" sz="1650" b="1" dirty="0">
                <a:solidFill>
                  <a:srgbClr val="FF7A7E"/>
                </a:solidFill>
                <a:latin typeface="Malgun Gothic" pitchFamily="34" charset="0"/>
                <a:ea typeface="Malgun Gothic" pitchFamily="34" charset="-122"/>
                <a:cs typeface="Malgun Gothic" pitchFamily="34" charset="-120"/>
              </a:rPr>
              <a:t>  </a:t>
            </a:r>
            <a:r>
              <a:rPr lang="en-US" sz="1650" b="1" dirty="0" err="1">
                <a:solidFill>
                  <a:srgbClr val="FFFFFF"/>
                </a:solidFill>
                <a:latin typeface="Malgun Gothic" pitchFamily="34" charset="0"/>
                <a:ea typeface="Malgun Gothic" pitchFamily="34" charset="-122"/>
                <a:cs typeface="Malgun Gothic" pitchFamily="34" charset="-120"/>
              </a:rPr>
              <a:t>SNS에</a:t>
            </a:r>
            <a:r>
              <a:rPr lang="en-US" sz="1650" b="1" dirty="0">
                <a:solidFill>
                  <a:srgbClr val="FFFFFF"/>
                </a:solidFill>
                <a:latin typeface="Malgun Gothic" pitchFamily="34" charset="0"/>
                <a:ea typeface="Malgun Gothic" pitchFamily="34" charset="-122"/>
                <a:cs typeface="Malgun Gothic" pitchFamily="34" charset="-120"/>
              </a:rPr>
              <a:t> 잡히기 전에, 카드 결제 데이터만으로 ‘뜨는 동네’를 먼저 찾을 수 있을까?</a:t>
            </a:r>
            <a:endParaRPr lang="en-US" sz="1650" dirty="0"/>
          </a:p>
        </p:txBody>
      </p:sp>
      <p:sp>
        <p:nvSpPr>
          <p:cNvPr id="40" name="Text 35"/>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1" name="Text 36"/>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5 / 42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02  </a:t>
            </a:r>
            <a:r>
              <a:rPr lang="en-US" sz="1150" b="1" dirty="0">
                <a:solidFill>
                  <a:srgbClr val="64748B"/>
                </a:solidFill>
                <a:latin typeface="Malgun Gothic" pitchFamily="34" charset="0"/>
                <a:ea typeface="Malgun Gothic" pitchFamily="34" charset="-122"/>
                <a:cs typeface="Malgun Gothic" pitchFamily="34" charset="-120"/>
              </a:rPr>
              <a:t>가설 설정</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리뷰와 SNS는 방문 ‘이후’에 생기는 후행 지표</a:t>
            </a:r>
            <a:endParaRPr lang="en-US" sz="2400" dirty="0"/>
          </a:p>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카드 결제는 발생하는 즉시 데이터가 된다</a:t>
            </a:r>
            <a:endParaRPr lang="en-US" sz="2400" dirty="0"/>
          </a:p>
        </p:txBody>
      </p:sp>
      <p:sp>
        <p:nvSpPr>
          <p:cNvPr id="6" name="Shape 4"/>
          <p:cNvSpPr/>
          <p:nvPr/>
        </p:nvSpPr>
        <p:spPr>
          <a:xfrm>
            <a:off x="2011680" y="1783080"/>
            <a:ext cx="4617720" cy="3063240"/>
          </a:xfrm>
          <a:prstGeom prst="roundRect">
            <a:avLst>
              <a:gd name="adj" fmla="val 4179"/>
            </a:avLst>
          </a:prstGeom>
          <a:solidFill>
            <a:srgbClr val="FDECEC"/>
          </a:solidFill>
          <a:ln w="12700">
            <a:solidFill>
              <a:srgbClr val="FDECEC"/>
            </a:solidFill>
            <a:prstDash val="solid"/>
          </a:ln>
        </p:spPr>
        <p:txBody>
          <a:bodyPr/>
          <a:lstStyle/>
          <a:p>
            <a:endParaRPr lang="ko-KR" altLang="en-US"/>
          </a:p>
        </p:txBody>
      </p:sp>
      <p:sp>
        <p:nvSpPr>
          <p:cNvPr id="7" name="Text 5"/>
          <p:cNvSpPr txBox="1"/>
          <p:nvPr/>
        </p:nvSpPr>
        <p:spPr>
          <a:xfrm>
            <a:off x="2011680" y="1997400"/>
            <a:ext cx="4617720" cy="292608"/>
          </a:xfrm>
          <a:prstGeom prst="rect">
            <a:avLst/>
          </a:prstGeom>
          <a:noFill/>
          <a:ln/>
        </p:spPr>
        <p:txBody>
          <a:bodyPr wrap="square" lIns="0" tIns="0" rIns="0" bIns="0" rtlCol="0" anchor="t"/>
          <a:lstStyle/>
          <a:p>
            <a:pPr marL="0" indent="0" algn="ctr">
              <a:buNone/>
            </a:pPr>
            <a:r>
              <a:rPr lang="en-US" sz="1250" b="1" dirty="0">
                <a:solidFill>
                  <a:srgbClr val="B7232B"/>
                </a:solidFill>
                <a:latin typeface="Malgun Gothic" pitchFamily="34" charset="0"/>
                <a:ea typeface="Malgun Gothic" pitchFamily="34" charset="-122"/>
                <a:cs typeface="Malgun Gothic" pitchFamily="34" charset="-120"/>
              </a:rPr>
              <a:t>정보 공백 구간 — 카드 신호만 켜져 있는 시간</a:t>
            </a:r>
            <a:endParaRPr lang="en-US" sz="1250" dirty="0"/>
          </a:p>
        </p:txBody>
      </p:sp>
      <p:sp>
        <p:nvSpPr>
          <p:cNvPr id="8" name="Text 6"/>
          <p:cNvSpPr txBox="1"/>
          <p:nvPr/>
        </p:nvSpPr>
        <p:spPr>
          <a:xfrm>
            <a:off x="548640" y="2487168"/>
            <a:ext cx="1737360" cy="640080"/>
          </a:xfrm>
          <a:prstGeom prst="rect">
            <a:avLst/>
          </a:prstGeom>
          <a:noFill/>
          <a:ln/>
        </p:spPr>
        <p:txBody>
          <a:bodyPr wrap="square" lIns="0" tIns="0" rIns="0" bIns="0" rtlCol="0" anchor="ctr"/>
          <a:lstStyle/>
          <a:p>
            <a:pPr marL="0" indent="0">
              <a:buNone/>
            </a:pPr>
            <a:r>
              <a:rPr lang="en-US" sz="1400" b="1" dirty="0">
                <a:solidFill>
                  <a:srgbClr val="B7232B"/>
                </a:solidFill>
                <a:latin typeface="Malgun Gothic" pitchFamily="34" charset="0"/>
                <a:ea typeface="Malgun Gothic" pitchFamily="34" charset="-122"/>
                <a:cs typeface="Malgun Gothic" pitchFamily="34" charset="-120"/>
              </a:rPr>
              <a:t>카드 결제</a:t>
            </a:r>
            <a:endParaRPr lang="en-US" sz="1400" dirty="0"/>
          </a:p>
          <a:p>
            <a:pPr marL="0" indent="0">
              <a:buNone/>
            </a:pPr>
            <a:r>
              <a:rPr lang="en-US" sz="1400" b="1" dirty="0">
                <a:solidFill>
                  <a:srgbClr val="B7232B"/>
                </a:solidFill>
                <a:latin typeface="Malgun Gothic" pitchFamily="34" charset="0"/>
                <a:ea typeface="Malgun Gothic" pitchFamily="34" charset="-122"/>
                <a:cs typeface="Malgun Gothic" pitchFamily="34" charset="-120"/>
              </a:rPr>
              <a:t>데이터</a:t>
            </a:r>
            <a:endParaRPr lang="en-US" sz="1400" dirty="0"/>
          </a:p>
        </p:txBody>
      </p:sp>
      <p:sp>
        <p:nvSpPr>
          <p:cNvPr id="9" name="Text 7"/>
          <p:cNvSpPr txBox="1"/>
          <p:nvPr/>
        </p:nvSpPr>
        <p:spPr>
          <a:xfrm>
            <a:off x="548640" y="3840480"/>
            <a:ext cx="1737360" cy="640080"/>
          </a:xfrm>
          <a:prstGeom prst="rect">
            <a:avLst/>
          </a:prstGeom>
          <a:noFill/>
          <a:ln/>
        </p:spPr>
        <p:txBody>
          <a:bodyPr wrap="square" lIns="0" tIns="0" rIns="0" bIns="0" rtlCol="0" anchor="ctr"/>
          <a:lstStyle/>
          <a:p>
            <a:pPr marL="0" indent="0">
              <a:buNone/>
            </a:pPr>
            <a:r>
              <a:rPr lang="en-US" sz="1400" b="1" dirty="0">
                <a:solidFill>
                  <a:srgbClr val="64748B"/>
                </a:solidFill>
                <a:latin typeface="Malgun Gothic" pitchFamily="34" charset="0"/>
                <a:ea typeface="Malgun Gothic" pitchFamily="34" charset="-122"/>
                <a:cs typeface="Malgun Gothic" pitchFamily="34" charset="-120"/>
              </a:rPr>
              <a:t>리뷰 · SNS ·</a:t>
            </a:r>
            <a:endParaRPr lang="en-US" sz="1400" dirty="0"/>
          </a:p>
          <a:p>
            <a:pPr marL="0" indent="0">
              <a:buNone/>
            </a:pPr>
            <a:r>
              <a:rPr lang="en-US" sz="1400" b="1" dirty="0">
                <a:solidFill>
                  <a:srgbClr val="64748B"/>
                </a:solidFill>
                <a:latin typeface="Malgun Gothic" pitchFamily="34" charset="0"/>
                <a:ea typeface="Malgun Gothic" pitchFamily="34" charset="-122"/>
                <a:cs typeface="Malgun Gothic" pitchFamily="34" charset="-120"/>
              </a:rPr>
              <a:t>검색 · 언론</a:t>
            </a:r>
            <a:endParaRPr lang="en-US" sz="1400" dirty="0"/>
          </a:p>
        </p:txBody>
      </p:sp>
      <p:sp>
        <p:nvSpPr>
          <p:cNvPr id="10" name="Shape 8"/>
          <p:cNvSpPr/>
          <p:nvPr/>
        </p:nvSpPr>
        <p:spPr>
          <a:xfrm>
            <a:off x="2077442" y="2487168"/>
            <a:ext cx="9400032" cy="640080"/>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11" name="Text 9"/>
          <p:cNvSpPr txBox="1"/>
          <p:nvPr/>
        </p:nvSpPr>
        <p:spPr>
          <a:xfrm>
            <a:off x="2451970" y="2487168"/>
            <a:ext cx="8046720" cy="640080"/>
          </a:xfrm>
          <a:prstGeom prst="rect">
            <a:avLst/>
          </a:prstGeom>
          <a:noFill/>
          <a:ln/>
        </p:spPr>
        <p:txBody>
          <a:bodyPr wrap="square" lIns="0" tIns="0" rIns="0" bIns="0" rtlCol="0" anchor="ctr"/>
          <a:lstStyle/>
          <a:p>
            <a:pPr marL="0" indent="0">
              <a:buNone/>
            </a:pPr>
            <a:r>
              <a:rPr lang="en-US" sz="1350" b="1" dirty="0">
                <a:solidFill>
                  <a:srgbClr val="FFFFFF"/>
                </a:solidFill>
                <a:latin typeface="Malgun Gothic" pitchFamily="34" charset="0"/>
                <a:ea typeface="Malgun Gothic" pitchFamily="34" charset="-122"/>
                <a:cs typeface="Malgun Gothic" pitchFamily="34" charset="-120"/>
              </a:rPr>
              <a:t>결제가 발생하는 순간 곧바로 기록 · 집계 (후기를 쓰든 안 쓰든)</a:t>
            </a:r>
            <a:endParaRPr lang="en-US" sz="1350" dirty="0"/>
          </a:p>
        </p:txBody>
      </p:sp>
      <p:sp>
        <p:nvSpPr>
          <p:cNvPr id="12" name="Shape 10"/>
          <p:cNvSpPr/>
          <p:nvPr/>
        </p:nvSpPr>
        <p:spPr>
          <a:xfrm>
            <a:off x="2103120" y="3840480"/>
            <a:ext cx="1920240" cy="640080"/>
          </a:xfrm>
          <a:prstGeom prst="roundRect">
            <a:avLst>
              <a:gd name="adj" fmla="val 50000"/>
            </a:avLst>
          </a:prstGeom>
          <a:solidFill>
            <a:srgbClr val="0B1B33"/>
          </a:solidFill>
          <a:ln w="15875">
            <a:solidFill>
              <a:srgbClr val="0B1B33"/>
            </a:solidFill>
            <a:prstDash val="solid"/>
          </a:ln>
        </p:spPr>
        <p:txBody>
          <a:bodyPr/>
          <a:lstStyle/>
          <a:p>
            <a:endParaRPr lang="ko-KR" altLang="en-US"/>
          </a:p>
        </p:txBody>
      </p:sp>
      <p:sp>
        <p:nvSpPr>
          <p:cNvPr id="13" name="Text 11"/>
          <p:cNvSpPr txBox="1"/>
          <p:nvPr/>
        </p:nvSpPr>
        <p:spPr>
          <a:xfrm>
            <a:off x="2103120" y="3840480"/>
            <a:ext cx="192024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Malgun Gothic" pitchFamily="34" charset="0"/>
                <a:ea typeface="Malgun Gothic" pitchFamily="34" charset="-122"/>
                <a:cs typeface="Malgun Gothic" pitchFamily="34" charset="-120"/>
              </a:rPr>
              <a:t>방문 · 소비</a:t>
            </a:r>
            <a:endParaRPr lang="en-US" sz="1250" dirty="0"/>
          </a:p>
        </p:txBody>
      </p:sp>
      <p:pic>
        <p:nvPicPr>
          <p:cNvPr id="14" name="Image 0" descr="preencoded.png"/>
          <p:cNvPicPr>
            <a:picLocks noChangeAspect="1"/>
          </p:cNvPicPr>
          <p:nvPr/>
        </p:nvPicPr>
        <p:blipFill>
          <a:blip r:embed="rId3"/>
          <a:stretch>
            <a:fillRect/>
          </a:stretch>
        </p:blipFill>
        <p:spPr>
          <a:xfrm>
            <a:off x="4081606" y="4050792"/>
            <a:ext cx="228600" cy="228600"/>
          </a:xfrm>
          <a:prstGeom prst="rect">
            <a:avLst/>
          </a:prstGeom>
        </p:spPr>
      </p:pic>
      <p:sp>
        <p:nvSpPr>
          <p:cNvPr id="15" name="Shape 12"/>
          <p:cNvSpPr/>
          <p:nvPr/>
        </p:nvSpPr>
        <p:spPr>
          <a:xfrm>
            <a:off x="4389120" y="3840480"/>
            <a:ext cx="1920240" cy="640080"/>
          </a:xfrm>
          <a:prstGeom prst="roundRect">
            <a:avLst>
              <a:gd name="adj" fmla="val 50000"/>
            </a:avLst>
          </a:prstGeom>
          <a:solidFill>
            <a:srgbClr val="FFFFFF"/>
          </a:solidFill>
          <a:ln w="15875">
            <a:solidFill>
              <a:srgbClr val="C4CEDC"/>
            </a:solidFill>
            <a:prstDash val="solid"/>
          </a:ln>
        </p:spPr>
        <p:txBody>
          <a:bodyPr/>
          <a:lstStyle/>
          <a:p>
            <a:endParaRPr lang="ko-KR" altLang="en-US"/>
          </a:p>
        </p:txBody>
      </p:sp>
      <p:sp>
        <p:nvSpPr>
          <p:cNvPr id="16" name="Text 13"/>
          <p:cNvSpPr txBox="1"/>
          <p:nvPr/>
        </p:nvSpPr>
        <p:spPr>
          <a:xfrm>
            <a:off x="4389120" y="3840480"/>
            <a:ext cx="1920240" cy="640080"/>
          </a:xfrm>
          <a:prstGeom prst="rect">
            <a:avLst/>
          </a:prstGeom>
          <a:noFill/>
          <a:ln/>
        </p:spPr>
        <p:txBody>
          <a:bodyPr wrap="square" lIns="0" tIns="0" rIns="0" bIns="0" rtlCol="0" anchor="ctr"/>
          <a:lstStyle/>
          <a:p>
            <a:pPr marL="0" indent="0" algn="ctr">
              <a:buNone/>
            </a:pPr>
            <a:r>
              <a:rPr lang="en-US" sz="1250" b="1" dirty="0">
                <a:solidFill>
                  <a:srgbClr val="14213D"/>
                </a:solidFill>
                <a:latin typeface="Malgun Gothic" pitchFamily="34" charset="0"/>
                <a:ea typeface="Malgun Gothic" pitchFamily="34" charset="-122"/>
                <a:cs typeface="Malgun Gothic" pitchFamily="34" charset="-120"/>
              </a:rPr>
              <a:t>후기 작성</a:t>
            </a:r>
            <a:endParaRPr lang="en-US" sz="1250" dirty="0"/>
          </a:p>
        </p:txBody>
      </p:sp>
      <p:pic>
        <p:nvPicPr>
          <p:cNvPr id="17" name="Image 1" descr="preencoded.png"/>
          <p:cNvPicPr>
            <a:picLocks noChangeAspect="1"/>
          </p:cNvPicPr>
          <p:nvPr/>
        </p:nvPicPr>
        <p:blipFill>
          <a:blip r:embed="rId3"/>
          <a:stretch>
            <a:fillRect/>
          </a:stretch>
        </p:blipFill>
        <p:spPr>
          <a:xfrm>
            <a:off x="6355080" y="4050792"/>
            <a:ext cx="228600" cy="228600"/>
          </a:xfrm>
          <a:prstGeom prst="rect">
            <a:avLst/>
          </a:prstGeom>
        </p:spPr>
      </p:pic>
      <p:sp>
        <p:nvSpPr>
          <p:cNvPr id="18" name="Shape 14"/>
          <p:cNvSpPr/>
          <p:nvPr/>
        </p:nvSpPr>
        <p:spPr>
          <a:xfrm>
            <a:off x="6675120" y="3840480"/>
            <a:ext cx="1920240" cy="640080"/>
          </a:xfrm>
          <a:prstGeom prst="roundRect">
            <a:avLst>
              <a:gd name="adj" fmla="val 50000"/>
            </a:avLst>
          </a:prstGeom>
          <a:solidFill>
            <a:srgbClr val="FFFFFF"/>
          </a:solidFill>
          <a:ln w="15875">
            <a:solidFill>
              <a:srgbClr val="C4CEDC"/>
            </a:solidFill>
            <a:prstDash val="solid"/>
          </a:ln>
        </p:spPr>
        <p:txBody>
          <a:bodyPr/>
          <a:lstStyle/>
          <a:p>
            <a:endParaRPr lang="ko-KR" altLang="en-US"/>
          </a:p>
        </p:txBody>
      </p:sp>
      <p:sp>
        <p:nvSpPr>
          <p:cNvPr id="19" name="Text 15"/>
          <p:cNvSpPr txBox="1"/>
          <p:nvPr/>
        </p:nvSpPr>
        <p:spPr>
          <a:xfrm>
            <a:off x="6675120" y="3840480"/>
            <a:ext cx="1920240" cy="640080"/>
          </a:xfrm>
          <a:prstGeom prst="rect">
            <a:avLst/>
          </a:prstGeom>
          <a:noFill/>
          <a:ln/>
        </p:spPr>
        <p:txBody>
          <a:bodyPr wrap="square" lIns="0" tIns="0" rIns="0" bIns="0" rtlCol="0" anchor="ctr"/>
          <a:lstStyle/>
          <a:p>
            <a:pPr marL="0" indent="0" algn="ctr">
              <a:buNone/>
            </a:pPr>
            <a:r>
              <a:rPr lang="en-US" sz="1250" b="1" dirty="0">
                <a:solidFill>
                  <a:srgbClr val="14213D"/>
                </a:solidFill>
                <a:latin typeface="Malgun Gothic" pitchFamily="34" charset="0"/>
                <a:ea typeface="Malgun Gothic" pitchFamily="34" charset="-122"/>
                <a:cs typeface="Malgun Gothic" pitchFamily="34" charset="-120"/>
              </a:rPr>
              <a:t>SNS 확산 · 검색량 ↑</a:t>
            </a:r>
            <a:endParaRPr lang="en-US" sz="1250" dirty="0"/>
          </a:p>
        </p:txBody>
      </p:sp>
      <p:pic>
        <p:nvPicPr>
          <p:cNvPr id="20" name="Image 2" descr="preencoded.png"/>
          <p:cNvPicPr>
            <a:picLocks noChangeAspect="1"/>
          </p:cNvPicPr>
          <p:nvPr/>
        </p:nvPicPr>
        <p:blipFill>
          <a:blip r:embed="rId3"/>
          <a:stretch>
            <a:fillRect/>
          </a:stretch>
        </p:blipFill>
        <p:spPr>
          <a:xfrm>
            <a:off x="8641080" y="4050792"/>
            <a:ext cx="228600" cy="228600"/>
          </a:xfrm>
          <a:prstGeom prst="rect">
            <a:avLst/>
          </a:prstGeom>
        </p:spPr>
      </p:pic>
      <p:sp>
        <p:nvSpPr>
          <p:cNvPr id="21" name="Shape 16"/>
          <p:cNvSpPr/>
          <p:nvPr/>
        </p:nvSpPr>
        <p:spPr>
          <a:xfrm>
            <a:off x="8961120" y="3840480"/>
            <a:ext cx="1920240" cy="640080"/>
          </a:xfrm>
          <a:prstGeom prst="roundRect">
            <a:avLst>
              <a:gd name="adj" fmla="val 50000"/>
            </a:avLst>
          </a:prstGeom>
          <a:solidFill>
            <a:srgbClr val="FFFFFF"/>
          </a:solidFill>
          <a:ln w="15875">
            <a:solidFill>
              <a:srgbClr val="C4CEDC"/>
            </a:solidFill>
            <a:prstDash val="solid"/>
          </a:ln>
        </p:spPr>
        <p:txBody>
          <a:bodyPr/>
          <a:lstStyle/>
          <a:p>
            <a:endParaRPr lang="ko-KR" altLang="en-US"/>
          </a:p>
        </p:txBody>
      </p:sp>
      <p:sp>
        <p:nvSpPr>
          <p:cNvPr id="22" name="Text 17"/>
          <p:cNvSpPr txBox="1"/>
          <p:nvPr/>
        </p:nvSpPr>
        <p:spPr>
          <a:xfrm>
            <a:off x="8961120" y="3840480"/>
            <a:ext cx="1920240" cy="640080"/>
          </a:xfrm>
          <a:prstGeom prst="rect">
            <a:avLst/>
          </a:prstGeom>
          <a:noFill/>
          <a:ln/>
        </p:spPr>
        <p:txBody>
          <a:bodyPr wrap="square" lIns="0" tIns="0" rIns="0" bIns="0" rtlCol="0" anchor="ctr"/>
          <a:lstStyle/>
          <a:p>
            <a:pPr marL="0" indent="0" algn="ctr">
              <a:buNone/>
            </a:pPr>
            <a:r>
              <a:rPr lang="en-US" sz="1250" b="1" dirty="0">
                <a:solidFill>
                  <a:srgbClr val="14213D"/>
                </a:solidFill>
                <a:latin typeface="Malgun Gothic" pitchFamily="34" charset="0"/>
                <a:ea typeface="Malgun Gothic" pitchFamily="34" charset="-122"/>
                <a:cs typeface="Malgun Gothic" pitchFamily="34" charset="-120"/>
              </a:rPr>
              <a:t>언론 보도 · 노출</a:t>
            </a:r>
            <a:endParaRPr lang="en-US" sz="1250" dirty="0"/>
          </a:p>
        </p:txBody>
      </p:sp>
      <p:sp>
        <p:nvSpPr>
          <p:cNvPr id="23" name="Shape 18"/>
          <p:cNvSpPr/>
          <p:nvPr/>
        </p:nvSpPr>
        <p:spPr>
          <a:xfrm>
            <a:off x="3063240" y="3154680"/>
            <a:ext cx="0" cy="640080"/>
          </a:xfrm>
          <a:prstGeom prst="line">
            <a:avLst/>
          </a:prstGeom>
          <a:noFill/>
          <a:ln w="15875">
            <a:solidFill>
              <a:srgbClr val="0B1B33"/>
            </a:solidFill>
            <a:prstDash val="dash"/>
          </a:ln>
        </p:spPr>
        <p:txBody>
          <a:bodyPr/>
          <a:lstStyle/>
          <a:p>
            <a:endParaRPr lang="ko-KR" altLang="en-US"/>
          </a:p>
        </p:txBody>
      </p:sp>
      <p:sp>
        <p:nvSpPr>
          <p:cNvPr id="24" name="Text 19"/>
          <p:cNvSpPr txBox="1"/>
          <p:nvPr/>
        </p:nvSpPr>
        <p:spPr>
          <a:xfrm>
            <a:off x="3154680" y="3381902"/>
            <a:ext cx="1280160" cy="237744"/>
          </a:xfrm>
          <a:prstGeom prst="rect">
            <a:avLst/>
          </a:prstGeom>
          <a:noFill/>
          <a:ln/>
        </p:spPr>
        <p:txBody>
          <a:bodyPr wrap="square" lIns="0" tIns="0" rIns="0" bIns="0" rtlCol="0" anchor="t"/>
          <a:lstStyle/>
          <a:p>
            <a:pPr marL="0" indent="0">
              <a:buNone/>
            </a:pPr>
            <a:r>
              <a:rPr lang="en-US" sz="1050" b="1" dirty="0">
                <a:solidFill>
                  <a:srgbClr val="0B1B33"/>
                </a:solidFill>
                <a:latin typeface="Malgun Gothic" pitchFamily="34" charset="0"/>
                <a:ea typeface="Malgun Gothic" pitchFamily="34" charset="-122"/>
                <a:cs typeface="Malgun Gothic" pitchFamily="34" charset="-120"/>
              </a:rPr>
              <a:t>같은 시점</a:t>
            </a:r>
            <a:endParaRPr lang="en-US" sz="1050" dirty="0"/>
          </a:p>
        </p:txBody>
      </p:sp>
      <p:sp>
        <p:nvSpPr>
          <p:cNvPr id="25" name="Shape 20"/>
          <p:cNvSpPr/>
          <p:nvPr/>
        </p:nvSpPr>
        <p:spPr>
          <a:xfrm>
            <a:off x="548640" y="5029200"/>
            <a:ext cx="5486400" cy="960120"/>
          </a:xfrm>
          <a:prstGeom prst="roundRect">
            <a:avLst>
              <a:gd name="adj" fmla="val 11429"/>
            </a:avLst>
          </a:prstGeom>
          <a:solidFill>
            <a:srgbClr val="F3F6FB"/>
          </a:solidFill>
          <a:ln w="12700">
            <a:solidFill>
              <a:srgbClr val="F3F6FB"/>
            </a:solidFill>
            <a:prstDash val="solid"/>
          </a:ln>
        </p:spPr>
        <p:txBody>
          <a:bodyPr/>
          <a:lstStyle/>
          <a:p>
            <a:endParaRPr lang="ko-KR" altLang="en-US"/>
          </a:p>
        </p:txBody>
      </p:sp>
      <p:sp>
        <p:nvSpPr>
          <p:cNvPr id="26" name="Text 21"/>
          <p:cNvSpPr txBox="1"/>
          <p:nvPr/>
        </p:nvSpPr>
        <p:spPr>
          <a:xfrm>
            <a:off x="777240" y="5029200"/>
            <a:ext cx="5074920" cy="960120"/>
          </a:xfrm>
          <a:prstGeom prst="rect">
            <a:avLst/>
          </a:prstGeom>
          <a:noFill/>
          <a:ln/>
        </p:spPr>
        <p:txBody>
          <a:bodyPr wrap="square" lIns="0" tIns="0" rIns="0" bIns="0" rtlCol="0" anchor="ctr"/>
          <a:lstStyle/>
          <a:p>
            <a:pPr marL="0" indent="0">
              <a:lnSpc>
                <a:spcPct val="110000"/>
              </a:lnSpc>
              <a:spcAft>
                <a:spcPts val="300"/>
              </a:spcAft>
              <a:buNone/>
            </a:pPr>
            <a:r>
              <a:rPr lang="en-US" sz="1100" b="1" dirty="0">
                <a:solidFill>
                  <a:srgbClr val="B7232B"/>
                </a:solidFill>
                <a:latin typeface="Malgun Gothic" pitchFamily="34" charset="0"/>
                <a:ea typeface="Malgun Gothic" pitchFamily="34" charset="-122"/>
                <a:cs typeface="Malgun Gothic" pitchFamily="34" charset="-120"/>
              </a:rPr>
              <a:t>H1의 출발점</a:t>
            </a:r>
            <a:endParaRPr lang="en-US" sz="1100" dirty="0"/>
          </a:p>
          <a:p>
            <a:pPr marL="0" indent="0">
              <a:lnSpc>
                <a:spcPct val="110000"/>
              </a:lnSpc>
              <a:buNone/>
            </a:pPr>
            <a:r>
              <a:rPr lang="en-US" sz="1100" dirty="0">
                <a:solidFill>
                  <a:srgbClr val="14213D"/>
                </a:solidFill>
                <a:latin typeface="Malgun Gothic" pitchFamily="34" charset="0"/>
                <a:ea typeface="Malgun Gothic" pitchFamily="34" charset="-122"/>
                <a:cs typeface="Malgun Gothic" pitchFamily="34" charset="-120"/>
              </a:rPr>
              <a:t>카드 신호는 후기·SNS·언론 같은 대중 인지보다 먼저 뜰 것이다. 이 구간을 알 수 있다면 지자체·가맹점이 먼저 준비하고, 외국인에게 먼저 소개할 수 있다.</a:t>
            </a:r>
            <a:endParaRPr lang="en-US" sz="1100" dirty="0"/>
          </a:p>
        </p:txBody>
      </p:sp>
      <p:sp>
        <p:nvSpPr>
          <p:cNvPr id="27" name="Shape 22"/>
          <p:cNvSpPr/>
          <p:nvPr/>
        </p:nvSpPr>
        <p:spPr>
          <a:xfrm>
            <a:off x="6172200" y="5029200"/>
            <a:ext cx="5468112" cy="960120"/>
          </a:xfrm>
          <a:prstGeom prst="roundRect">
            <a:avLst>
              <a:gd name="adj" fmla="val 11429"/>
            </a:avLst>
          </a:prstGeom>
          <a:solidFill>
            <a:srgbClr val="F3F6FB"/>
          </a:solidFill>
          <a:ln w="12700">
            <a:solidFill>
              <a:srgbClr val="F3F6FB"/>
            </a:solidFill>
            <a:prstDash val="solid"/>
          </a:ln>
        </p:spPr>
        <p:txBody>
          <a:bodyPr/>
          <a:lstStyle/>
          <a:p>
            <a:endParaRPr lang="ko-KR" altLang="en-US"/>
          </a:p>
        </p:txBody>
      </p:sp>
      <p:sp>
        <p:nvSpPr>
          <p:cNvPr id="28" name="Text 23"/>
          <p:cNvSpPr txBox="1"/>
          <p:nvPr/>
        </p:nvSpPr>
        <p:spPr>
          <a:xfrm>
            <a:off x="6400800" y="5029200"/>
            <a:ext cx="5074920" cy="960120"/>
          </a:xfrm>
          <a:prstGeom prst="rect">
            <a:avLst/>
          </a:prstGeom>
          <a:noFill/>
          <a:ln/>
        </p:spPr>
        <p:txBody>
          <a:bodyPr wrap="square" lIns="0" tIns="0" rIns="0" bIns="0" rtlCol="0" anchor="ctr"/>
          <a:lstStyle/>
          <a:p>
            <a:pPr marL="0" indent="0">
              <a:lnSpc>
                <a:spcPct val="110000"/>
              </a:lnSpc>
              <a:spcAft>
                <a:spcPts val="300"/>
              </a:spcAft>
              <a:buNone/>
            </a:pPr>
            <a:r>
              <a:rPr lang="en-US" sz="1100" b="1" dirty="0">
                <a:solidFill>
                  <a:srgbClr val="9A6B00"/>
                </a:solidFill>
                <a:latin typeface="Malgun Gothic" pitchFamily="34" charset="0"/>
                <a:ea typeface="Malgun Gothic" pitchFamily="34" charset="-122"/>
                <a:cs typeface="Malgun Gothic" pitchFamily="34" charset="-120"/>
              </a:rPr>
              <a:t>주의</a:t>
            </a:r>
            <a:endParaRPr lang="en-US" sz="1100" dirty="0"/>
          </a:p>
          <a:p>
            <a:pPr marL="0" indent="0">
              <a:lnSpc>
                <a:spcPct val="110000"/>
              </a:lnSpc>
              <a:buNone/>
            </a:pPr>
            <a:r>
              <a:rPr lang="en-US" sz="1100" dirty="0">
                <a:solidFill>
                  <a:srgbClr val="14213D"/>
                </a:solidFill>
                <a:latin typeface="Malgun Gothic" pitchFamily="34" charset="0"/>
                <a:ea typeface="Malgun Gothic" pitchFamily="34" charset="-122"/>
                <a:cs typeface="Malgun Gothic" pitchFamily="34" charset="-120"/>
              </a:rPr>
              <a:t>결제는 방문과 동시에 일어나므로 카드가 ‘실제 방문’보다 앞설 수는 없다. </a:t>
            </a:r>
          </a:p>
          <a:p>
            <a:pPr marL="0" indent="0">
              <a:lnSpc>
                <a:spcPct val="110000"/>
              </a:lnSpc>
              <a:buNone/>
            </a:pPr>
            <a:r>
              <a:rPr lang="en-US" sz="1100" dirty="0" err="1">
                <a:solidFill>
                  <a:srgbClr val="14213D"/>
                </a:solidFill>
                <a:latin typeface="Malgun Gothic" pitchFamily="34" charset="0"/>
                <a:ea typeface="Malgun Gothic" pitchFamily="34" charset="-122"/>
                <a:cs typeface="Malgun Gothic" pitchFamily="34" charset="-120"/>
              </a:rPr>
              <a:t>앞설</a:t>
            </a:r>
            <a:r>
              <a:rPr lang="en-US" sz="1100" dirty="0">
                <a:solidFill>
                  <a:srgbClr val="14213D"/>
                </a:solidFill>
                <a:latin typeface="Malgun Gothic" pitchFamily="34" charset="0"/>
                <a:ea typeface="Malgun Gothic" pitchFamily="34" charset="-122"/>
                <a:cs typeface="Malgun Gothic" pitchFamily="34" charset="-120"/>
              </a:rPr>
              <a:t> 수 있는 것은 방문 후에 만들어지는 대중 인지다.</a:t>
            </a:r>
            <a:endParaRPr lang="en-US" sz="1100" dirty="0"/>
          </a:p>
        </p:txBody>
      </p:sp>
      <p:sp>
        <p:nvSpPr>
          <p:cNvPr id="29" name="Text 24"/>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0" name="Text 25"/>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6 / 42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02  </a:t>
            </a:r>
            <a:r>
              <a:rPr lang="en-US" sz="1150" b="1" dirty="0">
                <a:solidFill>
                  <a:srgbClr val="64748B"/>
                </a:solidFill>
                <a:latin typeface="Malgun Gothic" pitchFamily="34" charset="0"/>
                <a:ea typeface="Malgun Gothic" pitchFamily="34" charset="-122"/>
                <a:cs typeface="Malgun Gothic" pitchFamily="34" charset="-120"/>
              </a:rPr>
              <a:t>가설 설정</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세 개의 가설로 ‘이 신호가 진짜인가’를 검증한다</a:t>
            </a:r>
            <a:endParaRPr lang="en-US" sz="2400" dirty="0"/>
          </a:p>
        </p:txBody>
      </p:sp>
      <p:sp>
        <p:nvSpPr>
          <p:cNvPr id="6" name="Shape 4"/>
          <p:cNvSpPr/>
          <p:nvPr/>
        </p:nvSpPr>
        <p:spPr>
          <a:xfrm>
            <a:off x="548640" y="1737360"/>
            <a:ext cx="3566160" cy="4315968"/>
          </a:xfrm>
          <a:prstGeom prst="roundRect">
            <a:avLst>
              <a:gd name="adj" fmla="val 3077"/>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804672" y="1993392"/>
            <a:ext cx="566928" cy="566928"/>
          </a:xfrm>
          <a:prstGeom prst="ellipse">
            <a:avLst/>
          </a:prstGeom>
          <a:solidFill>
            <a:srgbClr val="E8383D"/>
          </a:solidFill>
          <a:ln w="12700">
            <a:solidFill>
              <a:srgbClr val="E8383D"/>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957283" y="2120951"/>
            <a:ext cx="311810" cy="311810"/>
          </a:xfrm>
          <a:prstGeom prst="rect">
            <a:avLst/>
          </a:prstGeom>
        </p:spPr>
      </p:pic>
      <p:sp>
        <p:nvSpPr>
          <p:cNvPr id="9" name="Text 6"/>
          <p:cNvSpPr txBox="1"/>
          <p:nvPr/>
        </p:nvSpPr>
        <p:spPr>
          <a:xfrm>
            <a:off x="1536192" y="1993392"/>
            <a:ext cx="2377440" cy="566928"/>
          </a:xfrm>
          <a:prstGeom prst="rect">
            <a:avLst/>
          </a:prstGeom>
          <a:noFill/>
          <a:ln/>
        </p:spPr>
        <p:txBody>
          <a:bodyPr wrap="square" lIns="0" tIns="0" rIns="0" bIns="0" rtlCol="0" anchor="ctr"/>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H1  </a:t>
            </a:r>
            <a:r>
              <a:rPr lang="en-US" sz="2100" b="1" dirty="0">
                <a:solidFill>
                  <a:srgbClr val="14213D"/>
                </a:solidFill>
                <a:latin typeface="Malgun Gothic" pitchFamily="34" charset="0"/>
                <a:ea typeface="Malgun Gothic" pitchFamily="34" charset="-122"/>
                <a:cs typeface="Malgun Gothic" pitchFamily="34" charset="-120"/>
              </a:rPr>
              <a:t>선행성</a:t>
            </a:r>
            <a:endParaRPr lang="en-US" sz="2100" dirty="0"/>
          </a:p>
        </p:txBody>
      </p:sp>
      <p:sp>
        <p:nvSpPr>
          <p:cNvPr id="10" name="Text 7"/>
          <p:cNvSpPr txBox="1"/>
          <p:nvPr/>
        </p:nvSpPr>
        <p:spPr>
          <a:xfrm>
            <a:off x="804672" y="2743200"/>
            <a:ext cx="3054096" cy="960120"/>
          </a:xfrm>
          <a:prstGeom prst="rect">
            <a:avLst/>
          </a:prstGeom>
          <a:noFill/>
          <a:ln/>
        </p:spPr>
        <p:txBody>
          <a:bodyPr wrap="square" lIns="0" tIns="0" rIns="0" bIns="0" rtlCol="0" anchor="t"/>
          <a:lstStyle/>
          <a:p>
            <a:pPr marL="0" indent="0">
              <a:lnSpc>
                <a:spcPct val="115000"/>
              </a:lnSpc>
              <a:buNone/>
            </a:pPr>
            <a:r>
              <a:rPr lang="en-US" sz="1300" b="1" dirty="0">
                <a:solidFill>
                  <a:srgbClr val="14213D"/>
                </a:solidFill>
                <a:latin typeface="Malgun Gothic" pitchFamily="34" charset="0"/>
                <a:ea typeface="Malgun Gothic" pitchFamily="34" charset="-122"/>
                <a:cs typeface="Malgun Gothic" pitchFamily="34" charset="-120"/>
              </a:rPr>
              <a:t>카드소비의 상대 초과성장 신호는 SNS·뉴스에서 화제가 되기 전에 먼저 나타난다.</a:t>
            </a:r>
            <a:endParaRPr lang="en-US" sz="1300" dirty="0"/>
          </a:p>
        </p:txBody>
      </p:sp>
      <p:sp>
        <p:nvSpPr>
          <p:cNvPr id="11" name="Text 8"/>
          <p:cNvSpPr txBox="1"/>
          <p:nvPr/>
        </p:nvSpPr>
        <p:spPr>
          <a:xfrm>
            <a:off x="804672" y="384048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검증 방법</a:t>
            </a:r>
            <a:endParaRPr lang="en-US" sz="1050" dirty="0"/>
          </a:p>
        </p:txBody>
      </p:sp>
      <p:sp>
        <p:nvSpPr>
          <p:cNvPr id="12" name="Text 9"/>
          <p:cNvSpPr txBox="1"/>
          <p:nvPr/>
        </p:nvSpPr>
        <p:spPr>
          <a:xfrm>
            <a:off x="804672" y="4078224"/>
            <a:ext cx="3054096" cy="6858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실제 외국인 방문자수(</a:t>
            </a:r>
            <a:r>
              <a:rPr lang="en-US" sz="1100" dirty="0" err="1">
                <a:solidFill>
                  <a:srgbClr val="3A475C"/>
                </a:solidFill>
                <a:latin typeface="Malgun Gothic" pitchFamily="34" charset="0"/>
                <a:ea typeface="Malgun Gothic" pitchFamily="34" charset="-122"/>
                <a:cs typeface="Malgun Gothic" pitchFamily="34" charset="-120"/>
              </a:rPr>
              <a:t>한국관광데이터랩</a:t>
            </a:r>
            <a:r>
              <a:rPr lang="en-US" sz="1100" dirty="0">
                <a:solidFill>
                  <a:srgbClr val="3A475C"/>
                </a:solidFill>
                <a:latin typeface="Malgun Gothic" pitchFamily="34" charset="0"/>
                <a:ea typeface="Malgun Gothic" pitchFamily="34" charset="-122"/>
                <a:cs typeface="Malgun Gothic" pitchFamily="34" charset="-120"/>
              </a:rPr>
              <a:t>)와 월별 정점·시차상관 </a:t>
            </a:r>
            <a:r>
              <a:rPr lang="en-US" sz="1100" dirty="0" err="1">
                <a:solidFill>
                  <a:srgbClr val="3A475C"/>
                </a:solidFill>
                <a:latin typeface="Malgun Gothic" pitchFamily="34" charset="0"/>
                <a:ea typeface="Malgun Gothic" pitchFamily="34" charset="-122"/>
                <a:cs typeface="Malgun Gothic" pitchFamily="34" charset="-120"/>
              </a:rPr>
              <a:t>비교</a:t>
            </a:r>
            <a:r>
              <a:rPr lang="en-US" sz="1100" dirty="0">
                <a:solidFill>
                  <a:srgbClr val="3A475C"/>
                </a:solidFill>
                <a:latin typeface="Malgun Gothic" pitchFamily="34" charset="0"/>
                <a:ea typeface="Malgun Gothic" pitchFamily="34" charset="-122"/>
                <a:cs typeface="Malgun Gothic" pitchFamily="34" charset="-120"/>
              </a:rPr>
              <a:t> </a:t>
            </a:r>
          </a:p>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a:t>
            </a:r>
            <a:r>
              <a:rPr lang="en-US" sz="1100" dirty="0" err="1">
                <a:solidFill>
                  <a:srgbClr val="3A475C"/>
                </a:solidFill>
                <a:latin typeface="Malgun Gothic" pitchFamily="34" charset="0"/>
                <a:ea typeface="Malgun Gothic" pitchFamily="34" charset="-122"/>
                <a:cs typeface="Malgun Gothic" pitchFamily="34" charset="-120"/>
              </a:rPr>
              <a:t>검색·뉴스와의</a:t>
            </a:r>
            <a:r>
              <a:rPr lang="en-US" sz="1100" dirty="0">
                <a:solidFill>
                  <a:srgbClr val="3A475C"/>
                </a:solidFill>
                <a:latin typeface="Malgun Gothic" pitchFamily="34" charset="0"/>
                <a:ea typeface="Malgun Gothic" pitchFamily="34" charset="-122"/>
                <a:cs typeface="Malgun Gothic" pitchFamily="34" charset="-120"/>
              </a:rPr>
              <a:t> 직접 비교는 </a:t>
            </a:r>
            <a:r>
              <a:rPr lang="en-US" sz="1100" dirty="0" err="1">
                <a:solidFill>
                  <a:srgbClr val="3A475C"/>
                </a:solidFill>
                <a:latin typeface="Malgun Gothic" pitchFamily="34" charset="0"/>
                <a:ea typeface="Malgun Gothic" pitchFamily="34" charset="-122"/>
                <a:cs typeface="Malgun Gothic" pitchFamily="34" charset="-120"/>
              </a:rPr>
              <a:t>후속</a:t>
            </a:r>
            <a:r>
              <a:rPr lang="en-US" sz="1100" dirty="0">
                <a:solidFill>
                  <a:srgbClr val="3A475C"/>
                </a:solidFill>
                <a:latin typeface="Malgun Gothic" pitchFamily="34" charset="0"/>
                <a:ea typeface="Malgun Gothic" pitchFamily="34" charset="-122"/>
                <a:cs typeface="Malgun Gothic" pitchFamily="34" charset="-120"/>
              </a:rPr>
              <a:t> </a:t>
            </a:r>
            <a:r>
              <a:rPr lang="en-US" sz="1100" dirty="0" err="1">
                <a:solidFill>
                  <a:srgbClr val="3A475C"/>
                </a:solidFill>
                <a:latin typeface="Malgun Gothic" pitchFamily="34" charset="0"/>
                <a:ea typeface="Malgun Gothic" pitchFamily="34" charset="-122"/>
                <a:cs typeface="Malgun Gothic" pitchFamily="34" charset="-120"/>
              </a:rPr>
              <a:t>과제</a:t>
            </a:r>
            <a:r>
              <a:rPr lang="en-US" sz="1100" dirty="0">
                <a:solidFill>
                  <a:srgbClr val="3A475C"/>
                </a:solidFill>
                <a:latin typeface="Malgun Gothic" pitchFamily="34" charset="0"/>
                <a:ea typeface="Malgun Gothic" pitchFamily="34" charset="-122"/>
                <a:cs typeface="Malgun Gothic" pitchFamily="34" charset="-120"/>
              </a:rPr>
              <a:t>)</a:t>
            </a:r>
            <a:endParaRPr lang="en-US" sz="1100" dirty="0"/>
          </a:p>
        </p:txBody>
      </p:sp>
      <p:sp>
        <p:nvSpPr>
          <p:cNvPr id="13" name="Text 10"/>
          <p:cNvSpPr txBox="1"/>
          <p:nvPr/>
        </p:nvSpPr>
        <p:spPr>
          <a:xfrm>
            <a:off x="804672" y="484632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판정 기준</a:t>
            </a:r>
            <a:endParaRPr lang="en-US" sz="1050" dirty="0"/>
          </a:p>
        </p:txBody>
      </p:sp>
      <p:sp>
        <p:nvSpPr>
          <p:cNvPr id="14" name="Text 11"/>
          <p:cNvSpPr txBox="1"/>
          <p:nvPr/>
        </p:nvSpPr>
        <p:spPr>
          <a:xfrm>
            <a:off x="804672" y="5084064"/>
            <a:ext cx="3054096" cy="4572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카드 신호가 방문자 통계보다 앞서는 사례가 확인되는가</a:t>
            </a:r>
            <a:endParaRPr lang="en-US" sz="1100" dirty="0"/>
          </a:p>
        </p:txBody>
      </p:sp>
      <p:sp>
        <p:nvSpPr>
          <p:cNvPr id="15" name="Shape 12"/>
          <p:cNvSpPr/>
          <p:nvPr/>
        </p:nvSpPr>
        <p:spPr>
          <a:xfrm>
            <a:off x="804672" y="5559552"/>
            <a:ext cx="1874520" cy="310896"/>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16" name="Text 13"/>
          <p:cNvSpPr txBox="1"/>
          <p:nvPr/>
        </p:nvSpPr>
        <p:spPr>
          <a:xfrm>
            <a:off x="804672" y="5559552"/>
            <a:ext cx="1874520" cy="310896"/>
          </a:xfrm>
          <a:prstGeom prst="rect">
            <a:avLst/>
          </a:prstGeom>
          <a:noFill/>
          <a:ln/>
        </p:spPr>
        <p:txBody>
          <a:bodyPr wrap="square" lIns="0" tIns="0" rIns="0" bIns="0" rtlCol="0" anchor="ctr"/>
          <a:lstStyle/>
          <a:p>
            <a:pPr marL="0" indent="0" algn="ctr">
              <a:buNone/>
            </a:pPr>
            <a:r>
              <a:rPr lang="en-US" sz="1100" b="1" dirty="0">
                <a:solidFill>
                  <a:srgbClr val="9A6B00"/>
                </a:solidFill>
                <a:latin typeface="Malgun Gothic" pitchFamily="34" charset="0"/>
                <a:ea typeface="Malgun Gothic" pitchFamily="34" charset="-122"/>
                <a:cs typeface="Malgun Gothic" pitchFamily="34" charset="-120"/>
              </a:rPr>
              <a:t>결과 · 조건부 채택</a:t>
            </a:r>
            <a:endParaRPr lang="en-US" sz="1100" dirty="0"/>
          </a:p>
        </p:txBody>
      </p:sp>
      <p:sp>
        <p:nvSpPr>
          <p:cNvPr id="17" name="Shape 14"/>
          <p:cNvSpPr/>
          <p:nvPr/>
        </p:nvSpPr>
        <p:spPr>
          <a:xfrm>
            <a:off x="4311396" y="1737360"/>
            <a:ext cx="3566160" cy="4315968"/>
          </a:xfrm>
          <a:prstGeom prst="roundRect">
            <a:avLst>
              <a:gd name="adj" fmla="val 3077"/>
            </a:avLst>
          </a:prstGeom>
          <a:solidFill>
            <a:srgbClr val="F3F6FB"/>
          </a:solidFill>
          <a:ln w="12700">
            <a:solidFill>
              <a:srgbClr val="F3F6FB"/>
            </a:solidFill>
            <a:prstDash val="solid"/>
          </a:ln>
        </p:spPr>
        <p:txBody>
          <a:bodyPr/>
          <a:lstStyle/>
          <a:p>
            <a:endParaRPr lang="ko-KR" altLang="en-US"/>
          </a:p>
        </p:txBody>
      </p:sp>
      <p:sp>
        <p:nvSpPr>
          <p:cNvPr id="18" name="Shape 15"/>
          <p:cNvSpPr/>
          <p:nvPr/>
        </p:nvSpPr>
        <p:spPr>
          <a:xfrm>
            <a:off x="4567428" y="1993392"/>
            <a:ext cx="566928" cy="566928"/>
          </a:xfrm>
          <a:prstGeom prst="ellipse">
            <a:avLst/>
          </a:prstGeom>
          <a:solidFill>
            <a:srgbClr val="0B1B33"/>
          </a:solidFill>
          <a:ln w="12700">
            <a:solidFill>
              <a:srgbClr val="0B1B33"/>
            </a:solidFill>
            <a:prstDash val="solid"/>
          </a:ln>
        </p:spPr>
        <p:txBody>
          <a:bodyPr/>
          <a:lstStyle/>
          <a:p>
            <a:endParaRPr lang="ko-KR" altLang="en-US"/>
          </a:p>
        </p:txBody>
      </p:sp>
      <p:pic>
        <p:nvPicPr>
          <p:cNvPr id="19" name="Image 1" descr="preencoded.png"/>
          <p:cNvPicPr>
            <a:picLocks noChangeAspect="1"/>
          </p:cNvPicPr>
          <p:nvPr/>
        </p:nvPicPr>
        <p:blipFill>
          <a:blip r:embed="rId4"/>
          <a:stretch>
            <a:fillRect/>
          </a:stretch>
        </p:blipFill>
        <p:spPr>
          <a:xfrm>
            <a:off x="4694987" y="2120951"/>
            <a:ext cx="311810" cy="311810"/>
          </a:xfrm>
          <a:prstGeom prst="rect">
            <a:avLst/>
          </a:prstGeom>
        </p:spPr>
      </p:pic>
      <p:sp>
        <p:nvSpPr>
          <p:cNvPr id="20" name="Text 16"/>
          <p:cNvSpPr txBox="1"/>
          <p:nvPr/>
        </p:nvSpPr>
        <p:spPr>
          <a:xfrm>
            <a:off x="5298948" y="1993392"/>
            <a:ext cx="2377440" cy="566928"/>
          </a:xfrm>
          <a:prstGeom prst="rect">
            <a:avLst/>
          </a:prstGeom>
          <a:noFill/>
          <a:ln/>
        </p:spPr>
        <p:txBody>
          <a:bodyPr wrap="square" lIns="0" tIns="0" rIns="0" bIns="0" rtlCol="0" anchor="ctr"/>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H2  </a:t>
            </a:r>
            <a:r>
              <a:rPr lang="en-US" sz="2100" b="1" dirty="0">
                <a:solidFill>
                  <a:srgbClr val="14213D"/>
                </a:solidFill>
                <a:latin typeface="Malgun Gothic" pitchFamily="34" charset="0"/>
                <a:ea typeface="Malgun Gothic" pitchFamily="34" charset="-122"/>
                <a:cs typeface="Malgun Gothic" pitchFamily="34" charset="-120"/>
              </a:rPr>
              <a:t>사각지대</a:t>
            </a:r>
            <a:endParaRPr lang="en-US" sz="2100" dirty="0"/>
          </a:p>
        </p:txBody>
      </p:sp>
      <p:sp>
        <p:nvSpPr>
          <p:cNvPr id="21" name="Text 17"/>
          <p:cNvSpPr txBox="1"/>
          <p:nvPr/>
        </p:nvSpPr>
        <p:spPr>
          <a:xfrm>
            <a:off x="4567428" y="2743200"/>
            <a:ext cx="3054096" cy="960120"/>
          </a:xfrm>
          <a:prstGeom prst="rect">
            <a:avLst/>
          </a:prstGeom>
          <a:noFill/>
          <a:ln/>
        </p:spPr>
        <p:txBody>
          <a:bodyPr wrap="square" lIns="0" tIns="0" rIns="0" bIns="0" rtlCol="0" anchor="t"/>
          <a:lstStyle/>
          <a:p>
            <a:pPr marL="0" indent="0">
              <a:lnSpc>
                <a:spcPct val="115000"/>
              </a:lnSpc>
              <a:buNone/>
            </a:pPr>
            <a:r>
              <a:rPr lang="en-US" sz="1300" b="1" dirty="0">
                <a:solidFill>
                  <a:srgbClr val="14213D"/>
                </a:solidFill>
                <a:latin typeface="Malgun Gothic" pitchFamily="34" charset="0"/>
                <a:ea typeface="Malgun Gothic" pitchFamily="34" charset="-122"/>
                <a:cs typeface="Malgun Gothic" pitchFamily="34" charset="-120"/>
              </a:rPr>
              <a:t>신호가 뜨는 지역은 기존 유명 관광지가 아니라, 검색·SNS 노출이 적은 소규모 지역이다.</a:t>
            </a:r>
            <a:endParaRPr lang="en-US" sz="1300" dirty="0"/>
          </a:p>
        </p:txBody>
      </p:sp>
      <p:sp>
        <p:nvSpPr>
          <p:cNvPr id="22" name="Text 18"/>
          <p:cNvSpPr txBox="1"/>
          <p:nvPr/>
        </p:nvSpPr>
        <p:spPr>
          <a:xfrm>
            <a:off x="4567428" y="384048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검증 방법</a:t>
            </a:r>
            <a:endParaRPr lang="en-US" sz="1050" dirty="0"/>
          </a:p>
        </p:txBody>
      </p:sp>
      <p:sp>
        <p:nvSpPr>
          <p:cNvPr id="23" name="Text 19"/>
          <p:cNvSpPr txBox="1"/>
          <p:nvPr/>
        </p:nvSpPr>
        <p:spPr>
          <a:xfrm>
            <a:off x="4567428" y="4078224"/>
            <a:ext cx="3054096" cy="6858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기존 소비규모 × 초과성장률 </a:t>
            </a:r>
            <a:r>
              <a:rPr lang="en-US" sz="1100" dirty="0" err="1">
                <a:solidFill>
                  <a:srgbClr val="3A475C"/>
                </a:solidFill>
                <a:latin typeface="Malgun Gothic" pitchFamily="34" charset="0"/>
                <a:ea typeface="Malgun Gothic" pitchFamily="34" charset="-122"/>
                <a:cs typeface="Malgun Gothic" pitchFamily="34" charset="-120"/>
              </a:rPr>
              <a:t>산점도</a:t>
            </a:r>
            <a:r>
              <a:rPr lang="en-US" sz="1100" dirty="0">
                <a:solidFill>
                  <a:srgbClr val="3A475C"/>
                </a:solidFill>
                <a:latin typeface="Malgun Gothic" pitchFamily="34" charset="0"/>
                <a:ea typeface="Malgun Gothic" pitchFamily="34" charset="-122"/>
                <a:cs typeface="Malgun Gothic" pitchFamily="34" charset="-120"/>
              </a:rPr>
              <a:t> </a:t>
            </a:r>
          </a:p>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 유명 관광지·산업단지형 지역과 비교</a:t>
            </a:r>
            <a:endParaRPr lang="en-US" sz="1100" dirty="0"/>
          </a:p>
        </p:txBody>
      </p:sp>
      <p:sp>
        <p:nvSpPr>
          <p:cNvPr id="24" name="Text 20"/>
          <p:cNvSpPr txBox="1"/>
          <p:nvPr/>
        </p:nvSpPr>
        <p:spPr>
          <a:xfrm>
            <a:off x="4567428" y="484632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판정 기준</a:t>
            </a:r>
            <a:endParaRPr lang="en-US" sz="1050" dirty="0"/>
          </a:p>
        </p:txBody>
      </p:sp>
      <p:sp>
        <p:nvSpPr>
          <p:cNvPr id="25" name="Text 21"/>
          <p:cNvSpPr txBox="1"/>
          <p:nvPr/>
        </p:nvSpPr>
        <p:spPr>
          <a:xfrm>
            <a:off x="4567428" y="5084064"/>
            <a:ext cx="3054096" cy="4572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‘규모는 작고 성장은 빠른’ 사분면에 후보가 모이는가</a:t>
            </a:r>
            <a:endParaRPr lang="en-US" sz="1100" dirty="0"/>
          </a:p>
        </p:txBody>
      </p:sp>
      <p:sp>
        <p:nvSpPr>
          <p:cNvPr id="26" name="Shape 22"/>
          <p:cNvSpPr/>
          <p:nvPr/>
        </p:nvSpPr>
        <p:spPr>
          <a:xfrm>
            <a:off x="4567428" y="5559552"/>
            <a:ext cx="1874520" cy="310896"/>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27" name="Text 23"/>
          <p:cNvSpPr txBox="1"/>
          <p:nvPr/>
        </p:nvSpPr>
        <p:spPr>
          <a:xfrm>
            <a:off x="4567428" y="5559552"/>
            <a:ext cx="1874520" cy="310896"/>
          </a:xfrm>
          <a:prstGeom prst="rect">
            <a:avLst/>
          </a:prstGeom>
          <a:noFill/>
          <a:ln/>
        </p:spPr>
        <p:txBody>
          <a:bodyPr wrap="square" lIns="0" tIns="0" rIns="0" bIns="0" rtlCol="0" anchor="ctr"/>
          <a:lstStyle/>
          <a:p>
            <a:pPr marL="0" indent="0" algn="ctr">
              <a:buNone/>
            </a:pPr>
            <a:r>
              <a:rPr lang="en-US" sz="1100" b="1" dirty="0">
                <a:solidFill>
                  <a:srgbClr val="0B7A6D"/>
                </a:solidFill>
                <a:latin typeface="Malgun Gothic" pitchFamily="34" charset="0"/>
                <a:ea typeface="Malgun Gothic" pitchFamily="34" charset="-122"/>
                <a:cs typeface="Malgun Gothic" pitchFamily="34" charset="-120"/>
              </a:rPr>
              <a:t>결과 · 채택</a:t>
            </a:r>
            <a:endParaRPr lang="en-US" sz="1100" dirty="0"/>
          </a:p>
        </p:txBody>
      </p:sp>
      <p:sp>
        <p:nvSpPr>
          <p:cNvPr id="28" name="Shape 24"/>
          <p:cNvSpPr/>
          <p:nvPr/>
        </p:nvSpPr>
        <p:spPr>
          <a:xfrm>
            <a:off x="8074152" y="1737360"/>
            <a:ext cx="3566160" cy="4315968"/>
          </a:xfrm>
          <a:prstGeom prst="roundRect">
            <a:avLst>
              <a:gd name="adj" fmla="val 3077"/>
            </a:avLst>
          </a:prstGeom>
          <a:solidFill>
            <a:srgbClr val="F3F6FB"/>
          </a:solidFill>
          <a:ln w="12700">
            <a:solidFill>
              <a:srgbClr val="F3F6FB"/>
            </a:solidFill>
            <a:prstDash val="solid"/>
          </a:ln>
        </p:spPr>
        <p:txBody>
          <a:bodyPr/>
          <a:lstStyle/>
          <a:p>
            <a:endParaRPr lang="ko-KR" altLang="en-US"/>
          </a:p>
        </p:txBody>
      </p:sp>
      <p:sp>
        <p:nvSpPr>
          <p:cNvPr id="29" name="Shape 25"/>
          <p:cNvSpPr/>
          <p:nvPr/>
        </p:nvSpPr>
        <p:spPr>
          <a:xfrm>
            <a:off x="8330184" y="1993392"/>
            <a:ext cx="566928" cy="566928"/>
          </a:xfrm>
          <a:prstGeom prst="ellipse">
            <a:avLst/>
          </a:prstGeom>
          <a:solidFill>
            <a:srgbClr val="0B1B33"/>
          </a:solidFill>
          <a:ln w="12700">
            <a:solidFill>
              <a:srgbClr val="0B1B33"/>
            </a:solidFill>
            <a:prstDash val="solid"/>
          </a:ln>
        </p:spPr>
        <p:txBody>
          <a:bodyPr/>
          <a:lstStyle/>
          <a:p>
            <a:endParaRPr lang="ko-KR" altLang="en-US"/>
          </a:p>
        </p:txBody>
      </p:sp>
      <p:pic>
        <p:nvPicPr>
          <p:cNvPr id="30" name="Image 2" descr="preencoded.png"/>
          <p:cNvPicPr>
            <a:picLocks noChangeAspect="1"/>
          </p:cNvPicPr>
          <p:nvPr/>
        </p:nvPicPr>
        <p:blipFill>
          <a:blip r:embed="rId5"/>
          <a:stretch>
            <a:fillRect/>
          </a:stretch>
        </p:blipFill>
        <p:spPr>
          <a:xfrm>
            <a:off x="8457743" y="2120951"/>
            <a:ext cx="311810" cy="311810"/>
          </a:xfrm>
          <a:prstGeom prst="rect">
            <a:avLst/>
          </a:prstGeom>
        </p:spPr>
      </p:pic>
      <p:sp>
        <p:nvSpPr>
          <p:cNvPr id="31" name="Text 26"/>
          <p:cNvSpPr txBox="1"/>
          <p:nvPr/>
        </p:nvSpPr>
        <p:spPr>
          <a:xfrm>
            <a:off x="9061704" y="1993392"/>
            <a:ext cx="2377440" cy="566928"/>
          </a:xfrm>
          <a:prstGeom prst="rect">
            <a:avLst/>
          </a:prstGeom>
          <a:noFill/>
          <a:ln/>
        </p:spPr>
        <p:txBody>
          <a:bodyPr wrap="square" lIns="0" tIns="0" rIns="0" bIns="0" rtlCol="0" anchor="ctr"/>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H3  </a:t>
            </a:r>
            <a:r>
              <a:rPr lang="en-US" sz="2100" b="1" dirty="0">
                <a:solidFill>
                  <a:srgbClr val="14213D"/>
                </a:solidFill>
                <a:latin typeface="Malgun Gothic" pitchFamily="34" charset="0"/>
                <a:ea typeface="Malgun Gothic" pitchFamily="34" charset="-122"/>
                <a:cs typeface="Malgun Gothic" pitchFamily="34" charset="-120"/>
              </a:rPr>
              <a:t>지속성</a:t>
            </a:r>
            <a:endParaRPr lang="en-US" sz="2100" dirty="0"/>
          </a:p>
        </p:txBody>
      </p:sp>
      <p:sp>
        <p:nvSpPr>
          <p:cNvPr id="32" name="Text 27"/>
          <p:cNvSpPr txBox="1"/>
          <p:nvPr/>
        </p:nvSpPr>
        <p:spPr>
          <a:xfrm>
            <a:off x="8330184" y="2743200"/>
            <a:ext cx="3054096" cy="960120"/>
          </a:xfrm>
          <a:prstGeom prst="rect">
            <a:avLst/>
          </a:prstGeom>
          <a:noFill/>
          <a:ln/>
        </p:spPr>
        <p:txBody>
          <a:bodyPr wrap="square" lIns="0" tIns="0" rIns="0" bIns="0" rtlCol="0" anchor="t"/>
          <a:lstStyle/>
          <a:p>
            <a:pPr marL="0" indent="0">
              <a:lnSpc>
                <a:spcPct val="115000"/>
              </a:lnSpc>
              <a:buNone/>
            </a:pPr>
            <a:r>
              <a:rPr lang="en-US" sz="1300" b="1" dirty="0">
                <a:solidFill>
                  <a:srgbClr val="14213D"/>
                </a:solidFill>
                <a:latin typeface="Malgun Gothic" pitchFamily="34" charset="0"/>
                <a:ea typeface="Malgun Gothic" pitchFamily="34" charset="-122"/>
                <a:cs typeface="Malgun Gothic" pitchFamily="34" charset="-120"/>
              </a:rPr>
              <a:t>신호가 강한 지역은 이후에도 성장이 유지된다 — 우연한 튐이 아니다.</a:t>
            </a:r>
            <a:endParaRPr lang="en-US" sz="1300" dirty="0"/>
          </a:p>
        </p:txBody>
      </p:sp>
      <p:sp>
        <p:nvSpPr>
          <p:cNvPr id="33" name="Text 28"/>
          <p:cNvSpPr txBox="1"/>
          <p:nvPr/>
        </p:nvSpPr>
        <p:spPr>
          <a:xfrm>
            <a:off x="8330184" y="384048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검증 방법</a:t>
            </a:r>
            <a:endParaRPr lang="en-US" sz="1050" dirty="0"/>
          </a:p>
        </p:txBody>
      </p:sp>
      <p:sp>
        <p:nvSpPr>
          <p:cNvPr id="34" name="Text 29"/>
          <p:cNvSpPr txBox="1"/>
          <p:nvPr/>
        </p:nvSpPr>
        <p:spPr>
          <a:xfrm>
            <a:off x="8330184" y="4078224"/>
            <a:ext cx="3054096" cy="6858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후보 20개 항목의 5~6월 성장 확인(사후 확인)에 더해, 전국 2,111개 조합에서 1~4월 신호가 5~6월에도 이어지는지 재검증</a:t>
            </a:r>
            <a:endParaRPr lang="en-US" sz="1100" dirty="0"/>
          </a:p>
        </p:txBody>
      </p:sp>
      <p:sp>
        <p:nvSpPr>
          <p:cNvPr id="35" name="Text 30"/>
          <p:cNvSpPr txBox="1"/>
          <p:nvPr/>
        </p:nvSpPr>
        <p:spPr>
          <a:xfrm>
            <a:off x="8330184" y="4846320"/>
            <a:ext cx="1828800" cy="219456"/>
          </a:xfrm>
          <a:prstGeom prst="rect">
            <a:avLst/>
          </a:prstGeom>
          <a:noFill/>
          <a:ln/>
        </p:spPr>
        <p:txBody>
          <a:bodyPr wrap="square" lIns="0" tIns="0" rIns="0" bIns="0" rtlCol="0" anchor="t"/>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판정 기준</a:t>
            </a:r>
            <a:endParaRPr lang="en-US" sz="1050" dirty="0"/>
          </a:p>
        </p:txBody>
      </p:sp>
      <p:sp>
        <p:nvSpPr>
          <p:cNvPr id="36" name="Text 31"/>
          <p:cNvSpPr txBox="1"/>
          <p:nvPr/>
        </p:nvSpPr>
        <p:spPr>
          <a:xfrm>
            <a:off x="8330184" y="5084064"/>
            <a:ext cx="3054096" cy="4572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선정한 항목의 초과성장이 5~6월에도 양(+)인가</a:t>
            </a:r>
            <a:endParaRPr lang="en-US" sz="1100" dirty="0"/>
          </a:p>
        </p:txBody>
      </p:sp>
      <p:sp>
        <p:nvSpPr>
          <p:cNvPr id="37" name="Shape 32"/>
          <p:cNvSpPr/>
          <p:nvPr/>
        </p:nvSpPr>
        <p:spPr>
          <a:xfrm>
            <a:off x="8330184" y="5559552"/>
            <a:ext cx="1874520" cy="310896"/>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38" name="Text 33"/>
          <p:cNvSpPr txBox="1"/>
          <p:nvPr/>
        </p:nvSpPr>
        <p:spPr>
          <a:xfrm>
            <a:off x="8330184" y="5559552"/>
            <a:ext cx="1874520" cy="310896"/>
          </a:xfrm>
          <a:prstGeom prst="rect">
            <a:avLst/>
          </a:prstGeom>
          <a:noFill/>
          <a:ln/>
        </p:spPr>
        <p:txBody>
          <a:bodyPr wrap="square" lIns="0" tIns="0" rIns="0" bIns="0" rtlCol="0" anchor="ctr"/>
          <a:lstStyle/>
          <a:p>
            <a:pPr marL="0" indent="0" algn="ctr">
              <a:buNone/>
            </a:pPr>
            <a:r>
              <a:rPr lang="en-US" sz="1100" b="1" dirty="0">
                <a:solidFill>
                  <a:srgbClr val="9A6B00"/>
                </a:solidFill>
                <a:latin typeface="Malgun Gothic" pitchFamily="34" charset="0"/>
                <a:ea typeface="Malgun Gothic" pitchFamily="34" charset="-122"/>
                <a:cs typeface="Malgun Gothic" pitchFamily="34" charset="-120"/>
              </a:rPr>
              <a:t>결과 · 조건부 채택</a:t>
            </a:r>
            <a:endParaRPr lang="en-US" sz="1100" dirty="0"/>
          </a:p>
        </p:txBody>
      </p:sp>
      <p:sp>
        <p:nvSpPr>
          <p:cNvPr id="39" name="Text 34"/>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0" name="Text 35"/>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7 / 42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03  </a:t>
            </a:r>
            <a:r>
              <a:rPr lang="en-US" sz="1150" b="1" dirty="0">
                <a:solidFill>
                  <a:srgbClr val="64748B"/>
                </a:solidFill>
                <a:latin typeface="Malgun Gothic" pitchFamily="34" charset="0"/>
                <a:ea typeface="Malgun Gothic" pitchFamily="34" charset="-122"/>
                <a:cs typeface="Malgun Gothic" pitchFamily="34" charset="-120"/>
              </a:rPr>
              <a:t>데이터 · 분석 방법론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err="1">
                <a:solidFill>
                  <a:srgbClr val="14213D"/>
                </a:solidFill>
                <a:latin typeface="Malgun Gothic" pitchFamily="34" charset="0"/>
                <a:ea typeface="Malgun Gothic" pitchFamily="34" charset="-122"/>
                <a:cs typeface="Malgun Gothic" pitchFamily="34" charset="-120"/>
              </a:rPr>
              <a:t>전국</a:t>
            </a:r>
            <a:r>
              <a:rPr lang="en-US" sz="2400" b="1" dirty="0">
                <a:solidFill>
                  <a:srgbClr val="14213D"/>
                </a:solidFill>
                <a:latin typeface="Malgun Gothic" pitchFamily="34" charset="0"/>
                <a:ea typeface="Malgun Gothic" pitchFamily="34" charset="-122"/>
                <a:cs typeface="Malgun Gothic" pitchFamily="34" charset="-120"/>
              </a:rPr>
              <a:t> 시군구 × 업종 × 성별·연령의 월별 집계</a:t>
            </a:r>
            <a:endParaRPr lang="en-US" sz="2400" dirty="0"/>
          </a:p>
        </p:txBody>
      </p:sp>
      <p:sp>
        <p:nvSpPr>
          <p:cNvPr id="6" name="Shape 4"/>
          <p:cNvSpPr/>
          <p:nvPr/>
        </p:nvSpPr>
        <p:spPr>
          <a:xfrm>
            <a:off x="548640" y="1737360"/>
            <a:ext cx="1874520" cy="1554480"/>
          </a:xfrm>
          <a:prstGeom prst="roundRect">
            <a:avLst>
              <a:gd name="adj" fmla="val 7059"/>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13232" y="1920240"/>
            <a:ext cx="1600200" cy="640080"/>
          </a:xfrm>
          <a:prstGeom prst="rect">
            <a:avLst/>
          </a:prstGeom>
          <a:noFill/>
          <a:ln/>
        </p:spPr>
        <p:txBody>
          <a:bodyPr wrap="square" lIns="0" tIns="0" rIns="0" bIns="0" rtlCol="0" anchor="b"/>
          <a:lstStyle/>
          <a:p>
            <a:pPr marL="0" indent="0">
              <a:buNone/>
            </a:pPr>
            <a:r>
              <a:rPr lang="en-US" sz="2500" b="1" dirty="0">
                <a:solidFill>
                  <a:srgbClr val="E8383D"/>
                </a:solidFill>
                <a:latin typeface="Malgun Gothic" pitchFamily="34" charset="0"/>
                <a:ea typeface="Malgun Gothic" pitchFamily="34" charset="-122"/>
                <a:cs typeface="Malgun Gothic" pitchFamily="34" charset="-120"/>
              </a:rPr>
              <a:t>242,574</a:t>
            </a:r>
            <a:r>
              <a:rPr lang="en-US" sz="1200" b="1" dirty="0">
                <a:solidFill>
                  <a:srgbClr val="14213D"/>
                </a:solidFill>
                <a:latin typeface="Malgun Gothic" pitchFamily="34" charset="0"/>
                <a:ea typeface="Malgun Gothic" pitchFamily="34" charset="-122"/>
                <a:cs typeface="Malgun Gothic" pitchFamily="34" charset="-120"/>
              </a:rPr>
              <a:t> 행</a:t>
            </a:r>
            <a:endParaRPr lang="en-US" sz="1300" dirty="0"/>
          </a:p>
        </p:txBody>
      </p:sp>
      <p:sp>
        <p:nvSpPr>
          <p:cNvPr id="8" name="Text 6"/>
          <p:cNvSpPr txBox="1"/>
          <p:nvPr/>
        </p:nvSpPr>
        <p:spPr>
          <a:xfrm>
            <a:off x="713232" y="2633472"/>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2026.1~6월, 월 단위 집계</a:t>
            </a:r>
            <a:endParaRPr lang="en-US" sz="1050" dirty="0"/>
          </a:p>
        </p:txBody>
      </p:sp>
      <p:sp>
        <p:nvSpPr>
          <p:cNvPr id="9" name="Shape 7"/>
          <p:cNvSpPr/>
          <p:nvPr/>
        </p:nvSpPr>
        <p:spPr>
          <a:xfrm>
            <a:off x="2560320" y="1737360"/>
            <a:ext cx="1874520" cy="1554480"/>
          </a:xfrm>
          <a:prstGeom prst="roundRect">
            <a:avLst>
              <a:gd name="adj" fmla="val 7059"/>
            </a:avLst>
          </a:prstGeom>
          <a:solidFill>
            <a:srgbClr val="F3F6FB"/>
          </a:solidFill>
          <a:ln w="12700">
            <a:solidFill>
              <a:srgbClr val="F3F6FB"/>
            </a:solidFill>
            <a:prstDash val="solid"/>
          </a:ln>
        </p:spPr>
        <p:txBody>
          <a:bodyPr/>
          <a:lstStyle/>
          <a:p>
            <a:endParaRPr lang="ko-KR" altLang="en-US"/>
          </a:p>
        </p:txBody>
      </p:sp>
      <p:sp>
        <p:nvSpPr>
          <p:cNvPr id="10" name="Text 8"/>
          <p:cNvSpPr txBox="1"/>
          <p:nvPr/>
        </p:nvSpPr>
        <p:spPr>
          <a:xfrm>
            <a:off x="2724912" y="1920240"/>
            <a:ext cx="1600200" cy="640080"/>
          </a:xfrm>
          <a:prstGeom prst="rect">
            <a:avLst/>
          </a:prstGeom>
          <a:noFill/>
          <a:ln/>
        </p:spPr>
        <p:txBody>
          <a:bodyPr wrap="square" lIns="0" tIns="0" rIns="0" bIns="0" rtlCol="0" anchor="b"/>
          <a:lstStyle/>
          <a:p>
            <a:pPr marL="0" indent="0">
              <a:buNone/>
            </a:pPr>
            <a:r>
              <a:rPr lang="en-US" sz="2500" b="1" dirty="0">
                <a:solidFill>
                  <a:srgbClr val="E8383D"/>
                </a:solidFill>
                <a:latin typeface="Malgun Gothic" pitchFamily="34" charset="0"/>
                <a:ea typeface="Malgun Gothic" pitchFamily="34" charset="-122"/>
                <a:cs typeface="Malgun Gothic" pitchFamily="34" charset="-120"/>
              </a:rPr>
              <a:t>255</a:t>
            </a:r>
            <a:r>
              <a:rPr lang="en-US" sz="1200" b="1" dirty="0">
                <a:solidFill>
                  <a:srgbClr val="14213D"/>
                </a:solidFill>
                <a:latin typeface="Malgun Gothic" pitchFamily="34" charset="0"/>
                <a:ea typeface="Malgun Gothic" pitchFamily="34" charset="-122"/>
                <a:cs typeface="Malgun Gothic" pitchFamily="34" charset="-120"/>
              </a:rPr>
              <a:t> 시군구</a:t>
            </a:r>
            <a:endParaRPr lang="en-US" sz="1300" dirty="0"/>
          </a:p>
        </p:txBody>
      </p:sp>
      <p:sp>
        <p:nvSpPr>
          <p:cNvPr id="11" name="Text 9"/>
          <p:cNvSpPr txBox="1"/>
          <p:nvPr/>
        </p:nvSpPr>
        <p:spPr>
          <a:xfrm>
            <a:off x="2724912" y="2633472"/>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233개 명칭 · 17개 시도</a:t>
            </a:r>
            <a:endParaRPr lang="en-US" sz="1050" dirty="0"/>
          </a:p>
        </p:txBody>
      </p:sp>
      <p:sp>
        <p:nvSpPr>
          <p:cNvPr id="12" name="Shape 10"/>
          <p:cNvSpPr/>
          <p:nvPr/>
        </p:nvSpPr>
        <p:spPr>
          <a:xfrm>
            <a:off x="4572000" y="1737360"/>
            <a:ext cx="1874520" cy="1554480"/>
          </a:xfrm>
          <a:prstGeom prst="roundRect">
            <a:avLst>
              <a:gd name="adj" fmla="val 7059"/>
            </a:avLst>
          </a:prstGeom>
          <a:solidFill>
            <a:srgbClr val="F3F6FB"/>
          </a:solidFill>
          <a:ln w="12700">
            <a:solidFill>
              <a:srgbClr val="F3F6FB"/>
            </a:solidFill>
            <a:prstDash val="solid"/>
          </a:ln>
        </p:spPr>
        <p:txBody>
          <a:bodyPr/>
          <a:lstStyle/>
          <a:p>
            <a:endParaRPr lang="ko-KR" altLang="en-US"/>
          </a:p>
        </p:txBody>
      </p:sp>
      <p:sp>
        <p:nvSpPr>
          <p:cNvPr id="13" name="Text 11"/>
          <p:cNvSpPr txBox="1"/>
          <p:nvPr/>
        </p:nvSpPr>
        <p:spPr>
          <a:xfrm>
            <a:off x="4736592" y="1920240"/>
            <a:ext cx="1600200" cy="640080"/>
          </a:xfrm>
          <a:prstGeom prst="rect">
            <a:avLst/>
          </a:prstGeom>
          <a:noFill/>
          <a:ln/>
        </p:spPr>
        <p:txBody>
          <a:bodyPr wrap="square" lIns="0" tIns="0" rIns="0" bIns="0" rtlCol="0" anchor="b"/>
          <a:lstStyle/>
          <a:p>
            <a:pPr marL="0" indent="0">
              <a:buNone/>
            </a:pPr>
            <a:r>
              <a:rPr lang="en-US" sz="2500" b="1" dirty="0">
                <a:solidFill>
                  <a:srgbClr val="E8383D"/>
                </a:solidFill>
                <a:latin typeface="Malgun Gothic" pitchFamily="34" charset="0"/>
                <a:ea typeface="Malgun Gothic" pitchFamily="34" charset="-122"/>
                <a:cs typeface="Malgun Gothic" pitchFamily="34" charset="-120"/>
              </a:rPr>
              <a:t>11</a:t>
            </a:r>
            <a:r>
              <a:rPr lang="en-US" sz="1200" b="1" dirty="0">
                <a:solidFill>
                  <a:srgbClr val="14213D"/>
                </a:solidFill>
                <a:latin typeface="Malgun Gothic" pitchFamily="34" charset="0"/>
                <a:ea typeface="Malgun Gothic" pitchFamily="34" charset="-122"/>
                <a:cs typeface="Malgun Gothic" pitchFamily="34" charset="-120"/>
              </a:rPr>
              <a:t> 업종</a:t>
            </a:r>
            <a:endParaRPr lang="en-US" sz="1300" dirty="0"/>
          </a:p>
        </p:txBody>
      </p:sp>
      <p:sp>
        <p:nvSpPr>
          <p:cNvPr id="14" name="Text 12"/>
          <p:cNvSpPr txBox="1"/>
          <p:nvPr/>
        </p:nvSpPr>
        <p:spPr>
          <a:xfrm>
            <a:off x="4736592" y="2633472"/>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64748B"/>
                </a:solidFill>
                <a:latin typeface="Malgun Gothic" pitchFamily="34" charset="0"/>
                <a:ea typeface="Malgun Gothic" pitchFamily="34" charset="-122"/>
                <a:cs typeface="Malgun Gothic" pitchFamily="34" charset="-120"/>
              </a:rPr>
              <a:t>외식 8 + 소매 3</a:t>
            </a:r>
            <a:endParaRPr lang="en-US" sz="1050" dirty="0"/>
          </a:p>
        </p:txBody>
      </p:sp>
      <p:sp>
        <p:nvSpPr>
          <p:cNvPr id="15" name="Shape 13"/>
          <p:cNvSpPr/>
          <p:nvPr/>
        </p:nvSpPr>
        <p:spPr>
          <a:xfrm>
            <a:off x="548640" y="3438144"/>
            <a:ext cx="1874520" cy="1554480"/>
          </a:xfrm>
          <a:prstGeom prst="roundRect">
            <a:avLst>
              <a:gd name="adj" fmla="val 7059"/>
            </a:avLst>
          </a:prstGeom>
          <a:solidFill>
            <a:srgbClr val="0B1B33"/>
          </a:solidFill>
          <a:ln w="12700">
            <a:solidFill>
              <a:srgbClr val="0B1B33"/>
            </a:solidFill>
            <a:prstDash val="solid"/>
          </a:ln>
        </p:spPr>
        <p:txBody>
          <a:bodyPr/>
          <a:lstStyle/>
          <a:p>
            <a:endParaRPr lang="ko-KR" altLang="en-US"/>
          </a:p>
        </p:txBody>
      </p:sp>
      <p:sp>
        <p:nvSpPr>
          <p:cNvPr id="16" name="Text 14"/>
          <p:cNvSpPr txBox="1"/>
          <p:nvPr/>
        </p:nvSpPr>
        <p:spPr>
          <a:xfrm>
            <a:off x="713232" y="3621024"/>
            <a:ext cx="1600200" cy="640080"/>
          </a:xfrm>
          <a:prstGeom prst="rect">
            <a:avLst/>
          </a:prstGeom>
          <a:noFill/>
          <a:ln/>
        </p:spPr>
        <p:txBody>
          <a:bodyPr wrap="square" lIns="0" tIns="0" rIns="0" bIns="0" rtlCol="0" anchor="b"/>
          <a:lstStyle/>
          <a:p>
            <a:pPr marL="0" indent="0">
              <a:buNone/>
            </a:pPr>
            <a:r>
              <a:rPr lang="en-US" sz="2100" b="1" dirty="0">
                <a:solidFill>
                  <a:srgbClr val="FF7A7E"/>
                </a:solidFill>
                <a:latin typeface="Malgun Gothic" pitchFamily="34" charset="0"/>
                <a:ea typeface="Malgun Gothic" pitchFamily="34" charset="-122"/>
                <a:cs typeface="Malgun Gothic" pitchFamily="34" charset="-120"/>
              </a:rPr>
              <a:t>70,178</a:t>
            </a:r>
            <a:r>
              <a:rPr lang="en-US" sz="1200" b="1" dirty="0">
                <a:solidFill>
                  <a:srgbClr val="FFFFFF"/>
                </a:solidFill>
                <a:latin typeface="Malgun Gothic" pitchFamily="34" charset="0"/>
                <a:ea typeface="Malgun Gothic" pitchFamily="34" charset="-122"/>
                <a:cs typeface="Malgun Gothic" pitchFamily="34" charset="-120"/>
              </a:rPr>
              <a:t> 행</a:t>
            </a:r>
            <a:endParaRPr lang="en-US" sz="1300" dirty="0"/>
          </a:p>
        </p:txBody>
      </p:sp>
      <p:sp>
        <p:nvSpPr>
          <p:cNvPr id="17" name="Text 15"/>
          <p:cNvSpPr txBox="1"/>
          <p:nvPr/>
        </p:nvSpPr>
        <p:spPr>
          <a:xfrm>
            <a:off x="713232" y="4334256"/>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A9B8D0"/>
                </a:solidFill>
                <a:latin typeface="Malgun Gothic" pitchFamily="34" charset="0"/>
                <a:ea typeface="Malgun Gothic" pitchFamily="34" charset="-122"/>
                <a:cs typeface="Malgun Gothic" pitchFamily="34" charset="-120"/>
              </a:rPr>
              <a:t>외국인 세그먼트 (GENDER_CD=3)</a:t>
            </a:r>
            <a:endParaRPr lang="en-US" sz="1050" dirty="0"/>
          </a:p>
        </p:txBody>
      </p:sp>
      <p:sp>
        <p:nvSpPr>
          <p:cNvPr id="18" name="Shape 16"/>
          <p:cNvSpPr/>
          <p:nvPr/>
        </p:nvSpPr>
        <p:spPr>
          <a:xfrm>
            <a:off x="2560320" y="3438144"/>
            <a:ext cx="1874520" cy="1554480"/>
          </a:xfrm>
          <a:prstGeom prst="roundRect">
            <a:avLst>
              <a:gd name="adj" fmla="val 7059"/>
            </a:avLst>
          </a:prstGeom>
          <a:solidFill>
            <a:srgbClr val="0B1B33"/>
          </a:solidFill>
          <a:ln w="12700">
            <a:solidFill>
              <a:srgbClr val="0B1B33"/>
            </a:solidFill>
            <a:prstDash val="solid"/>
          </a:ln>
        </p:spPr>
        <p:txBody>
          <a:bodyPr/>
          <a:lstStyle/>
          <a:p>
            <a:endParaRPr lang="ko-KR" altLang="en-US"/>
          </a:p>
        </p:txBody>
      </p:sp>
      <p:sp>
        <p:nvSpPr>
          <p:cNvPr id="19" name="Text 17"/>
          <p:cNvSpPr txBox="1"/>
          <p:nvPr/>
        </p:nvSpPr>
        <p:spPr>
          <a:xfrm>
            <a:off x="2724912" y="3621024"/>
            <a:ext cx="1600200" cy="640080"/>
          </a:xfrm>
          <a:prstGeom prst="rect">
            <a:avLst/>
          </a:prstGeom>
          <a:noFill/>
          <a:ln/>
        </p:spPr>
        <p:txBody>
          <a:bodyPr wrap="square" lIns="0" tIns="0" rIns="0" bIns="0" rtlCol="0" anchor="b"/>
          <a:lstStyle/>
          <a:p>
            <a:pPr marL="0" indent="0">
              <a:buNone/>
            </a:pPr>
            <a:r>
              <a:rPr lang="en-US" sz="2100" b="1" dirty="0">
                <a:solidFill>
                  <a:srgbClr val="FF7A7E"/>
                </a:solidFill>
                <a:latin typeface="Malgun Gothic" pitchFamily="34" charset="0"/>
                <a:ea typeface="Malgun Gothic" pitchFamily="34" charset="-122"/>
                <a:cs typeface="Malgun Gothic" pitchFamily="34" charset="-120"/>
              </a:rPr>
              <a:t>7,551만</a:t>
            </a:r>
            <a:r>
              <a:rPr lang="en-US" sz="1200" b="1" dirty="0">
                <a:solidFill>
                  <a:srgbClr val="FFFFFF"/>
                </a:solidFill>
                <a:latin typeface="Malgun Gothic" pitchFamily="34" charset="0"/>
                <a:ea typeface="Malgun Gothic" pitchFamily="34" charset="-122"/>
                <a:cs typeface="Malgun Gothic" pitchFamily="34" charset="-120"/>
              </a:rPr>
              <a:t> 건</a:t>
            </a:r>
            <a:endParaRPr lang="en-US" sz="1300" dirty="0"/>
          </a:p>
        </p:txBody>
      </p:sp>
      <p:sp>
        <p:nvSpPr>
          <p:cNvPr id="20" name="Text 18"/>
          <p:cNvSpPr txBox="1"/>
          <p:nvPr/>
        </p:nvSpPr>
        <p:spPr>
          <a:xfrm>
            <a:off x="2724912" y="4334256"/>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A9B8D0"/>
                </a:solidFill>
                <a:latin typeface="Malgun Gothic" pitchFamily="34" charset="0"/>
                <a:ea typeface="Malgun Gothic" pitchFamily="34" charset="-122"/>
                <a:cs typeface="Malgun Gothic" pitchFamily="34" charset="-120"/>
              </a:rPr>
              <a:t>외국인 이용 </a:t>
            </a:r>
            <a:r>
              <a:rPr lang="en-US" sz="1050" dirty="0" err="1">
                <a:solidFill>
                  <a:srgbClr val="A9B8D0"/>
                </a:solidFill>
                <a:latin typeface="Malgun Gothic" pitchFamily="34" charset="0"/>
                <a:ea typeface="Malgun Gothic" pitchFamily="34" charset="-122"/>
                <a:cs typeface="Malgun Gothic" pitchFamily="34" charset="-120"/>
              </a:rPr>
              <a:t>건수</a:t>
            </a:r>
            <a:r>
              <a:rPr lang="en-US" sz="1050" dirty="0">
                <a:solidFill>
                  <a:srgbClr val="A9B8D0"/>
                </a:solidFill>
                <a:latin typeface="Malgun Gothic" pitchFamily="34" charset="0"/>
                <a:ea typeface="Malgun Gothic" pitchFamily="34" charset="-122"/>
                <a:cs typeface="Malgun Gothic" pitchFamily="34" charset="-120"/>
              </a:rPr>
              <a:t> </a:t>
            </a:r>
          </a:p>
          <a:p>
            <a:pPr marL="0" indent="0">
              <a:lnSpc>
                <a:spcPct val="110000"/>
              </a:lnSpc>
              <a:buNone/>
            </a:pPr>
            <a:r>
              <a:rPr lang="en-US" sz="1050" dirty="0">
                <a:solidFill>
                  <a:srgbClr val="A9B8D0"/>
                </a:solidFill>
                <a:latin typeface="Malgun Gothic" pitchFamily="34" charset="0"/>
                <a:ea typeface="Malgun Gothic" pitchFamily="34" charset="-122"/>
                <a:cs typeface="Malgun Gothic" pitchFamily="34" charset="-120"/>
              </a:rPr>
              <a:t>(</a:t>
            </a:r>
            <a:r>
              <a:rPr lang="en-US" sz="1050" dirty="0" err="1">
                <a:solidFill>
                  <a:srgbClr val="A9B8D0"/>
                </a:solidFill>
                <a:latin typeface="Malgun Gothic" pitchFamily="34" charset="0"/>
                <a:ea typeface="Malgun Gothic" pitchFamily="34" charset="-122"/>
                <a:cs typeface="Malgun Gothic" pitchFamily="34" charset="-120"/>
              </a:rPr>
              <a:t>전체의</a:t>
            </a:r>
            <a:r>
              <a:rPr lang="en-US" sz="1050" dirty="0">
                <a:solidFill>
                  <a:srgbClr val="A9B8D0"/>
                </a:solidFill>
                <a:latin typeface="Malgun Gothic" pitchFamily="34" charset="0"/>
                <a:ea typeface="Malgun Gothic" pitchFamily="34" charset="-122"/>
                <a:cs typeface="Malgun Gothic" pitchFamily="34" charset="-120"/>
              </a:rPr>
              <a:t> 약 8%)</a:t>
            </a:r>
            <a:endParaRPr lang="en-US" sz="1050" dirty="0"/>
          </a:p>
        </p:txBody>
      </p:sp>
      <p:sp>
        <p:nvSpPr>
          <p:cNvPr id="21" name="Shape 19"/>
          <p:cNvSpPr/>
          <p:nvPr/>
        </p:nvSpPr>
        <p:spPr>
          <a:xfrm>
            <a:off x="4572000" y="3438144"/>
            <a:ext cx="1874520" cy="1554480"/>
          </a:xfrm>
          <a:prstGeom prst="roundRect">
            <a:avLst>
              <a:gd name="adj" fmla="val 7059"/>
            </a:avLst>
          </a:prstGeom>
          <a:solidFill>
            <a:srgbClr val="0B1B33"/>
          </a:solidFill>
          <a:ln w="12700">
            <a:solidFill>
              <a:srgbClr val="0B1B33"/>
            </a:solidFill>
            <a:prstDash val="solid"/>
          </a:ln>
        </p:spPr>
        <p:txBody>
          <a:bodyPr/>
          <a:lstStyle/>
          <a:p>
            <a:endParaRPr lang="ko-KR" altLang="en-US"/>
          </a:p>
        </p:txBody>
      </p:sp>
      <p:sp>
        <p:nvSpPr>
          <p:cNvPr id="22" name="Text 20"/>
          <p:cNvSpPr txBox="1"/>
          <p:nvPr/>
        </p:nvSpPr>
        <p:spPr>
          <a:xfrm>
            <a:off x="4673962" y="3621024"/>
            <a:ext cx="1847088" cy="640080"/>
          </a:xfrm>
          <a:prstGeom prst="rect">
            <a:avLst/>
          </a:prstGeom>
          <a:noFill/>
          <a:ln/>
        </p:spPr>
        <p:txBody>
          <a:bodyPr wrap="square" lIns="0" tIns="0" rIns="0" bIns="0" rtlCol="0" anchor="b"/>
          <a:lstStyle/>
          <a:p>
            <a:pPr marL="0" indent="0">
              <a:buNone/>
            </a:pPr>
            <a:r>
              <a:rPr lang="en-US" sz="2100" b="1" dirty="0">
                <a:solidFill>
                  <a:srgbClr val="FF7A7E"/>
                </a:solidFill>
                <a:latin typeface="Malgun Gothic" pitchFamily="34" charset="0"/>
                <a:ea typeface="Malgun Gothic" pitchFamily="34" charset="-122"/>
                <a:cs typeface="Malgun Gothic" pitchFamily="34" charset="-120"/>
              </a:rPr>
              <a:t>1조 2,781억</a:t>
            </a:r>
            <a:r>
              <a:rPr lang="en-US" sz="2100" b="1" dirty="0">
                <a:solidFill>
                  <a:srgbClr val="FFFFFF"/>
                </a:solidFill>
                <a:latin typeface="Malgun Gothic" pitchFamily="34" charset="0"/>
                <a:ea typeface="Malgun Gothic" pitchFamily="34" charset="-122"/>
                <a:cs typeface="Malgun Gothic" pitchFamily="34" charset="-120"/>
              </a:rPr>
              <a:t> </a:t>
            </a:r>
            <a:r>
              <a:rPr lang="en-US" sz="1200" b="1" dirty="0">
                <a:solidFill>
                  <a:srgbClr val="FFFFFF"/>
                </a:solidFill>
                <a:latin typeface="Malgun Gothic" pitchFamily="34" charset="0"/>
                <a:ea typeface="Malgun Gothic" pitchFamily="34" charset="-122"/>
                <a:cs typeface="Malgun Gothic" pitchFamily="34" charset="-120"/>
              </a:rPr>
              <a:t>원</a:t>
            </a:r>
            <a:endParaRPr lang="en-US" sz="1300" dirty="0"/>
          </a:p>
        </p:txBody>
      </p:sp>
      <p:sp>
        <p:nvSpPr>
          <p:cNvPr id="23" name="Text 21"/>
          <p:cNvSpPr txBox="1"/>
          <p:nvPr/>
        </p:nvSpPr>
        <p:spPr>
          <a:xfrm>
            <a:off x="4736592" y="4334256"/>
            <a:ext cx="1600200" cy="548640"/>
          </a:xfrm>
          <a:prstGeom prst="rect">
            <a:avLst/>
          </a:prstGeom>
          <a:noFill/>
          <a:ln/>
        </p:spPr>
        <p:txBody>
          <a:bodyPr wrap="square" lIns="0" tIns="0" rIns="0" bIns="0" rtlCol="0" anchor="t"/>
          <a:lstStyle/>
          <a:p>
            <a:pPr marL="0" indent="0">
              <a:lnSpc>
                <a:spcPct val="110000"/>
              </a:lnSpc>
              <a:buNone/>
            </a:pPr>
            <a:r>
              <a:rPr lang="en-US" sz="1050" dirty="0">
                <a:solidFill>
                  <a:srgbClr val="A9B8D0"/>
                </a:solidFill>
                <a:latin typeface="Malgun Gothic" pitchFamily="34" charset="0"/>
                <a:ea typeface="Malgun Gothic" pitchFamily="34" charset="-122"/>
                <a:cs typeface="Malgun Gothic" pitchFamily="34" charset="-120"/>
              </a:rPr>
              <a:t>외국인 이용 </a:t>
            </a:r>
            <a:r>
              <a:rPr lang="en-US" sz="1050" dirty="0" err="1">
                <a:solidFill>
                  <a:srgbClr val="A9B8D0"/>
                </a:solidFill>
                <a:latin typeface="Malgun Gothic" pitchFamily="34" charset="0"/>
                <a:ea typeface="Malgun Gothic" pitchFamily="34" charset="-122"/>
                <a:cs typeface="Malgun Gothic" pitchFamily="34" charset="-120"/>
              </a:rPr>
              <a:t>금액</a:t>
            </a:r>
            <a:r>
              <a:rPr lang="en-US" sz="1050" dirty="0">
                <a:solidFill>
                  <a:srgbClr val="A9B8D0"/>
                </a:solidFill>
                <a:latin typeface="Malgun Gothic" pitchFamily="34" charset="0"/>
                <a:ea typeface="Malgun Gothic" pitchFamily="34" charset="-122"/>
                <a:cs typeface="Malgun Gothic" pitchFamily="34" charset="-120"/>
              </a:rPr>
              <a:t> </a:t>
            </a:r>
          </a:p>
          <a:p>
            <a:pPr marL="0" indent="0">
              <a:lnSpc>
                <a:spcPct val="110000"/>
              </a:lnSpc>
              <a:buNone/>
            </a:pPr>
            <a:r>
              <a:rPr lang="en-US" sz="1050" dirty="0">
                <a:solidFill>
                  <a:srgbClr val="A9B8D0"/>
                </a:solidFill>
                <a:latin typeface="Malgun Gothic" pitchFamily="34" charset="0"/>
                <a:ea typeface="Malgun Gothic" pitchFamily="34" charset="-122"/>
                <a:cs typeface="Malgun Gothic" pitchFamily="34" charset="-120"/>
              </a:rPr>
              <a:t>(</a:t>
            </a:r>
            <a:r>
              <a:rPr lang="en-US" sz="1050" dirty="0" err="1">
                <a:solidFill>
                  <a:srgbClr val="A9B8D0"/>
                </a:solidFill>
                <a:latin typeface="Malgun Gothic" pitchFamily="34" charset="0"/>
                <a:ea typeface="Malgun Gothic" pitchFamily="34" charset="-122"/>
                <a:cs typeface="Malgun Gothic" pitchFamily="34" charset="-120"/>
              </a:rPr>
              <a:t>전체의</a:t>
            </a:r>
            <a:r>
              <a:rPr lang="en-US" sz="1050" dirty="0">
                <a:solidFill>
                  <a:srgbClr val="A9B8D0"/>
                </a:solidFill>
                <a:latin typeface="Malgun Gothic" pitchFamily="34" charset="0"/>
                <a:ea typeface="Malgun Gothic" pitchFamily="34" charset="-122"/>
                <a:cs typeface="Malgun Gothic" pitchFamily="34" charset="-120"/>
              </a:rPr>
              <a:t> 약 7.4%)</a:t>
            </a:r>
            <a:endParaRPr lang="en-US" sz="1050" dirty="0"/>
          </a:p>
        </p:txBody>
      </p:sp>
      <p:sp>
        <p:nvSpPr>
          <p:cNvPr id="24" name="Text 22"/>
          <p:cNvSpPr txBox="1"/>
          <p:nvPr/>
        </p:nvSpPr>
        <p:spPr>
          <a:xfrm>
            <a:off x="548640" y="5150076"/>
            <a:ext cx="6035040" cy="457200"/>
          </a:xfrm>
          <a:prstGeom prst="rect">
            <a:avLst/>
          </a:prstGeom>
          <a:noFill/>
          <a:ln/>
        </p:spPr>
        <p:txBody>
          <a:bodyPr wrap="square" lIns="0" tIns="0" rIns="0" bIns="0" rtlCol="0" anchor="t"/>
          <a:lstStyle/>
          <a:p>
            <a:pPr marL="0" indent="0">
              <a:lnSpc>
                <a:spcPct val="112000"/>
              </a:lnSpc>
              <a:buNone/>
            </a:pPr>
            <a:r>
              <a:rPr lang="en-US" sz="1100" dirty="0">
                <a:solidFill>
                  <a:srgbClr val="3A475C"/>
                </a:solidFill>
                <a:latin typeface="Malgun Gothic" pitchFamily="34" charset="0"/>
                <a:ea typeface="Malgun Gothic" pitchFamily="34" charset="-122"/>
                <a:cs typeface="Malgun Gothic" pitchFamily="34" charset="-120"/>
              </a:rPr>
              <a:t>표본 점검: 70,178행은 집계 셀의 수일 뿐 실제 이용은 7,551만 건 — 표본 자체는 충분히 크다.</a:t>
            </a:r>
            <a:endParaRPr lang="en-US" sz="1100" dirty="0"/>
          </a:p>
        </p:txBody>
      </p:sp>
      <p:sp>
        <p:nvSpPr>
          <p:cNvPr id="25" name="Text 23"/>
          <p:cNvSpPr txBox="1"/>
          <p:nvPr/>
        </p:nvSpPr>
        <p:spPr>
          <a:xfrm>
            <a:off x="7086600" y="1737360"/>
            <a:ext cx="4572000" cy="310896"/>
          </a:xfrm>
          <a:prstGeom prst="rect">
            <a:avLst/>
          </a:prstGeom>
          <a:noFill/>
          <a:ln/>
        </p:spPr>
        <p:txBody>
          <a:bodyPr wrap="square" lIns="0" tIns="0" rIns="0" bIns="0" rtlCol="0" anchor="t"/>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원본 데이터 → 분석 가능한 형태로</a:t>
            </a:r>
            <a:endParaRPr lang="en-US" sz="1500" dirty="0"/>
          </a:p>
        </p:txBody>
      </p:sp>
      <p:sp>
        <p:nvSpPr>
          <p:cNvPr id="26" name="Shape 24"/>
          <p:cNvSpPr/>
          <p:nvPr/>
        </p:nvSpPr>
        <p:spPr>
          <a:xfrm>
            <a:off x="7086600" y="2249424"/>
            <a:ext cx="310896" cy="310896"/>
          </a:xfrm>
          <a:prstGeom prst="ellipse">
            <a:avLst/>
          </a:prstGeom>
          <a:solidFill>
            <a:srgbClr val="0B1B33"/>
          </a:solidFill>
          <a:ln w="12700">
            <a:solidFill>
              <a:srgbClr val="E8383D"/>
            </a:solidFill>
            <a:prstDash val="solid"/>
          </a:ln>
        </p:spPr>
        <p:txBody>
          <a:bodyPr/>
          <a:lstStyle/>
          <a:p>
            <a:endParaRPr lang="ko-KR" altLang="en-US"/>
          </a:p>
        </p:txBody>
      </p:sp>
      <p:sp>
        <p:nvSpPr>
          <p:cNvPr id="27" name="Text 25"/>
          <p:cNvSpPr txBox="1"/>
          <p:nvPr/>
        </p:nvSpPr>
        <p:spPr>
          <a:xfrm>
            <a:off x="7086600" y="224942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28" name="Text 26"/>
          <p:cNvSpPr txBox="1"/>
          <p:nvPr/>
        </p:nvSpPr>
        <p:spPr>
          <a:xfrm>
            <a:off x="7543800" y="2212848"/>
            <a:ext cx="402336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정규화</a:t>
            </a:r>
            <a:endParaRPr lang="en-US" sz="1250" dirty="0"/>
          </a:p>
        </p:txBody>
      </p:sp>
      <p:sp>
        <p:nvSpPr>
          <p:cNvPr id="29" name="Text 27"/>
          <p:cNvSpPr txBox="1"/>
          <p:nvPr/>
        </p:nvSpPr>
        <p:spPr>
          <a:xfrm>
            <a:off x="7543800" y="2487168"/>
            <a:ext cx="4114800" cy="5943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동명 시군구 7종은 SIDO_NM + CCG_NM 복합키로, </a:t>
            </a:r>
          </a:p>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‘편 의 </a:t>
            </a:r>
            <a:r>
              <a:rPr lang="en-US" sz="1050" dirty="0" err="1">
                <a:solidFill>
                  <a:srgbClr val="3A475C"/>
                </a:solidFill>
                <a:latin typeface="Malgun Gothic" pitchFamily="34" charset="0"/>
                <a:ea typeface="Malgun Gothic" pitchFamily="34" charset="-122"/>
                <a:cs typeface="Malgun Gothic" pitchFamily="34" charset="-120"/>
              </a:rPr>
              <a:t>점’처럼</a:t>
            </a:r>
            <a:r>
              <a:rPr lang="en-US" sz="1050" dirty="0">
                <a:solidFill>
                  <a:srgbClr val="3A475C"/>
                </a:solidFill>
                <a:latin typeface="Malgun Gothic" pitchFamily="34" charset="0"/>
                <a:ea typeface="Malgun Gothic" pitchFamily="34" charset="-122"/>
                <a:cs typeface="Malgun Gothic" pitchFamily="34" charset="-120"/>
              </a:rPr>
              <a:t> 오염된 업종명은 정규화 컬럼으로 통일</a:t>
            </a:r>
            <a:endParaRPr lang="en-US" sz="1050" dirty="0"/>
          </a:p>
        </p:txBody>
      </p:sp>
      <p:sp>
        <p:nvSpPr>
          <p:cNvPr id="30" name="Shape 28"/>
          <p:cNvSpPr/>
          <p:nvPr/>
        </p:nvSpPr>
        <p:spPr>
          <a:xfrm>
            <a:off x="7086600" y="3209544"/>
            <a:ext cx="310896" cy="310896"/>
          </a:xfrm>
          <a:prstGeom prst="ellipse">
            <a:avLst/>
          </a:prstGeom>
          <a:solidFill>
            <a:srgbClr val="0B1B33"/>
          </a:solidFill>
          <a:ln w="12700">
            <a:solidFill>
              <a:srgbClr val="E8383D"/>
            </a:solidFill>
            <a:prstDash val="solid"/>
          </a:ln>
        </p:spPr>
        <p:txBody>
          <a:bodyPr/>
          <a:lstStyle/>
          <a:p>
            <a:endParaRPr lang="ko-KR" altLang="en-US"/>
          </a:p>
        </p:txBody>
      </p:sp>
      <p:sp>
        <p:nvSpPr>
          <p:cNvPr id="31" name="Text 29"/>
          <p:cNvSpPr txBox="1"/>
          <p:nvPr/>
        </p:nvSpPr>
        <p:spPr>
          <a:xfrm>
            <a:off x="7086600" y="32095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32" name="Text 30"/>
          <p:cNvSpPr txBox="1"/>
          <p:nvPr/>
        </p:nvSpPr>
        <p:spPr>
          <a:xfrm>
            <a:off x="7543800" y="3172968"/>
            <a:ext cx="402336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세그먼트 추출</a:t>
            </a:r>
            <a:endParaRPr lang="en-US" sz="1250" dirty="0"/>
          </a:p>
        </p:txBody>
      </p:sp>
      <p:sp>
        <p:nvSpPr>
          <p:cNvPr id="33" name="Text 31"/>
          <p:cNvSpPr txBox="1"/>
          <p:nvPr/>
        </p:nvSpPr>
        <p:spPr>
          <a:xfrm>
            <a:off x="7543800" y="3447288"/>
            <a:ext cx="4114800" cy="5943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GENDER_CD=3(외국인) 세그먼트를 </a:t>
            </a:r>
            <a:r>
              <a:rPr lang="en-US" sz="1050" dirty="0" err="1">
                <a:solidFill>
                  <a:srgbClr val="3A475C"/>
                </a:solidFill>
                <a:latin typeface="Malgun Gothic" pitchFamily="34" charset="0"/>
                <a:ea typeface="Malgun Gothic" pitchFamily="34" charset="-122"/>
                <a:cs typeface="Malgun Gothic" pitchFamily="34" charset="-120"/>
              </a:rPr>
              <a:t>분리</a:t>
            </a:r>
            <a:r>
              <a:rPr lang="en-US" sz="1050" dirty="0">
                <a:solidFill>
                  <a:srgbClr val="3A475C"/>
                </a:solidFill>
                <a:latin typeface="Malgun Gothic" pitchFamily="34" charset="0"/>
                <a:ea typeface="Malgun Gothic" pitchFamily="34" charset="-122"/>
                <a:cs typeface="Malgun Gothic" pitchFamily="34" charset="-120"/>
              </a:rPr>
              <a:t> </a:t>
            </a:r>
          </a:p>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 </a:t>
            </a:r>
            <a:r>
              <a:rPr lang="en-US" sz="1050" dirty="0" err="1">
                <a:solidFill>
                  <a:srgbClr val="3A475C"/>
                </a:solidFill>
                <a:latin typeface="Malgun Gothic" pitchFamily="34" charset="0"/>
                <a:ea typeface="Malgun Gothic" pitchFamily="34" charset="-122"/>
                <a:cs typeface="Malgun Gothic" pitchFamily="34" charset="-120"/>
              </a:rPr>
              <a:t>외국인도</a:t>
            </a:r>
            <a:r>
              <a:rPr lang="en-US" sz="1050" dirty="0">
                <a:solidFill>
                  <a:srgbClr val="3A475C"/>
                </a:solidFill>
                <a:latin typeface="Malgun Gothic" pitchFamily="34" charset="0"/>
                <a:ea typeface="Malgun Gothic" pitchFamily="34" charset="-122"/>
                <a:cs typeface="Malgun Gothic" pitchFamily="34" charset="-120"/>
              </a:rPr>
              <a:t> AGE_CD 1~6 값을 가짐을 확인(법인만 X)</a:t>
            </a:r>
            <a:endParaRPr lang="en-US" sz="1050" dirty="0"/>
          </a:p>
        </p:txBody>
      </p:sp>
      <p:sp>
        <p:nvSpPr>
          <p:cNvPr id="34" name="Shape 32"/>
          <p:cNvSpPr/>
          <p:nvPr/>
        </p:nvSpPr>
        <p:spPr>
          <a:xfrm>
            <a:off x="7086600" y="4169664"/>
            <a:ext cx="310896" cy="310896"/>
          </a:xfrm>
          <a:prstGeom prst="ellipse">
            <a:avLst/>
          </a:prstGeom>
          <a:solidFill>
            <a:srgbClr val="E8383D"/>
          </a:solidFill>
          <a:ln w="12700">
            <a:solidFill>
              <a:srgbClr val="E8383D"/>
            </a:solidFill>
            <a:prstDash val="solid"/>
          </a:ln>
        </p:spPr>
        <p:txBody>
          <a:bodyPr/>
          <a:lstStyle/>
          <a:p>
            <a:endParaRPr lang="ko-KR" altLang="en-US"/>
          </a:p>
        </p:txBody>
      </p:sp>
      <p:sp>
        <p:nvSpPr>
          <p:cNvPr id="35" name="Text 33"/>
          <p:cNvSpPr txBox="1"/>
          <p:nvPr/>
        </p:nvSpPr>
        <p:spPr>
          <a:xfrm>
            <a:off x="7086600" y="416966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36" name="Text 34"/>
          <p:cNvSpPr txBox="1"/>
          <p:nvPr/>
        </p:nvSpPr>
        <p:spPr>
          <a:xfrm>
            <a:off x="7543800" y="4133088"/>
            <a:ext cx="4023360" cy="256032"/>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피벗 테이블 생성</a:t>
            </a:r>
            <a:endParaRPr lang="en-US" sz="1250" dirty="0"/>
          </a:p>
        </p:txBody>
      </p:sp>
      <p:sp>
        <p:nvSpPr>
          <p:cNvPr id="37" name="Text 35"/>
          <p:cNvSpPr txBox="1"/>
          <p:nvPr/>
        </p:nvSpPr>
        <p:spPr>
          <a:xfrm>
            <a:off x="7543800" y="4407408"/>
            <a:ext cx="4114800" cy="5943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시군구 × 업종 × 월 단위로 CNT·AMT를 피벗해, 지역×업종 조합별 6개월 시계열(2,199개 조합)로 재구성</a:t>
            </a:r>
            <a:endParaRPr lang="en-US" sz="1050" dirty="0"/>
          </a:p>
        </p:txBody>
      </p:sp>
      <p:sp>
        <p:nvSpPr>
          <p:cNvPr id="38" name="Shape 36"/>
          <p:cNvSpPr/>
          <p:nvPr/>
        </p:nvSpPr>
        <p:spPr>
          <a:xfrm>
            <a:off x="7086600" y="5129784"/>
            <a:ext cx="310896" cy="310896"/>
          </a:xfrm>
          <a:prstGeom prst="ellipse">
            <a:avLst/>
          </a:prstGeom>
          <a:solidFill>
            <a:srgbClr val="0B1B33"/>
          </a:solidFill>
          <a:ln w="12700">
            <a:solidFill>
              <a:srgbClr val="E8383D"/>
            </a:solidFill>
            <a:prstDash val="solid"/>
          </a:ln>
        </p:spPr>
        <p:txBody>
          <a:bodyPr/>
          <a:lstStyle/>
          <a:p>
            <a:endParaRPr lang="ko-KR" altLang="en-US"/>
          </a:p>
        </p:txBody>
      </p:sp>
      <p:sp>
        <p:nvSpPr>
          <p:cNvPr id="39" name="Text 37"/>
          <p:cNvSpPr txBox="1"/>
          <p:nvPr/>
        </p:nvSpPr>
        <p:spPr>
          <a:xfrm>
            <a:off x="7086600" y="512978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40" name="Text 38"/>
          <p:cNvSpPr txBox="1"/>
          <p:nvPr/>
        </p:nvSpPr>
        <p:spPr>
          <a:xfrm>
            <a:off x="7543800" y="5093208"/>
            <a:ext cx="402336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최소건수 필터</a:t>
            </a:r>
            <a:endParaRPr lang="en-US" sz="1250" dirty="0"/>
          </a:p>
        </p:txBody>
      </p:sp>
      <p:sp>
        <p:nvSpPr>
          <p:cNvPr id="41" name="Text 39"/>
          <p:cNvSpPr txBox="1"/>
          <p:nvPr/>
        </p:nvSpPr>
        <p:spPr>
          <a:xfrm>
            <a:off x="7543800" y="5367528"/>
            <a:ext cx="4114800" cy="5943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건수가 11~99,532건까지 벌어져 누적 ≥200 &amp; 최근월 ≥30 기준으로 노이즈 셀 제외 → 2,111개 조합</a:t>
            </a:r>
            <a:endParaRPr lang="en-US" sz="1050" dirty="0"/>
          </a:p>
        </p:txBody>
      </p:sp>
      <p:sp>
        <p:nvSpPr>
          <p:cNvPr id="42" name="Text 40"/>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3" name="Text 41"/>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8 / 42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4" name="Shape 11"/>
          <p:cNvSpPr/>
          <p:nvPr/>
        </p:nvSpPr>
        <p:spPr>
          <a:xfrm>
            <a:off x="8468346" y="3529835"/>
            <a:ext cx="3209544" cy="1279535"/>
          </a:xfrm>
          <a:prstGeom prst="roundRect">
            <a:avLst>
              <a:gd name="adj" fmla="val 13514"/>
            </a:avLst>
          </a:prstGeom>
          <a:solidFill>
            <a:srgbClr val="F3F6FB"/>
          </a:solidFill>
          <a:ln w="12700">
            <a:solidFill>
              <a:srgbClr val="F3F6FB"/>
            </a:solidFill>
            <a:prstDash val="solid"/>
          </a:ln>
        </p:spPr>
        <p:txBody>
          <a:bodyPr/>
          <a:lstStyle/>
          <a:p>
            <a:endParaRPr lang="ko-KR" altLang="en-US"/>
          </a:p>
        </p:txBody>
      </p:sp>
      <p:sp>
        <p:nvSpPr>
          <p:cNvPr id="51" name="Shape 11">
            <a:extLst>
              <a:ext uri="{FF2B5EF4-FFF2-40B4-BE49-F238E27FC236}">
                <a16:creationId xmlns:a16="http://schemas.microsoft.com/office/drawing/2014/main" id="{9C6B9E90-50FD-0989-1B6B-4E6921176CD6}"/>
              </a:ext>
            </a:extLst>
          </p:cNvPr>
          <p:cNvSpPr/>
          <p:nvPr/>
        </p:nvSpPr>
        <p:spPr>
          <a:xfrm>
            <a:off x="8443294" y="2000409"/>
            <a:ext cx="3209544" cy="1279535"/>
          </a:xfrm>
          <a:prstGeom prst="roundRect">
            <a:avLst>
              <a:gd name="adj" fmla="val 13514"/>
            </a:avLst>
          </a:prstGeom>
          <a:solidFill>
            <a:srgbClr val="F3F6FB"/>
          </a:solidFill>
          <a:ln w="12700">
            <a:solidFill>
              <a:srgbClr val="F3F6FB"/>
            </a:solidFill>
            <a:prstDash val="solid"/>
          </a:ln>
        </p:spPr>
        <p:txBody>
          <a:bodyPr/>
          <a:lstStyle/>
          <a:p>
            <a:endParaRPr lang="ko-KR" altLang="en-US"/>
          </a:p>
        </p:txBody>
      </p:sp>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03  </a:t>
            </a:r>
            <a:r>
              <a:rPr lang="en-US" sz="1150" b="1" dirty="0">
                <a:solidFill>
                  <a:srgbClr val="64748B"/>
                </a:solidFill>
                <a:latin typeface="Malgun Gothic" pitchFamily="34" charset="0"/>
                <a:ea typeface="Malgun Gothic" pitchFamily="34" charset="-122"/>
                <a:cs typeface="Malgun Gothic" pitchFamily="34" charset="-120"/>
              </a:rPr>
              <a:t>데이터 · 분석 방법론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r>
              <a:rPr lang="ko-KR" altLang="ko-KR" sz="2400" b="1" dirty="0"/>
              <a:t>컬럼은 역할별로 쓰고, 신호는 외부데이터로 검증한다</a:t>
            </a:r>
            <a:endParaRPr lang="en-US" sz="2400" b="1" dirty="0"/>
          </a:p>
        </p:txBody>
      </p:sp>
      <p:sp>
        <p:nvSpPr>
          <p:cNvPr id="6" name="Text 4"/>
          <p:cNvSpPr txBox="1"/>
          <p:nvPr/>
        </p:nvSpPr>
        <p:spPr>
          <a:xfrm>
            <a:off x="548640" y="1700784"/>
            <a:ext cx="5029200" cy="274320"/>
          </a:xfrm>
          <a:prstGeom prst="rect">
            <a:avLst/>
          </a:prstGeom>
          <a:noFill/>
          <a:ln/>
        </p:spPr>
        <p:txBody>
          <a:bodyPr wrap="square" lIns="0" tIns="0" rIns="0" bIns="0" rtlCol="0" anchor="t"/>
          <a:lstStyle/>
          <a:p>
            <a:pPr marL="0" indent="0">
              <a:buNone/>
            </a:pPr>
            <a:r>
              <a:rPr lang="en-US" sz="1250" b="1" dirty="0">
                <a:solidFill>
                  <a:srgbClr val="B7232B"/>
                </a:solidFill>
                <a:highlight>
                  <a:srgbClr val="FFFF00"/>
                </a:highlight>
                <a:latin typeface="Malgun Gothic" pitchFamily="34" charset="0"/>
                <a:ea typeface="Malgun Gothic" pitchFamily="34" charset="-122"/>
                <a:cs typeface="Malgun Gothic" pitchFamily="34" charset="-120"/>
              </a:rPr>
              <a:t>제공 데이터 (비씨카드) </a:t>
            </a:r>
            <a:r>
              <a:rPr lang="en-US" sz="1250" b="1" dirty="0">
                <a:solidFill>
                  <a:srgbClr val="B7232B"/>
                </a:solidFill>
                <a:latin typeface="Malgun Gothic" pitchFamily="34" charset="0"/>
                <a:ea typeface="Malgun Gothic" pitchFamily="34" charset="-122"/>
                <a:cs typeface="Malgun Gothic" pitchFamily="34" charset="-120"/>
              </a:rPr>
              <a:t>— 컬럼별 활용</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2363635351"/>
              </p:ext>
            </p:extLst>
          </p:nvPr>
        </p:nvGraphicFramePr>
        <p:xfrm>
          <a:off x="548639" y="2011680"/>
          <a:ext cx="7772401" cy="3666744"/>
        </p:xfrm>
        <a:graphic>
          <a:graphicData uri="http://schemas.openxmlformats.org/drawingml/2006/table">
            <a:tbl>
              <a:tblPr/>
              <a:tblGrid>
                <a:gridCol w="1720608">
                  <a:extLst>
                    <a:ext uri="{9D8B030D-6E8A-4147-A177-3AD203B41FA5}">
                      <a16:colId xmlns:a16="http://schemas.microsoft.com/office/drawing/2014/main" val="20000"/>
                    </a:ext>
                  </a:extLst>
                </a:gridCol>
                <a:gridCol w="6051793">
                  <a:extLst>
                    <a:ext uri="{9D8B030D-6E8A-4147-A177-3AD203B41FA5}">
                      <a16:colId xmlns:a16="http://schemas.microsoft.com/office/drawing/2014/main" val="20001"/>
                    </a:ext>
                  </a:extLst>
                </a:gridCol>
              </a:tblGrid>
              <a:tr h="274320">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컬럼</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이렇게 썼다</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STRD_YYMM</a:t>
                      </a:r>
                      <a:endParaRPr lang="en-US" sz="900" dirty="0">
                        <a:latin typeface="Malgun Gothic" charset="0"/>
                        <a:ea typeface="Malgun Gothic" charset="0"/>
                        <a:cs typeface="Malgun Gothic" charset="0"/>
                      </a:endParaRPr>
                    </a:p>
                    <a:p>
                      <a:pPr marL="0" indent="0">
                        <a:buNone/>
                      </a:pPr>
                      <a:r>
                        <a:rPr lang="en-US" sz="900" b="1" dirty="0">
                          <a:solidFill>
                            <a:srgbClr val="0B1B33"/>
                          </a:solidFill>
                          <a:latin typeface="Malgun Gothic" pitchFamily="34" charset="0"/>
                          <a:ea typeface="Malgun Gothic" pitchFamily="34" charset="-122"/>
                          <a:cs typeface="Malgun Gothic" pitchFamily="34" charset="-120"/>
                        </a:rPr>
                        <a:t>기준년월</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월별 전월 대비(MoM) 증가율 → 최근 2개월(5·6월) 평균으로 신호 점수, 1~4월 대 5~6월로 지속성 확인</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SIDO_NM</a:t>
                      </a:r>
                      <a:endParaRPr lang="en-US" sz="900" dirty="0">
                        <a:latin typeface="Malgun Gothic" charset="0"/>
                        <a:ea typeface="Malgun Gothic" charset="0"/>
                        <a:cs typeface="Malgun Gothic" charset="0"/>
                      </a:endParaRPr>
                    </a:p>
                    <a:p>
                      <a:pPr marL="0" indent="0">
                        <a:buNone/>
                      </a:pPr>
                      <a:r>
                        <a:rPr lang="en-US" sz="900" b="1" dirty="0">
                          <a:solidFill>
                            <a:srgbClr val="0B1B33"/>
                          </a:solidFill>
                          <a:latin typeface="Malgun Gothic" pitchFamily="34" charset="0"/>
                          <a:ea typeface="Malgun Gothic" pitchFamily="34" charset="-122"/>
                          <a:cs typeface="Malgun Gothic" pitchFamily="34" charset="-120"/>
                        </a:rPr>
                        <a:t>CCG_NM</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255개 시군구 키(동명 시군구 7종은 시도+시군구 복합키로 구분) · 시군구 단위 재집계 · 신호 지도</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GENDER_CD</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3(외국인) 세그먼트 추출이 분석의 중심 · 전체 대비 비중(약 8%)으로 표본 점검 · 한계(관광객·체류자 미구분)의 근거</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AGE_CD</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dirty="0" err="1">
                          <a:solidFill>
                            <a:srgbClr val="3A475C"/>
                          </a:solidFill>
                          <a:latin typeface="Malgun Gothic" pitchFamily="34" charset="0"/>
                          <a:ea typeface="Malgun Gothic" pitchFamily="34" charset="-122"/>
                          <a:cs typeface="Malgun Gothic" pitchFamily="34" charset="-120"/>
                        </a:rPr>
                        <a:t>연령대로</a:t>
                      </a:r>
                      <a:r>
                        <a:rPr lang="en-US" sz="950" dirty="0">
                          <a:solidFill>
                            <a:srgbClr val="3A475C"/>
                          </a:solidFill>
                          <a:latin typeface="Malgun Gothic" pitchFamily="34" charset="0"/>
                          <a:ea typeface="Malgun Gothic" pitchFamily="34" charset="-122"/>
                          <a:cs typeface="Malgun Gothic" pitchFamily="34" charset="-120"/>
                        </a:rPr>
                        <a:t> 체류자를 가르는 지표는 구분력이 낮아 쓰지 않음(부록 A5)</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TPBUZ_NO·NM</a:t>
                      </a:r>
                      <a:endParaRPr lang="en-US" sz="900" dirty="0">
                        <a:latin typeface="Malgun Gothic" charset="0"/>
                        <a:ea typeface="Malgun Gothic" charset="0"/>
                        <a:cs typeface="Malgun Gothic" charset="0"/>
                      </a:endParaRPr>
                    </a:p>
                    <a:p>
                      <a:pPr marL="0" indent="0">
                        <a:buNone/>
                      </a:pPr>
                      <a:r>
                        <a:rPr lang="en-US" sz="900" b="1" dirty="0">
                          <a:solidFill>
                            <a:srgbClr val="0B1B33"/>
                          </a:solidFill>
                          <a:latin typeface="Malgun Gothic" pitchFamily="34" charset="0"/>
                          <a:ea typeface="Malgun Gothic" pitchFamily="34" charset="-122"/>
                          <a:cs typeface="Malgun Gothic" pitchFamily="34" charset="-120"/>
                        </a:rPr>
                        <a:t>(11업종)</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전국 같은 업종 대비 상대값의 기준 · 여러 업종 동시 신호(히트맵) · 업종명 표기 정규화</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CNT</a:t>
                      </a:r>
                      <a:endParaRPr lang="en-US" sz="900" dirty="0">
                        <a:latin typeface="Malgun Gothic" charset="0"/>
                        <a:ea typeface="Malgun Gothic" charset="0"/>
                        <a:cs typeface="Malgun Gothic" charset="0"/>
                      </a:endParaRPr>
                    </a:p>
                    <a:p>
                      <a:pPr marL="0" indent="0">
                        <a:buNone/>
                      </a:pPr>
                      <a:r>
                        <a:rPr lang="en-US" sz="900" b="1" dirty="0">
                          <a:solidFill>
                            <a:srgbClr val="0B1B33"/>
                          </a:solidFill>
                          <a:latin typeface="Malgun Gothic" pitchFamily="34" charset="0"/>
                          <a:ea typeface="Malgun Gothic" pitchFamily="34" charset="-122"/>
                          <a:cs typeface="Malgun Gothic" pitchFamily="34" charset="-120"/>
                        </a:rPr>
                        <a:t>이용 건수</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신호 점수(초과성장률) · 최소건수 필터 · 방문자수와의 시차상관의 기준 지표</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484632">
                <a:tc>
                  <a:txBody>
                    <a:bodyPr/>
                    <a:lstStyle/>
                    <a:p>
                      <a:pPr marL="0" indent="0">
                        <a:buNone/>
                      </a:pPr>
                      <a:r>
                        <a:rPr lang="en-US" sz="900" b="1" dirty="0">
                          <a:solidFill>
                            <a:srgbClr val="0B1B33"/>
                          </a:solidFill>
                          <a:latin typeface="Malgun Gothic" pitchFamily="34" charset="0"/>
                          <a:ea typeface="Malgun Gothic" pitchFamily="34" charset="-122"/>
                          <a:cs typeface="Malgun Gothic" pitchFamily="34" charset="-120"/>
                        </a:rPr>
                        <a:t>AMT</a:t>
                      </a:r>
                      <a:endParaRPr lang="en-US" sz="900" dirty="0">
                        <a:latin typeface="Malgun Gothic" charset="0"/>
                        <a:ea typeface="Malgun Gothic" charset="0"/>
                        <a:cs typeface="Malgun Gothic" charset="0"/>
                      </a:endParaRPr>
                    </a:p>
                    <a:p>
                      <a:pPr marL="0" indent="0">
                        <a:buNone/>
                      </a:pPr>
                      <a:r>
                        <a:rPr lang="en-US" sz="900" b="1" dirty="0">
                          <a:solidFill>
                            <a:srgbClr val="0B1B33"/>
                          </a:solidFill>
                          <a:latin typeface="Malgun Gothic" pitchFamily="34" charset="0"/>
                          <a:ea typeface="Malgun Gothic" pitchFamily="34" charset="-122"/>
                          <a:cs typeface="Malgun Gothic" pitchFamily="34" charset="-120"/>
                        </a:rPr>
                        <a:t>이용 금액</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기대효과(후보 8곳 4.14억 → 6.55억 원) 산출, 건수 기준 결과와의 교차 점검</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Shape 12"/>
          <p:cNvSpPr/>
          <p:nvPr/>
        </p:nvSpPr>
        <p:spPr>
          <a:xfrm>
            <a:off x="8601622" y="3723366"/>
            <a:ext cx="955736" cy="162229"/>
          </a:xfrm>
          <a:prstGeom prst="roundRect">
            <a:avLst>
              <a:gd name="adj" fmla="val 50000"/>
            </a:avLst>
          </a:prstGeom>
          <a:solidFill>
            <a:srgbClr val="0B1B33"/>
          </a:solidFill>
          <a:ln w="12700">
            <a:solidFill>
              <a:srgbClr val="0B1B33"/>
            </a:solidFill>
            <a:prstDash val="solid"/>
          </a:ln>
        </p:spPr>
        <p:txBody>
          <a:bodyPr/>
          <a:lstStyle/>
          <a:p>
            <a:endParaRPr lang="ko-KR" altLang="en-US" sz="1000"/>
          </a:p>
        </p:txBody>
      </p:sp>
      <p:sp>
        <p:nvSpPr>
          <p:cNvPr id="16" name="Text 13"/>
          <p:cNvSpPr txBox="1"/>
          <p:nvPr/>
        </p:nvSpPr>
        <p:spPr>
          <a:xfrm>
            <a:off x="8642833" y="3711501"/>
            <a:ext cx="910015" cy="188017"/>
          </a:xfrm>
          <a:prstGeom prst="rect">
            <a:avLst/>
          </a:prstGeom>
          <a:noFill/>
          <a:ln/>
        </p:spPr>
        <p:txBody>
          <a:bodyPr wrap="square" lIns="0" tIns="0" rIns="0" bIns="0" rtlCol="0" anchor="ctr"/>
          <a:lstStyle/>
          <a:p>
            <a:pPr marL="0" indent="0" algn="ctr">
              <a:buNone/>
            </a:pPr>
            <a:r>
              <a:rPr lang="ko-KR" altLang="en-US" sz="850" b="1" dirty="0">
                <a:solidFill>
                  <a:srgbClr val="FFFFFF"/>
                </a:solidFill>
                <a:latin typeface="Malgun Gothic" pitchFamily="34" charset="0"/>
                <a:ea typeface="Malgun Gothic" pitchFamily="34" charset="-122"/>
                <a:cs typeface="Malgun Gothic" pitchFamily="34" charset="-120"/>
              </a:rPr>
              <a:t>원인 판별용</a:t>
            </a:r>
            <a:endParaRPr lang="en-US" sz="850" dirty="0"/>
          </a:p>
        </p:txBody>
      </p:sp>
      <p:sp>
        <p:nvSpPr>
          <p:cNvPr id="17" name="Text 14"/>
          <p:cNvSpPr txBox="1"/>
          <p:nvPr/>
        </p:nvSpPr>
        <p:spPr>
          <a:xfrm>
            <a:off x="8601622" y="3976898"/>
            <a:ext cx="2357333" cy="256032"/>
          </a:xfrm>
          <a:prstGeom prst="rect">
            <a:avLst/>
          </a:prstGeom>
          <a:noFill/>
          <a:ln/>
        </p:spPr>
        <p:txBody>
          <a:bodyPr wrap="square" lIns="0" tIns="0" rIns="0" bIns="0" rtlCol="0" anchor="ctr"/>
          <a:lstStyle/>
          <a:p>
            <a:pPr marL="0" indent="0">
              <a:buNone/>
            </a:pPr>
            <a:r>
              <a:rPr lang="ko-KR" altLang="en-US" sz="1100" b="1" dirty="0"/>
              <a:t>뉴스 검색 </a:t>
            </a:r>
            <a:r>
              <a:rPr lang="en-US" altLang="ko-KR" sz="1100" b="1" dirty="0"/>
              <a:t>(Track A/B </a:t>
            </a:r>
            <a:r>
              <a:rPr lang="ko-KR" altLang="en-US" sz="1100" b="1" dirty="0"/>
              <a:t>분류</a:t>
            </a:r>
            <a:r>
              <a:rPr lang="en-US" altLang="ko-KR" sz="1100" b="1" dirty="0"/>
              <a:t>)</a:t>
            </a:r>
            <a:endParaRPr lang="en-US" sz="1100" b="1" dirty="0"/>
          </a:p>
        </p:txBody>
      </p:sp>
      <p:sp>
        <p:nvSpPr>
          <p:cNvPr id="18" name="Text 15"/>
          <p:cNvSpPr txBox="1"/>
          <p:nvPr/>
        </p:nvSpPr>
        <p:spPr>
          <a:xfrm>
            <a:off x="8601622" y="4324233"/>
            <a:ext cx="2911676" cy="347977"/>
          </a:xfrm>
          <a:prstGeom prst="rect">
            <a:avLst/>
          </a:prstGeom>
          <a:noFill/>
          <a:ln/>
        </p:spPr>
        <p:txBody>
          <a:bodyPr wrap="square" lIns="0" tIns="0" rIns="0" bIns="0" rtlCol="0" anchor="t"/>
          <a:lstStyle/>
          <a:p>
            <a:r>
              <a:rPr lang="ko-KR" altLang="ko-KR" sz="1100" dirty="0"/>
              <a:t>카드 신호가 관광 유입인지 이주노동 유입인지 후보 8곳 개별 뉴스로 원인 확인</a:t>
            </a:r>
            <a:endParaRPr lang="en-US" sz="1100" dirty="0"/>
          </a:p>
        </p:txBody>
      </p:sp>
      <p:sp>
        <p:nvSpPr>
          <p:cNvPr id="34" name="Shape 31"/>
          <p:cNvSpPr/>
          <p:nvPr/>
        </p:nvSpPr>
        <p:spPr>
          <a:xfrm>
            <a:off x="548640" y="5760720"/>
            <a:ext cx="11091672" cy="420624"/>
          </a:xfrm>
          <a:prstGeom prst="roundRect">
            <a:avLst>
              <a:gd name="adj" fmla="val 21739"/>
            </a:avLst>
          </a:prstGeom>
          <a:solidFill>
            <a:srgbClr val="FFF4DC"/>
          </a:solidFill>
          <a:ln w="12700">
            <a:solidFill>
              <a:srgbClr val="FFF4DC"/>
            </a:solidFill>
            <a:prstDash val="solid"/>
          </a:ln>
        </p:spPr>
        <p:txBody>
          <a:bodyPr/>
          <a:lstStyle/>
          <a:p>
            <a:endParaRPr lang="ko-KR" altLang="en-US"/>
          </a:p>
        </p:txBody>
      </p:sp>
      <p:sp>
        <p:nvSpPr>
          <p:cNvPr id="35" name="Text 32"/>
          <p:cNvSpPr txBox="1"/>
          <p:nvPr/>
        </p:nvSpPr>
        <p:spPr>
          <a:xfrm>
            <a:off x="777240" y="5760720"/>
            <a:ext cx="10698480" cy="420624"/>
          </a:xfrm>
          <a:prstGeom prst="rect">
            <a:avLst/>
          </a:prstGeom>
          <a:noFill/>
          <a:ln/>
        </p:spPr>
        <p:txBody>
          <a:bodyPr wrap="square" lIns="0" tIns="0" rIns="0" bIns="0" rtlCol="0" anchor="ctr"/>
          <a:lstStyle/>
          <a:p>
            <a:pPr marL="0" indent="0">
              <a:buNone/>
            </a:pPr>
            <a:r>
              <a:rPr lang="en-US" sz="1050" b="1" dirty="0">
                <a:solidFill>
                  <a:srgbClr val="9A6B00"/>
                </a:solidFill>
                <a:latin typeface="Malgun Gothic" pitchFamily="34" charset="0"/>
                <a:ea typeface="Malgun Gothic" pitchFamily="34" charset="-122"/>
                <a:cs typeface="Malgun Gothic" pitchFamily="34" charset="-120"/>
              </a:rPr>
              <a:t>외부 데이터의 원칙  </a:t>
            </a:r>
            <a:r>
              <a:rPr lang="en-US" sz="1050" dirty="0">
                <a:solidFill>
                  <a:srgbClr val="14213D"/>
                </a:solidFill>
                <a:latin typeface="Malgun Gothic" pitchFamily="34" charset="0"/>
                <a:ea typeface="Malgun Gothic" pitchFamily="34" charset="-122"/>
                <a:cs typeface="Malgun Gothic" pitchFamily="34" charset="-120"/>
              </a:rPr>
              <a:t>카드와 독립된 원천만 교차검증에 쓴다 — BC카드 결제에 기반한 통계는 순환 참조가 생겨 쓰지 않았다. 출처와 확인한 범위는 부록 A6.</a:t>
            </a:r>
            <a:endParaRPr lang="en-US" sz="1050" dirty="0"/>
          </a:p>
        </p:txBody>
      </p:sp>
      <p:sp>
        <p:nvSpPr>
          <p:cNvPr id="36" name="Text 33"/>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7" name="Text 34"/>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9 / 42</a:t>
            </a:r>
            <a:endParaRPr lang="en-US" sz="900" dirty="0"/>
          </a:p>
        </p:txBody>
      </p:sp>
      <p:sp>
        <p:nvSpPr>
          <p:cNvPr id="39" name="Text 5">
            <a:extLst>
              <a:ext uri="{FF2B5EF4-FFF2-40B4-BE49-F238E27FC236}">
                <a16:creationId xmlns:a16="http://schemas.microsoft.com/office/drawing/2014/main" id="{A58DE44C-9118-5216-CF36-ACD71FB27E0B}"/>
              </a:ext>
            </a:extLst>
          </p:cNvPr>
          <p:cNvSpPr txBox="1"/>
          <p:nvPr/>
        </p:nvSpPr>
        <p:spPr>
          <a:xfrm>
            <a:off x="8493398" y="1726461"/>
            <a:ext cx="4846320" cy="274320"/>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외부 데이터 — </a:t>
            </a:r>
            <a:r>
              <a:rPr lang="ko-KR" altLang="en-US" sz="1250" b="1" dirty="0">
                <a:solidFill>
                  <a:srgbClr val="B7232B"/>
                </a:solidFill>
                <a:latin typeface="Malgun Gothic" pitchFamily="34" charset="0"/>
                <a:ea typeface="Malgun Gothic" pitchFamily="34" charset="-122"/>
                <a:cs typeface="Malgun Gothic" pitchFamily="34" charset="-120"/>
              </a:rPr>
              <a:t>활용 목적</a:t>
            </a:r>
            <a:endParaRPr lang="en-US" sz="1250" dirty="0"/>
          </a:p>
        </p:txBody>
      </p:sp>
      <p:sp>
        <p:nvSpPr>
          <p:cNvPr id="43" name="Shape 7">
            <a:extLst>
              <a:ext uri="{FF2B5EF4-FFF2-40B4-BE49-F238E27FC236}">
                <a16:creationId xmlns:a16="http://schemas.microsoft.com/office/drawing/2014/main" id="{2714B665-4302-CDFC-254A-12FB430EE797}"/>
              </a:ext>
            </a:extLst>
          </p:cNvPr>
          <p:cNvSpPr/>
          <p:nvPr/>
        </p:nvSpPr>
        <p:spPr>
          <a:xfrm>
            <a:off x="8576570" y="2129550"/>
            <a:ext cx="955736" cy="201168"/>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45" name="Text 8">
            <a:extLst>
              <a:ext uri="{FF2B5EF4-FFF2-40B4-BE49-F238E27FC236}">
                <a16:creationId xmlns:a16="http://schemas.microsoft.com/office/drawing/2014/main" id="{8364980E-9A14-F809-B2D0-EC32D0187BE0}"/>
              </a:ext>
            </a:extLst>
          </p:cNvPr>
          <p:cNvSpPr txBox="1"/>
          <p:nvPr/>
        </p:nvSpPr>
        <p:spPr>
          <a:xfrm>
            <a:off x="8348722" y="2144958"/>
            <a:ext cx="14173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H1 교차검증</a:t>
            </a:r>
            <a:endParaRPr lang="en-US" sz="850" dirty="0"/>
          </a:p>
        </p:txBody>
      </p:sp>
      <p:sp>
        <p:nvSpPr>
          <p:cNvPr id="47" name="Text 9">
            <a:extLst>
              <a:ext uri="{FF2B5EF4-FFF2-40B4-BE49-F238E27FC236}">
                <a16:creationId xmlns:a16="http://schemas.microsoft.com/office/drawing/2014/main" id="{0FA69374-6604-F4AB-69B6-FD0F23C221BF}"/>
              </a:ext>
            </a:extLst>
          </p:cNvPr>
          <p:cNvSpPr txBox="1"/>
          <p:nvPr/>
        </p:nvSpPr>
        <p:spPr>
          <a:xfrm>
            <a:off x="8617780" y="2467878"/>
            <a:ext cx="2417649" cy="199230"/>
          </a:xfrm>
          <a:prstGeom prst="rect">
            <a:avLst/>
          </a:prstGeom>
          <a:noFill/>
          <a:ln/>
        </p:spPr>
        <p:txBody>
          <a:bodyPr wrap="square" lIns="0" tIns="0" rIns="0" bIns="0" rtlCol="0" anchor="ctr"/>
          <a:lstStyle/>
          <a:p>
            <a:pPr marL="0" indent="0">
              <a:buNone/>
            </a:pPr>
            <a:r>
              <a:rPr lang="en-US" sz="1100" b="1" dirty="0">
                <a:solidFill>
                  <a:srgbClr val="14213D"/>
                </a:solidFill>
                <a:highlight>
                  <a:srgbClr val="FFFF00"/>
                </a:highlight>
                <a:latin typeface="Malgun Gothic" pitchFamily="34" charset="0"/>
                <a:ea typeface="Malgun Gothic" pitchFamily="34" charset="-122"/>
                <a:cs typeface="Malgun Gothic" pitchFamily="34" charset="-120"/>
              </a:rPr>
              <a:t>한국관광 데이터랩 외국인 방문자수</a:t>
            </a:r>
            <a:endParaRPr lang="en-US" sz="1100" dirty="0">
              <a:highlight>
                <a:srgbClr val="FFFF00"/>
              </a:highlight>
            </a:endParaRPr>
          </a:p>
        </p:txBody>
      </p:sp>
      <p:sp>
        <p:nvSpPr>
          <p:cNvPr id="49" name="Text 10">
            <a:extLst>
              <a:ext uri="{FF2B5EF4-FFF2-40B4-BE49-F238E27FC236}">
                <a16:creationId xmlns:a16="http://schemas.microsoft.com/office/drawing/2014/main" id="{8C186C09-615A-B087-50AA-E472B4684C45}"/>
              </a:ext>
            </a:extLst>
          </p:cNvPr>
          <p:cNvSpPr txBox="1"/>
          <p:nvPr/>
        </p:nvSpPr>
        <p:spPr>
          <a:xfrm>
            <a:off x="8624984" y="2793305"/>
            <a:ext cx="2736123" cy="366510"/>
          </a:xfrm>
          <a:prstGeom prst="rect">
            <a:avLst/>
          </a:prstGeom>
          <a:noFill/>
          <a:ln/>
        </p:spPr>
        <p:txBody>
          <a:bodyPr wrap="square" lIns="0" tIns="0" rIns="0" bIns="0" rtlCol="0" anchor="t"/>
          <a:lstStyle/>
          <a:p>
            <a:pPr marL="0" indent="0">
              <a:lnSpc>
                <a:spcPct val="105000"/>
              </a:lnSpc>
              <a:buNone/>
            </a:pPr>
            <a:r>
              <a:rPr lang="en-US" sz="1100" dirty="0">
                <a:solidFill>
                  <a:srgbClr val="3A475C"/>
                </a:solidFill>
                <a:latin typeface="Malgun Gothic" pitchFamily="34" charset="0"/>
                <a:ea typeface="Malgun Gothic" pitchFamily="34" charset="-122"/>
                <a:cs typeface="Malgun Gothic" pitchFamily="34" charset="-120"/>
              </a:rPr>
              <a:t>카드 신호가 실제 방문 흐름과 어떤 시차를 갖는지 후보 8곳 × 6개월로 비교</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03  </a:t>
            </a:r>
            <a:r>
              <a:rPr lang="en-US" sz="1150" b="1" dirty="0">
                <a:solidFill>
                  <a:srgbClr val="64748B"/>
                </a:solidFill>
                <a:latin typeface="Malgun Gothic" pitchFamily="34" charset="0"/>
                <a:ea typeface="Malgun Gothic" pitchFamily="34" charset="-122"/>
                <a:cs typeface="Malgun Gothic" pitchFamily="34" charset="-120"/>
              </a:rPr>
              <a:t>데이터 · 분석 방법론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데이터 탐색 → 패턴 발견 → 가설화 → 검증: 0~7단계 분석 파이프라인</a:t>
            </a:r>
            <a:endParaRPr lang="en-US" sz="2400" dirty="0"/>
          </a:p>
        </p:txBody>
      </p:sp>
      <p:sp>
        <p:nvSpPr>
          <p:cNvPr id="6" name="Shape 4"/>
          <p:cNvSpPr/>
          <p:nvPr/>
        </p:nvSpPr>
        <p:spPr>
          <a:xfrm>
            <a:off x="548640" y="17190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31520" y="19019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8" name="Text 6"/>
          <p:cNvSpPr txBox="1"/>
          <p:nvPr/>
        </p:nvSpPr>
        <p:spPr>
          <a:xfrm>
            <a:off x="731520" y="19019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0</a:t>
            </a:r>
            <a:endParaRPr lang="en-US" sz="1500" dirty="0"/>
          </a:p>
        </p:txBody>
      </p:sp>
      <p:sp>
        <p:nvSpPr>
          <p:cNvPr id="9" name="Text 7"/>
          <p:cNvSpPr txBox="1"/>
          <p:nvPr/>
        </p:nvSpPr>
        <p:spPr>
          <a:xfrm>
            <a:off x="1261872" y="19019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데이터 이해</a:t>
            </a:r>
            <a:endParaRPr lang="en-US" sz="1450" dirty="0"/>
          </a:p>
        </p:txBody>
      </p:sp>
      <p:sp>
        <p:nvSpPr>
          <p:cNvPr id="10" name="Text 8"/>
          <p:cNvSpPr txBox="1"/>
          <p:nvPr/>
        </p:nvSpPr>
        <p:spPr>
          <a:xfrm>
            <a:off x="749808" y="24323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스키마·결측 확인, 코드 정의 오차 발견 (외국인 연령대·동명 시군구)</a:t>
            </a:r>
            <a:endParaRPr lang="en-US" sz="1100" dirty="0"/>
          </a:p>
        </p:txBody>
      </p:sp>
      <p:pic>
        <p:nvPicPr>
          <p:cNvPr id="11" name="Image 0" descr="preencoded.png"/>
          <p:cNvPicPr>
            <a:picLocks noChangeAspect="1"/>
          </p:cNvPicPr>
          <p:nvPr/>
        </p:nvPicPr>
        <p:blipFill>
          <a:blip r:embed="rId3"/>
          <a:stretch>
            <a:fillRect/>
          </a:stretch>
        </p:blipFill>
        <p:spPr>
          <a:xfrm>
            <a:off x="3159252" y="2459736"/>
            <a:ext cx="182880" cy="182880"/>
          </a:xfrm>
          <a:prstGeom prst="rect">
            <a:avLst/>
          </a:prstGeom>
        </p:spPr>
      </p:pic>
      <p:sp>
        <p:nvSpPr>
          <p:cNvPr id="12" name="Shape 9"/>
          <p:cNvSpPr/>
          <p:nvPr/>
        </p:nvSpPr>
        <p:spPr>
          <a:xfrm>
            <a:off x="3374136" y="17190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13" name="Shape 10"/>
          <p:cNvSpPr/>
          <p:nvPr/>
        </p:nvSpPr>
        <p:spPr>
          <a:xfrm>
            <a:off x="3557016" y="19019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14" name="Text 11"/>
          <p:cNvSpPr txBox="1"/>
          <p:nvPr/>
        </p:nvSpPr>
        <p:spPr>
          <a:xfrm>
            <a:off x="3557016" y="19019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5" name="Text 12"/>
          <p:cNvSpPr txBox="1"/>
          <p:nvPr/>
        </p:nvSpPr>
        <p:spPr>
          <a:xfrm>
            <a:off x="4087368" y="19019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전처리</a:t>
            </a:r>
            <a:endParaRPr lang="en-US" sz="1450" dirty="0"/>
          </a:p>
        </p:txBody>
      </p:sp>
      <p:sp>
        <p:nvSpPr>
          <p:cNvPr id="16" name="Text 13"/>
          <p:cNvSpPr txBox="1"/>
          <p:nvPr/>
        </p:nvSpPr>
        <p:spPr>
          <a:xfrm>
            <a:off x="3575304" y="24323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업종명 정규화 · 외국인 세그먼트 추출 · 지역×업종×월 피벗 테이블 생성 · 최소건수 필터(누적 ≥200 &amp; 최근월 ≥30)</a:t>
            </a:r>
            <a:endParaRPr lang="en-US" sz="1100" dirty="0"/>
          </a:p>
        </p:txBody>
      </p:sp>
      <p:pic>
        <p:nvPicPr>
          <p:cNvPr id="17" name="Image 1" descr="preencoded.png"/>
          <p:cNvPicPr>
            <a:picLocks noChangeAspect="1"/>
          </p:cNvPicPr>
          <p:nvPr/>
        </p:nvPicPr>
        <p:blipFill>
          <a:blip r:embed="rId3"/>
          <a:stretch>
            <a:fillRect/>
          </a:stretch>
        </p:blipFill>
        <p:spPr>
          <a:xfrm>
            <a:off x="5984748" y="2459736"/>
            <a:ext cx="182880" cy="182880"/>
          </a:xfrm>
          <a:prstGeom prst="rect">
            <a:avLst/>
          </a:prstGeom>
        </p:spPr>
      </p:pic>
      <p:sp>
        <p:nvSpPr>
          <p:cNvPr id="18" name="Shape 14"/>
          <p:cNvSpPr/>
          <p:nvPr/>
        </p:nvSpPr>
        <p:spPr>
          <a:xfrm>
            <a:off x="6199632" y="17190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19" name="Shape 15"/>
          <p:cNvSpPr/>
          <p:nvPr/>
        </p:nvSpPr>
        <p:spPr>
          <a:xfrm>
            <a:off x="6382512" y="19019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20" name="Text 16"/>
          <p:cNvSpPr txBox="1"/>
          <p:nvPr/>
        </p:nvSpPr>
        <p:spPr>
          <a:xfrm>
            <a:off x="6382512" y="19019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21" name="Text 17"/>
          <p:cNvSpPr txBox="1"/>
          <p:nvPr/>
        </p:nvSpPr>
        <p:spPr>
          <a:xfrm>
            <a:off x="6912864" y="19019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EDA</a:t>
            </a:r>
            <a:endParaRPr lang="en-US" sz="1450" dirty="0"/>
          </a:p>
        </p:txBody>
      </p:sp>
      <p:sp>
        <p:nvSpPr>
          <p:cNvPr id="22" name="Text 18"/>
          <p:cNvSpPr txBox="1"/>
          <p:nvPr/>
        </p:nvSpPr>
        <p:spPr>
          <a:xfrm>
            <a:off x="6400800" y="24323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월별 추이 · 계절성 검정(Kruskal-Wallis, p&lt;.001) · 시도×업종 히트맵 · 유명 관광지 baseline (산업단지형 대량소비 발견)</a:t>
            </a:r>
            <a:endParaRPr lang="en-US" sz="1100" dirty="0"/>
          </a:p>
        </p:txBody>
      </p:sp>
      <p:pic>
        <p:nvPicPr>
          <p:cNvPr id="23" name="Image 2" descr="preencoded.png"/>
          <p:cNvPicPr>
            <a:picLocks noChangeAspect="1"/>
          </p:cNvPicPr>
          <p:nvPr/>
        </p:nvPicPr>
        <p:blipFill>
          <a:blip r:embed="rId3"/>
          <a:stretch>
            <a:fillRect/>
          </a:stretch>
        </p:blipFill>
        <p:spPr>
          <a:xfrm>
            <a:off x="8810244" y="2459736"/>
            <a:ext cx="182880" cy="182880"/>
          </a:xfrm>
          <a:prstGeom prst="rect">
            <a:avLst/>
          </a:prstGeom>
        </p:spPr>
      </p:pic>
      <p:sp>
        <p:nvSpPr>
          <p:cNvPr id="24" name="Shape 19"/>
          <p:cNvSpPr/>
          <p:nvPr/>
        </p:nvSpPr>
        <p:spPr>
          <a:xfrm>
            <a:off x="9025128" y="1719072"/>
            <a:ext cx="2615184" cy="1664208"/>
          </a:xfrm>
          <a:prstGeom prst="roundRect">
            <a:avLst>
              <a:gd name="adj" fmla="val 6593"/>
            </a:avLst>
          </a:prstGeom>
          <a:solidFill>
            <a:srgbClr val="0B1B33"/>
          </a:solidFill>
          <a:ln w="12700">
            <a:solidFill>
              <a:srgbClr val="0B1B33"/>
            </a:solidFill>
            <a:prstDash val="solid"/>
          </a:ln>
        </p:spPr>
        <p:txBody>
          <a:bodyPr/>
          <a:lstStyle/>
          <a:p>
            <a:endParaRPr lang="ko-KR" altLang="en-US"/>
          </a:p>
        </p:txBody>
      </p:sp>
      <p:sp>
        <p:nvSpPr>
          <p:cNvPr id="25" name="Shape 20"/>
          <p:cNvSpPr/>
          <p:nvPr/>
        </p:nvSpPr>
        <p:spPr>
          <a:xfrm>
            <a:off x="9208008" y="1901952"/>
            <a:ext cx="402336" cy="402336"/>
          </a:xfrm>
          <a:prstGeom prst="ellipse">
            <a:avLst/>
          </a:prstGeom>
          <a:solidFill>
            <a:srgbClr val="E8383D"/>
          </a:solidFill>
          <a:ln w="12700">
            <a:solidFill>
              <a:srgbClr val="E8383D"/>
            </a:solidFill>
            <a:prstDash val="solid"/>
          </a:ln>
        </p:spPr>
        <p:txBody>
          <a:bodyPr/>
          <a:lstStyle/>
          <a:p>
            <a:endParaRPr lang="ko-KR" altLang="en-US"/>
          </a:p>
        </p:txBody>
      </p:sp>
      <p:sp>
        <p:nvSpPr>
          <p:cNvPr id="26" name="Text 21"/>
          <p:cNvSpPr txBox="1"/>
          <p:nvPr/>
        </p:nvSpPr>
        <p:spPr>
          <a:xfrm>
            <a:off x="9208008" y="19019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27" name="Text 22"/>
          <p:cNvSpPr txBox="1"/>
          <p:nvPr/>
        </p:nvSpPr>
        <p:spPr>
          <a:xfrm>
            <a:off x="9738360" y="1901952"/>
            <a:ext cx="1792224" cy="402336"/>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신호 탐지</a:t>
            </a:r>
            <a:endParaRPr lang="en-US" sz="1450" dirty="0"/>
          </a:p>
        </p:txBody>
      </p:sp>
      <p:sp>
        <p:nvSpPr>
          <p:cNvPr id="28" name="Text 23"/>
          <p:cNvSpPr txBox="1"/>
          <p:nvPr/>
        </p:nvSpPr>
        <p:spPr>
          <a:xfrm>
            <a:off x="9226296" y="24323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A9B8D0"/>
                </a:solidFill>
                <a:latin typeface="Malgun Gothic" pitchFamily="34" charset="0"/>
                <a:ea typeface="Malgun Gothic" pitchFamily="34" charset="-122"/>
                <a:cs typeface="Malgun Gothic" pitchFamily="34" charset="-120"/>
              </a:rPr>
              <a:t>상대 초과성장률 스코어링 → 육안 검수 → 후보 8곳</a:t>
            </a:r>
            <a:endParaRPr lang="en-US" sz="1100" dirty="0"/>
          </a:p>
        </p:txBody>
      </p:sp>
      <p:sp>
        <p:nvSpPr>
          <p:cNvPr id="29" name="Shape 24"/>
          <p:cNvSpPr/>
          <p:nvPr/>
        </p:nvSpPr>
        <p:spPr>
          <a:xfrm>
            <a:off x="548640" y="3547872"/>
            <a:ext cx="2615184" cy="1664208"/>
          </a:xfrm>
          <a:prstGeom prst="roundRect">
            <a:avLst>
              <a:gd name="adj" fmla="val 6593"/>
            </a:avLst>
          </a:prstGeom>
          <a:solidFill>
            <a:srgbClr val="0B1B33"/>
          </a:solidFill>
          <a:ln w="12700">
            <a:solidFill>
              <a:srgbClr val="0B1B33"/>
            </a:solidFill>
            <a:prstDash val="solid"/>
          </a:ln>
        </p:spPr>
        <p:txBody>
          <a:bodyPr/>
          <a:lstStyle/>
          <a:p>
            <a:endParaRPr lang="ko-KR" altLang="en-US"/>
          </a:p>
        </p:txBody>
      </p:sp>
      <p:sp>
        <p:nvSpPr>
          <p:cNvPr id="30" name="Shape 25"/>
          <p:cNvSpPr/>
          <p:nvPr/>
        </p:nvSpPr>
        <p:spPr>
          <a:xfrm>
            <a:off x="731520" y="3730752"/>
            <a:ext cx="402336" cy="402336"/>
          </a:xfrm>
          <a:prstGeom prst="ellipse">
            <a:avLst/>
          </a:prstGeom>
          <a:solidFill>
            <a:srgbClr val="E8383D"/>
          </a:solidFill>
          <a:ln w="12700">
            <a:solidFill>
              <a:srgbClr val="E8383D"/>
            </a:solidFill>
            <a:prstDash val="solid"/>
          </a:ln>
        </p:spPr>
        <p:txBody>
          <a:bodyPr/>
          <a:lstStyle/>
          <a:p>
            <a:endParaRPr lang="ko-KR" altLang="en-US"/>
          </a:p>
        </p:txBody>
      </p:sp>
      <p:sp>
        <p:nvSpPr>
          <p:cNvPr id="31" name="Text 26"/>
          <p:cNvSpPr txBox="1"/>
          <p:nvPr/>
        </p:nvSpPr>
        <p:spPr>
          <a:xfrm>
            <a:off x="731520" y="3730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32" name="Text 27"/>
          <p:cNvSpPr txBox="1"/>
          <p:nvPr/>
        </p:nvSpPr>
        <p:spPr>
          <a:xfrm>
            <a:off x="1261872" y="3730752"/>
            <a:ext cx="1792224" cy="402336"/>
          </a:xfrm>
          <a:prstGeom prst="rect">
            <a:avLst/>
          </a:prstGeom>
          <a:noFill/>
          <a:ln/>
        </p:spPr>
        <p:txBody>
          <a:bodyPr wrap="square" lIns="0" tIns="0" rIns="0" bIns="0" rtlCol="0" anchor="ctr"/>
          <a:lstStyle/>
          <a:p>
            <a:pPr marL="0" indent="0">
              <a:buNone/>
            </a:pPr>
            <a:r>
              <a:rPr lang="en-US" sz="1450" b="1" dirty="0">
                <a:solidFill>
                  <a:srgbClr val="FFFFFF"/>
                </a:solidFill>
                <a:latin typeface="Malgun Gothic" pitchFamily="34" charset="0"/>
                <a:ea typeface="Malgun Gothic" pitchFamily="34" charset="-122"/>
                <a:cs typeface="Malgun Gothic" pitchFamily="34" charset="-120"/>
              </a:rPr>
              <a:t>가설검증 통계</a:t>
            </a:r>
            <a:endParaRPr lang="en-US" sz="1450" dirty="0"/>
          </a:p>
        </p:txBody>
      </p:sp>
      <p:sp>
        <p:nvSpPr>
          <p:cNvPr id="33" name="Text 28"/>
          <p:cNvSpPr txBox="1"/>
          <p:nvPr/>
        </p:nvSpPr>
        <p:spPr>
          <a:xfrm>
            <a:off x="749808" y="42611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A9B8D0"/>
                </a:solidFill>
                <a:latin typeface="Malgun Gothic" pitchFamily="34" charset="0"/>
                <a:ea typeface="Malgun Gothic" pitchFamily="34" charset="-122"/>
                <a:cs typeface="Malgun Gothic" pitchFamily="34" charset="-120"/>
              </a:rPr>
              <a:t>H1 선행성 · H2 사각지대 · H3 지속성 (시차상관 · 산점도 · 사후 확인 · 전국 재검증)</a:t>
            </a:r>
            <a:endParaRPr lang="en-US" sz="1100" dirty="0"/>
          </a:p>
        </p:txBody>
      </p:sp>
      <p:pic>
        <p:nvPicPr>
          <p:cNvPr id="34" name="Image 3" descr="preencoded.png"/>
          <p:cNvPicPr>
            <a:picLocks noChangeAspect="1"/>
          </p:cNvPicPr>
          <p:nvPr/>
        </p:nvPicPr>
        <p:blipFill>
          <a:blip r:embed="rId3"/>
          <a:stretch>
            <a:fillRect/>
          </a:stretch>
        </p:blipFill>
        <p:spPr>
          <a:xfrm>
            <a:off x="3159252" y="4288536"/>
            <a:ext cx="182880" cy="182880"/>
          </a:xfrm>
          <a:prstGeom prst="rect">
            <a:avLst/>
          </a:prstGeom>
        </p:spPr>
      </p:pic>
      <p:sp>
        <p:nvSpPr>
          <p:cNvPr id="35" name="Shape 29"/>
          <p:cNvSpPr/>
          <p:nvPr/>
        </p:nvSpPr>
        <p:spPr>
          <a:xfrm>
            <a:off x="3374136" y="35478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36" name="Shape 30"/>
          <p:cNvSpPr/>
          <p:nvPr/>
        </p:nvSpPr>
        <p:spPr>
          <a:xfrm>
            <a:off x="3557016" y="37307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37" name="Text 31"/>
          <p:cNvSpPr txBox="1"/>
          <p:nvPr/>
        </p:nvSpPr>
        <p:spPr>
          <a:xfrm>
            <a:off x="3557016" y="3730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5</a:t>
            </a:r>
            <a:endParaRPr lang="en-US" sz="1500" dirty="0"/>
          </a:p>
        </p:txBody>
      </p:sp>
      <p:sp>
        <p:nvSpPr>
          <p:cNvPr id="38" name="Text 32"/>
          <p:cNvSpPr txBox="1"/>
          <p:nvPr/>
        </p:nvSpPr>
        <p:spPr>
          <a:xfrm>
            <a:off x="4087368" y="37307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외부데이터 결합</a:t>
            </a:r>
            <a:endParaRPr lang="en-US" sz="1450" dirty="0"/>
          </a:p>
        </p:txBody>
      </p:sp>
      <p:sp>
        <p:nvSpPr>
          <p:cNvPr id="39" name="Text 33"/>
          <p:cNvSpPr txBox="1"/>
          <p:nvPr/>
        </p:nvSpPr>
        <p:spPr>
          <a:xfrm>
            <a:off x="3575304" y="42611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한국관광 데이터랩 방문자수로 교차검증 · 지역 언론 보도로 계절근로자·축제 변수 확인</a:t>
            </a:r>
            <a:endParaRPr lang="en-US" sz="1100" dirty="0"/>
          </a:p>
        </p:txBody>
      </p:sp>
      <p:pic>
        <p:nvPicPr>
          <p:cNvPr id="40" name="Image 4" descr="preencoded.png"/>
          <p:cNvPicPr>
            <a:picLocks noChangeAspect="1"/>
          </p:cNvPicPr>
          <p:nvPr/>
        </p:nvPicPr>
        <p:blipFill>
          <a:blip r:embed="rId3"/>
          <a:stretch>
            <a:fillRect/>
          </a:stretch>
        </p:blipFill>
        <p:spPr>
          <a:xfrm>
            <a:off x="5984748" y="4288536"/>
            <a:ext cx="182880" cy="182880"/>
          </a:xfrm>
          <a:prstGeom prst="rect">
            <a:avLst/>
          </a:prstGeom>
        </p:spPr>
      </p:pic>
      <p:sp>
        <p:nvSpPr>
          <p:cNvPr id="41" name="Shape 34"/>
          <p:cNvSpPr/>
          <p:nvPr/>
        </p:nvSpPr>
        <p:spPr>
          <a:xfrm>
            <a:off x="6199632" y="35478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42" name="Shape 35"/>
          <p:cNvSpPr/>
          <p:nvPr/>
        </p:nvSpPr>
        <p:spPr>
          <a:xfrm>
            <a:off x="6382512" y="37307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43" name="Text 36"/>
          <p:cNvSpPr txBox="1"/>
          <p:nvPr/>
        </p:nvSpPr>
        <p:spPr>
          <a:xfrm>
            <a:off x="6382512" y="3730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6</a:t>
            </a:r>
            <a:endParaRPr lang="en-US" sz="1500" dirty="0"/>
          </a:p>
        </p:txBody>
      </p:sp>
      <p:sp>
        <p:nvSpPr>
          <p:cNvPr id="44" name="Text 37"/>
          <p:cNvSpPr txBox="1"/>
          <p:nvPr/>
        </p:nvSpPr>
        <p:spPr>
          <a:xfrm>
            <a:off x="6912864" y="37307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결과 종합</a:t>
            </a:r>
            <a:endParaRPr lang="en-US" sz="1450" dirty="0"/>
          </a:p>
        </p:txBody>
      </p:sp>
      <p:sp>
        <p:nvSpPr>
          <p:cNvPr id="45" name="Text 38"/>
          <p:cNvSpPr txBox="1"/>
          <p:nvPr/>
        </p:nvSpPr>
        <p:spPr>
          <a:xfrm>
            <a:off x="6400800" y="42611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후보의 원인 유형 분류(관광·이주노동) · 한계점 정리 · 서비스 제안</a:t>
            </a:r>
            <a:endParaRPr lang="en-US" sz="1100" dirty="0"/>
          </a:p>
        </p:txBody>
      </p:sp>
      <p:pic>
        <p:nvPicPr>
          <p:cNvPr id="46" name="Image 5" descr="preencoded.png"/>
          <p:cNvPicPr>
            <a:picLocks noChangeAspect="1"/>
          </p:cNvPicPr>
          <p:nvPr/>
        </p:nvPicPr>
        <p:blipFill>
          <a:blip r:embed="rId3"/>
          <a:stretch>
            <a:fillRect/>
          </a:stretch>
        </p:blipFill>
        <p:spPr>
          <a:xfrm>
            <a:off x="8810244" y="4288536"/>
            <a:ext cx="182880" cy="182880"/>
          </a:xfrm>
          <a:prstGeom prst="rect">
            <a:avLst/>
          </a:prstGeom>
        </p:spPr>
      </p:pic>
      <p:sp>
        <p:nvSpPr>
          <p:cNvPr id="47" name="Shape 39"/>
          <p:cNvSpPr/>
          <p:nvPr/>
        </p:nvSpPr>
        <p:spPr>
          <a:xfrm>
            <a:off x="9025128" y="3547872"/>
            <a:ext cx="2615184" cy="1664208"/>
          </a:xfrm>
          <a:prstGeom prst="roundRect">
            <a:avLst>
              <a:gd name="adj" fmla="val 6593"/>
            </a:avLst>
          </a:prstGeom>
          <a:solidFill>
            <a:srgbClr val="F3F6FB"/>
          </a:solidFill>
          <a:ln w="12700">
            <a:solidFill>
              <a:srgbClr val="F3F6FB"/>
            </a:solidFill>
            <a:prstDash val="solid"/>
          </a:ln>
        </p:spPr>
        <p:txBody>
          <a:bodyPr/>
          <a:lstStyle/>
          <a:p>
            <a:endParaRPr lang="ko-KR" altLang="en-US"/>
          </a:p>
        </p:txBody>
      </p:sp>
      <p:sp>
        <p:nvSpPr>
          <p:cNvPr id="48" name="Shape 40"/>
          <p:cNvSpPr/>
          <p:nvPr/>
        </p:nvSpPr>
        <p:spPr>
          <a:xfrm>
            <a:off x="9208008" y="3730752"/>
            <a:ext cx="402336" cy="402336"/>
          </a:xfrm>
          <a:prstGeom prst="ellipse">
            <a:avLst/>
          </a:prstGeom>
          <a:solidFill>
            <a:srgbClr val="0B1B33"/>
          </a:solidFill>
          <a:ln w="12700">
            <a:solidFill>
              <a:srgbClr val="E8383D"/>
            </a:solidFill>
            <a:prstDash val="solid"/>
          </a:ln>
        </p:spPr>
        <p:txBody>
          <a:bodyPr/>
          <a:lstStyle/>
          <a:p>
            <a:endParaRPr lang="ko-KR" altLang="en-US"/>
          </a:p>
        </p:txBody>
      </p:sp>
      <p:sp>
        <p:nvSpPr>
          <p:cNvPr id="49" name="Text 41"/>
          <p:cNvSpPr txBox="1"/>
          <p:nvPr/>
        </p:nvSpPr>
        <p:spPr>
          <a:xfrm>
            <a:off x="9208008" y="37307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7</a:t>
            </a:r>
            <a:endParaRPr lang="en-US" sz="1500" dirty="0"/>
          </a:p>
        </p:txBody>
      </p:sp>
      <p:sp>
        <p:nvSpPr>
          <p:cNvPr id="50" name="Text 42"/>
          <p:cNvSpPr txBox="1"/>
          <p:nvPr/>
        </p:nvSpPr>
        <p:spPr>
          <a:xfrm>
            <a:off x="9738360" y="3730752"/>
            <a:ext cx="1792224" cy="402336"/>
          </a:xfrm>
          <a:prstGeom prst="rect">
            <a:avLst/>
          </a:prstGeom>
          <a:noFill/>
          <a:ln/>
        </p:spPr>
        <p:txBody>
          <a:bodyPr wrap="square" lIns="0" tIns="0" rIns="0" bIns="0" rtlCol="0" anchor="ctr"/>
          <a:lstStyle/>
          <a:p>
            <a:pPr marL="0" indent="0">
              <a:buNone/>
            </a:pPr>
            <a:r>
              <a:rPr lang="en-US" sz="1450" b="1" dirty="0">
                <a:solidFill>
                  <a:srgbClr val="14213D"/>
                </a:solidFill>
                <a:latin typeface="Malgun Gothic" pitchFamily="34" charset="0"/>
                <a:ea typeface="Malgun Gothic" pitchFamily="34" charset="-122"/>
                <a:cs typeface="Malgun Gothic" pitchFamily="34" charset="-120"/>
              </a:rPr>
              <a:t>산출물</a:t>
            </a:r>
            <a:endParaRPr lang="en-US" sz="1450" dirty="0"/>
          </a:p>
        </p:txBody>
      </p:sp>
      <p:sp>
        <p:nvSpPr>
          <p:cNvPr id="51" name="Text 43"/>
          <p:cNvSpPr txBox="1"/>
          <p:nvPr/>
        </p:nvSpPr>
        <p:spPr>
          <a:xfrm>
            <a:off x="9226296" y="4261104"/>
            <a:ext cx="2212848" cy="896112"/>
          </a:xfrm>
          <a:prstGeom prst="rect">
            <a:avLst/>
          </a:prstGeom>
          <a:noFill/>
          <a:ln/>
        </p:spPr>
        <p:txBody>
          <a:bodyPr wrap="square" lIns="0" tIns="0" rIns="0" bIns="0" rtlCol="0" anchor="t"/>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아이디어 요약서 · 분석 코드(Colab 노트북) · 리포트</a:t>
            </a:r>
            <a:endParaRPr lang="en-US" sz="1100" dirty="0"/>
          </a:p>
        </p:txBody>
      </p:sp>
      <p:sp>
        <p:nvSpPr>
          <p:cNvPr id="52" name="Shape 44"/>
          <p:cNvSpPr/>
          <p:nvPr/>
        </p:nvSpPr>
        <p:spPr>
          <a:xfrm>
            <a:off x="548640" y="5440680"/>
            <a:ext cx="11091672" cy="603504"/>
          </a:xfrm>
          <a:prstGeom prst="roundRect">
            <a:avLst>
              <a:gd name="adj" fmla="val 15152"/>
            </a:avLst>
          </a:prstGeom>
          <a:solidFill>
            <a:srgbClr val="FFF4DC"/>
          </a:solidFill>
          <a:ln w="12700">
            <a:solidFill>
              <a:srgbClr val="FFF4DC"/>
            </a:solidFill>
            <a:prstDash val="solid"/>
          </a:ln>
        </p:spPr>
        <p:txBody>
          <a:bodyPr/>
          <a:lstStyle/>
          <a:p>
            <a:endParaRPr lang="ko-KR" altLang="en-US"/>
          </a:p>
        </p:txBody>
      </p:sp>
      <p:sp>
        <p:nvSpPr>
          <p:cNvPr id="53" name="Text 45"/>
          <p:cNvSpPr txBox="1"/>
          <p:nvPr/>
        </p:nvSpPr>
        <p:spPr>
          <a:xfrm>
            <a:off x="697230" y="5440680"/>
            <a:ext cx="11091672" cy="603504"/>
          </a:xfrm>
          <a:prstGeom prst="rect">
            <a:avLst/>
          </a:prstGeom>
          <a:noFill/>
          <a:ln/>
        </p:spPr>
        <p:txBody>
          <a:bodyPr wrap="square" lIns="0" tIns="0" rIns="0" bIns="0" rtlCol="0" anchor="ctr"/>
          <a:lstStyle/>
          <a:p>
            <a:pPr marL="0" indent="0">
              <a:lnSpc>
                <a:spcPct val="110000"/>
              </a:lnSpc>
              <a:buNone/>
            </a:pPr>
            <a:r>
              <a:rPr lang="en-US" sz="1150" b="1" dirty="0">
                <a:solidFill>
                  <a:srgbClr val="9A6B00"/>
                </a:solidFill>
                <a:latin typeface="Malgun Gothic" pitchFamily="34" charset="0"/>
                <a:ea typeface="Malgun Gothic" pitchFamily="34" charset="-122"/>
                <a:cs typeface="Malgun Gothic" pitchFamily="34" charset="-120"/>
              </a:rPr>
              <a:t>왜 머신러닝이 </a:t>
            </a:r>
            <a:r>
              <a:rPr lang="en-US" sz="1150" b="1" dirty="0" err="1">
                <a:solidFill>
                  <a:srgbClr val="9A6B00"/>
                </a:solidFill>
                <a:latin typeface="Malgun Gothic" pitchFamily="34" charset="0"/>
                <a:ea typeface="Malgun Gothic" pitchFamily="34" charset="-122"/>
                <a:cs typeface="Malgun Gothic" pitchFamily="34" charset="-120"/>
              </a:rPr>
              <a:t>아닌가</a:t>
            </a:r>
            <a:r>
              <a:rPr lang="en-US" sz="1150" b="1" dirty="0">
                <a:solidFill>
                  <a:srgbClr val="9A6B00"/>
                </a:solidFill>
                <a:latin typeface="Malgun Gothic" pitchFamily="34" charset="0"/>
                <a:ea typeface="Malgun Gothic" pitchFamily="34" charset="-122"/>
                <a:cs typeface="Malgun Gothic" pitchFamily="34" charset="-120"/>
              </a:rPr>
              <a:t>  </a:t>
            </a:r>
          </a:p>
          <a:p>
            <a:pPr marL="0" indent="0">
              <a:lnSpc>
                <a:spcPct val="110000"/>
              </a:lnSpc>
              <a:buNone/>
            </a:pPr>
            <a:r>
              <a:rPr lang="en-US" sz="1150" dirty="0">
                <a:solidFill>
                  <a:srgbClr val="14213D"/>
                </a:solidFill>
                <a:latin typeface="Malgun Gothic" pitchFamily="34" charset="0"/>
                <a:ea typeface="Malgun Gothic" pitchFamily="34" charset="-122"/>
                <a:cs typeface="Malgun Gothic" pitchFamily="34" charset="-120"/>
              </a:rPr>
              <a:t>6개월 · 2,111개 셀에 수작업으로 확인한 양호/제외 라벨은 30~40개뿐 — 지도학습은 과적합 위험이 커서, 설명 가능한 ‘상대 초과성장 스코어링 + 가설검정’을 택했다.</a:t>
            </a:r>
            <a:endParaRPr lang="en-US" sz="1150" dirty="0"/>
          </a:p>
        </p:txBody>
      </p:sp>
      <p:sp>
        <p:nvSpPr>
          <p:cNvPr id="54" name="Text 4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55" name="Text 4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10 / 42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EDA</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EDA로 계절성과 신호 분포의 통계적 특성을 먼저 확인했다</a:t>
            </a:r>
            <a:endParaRPr lang="en-US" sz="2400" dirty="0"/>
          </a:p>
        </p:txBody>
      </p:sp>
      <p:sp>
        <p:nvSpPr>
          <p:cNvPr id="6" name="Shape 4"/>
          <p:cNvSpPr/>
          <p:nvPr/>
        </p:nvSpPr>
        <p:spPr>
          <a:xfrm>
            <a:off x="548640" y="1737360"/>
            <a:ext cx="6263640" cy="4242816"/>
          </a:xfrm>
          <a:prstGeom prst="roundRect">
            <a:avLst>
              <a:gd name="adj" fmla="val 258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74520"/>
            <a:ext cx="5760720" cy="274320"/>
          </a:xfrm>
          <a:prstGeom prst="rect">
            <a:avLst/>
          </a:prstGeom>
          <a:noFill/>
          <a:ln/>
        </p:spPr>
        <p:txBody>
          <a:bodyPr wrap="square" lIns="0" tIns="0" rIns="0" bIns="0" rtlCol="0" anchor="t"/>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전국 11개 업종 합계 — 전월 대비 증가율(%)</a:t>
            </a:r>
            <a:endParaRPr lang="en-US" sz="1300" dirty="0"/>
          </a:p>
        </p:txBody>
      </p:sp>
      <p:graphicFrame>
        <p:nvGraphicFramePr>
          <p:cNvPr id="8" name="Chart 0"/>
          <p:cNvGraphicFramePr/>
          <p:nvPr/>
        </p:nvGraphicFramePr>
        <p:xfrm>
          <a:off x="685800" y="2212848"/>
          <a:ext cx="60350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4526280"/>
            <a:ext cx="5806440" cy="777240"/>
          </a:xfrm>
          <a:prstGeom prst="rect">
            <a:avLst/>
          </a:prstGeom>
          <a:noFill/>
          <a:ln/>
        </p:spPr>
        <p:txBody>
          <a:bodyPr wrap="square" lIns="0" tIns="0" rIns="0" bIns="0" rtlCol="0" anchor="t"/>
          <a:lstStyle/>
          <a:p>
            <a:pPr marL="0" indent="0">
              <a:lnSpc>
                <a:spcPct val="115000"/>
              </a:lnSpc>
              <a:buNone/>
            </a:pPr>
            <a:r>
              <a:rPr lang="en-US" sz="1200" dirty="0">
                <a:solidFill>
                  <a:srgbClr val="3A475C"/>
                </a:solidFill>
                <a:latin typeface="Malgun Gothic" pitchFamily="34" charset="0"/>
                <a:ea typeface="Malgun Gothic" pitchFamily="34" charset="-122"/>
                <a:cs typeface="Malgun Gothic" pitchFamily="34" charset="-120"/>
              </a:rPr>
              <a:t>업종 공통의 계절 흐름이 뚜렷하다 — 3월에는 11개 업종이 동시에 크게 늘고(+16.6%), 2월·6월은 동시에 줄어든다. 단순 증가율은 이 흐름과 지역 고유 신호를 구분하지 못한다.</a:t>
            </a:r>
            <a:endParaRPr lang="en-US" sz="1200" dirty="0"/>
          </a:p>
        </p:txBody>
      </p:sp>
      <p:sp>
        <p:nvSpPr>
          <p:cNvPr id="10" name="Shape 7"/>
          <p:cNvSpPr/>
          <p:nvPr/>
        </p:nvSpPr>
        <p:spPr>
          <a:xfrm>
            <a:off x="777240" y="5394960"/>
            <a:ext cx="3520440" cy="310896"/>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11" name="Text 8"/>
          <p:cNvSpPr txBox="1"/>
          <p:nvPr/>
        </p:nvSpPr>
        <p:spPr>
          <a:xfrm>
            <a:off x="777240" y="5394960"/>
            <a:ext cx="3520440" cy="310896"/>
          </a:xfrm>
          <a:prstGeom prst="rect">
            <a:avLst/>
          </a:prstGeom>
          <a:noFill/>
          <a:ln/>
        </p:spPr>
        <p:txBody>
          <a:bodyPr wrap="square" lIns="0" tIns="0" rIns="0" bIns="0" rtlCol="0" anchor="ctr"/>
          <a:lstStyle/>
          <a:p>
            <a:pPr marL="0" indent="0" algn="ctr">
              <a:buNone/>
            </a:pPr>
            <a:r>
              <a:rPr lang="en-US" sz="1050" b="1" dirty="0">
                <a:solidFill>
                  <a:srgbClr val="B7232B"/>
                </a:solidFill>
                <a:latin typeface="Malgun Gothic" pitchFamily="34" charset="0"/>
                <a:ea typeface="Malgun Gothic" pitchFamily="34" charset="-122"/>
                <a:cs typeface="Malgun Gothic" pitchFamily="34" charset="-120"/>
              </a:rPr>
              <a:t>Kruskal-Wallis  H=33.83, p&lt;0.001 (n=55)</a:t>
            </a:r>
            <a:endParaRPr lang="en-US" sz="1050" dirty="0"/>
          </a:p>
        </p:txBody>
      </p:sp>
      <p:sp>
        <p:nvSpPr>
          <p:cNvPr id="12" name="Shape 9"/>
          <p:cNvSpPr/>
          <p:nvPr/>
        </p:nvSpPr>
        <p:spPr>
          <a:xfrm>
            <a:off x="7086600" y="1737360"/>
            <a:ext cx="4553712" cy="2011680"/>
          </a:xfrm>
          <a:prstGeom prst="roundRect">
            <a:avLst>
              <a:gd name="adj" fmla="val 5455"/>
            </a:avLst>
          </a:prstGeom>
          <a:solidFill>
            <a:srgbClr val="FFFFFF"/>
          </a:solidFill>
          <a:ln w="9525">
            <a:solidFill>
              <a:srgbClr val="D9E0EA"/>
            </a:solidFill>
            <a:prstDash val="solid"/>
          </a:ln>
        </p:spPr>
        <p:txBody>
          <a:bodyPr/>
          <a:lstStyle/>
          <a:p>
            <a:endParaRPr lang="ko-KR" altLang="en-US"/>
          </a:p>
        </p:txBody>
      </p:sp>
      <p:sp>
        <p:nvSpPr>
          <p:cNvPr id="13" name="Shape 10"/>
          <p:cNvSpPr/>
          <p:nvPr/>
        </p:nvSpPr>
        <p:spPr>
          <a:xfrm>
            <a:off x="7275242" y="1920240"/>
            <a:ext cx="475488" cy="475488"/>
          </a:xfrm>
          <a:prstGeom prst="ellipse">
            <a:avLst/>
          </a:prstGeom>
          <a:solidFill>
            <a:srgbClr val="0B1B33"/>
          </a:solidFill>
          <a:ln w="12700">
            <a:solidFill>
              <a:srgbClr val="0B1B33"/>
            </a:solidFill>
            <a:prstDash val="solid"/>
          </a:ln>
        </p:spPr>
        <p:txBody>
          <a:bodyPr/>
          <a:lstStyle/>
          <a:p>
            <a:endParaRPr lang="ko-KR" altLang="en-US"/>
          </a:p>
        </p:txBody>
      </p:sp>
      <p:pic>
        <p:nvPicPr>
          <p:cNvPr id="14" name="Image 0" descr="preencoded.png"/>
          <p:cNvPicPr>
            <a:picLocks noChangeAspect="1"/>
          </p:cNvPicPr>
          <p:nvPr/>
        </p:nvPicPr>
        <p:blipFill>
          <a:blip r:embed="rId4"/>
          <a:stretch>
            <a:fillRect/>
          </a:stretch>
        </p:blipFill>
        <p:spPr>
          <a:xfrm>
            <a:off x="7394753" y="2027225"/>
            <a:ext cx="261518" cy="261518"/>
          </a:xfrm>
          <a:prstGeom prst="rect">
            <a:avLst/>
          </a:prstGeom>
        </p:spPr>
      </p:pic>
      <p:sp>
        <p:nvSpPr>
          <p:cNvPr id="15" name="Text 11"/>
          <p:cNvSpPr txBox="1"/>
          <p:nvPr/>
        </p:nvSpPr>
        <p:spPr>
          <a:xfrm>
            <a:off x="7909560" y="1956816"/>
            <a:ext cx="3566160" cy="365760"/>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계절성 검정 — Kruskal-Wallis</a:t>
            </a:r>
            <a:endParaRPr lang="en-US" sz="1300" dirty="0"/>
          </a:p>
        </p:txBody>
      </p:sp>
      <p:sp>
        <p:nvSpPr>
          <p:cNvPr id="16" name="Text 12"/>
          <p:cNvSpPr txBox="1"/>
          <p:nvPr/>
        </p:nvSpPr>
        <p:spPr>
          <a:xfrm>
            <a:off x="7287768" y="2487168"/>
            <a:ext cx="4160520" cy="777240"/>
          </a:xfrm>
          <a:prstGeom prst="rect">
            <a:avLst/>
          </a:prstGeom>
          <a:noFill/>
          <a:ln/>
        </p:spPr>
        <p:txBody>
          <a:bodyPr wrap="square" lIns="0" tIns="0" rIns="0" bIns="0" rtlCol="0" anchor="t"/>
          <a:lstStyle/>
          <a:p>
            <a:pPr marL="0" indent="0">
              <a:lnSpc>
                <a:spcPct val="112000"/>
              </a:lnSpc>
              <a:buNone/>
            </a:pPr>
            <a:r>
              <a:rPr lang="en-US" sz="1200" dirty="0">
                <a:solidFill>
                  <a:srgbClr val="3A475C"/>
                </a:solidFill>
                <a:latin typeface="Malgun Gothic" pitchFamily="34" charset="0"/>
                <a:ea typeface="Malgun Gothic" pitchFamily="34" charset="-122"/>
                <a:cs typeface="Malgun Gothic" pitchFamily="34" charset="-120"/>
              </a:rPr>
              <a:t>11개 업종의 월별(2~6월) 전월 대비 증가율을 5개 월 구간으로 나눠 비교했다. H=33.83, p&lt;0.001(n=55, 업종×월) </a:t>
            </a:r>
          </a:p>
          <a:p>
            <a:pPr marL="0" indent="0">
              <a:lnSpc>
                <a:spcPct val="112000"/>
              </a:lnSpc>
              <a:buNone/>
            </a:pPr>
            <a:r>
              <a:rPr lang="en-US" sz="1200" dirty="0">
                <a:solidFill>
                  <a:srgbClr val="3A475C"/>
                </a:solidFill>
                <a:latin typeface="Malgun Gothic" pitchFamily="34" charset="0"/>
                <a:ea typeface="Malgun Gothic" pitchFamily="34" charset="-122"/>
                <a:cs typeface="Malgun Gothic" pitchFamily="34" charset="-120"/>
              </a:rPr>
              <a:t>— 월에 따라 증가율이 통계적으로 유의하게 다르다.</a:t>
            </a:r>
            <a:endParaRPr lang="en-US" sz="1200" dirty="0"/>
          </a:p>
        </p:txBody>
      </p:sp>
      <p:sp>
        <p:nvSpPr>
          <p:cNvPr id="17" name="Text 13"/>
          <p:cNvSpPr txBox="1"/>
          <p:nvPr/>
        </p:nvSpPr>
        <p:spPr>
          <a:xfrm>
            <a:off x="7287768" y="3235974"/>
            <a:ext cx="4160520" cy="438912"/>
          </a:xfrm>
          <a:prstGeom prst="rect">
            <a:avLst/>
          </a:prstGeom>
          <a:noFill/>
          <a:ln/>
        </p:spPr>
        <p:txBody>
          <a:bodyPr wrap="square" lIns="0" tIns="0" rIns="0" bIns="0" rtlCol="0" anchor="t"/>
          <a:lstStyle/>
          <a:p>
            <a:pPr marL="0" indent="0">
              <a:lnSpc>
                <a:spcPct val="110000"/>
              </a:lnSpc>
              <a:buNone/>
            </a:pPr>
            <a:r>
              <a:rPr lang="en-US" sz="1200" b="1" dirty="0">
                <a:solidFill>
                  <a:srgbClr val="B7232B"/>
                </a:solidFill>
                <a:latin typeface="Malgun Gothic" pitchFamily="34" charset="0"/>
                <a:ea typeface="Malgun Gothic" pitchFamily="34" charset="-122"/>
                <a:cs typeface="Malgun Gothic" pitchFamily="34" charset="-120"/>
              </a:rPr>
              <a:t>→ 전국 같은 업종의 증가율을 뺀 ‘상대 초과성장률’로 신호를 </a:t>
            </a:r>
            <a:r>
              <a:rPr lang="en-US" sz="1200" b="1" dirty="0" err="1">
                <a:solidFill>
                  <a:srgbClr val="B7232B"/>
                </a:solidFill>
                <a:latin typeface="Malgun Gothic" pitchFamily="34" charset="0"/>
                <a:ea typeface="Malgun Gothic" pitchFamily="34" charset="-122"/>
                <a:cs typeface="Malgun Gothic" pitchFamily="34" charset="-120"/>
              </a:rPr>
              <a:t>정의하는</a:t>
            </a:r>
            <a:r>
              <a:rPr lang="en-US" sz="1200" b="1" dirty="0">
                <a:solidFill>
                  <a:srgbClr val="B7232B"/>
                </a:solidFill>
                <a:latin typeface="Malgun Gothic" pitchFamily="34" charset="0"/>
                <a:ea typeface="Malgun Gothic" pitchFamily="34" charset="-122"/>
                <a:cs typeface="Malgun Gothic" pitchFamily="34" charset="-120"/>
              </a:rPr>
              <a:t> </a:t>
            </a:r>
            <a:r>
              <a:rPr lang="en-US" sz="1200" b="1" dirty="0" err="1">
                <a:solidFill>
                  <a:srgbClr val="C00000"/>
                </a:solidFill>
                <a:latin typeface="Malgun Gothic" pitchFamily="34" charset="0"/>
                <a:ea typeface="Malgun Gothic" pitchFamily="34" charset="-122"/>
                <a:cs typeface="Malgun Gothic" pitchFamily="34" charset="-120"/>
              </a:rPr>
              <a:t>근거</a:t>
            </a:r>
            <a:r>
              <a:rPr lang="en-US" sz="1200" b="1" dirty="0">
                <a:solidFill>
                  <a:schemeClr val="tx1">
                    <a:lumMod val="65000"/>
                    <a:lumOff val="35000"/>
                  </a:schemeClr>
                </a:solidFill>
                <a:latin typeface="Malgun Gothic" pitchFamily="34" charset="0"/>
                <a:ea typeface="Malgun Gothic" pitchFamily="34" charset="-122"/>
                <a:cs typeface="Malgun Gothic" pitchFamily="34" charset="-120"/>
              </a:rPr>
              <a:t> </a:t>
            </a:r>
            <a:r>
              <a:rPr lang="en-US" sz="1200" dirty="0">
                <a:solidFill>
                  <a:schemeClr val="tx1">
                    <a:lumMod val="65000"/>
                    <a:lumOff val="35000"/>
                  </a:schemeClr>
                </a:solidFill>
                <a:latin typeface="Malgun Gothic" pitchFamily="34" charset="0"/>
                <a:ea typeface="Malgun Gothic" pitchFamily="34" charset="-122"/>
                <a:cs typeface="Malgun Gothic" pitchFamily="34" charset="-120"/>
              </a:rPr>
              <a:t>(</a:t>
            </a:r>
            <a:r>
              <a:rPr lang="ko-KR" altLang="en-US" sz="1200" dirty="0" err="1">
                <a:solidFill>
                  <a:schemeClr val="tx1">
                    <a:lumMod val="65000"/>
                    <a:lumOff val="35000"/>
                  </a:schemeClr>
                </a:solidFill>
                <a:latin typeface="Malgun Gothic" pitchFamily="34" charset="0"/>
                <a:ea typeface="Malgun Gothic" pitchFamily="34" charset="-122"/>
                <a:cs typeface="Malgun Gothic" pitchFamily="34" charset="-120"/>
              </a:rPr>
              <a:t>뒷페이지에</a:t>
            </a:r>
            <a:r>
              <a:rPr lang="ko-KR" altLang="en-US" sz="1200" dirty="0">
                <a:solidFill>
                  <a:schemeClr val="tx1">
                    <a:lumMod val="65000"/>
                    <a:lumOff val="35000"/>
                  </a:schemeClr>
                </a:solidFill>
                <a:latin typeface="Malgun Gothic" pitchFamily="34" charset="0"/>
                <a:ea typeface="Malgun Gothic" pitchFamily="34" charset="-122"/>
                <a:cs typeface="Malgun Gothic" pitchFamily="34" charset="-120"/>
              </a:rPr>
              <a:t> 상세 설명</a:t>
            </a:r>
            <a:r>
              <a:rPr lang="en-US" sz="1200" dirty="0">
                <a:solidFill>
                  <a:schemeClr val="tx1">
                    <a:lumMod val="65000"/>
                    <a:lumOff val="35000"/>
                  </a:schemeClr>
                </a:solidFill>
                <a:latin typeface="Malgun Gothic" pitchFamily="34" charset="0"/>
                <a:ea typeface="Malgun Gothic" pitchFamily="34" charset="-122"/>
                <a:cs typeface="Malgun Gothic" pitchFamily="34" charset="-120"/>
              </a:rPr>
              <a:t>)</a:t>
            </a:r>
            <a:endParaRPr lang="en-US" sz="1200" dirty="0">
              <a:solidFill>
                <a:schemeClr val="tx1">
                  <a:lumMod val="65000"/>
                  <a:lumOff val="35000"/>
                </a:schemeClr>
              </a:solidFill>
            </a:endParaRPr>
          </a:p>
        </p:txBody>
      </p:sp>
      <p:sp>
        <p:nvSpPr>
          <p:cNvPr id="18" name="Shape 14"/>
          <p:cNvSpPr/>
          <p:nvPr/>
        </p:nvSpPr>
        <p:spPr>
          <a:xfrm>
            <a:off x="7086600" y="3904488"/>
            <a:ext cx="4553712" cy="2011680"/>
          </a:xfrm>
          <a:prstGeom prst="roundRect">
            <a:avLst>
              <a:gd name="adj" fmla="val 5455"/>
            </a:avLst>
          </a:prstGeom>
          <a:solidFill>
            <a:srgbClr val="FFFFFF"/>
          </a:solidFill>
          <a:ln w="9525">
            <a:solidFill>
              <a:srgbClr val="D9E0EA"/>
            </a:solidFill>
            <a:prstDash val="solid"/>
          </a:ln>
        </p:spPr>
        <p:txBody>
          <a:bodyPr/>
          <a:lstStyle/>
          <a:p>
            <a:endParaRPr lang="ko-KR" altLang="en-US"/>
          </a:p>
        </p:txBody>
      </p:sp>
      <p:sp>
        <p:nvSpPr>
          <p:cNvPr id="19" name="Shape 15"/>
          <p:cNvSpPr/>
          <p:nvPr/>
        </p:nvSpPr>
        <p:spPr>
          <a:xfrm>
            <a:off x="7287768" y="4087368"/>
            <a:ext cx="475488" cy="475488"/>
          </a:xfrm>
          <a:prstGeom prst="ellipse">
            <a:avLst/>
          </a:prstGeom>
          <a:solidFill>
            <a:srgbClr val="0B1B33"/>
          </a:solidFill>
          <a:ln w="12700">
            <a:solidFill>
              <a:srgbClr val="0B1B33"/>
            </a:solidFill>
            <a:prstDash val="solid"/>
          </a:ln>
        </p:spPr>
        <p:txBody>
          <a:bodyPr/>
          <a:lstStyle/>
          <a:p>
            <a:endParaRPr lang="ko-KR" altLang="en-US"/>
          </a:p>
        </p:txBody>
      </p:sp>
      <p:pic>
        <p:nvPicPr>
          <p:cNvPr id="20" name="Image 1" descr="preencoded.png"/>
          <p:cNvPicPr>
            <a:picLocks noChangeAspect="1"/>
          </p:cNvPicPr>
          <p:nvPr/>
        </p:nvPicPr>
        <p:blipFill>
          <a:blip r:embed="rId5"/>
          <a:stretch>
            <a:fillRect/>
          </a:stretch>
        </p:blipFill>
        <p:spPr>
          <a:xfrm>
            <a:off x="7407279" y="4194353"/>
            <a:ext cx="261518" cy="261518"/>
          </a:xfrm>
          <a:prstGeom prst="rect">
            <a:avLst/>
          </a:prstGeom>
        </p:spPr>
      </p:pic>
      <p:sp>
        <p:nvSpPr>
          <p:cNvPr id="21" name="Text 16"/>
          <p:cNvSpPr txBox="1"/>
          <p:nvPr/>
        </p:nvSpPr>
        <p:spPr>
          <a:xfrm>
            <a:off x="7909560" y="4123944"/>
            <a:ext cx="3566160" cy="365760"/>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신호 분포 검정 — Shapiro-Wilk</a:t>
            </a:r>
            <a:endParaRPr lang="en-US" sz="1300" dirty="0"/>
          </a:p>
        </p:txBody>
      </p:sp>
      <p:sp>
        <p:nvSpPr>
          <p:cNvPr id="22" name="Text 17"/>
          <p:cNvSpPr txBox="1"/>
          <p:nvPr/>
        </p:nvSpPr>
        <p:spPr>
          <a:xfrm>
            <a:off x="7287768" y="4654296"/>
            <a:ext cx="4160520" cy="777240"/>
          </a:xfrm>
          <a:prstGeom prst="rect">
            <a:avLst/>
          </a:prstGeom>
          <a:noFill/>
          <a:ln/>
        </p:spPr>
        <p:txBody>
          <a:bodyPr wrap="square" lIns="0" tIns="0" rIns="0" bIns="0" rtlCol="0" anchor="t"/>
          <a:lstStyle/>
          <a:p>
            <a:pPr marL="0" indent="0">
              <a:lnSpc>
                <a:spcPct val="112000"/>
              </a:lnSpc>
              <a:buNone/>
            </a:pPr>
            <a:r>
              <a:rPr lang="en-US" sz="1200" dirty="0">
                <a:solidFill>
                  <a:srgbClr val="3A475C"/>
                </a:solidFill>
                <a:latin typeface="Malgun Gothic" pitchFamily="34" charset="0"/>
                <a:ea typeface="Malgun Gothic" pitchFamily="34" charset="-122"/>
                <a:cs typeface="Malgun Gothic" pitchFamily="34" charset="-120"/>
              </a:rPr>
              <a:t>2,111개 지역×업종 조합의 신호 점수(상대 초과성장률) 분포는 정규분포가 아니다. W=0.677, p&lt;0.001, 왜도(skewness)=4.92 — 오른쪽 꼬리가 매우 길다.</a:t>
            </a:r>
            <a:endParaRPr lang="en-US" sz="1200" dirty="0"/>
          </a:p>
        </p:txBody>
      </p:sp>
      <p:sp>
        <p:nvSpPr>
          <p:cNvPr id="23" name="Text 18"/>
          <p:cNvSpPr txBox="1"/>
          <p:nvPr/>
        </p:nvSpPr>
        <p:spPr>
          <a:xfrm>
            <a:off x="7287768" y="5403102"/>
            <a:ext cx="4160520" cy="438912"/>
          </a:xfrm>
          <a:prstGeom prst="rect">
            <a:avLst/>
          </a:prstGeom>
          <a:noFill/>
          <a:ln/>
        </p:spPr>
        <p:txBody>
          <a:bodyPr wrap="square" lIns="0" tIns="0" rIns="0" bIns="0" rtlCol="0" anchor="t"/>
          <a:lstStyle/>
          <a:p>
            <a:pPr marL="0" indent="0">
              <a:lnSpc>
                <a:spcPct val="110000"/>
              </a:lnSpc>
              <a:buNone/>
            </a:pPr>
            <a:r>
              <a:rPr lang="en-US" sz="1200" b="1" dirty="0">
                <a:solidFill>
                  <a:srgbClr val="B7232B"/>
                </a:solidFill>
                <a:latin typeface="Malgun Gothic" pitchFamily="34" charset="0"/>
                <a:ea typeface="Malgun Gothic" pitchFamily="34" charset="-122"/>
                <a:cs typeface="Malgun Gothic" pitchFamily="34" charset="-120"/>
              </a:rPr>
              <a:t>→ 평균·표준편차 기반 임계값 대신 percentile 기반 육안 검수와 비모수 검정(Spearman 등)을 채택한 근거</a:t>
            </a:r>
            <a:endParaRPr lang="en-US" sz="1200" dirty="0"/>
          </a:p>
        </p:txBody>
      </p:sp>
      <p:sp>
        <p:nvSpPr>
          <p:cNvPr id="24" name="Text 19"/>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25" name="Text 20"/>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11 / 42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신호 탐지</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신호는 “같은 업종의 전국 평균을 넘어선 만큼”으로 정의했다</a:t>
            </a:r>
            <a:endParaRPr lang="en-US" sz="2400" dirty="0"/>
          </a:p>
        </p:txBody>
      </p:sp>
      <p:sp>
        <p:nvSpPr>
          <p:cNvPr id="6" name="Shape 4"/>
          <p:cNvSpPr/>
          <p:nvPr/>
        </p:nvSpPr>
        <p:spPr>
          <a:xfrm>
            <a:off x="548640" y="1783080"/>
            <a:ext cx="2331720" cy="960120"/>
          </a:xfrm>
          <a:prstGeom prst="roundRect">
            <a:avLst>
              <a:gd name="adj" fmla="val 11429"/>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548640" y="1783080"/>
            <a:ext cx="2331720" cy="960120"/>
          </a:xfrm>
          <a:prstGeom prst="rect">
            <a:avLst/>
          </a:prstGeom>
          <a:noFill/>
          <a:ln/>
        </p:spPr>
        <p:txBody>
          <a:bodyPr wrap="square" lIns="0" tIns="0" rIns="0" bIns="0" rtlCol="0" anchor="ctr"/>
          <a:lstStyle/>
          <a:p>
            <a:pPr marL="0" indent="0" algn="ctr">
              <a:lnSpc>
                <a:spcPct val="110000"/>
              </a:lnSpc>
              <a:buNone/>
            </a:pPr>
            <a:r>
              <a:rPr lang="en-US" sz="1350" b="1" dirty="0">
                <a:solidFill>
                  <a:srgbClr val="14213D"/>
                </a:solidFill>
                <a:latin typeface="Malgun Gothic" pitchFamily="34" charset="0"/>
                <a:ea typeface="Malgun Gothic" pitchFamily="34" charset="-122"/>
                <a:cs typeface="Malgun Gothic" pitchFamily="34" charset="-120"/>
              </a:rPr>
              <a:t>지역 × 업종의</a:t>
            </a:r>
            <a:endParaRPr lang="en-US" sz="1350" dirty="0"/>
          </a:p>
          <a:p>
            <a:pPr marL="0" indent="0" algn="ctr">
              <a:lnSpc>
                <a:spcPct val="110000"/>
              </a:lnSpc>
              <a:buNone/>
            </a:pPr>
            <a:r>
              <a:rPr lang="en-US" sz="1350" b="1" dirty="0">
                <a:solidFill>
                  <a:srgbClr val="14213D"/>
                </a:solidFill>
                <a:latin typeface="Malgun Gothic" pitchFamily="34" charset="0"/>
                <a:ea typeface="Malgun Gothic" pitchFamily="34" charset="-122"/>
                <a:cs typeface="Malgun Gothic" pitchFamily="34" charset="-120"/>
              </a:rPr>
              <a:t>전월 대비 증가율</a:t>
            </a:r>
            <a:endParaRPr lang="en-US" sz="1350" dirty="0"/>
          </a:p>
        </p:txBody>
      </p:sp>
      <p:sp>
        <p:nvSpPr>
          <p:cNvPr id="8" name="Shape 6"/>
          <p:cNvSpPr/>
          <p:nvPr/>
        </p:nvSpPr>
        <p:spPr>
          <a:xfrm>
            <a:off x="3246120" y="1783080"/>
            <a:ext cx="2331720" cy="960120"/>
          </a:xfrm>
          <a:prstGeom prst="roundRect">
            <a:avLst>
              <a:gd name="adj" fmla="val 11429"/>
            </a:avLst>
          </a:prstGeom>
          <a:solidFill>
            <a:srgbClr val="F3F6FB"/>
          </a:solidFill>
          <a:ln w="12700">
            <a:solidFill>
              <a:srgbClr val="F3F6FB"/>
            </a:solidFill>
            <a:prstDash val="solid"/>
          </a:ln>
        </p:spPr>
        <p:txBody>
          <a:bodyPr/>
          <a:lstStyle/>
          <a:p>
            <a:endParaRPr lang="ko-KR" altLang="en-US"/>
          </a:p>
        </p:txBody>
      </p:sp>
      <p:sp>
        <p:nvSpPr>
          <p:cNvPr id="9" name="Text 7"/>
          <p:cNvSpPr txBox="1"/>
          <p:nvPr/>
        </p:nvSpPr>
        <p:spPr>
          <a:xfrm>
            <a:off x="3246120" y="1783080"/>
            <a:ext cx="2331720" cy="960120"/>
          </a:xfrm>
          <a:prstGeom prst="rect">
            <a:avLst/>
          </a:prstGeom>
          <a:noFill/>
          <a:ln/>
        </p:spPr>
        <p:txBody>
          <a:bodyPr wrap="square" lIns="0" tIns="0" rIns="0" bIns="0" rtlCol="0" anchor="ctr"/>
          <a:lstStyle/>
          <a:p>
            <a:pPr marL="0" indent="0" algn="ctr">
              <a:lnSpc>
                <a:spcPct val="110000"/>
              </a:lnSpc>
              <a:buNone/>
            </a:pPr>
            <a:r>
              <a:rPr lang="en-US" sz="1350" b="1" dirty="0">
                <a:solidFill>
                  <a:srgbClr val="14213D"/>
                </a:solidFill>
                <a:latin typeface="Malgun Gothic" pitchFamily="34" charset="0"/>
                <a:ea typeface="Malgun Gothic" pitchFamily="34" charset="-122"/>
                <a:cs typeface="Malgun Gothic" pitchFamily="34" charset="-120"/>
              </a:rPr>
              <a:t>전국 같은 업종의</a:t>
            </a:r>
            <a:endParaRPr lang="en-US" sz="1350" dirty="0"/>
          </a:p>
          <a:p>
            <a:pPr marL="0" indent="0" algn="ctr">
              <a:lnSpc>
                <a:spcPct val="110000"/>
              </a:lnSpc>
              <a:buNone/>
            </a:pPr>
            <a:r>
              <a:rPr lang="en-US" sz="1350" b="1" dirty="0">
                <a:solidFill>
                  <a:srgbClr val="14213D"/>
                </a:solidFill>
                <a:latin typeface="Malgun Gothic" pitchFamily="34" charset="0"/>
                <a:ea typeface="Malgun Gothic" pitchFamily="34" charset="-122"/>
                <a:cs typeface="Malgun Gothic" pitchFamily="34" charset="-120"/>
              </a:rPr>
              <a:t>전월 대비 증가율</a:t>
            </a:r>
            <a:endParaRPr lang="en-US" sz="1350" dirty="0"/>
          </a:p>
        </p:txBody>
      </p:sp>
      <p:sp>
        <p:nvSpPr>
          <p:cNvPr id="10" name="Shape 8"/>
          <p:cNvSpPr/>
          <p:nvPr/>
        </p:nvSpPr>
        <p:spPr>
          <a:xfrm>
            <a:off x="5943600" y="1783080"/>
            <a:ext cx="1600200" cy="960120"/>
          </a:xfrm>
          <a:prstGeom prst="roundRect">
            <a:avLst>
              <a:gd name="adj" fmla="val 11429"/>
            </a:avLst>
          </a:prstGeom>
          <a:solidFill>
            <a:srgbClr val="0B1B33"/>
          </a:solidFill>
          <a:ln w="12700">
            <a:solidFill>
              <a:srgbClr val="0B1B33"/>
            </a:solidFill>
            <a:prstDash val="solid"/>
          </a:ln>
        </p:spPr>
        <p:txBody>
          <a:bodyPr/>
          <a:lstStyle/>
          <a:p>
            <a:endParaRPr lang="ko-KR" altLang="en-US"/>
          </a:p>
        </p:txBody>
      </p:sp>
      <p:sp>
        <p:nvSpPr>
          <p:cNvPr id="11" name="Text 9"/>
          <p:cNvSpPr txBox="1"/>
          <p:nvPr/>
        </p:nvSpPr>
        <p:spPr>
          <a:xfrm>
            <a:off x="5943600" y="1783080"/>
            <a:ext cx="1600200" cy="960120"/>
          </a:xfrm>
          <a:prstGeom prst="rect">
            <a:avLst/>
          </a:prstGeom>
          <a:noFill/>
          <a:ln/>
        </p:spPr>
        <p:txBody>
          <a:bodyPr wrap="square" lIns="0" tIns="0" rIns="0" bIns="0" rtlCol="0" anchor="ctr"/>
          <a:lstStyle/>
          <a:p>
            <a:pPr marL="0" indent="0" algn="ctr">
              <a:lnSpc>
                <a:spcPct val="110000"/>
              </a:lnSpc>
              <a:buNone/>
            </a:pPr>
            <a:r>
              <a:rPr lang="en-US" sz="1350" b="1" dirty="0">
                <a:solidFill>
                  <a:srgbClr val="FFFFFF"/>
                </a:solidFill>
                <a:latin typeface="Malgun Gothic" pitchFamily="34" charset="0"/>
                <a:ea typeface="Malgun Gothic" pitchFamily="34" charset="-122"/>
                <a:cs typeface="Malgun Gothic" pitchFamily="34" charset="-120"/>
              </a:rPr>
              <a:t>상대</a:t>
            </a:r>
            <a:endParaRPr lang="en-US" sz="1350" dirty="0"/>
          </a:p>
          <a:p>
            <a:pPr marL="0" indent="0" algn="ctr">
              <a:lnSpc>
                <a:spcPct val="110000"/>
              </a:lnSpc>
              <a:buNone/>
            </a:pPr>
            <a:r>
              <a:rPr lang="en-US" sz="1350" b="1" dirty="0">
                <a:solidFill>
                  <a:srgbClr val="FFFFFF"/>
                </a:solidFill>
                <a:latin typeface="Malgun Gothic" pitchFamily="34" charset="0"/>
                <a:ea typeface="Malgun Gothic" pitchFamily="34" charset="-122"/>
                <a:cs typeface="Malgun Gothic" pitchFamily="34" charset="-120"/>
              </a:rPr>
              <a:t>초과성장률</a:t>
            </a:r>
            <a:endParaRPr lang="en-US" sz="1350" dirty="0"/>
          </a:p>
        </p:txBody>
      </p:sp>
      <p:sp>
        <p:nvSpPr>
          <p:cNvPr id="12" name="Text 10"/>
          <p:cNvSpPr txBox="1"/>
          <p:nvPr/>
        </p:nvSpPr>
        <p:spPr>
          <a:xfrm>
            <a:off x="2880360" y="1783080"/>
            <a:ext cx="365760" cy="960120"/>
          </a:xfrm>
          <a:prstGeom prst="rect">
            <a:avLst/>
          </a:prstGeom>
          <a:noFill/>
          <a:ln/>
        </p:spPr>
        <p:txBody>
          <a:bodyPr wrap="square" lIns="0" tIns="0" rIns="0" bIns="0" rtlCol="0" anchor="ctr"/>
          <a:lstStyle/>
          <a:p>
            <a:pPr marL="0" indent="0" algn="ctr">
              <a:buNone/>
            </a:pPr>
            <a:r>
              <a:rPr lang="en-US" sz="2600" b="1" dirty="0">
                <a:solidFill>
                  <a:srgbClr val="E8383D"/>
                </a:solidFill>
                <a:latin typeface="Malgun Gothic" pitchFamily="34" charset="0"/>
                <a:ea typeface="Malgun Gothic" pitchFamily="34" charset="-122"/>
                <a:cs typeface="Malgun Gothic" pitchFamily="34" charset="-120"/>
              </a:rPr>
              <a:t>−</a:t>
            </a:r>
            <a:endParaRPr lang="en-US" sz="2600" dirty="0"/>
          </a:p>
        </p:txBody>
      </p:sp>
      <p:sp>
        <p:nvSpPr>
          <p:cNvPr id="13" name="Text 11"/>
          <p:cNvSpPr txBox="1"/>
          <p:nvPr/>
        </p:nvSpPr>
        <p:spPr>
          <a:xfrm>
            <a:off x="5577840" y="1783080"/>
            <a:ext cx="365760" cy="960120"/>
          </a:xfrm>
          <a:prstGeom prst="rect">
            <a:avLst/>
          </a:prstGeom>
          <a:noFill/>
          <a:ln/>
        </p:spPr>
        <p:txBody>
          <a:bodyPr wrap="square" lIns="0" tIns="0" rIns="0" bIns="0" rtlCol="0" anchor="ctr"/>
          <a:lstStyle/>
          <a:p>
            <a:pPr marL="0" indent="0" algn="ctr">
              <a:buNone/>
            </a:pPr>
            <a:r>
              <a:rPr lang="en-US" sz="2600" b="1" dirty="0">
                <a:solidFill>
                  <a:srgbClr val="E8383D"/>
                </a:solidFill>
                <a:latin typeface="Malgun Gothic" pitchFamily="34" charset="0"/>
                <a:ea typeface="Malgun Gothic" pitchFamily="34" charset="-122"/>
                <a:cs typeface="Malgun Gothic" pitchFamily="34" charset="-120"/>
              </a:rPr>
              <a:t>=</a:t>
            </a:r>
            <a:endParaRPr lang="en-US" sz="2600" dirty="0"/>
          </a:p>
        </p:txBody>
      </p:sp>
      <p:sp>
        <p:nvSpPr>
          <p:cNvPr id="14" name="Text 12"/>
          <p:cNvSpPr txBox="1"/>
          <p:nvPr/>
        </p:nvSpPr>
        <p:spPr>
          <a:xfrm>
            <a:off x="548640" y="2889504"/>
            <a:ext cx="6995160" cy="274320"/>
          </a:xfrm>
          <a:prstGeom prst="rect">
            <a:avLst/>
          </a:prstGeom>
          <a:noFill/>
          <a:ln/>
        </p:spPr>
        <p:txBody>
          <a:bodyPr wrap="square" lIns="0" tIns="0" rIns="0" bIns="0" rtlCol="0" anchor="t"/>
          <a:lstStyle/>
          <a:p>
            <a:pPr marL="0" indent="0">
              <a:buNone/>
            </a:pPr>
            <a:r>
              <a:rPr lang="en-US" sz="1150" dirty="0">
                <a:solidFill>
                  <a:srgbClr val="64748B"/>
                </a:solidFill>
                <a:latin typeface="Malgun Gothic" pitchFamily="34" charset="0"/>
                <a:ea typeface="Malgun Gothic" pitchFamily="34" charset="-122"/>
                <a:cs typeface="Malgun Gothic" pitchFamily="34" charset="-120"/>
              </a:rPr>
              <a:t>최근 2개월(5·6월) 평균  ·  이용 건수(CNT) 기준  ·  외국인(GENDER_CD=3) 세그먼트</a:t>
            </a:r>
            <a:endParaRPr lang="en-US" sz="1150" dirty="0"/>
          </a:p>
        </p:txBody>
      </p:sp>
      <p:sp>
        <p:nvSpPr>
          <p:cNvPr id="15" name="Shape 13"/>
          <p:cNvSpPr/>
          <p:nvPr/>
        </p:nvSpPr>
        <p:spPr>
          <a:xfrm>
            <a:off x="548640" y="3310128"/>
            <a:ext cx="6995160" cy="2670048"/>
          </a:xfrm>
          <a:prstGeom prst="roundRect">
            <a:avLst>
              <a:gd name="adj" fmla="val 4110"/>
            </a:avLst>
          </a:prstGeom>
          <a:solidFill>
            <a:srgbClr val="F3F6FB"/>
          </a:solidFill>
          <a:ln w="12700">
            <a:solidFill>
              <a:srgbClr val="F3F6FB"/>
            </a:solidFill>
            <a:prstDash val="solid"/>
          </a:ln>
        </p:spPr>
        <p:txBody>
          <a:bodyPr/>
          <a:lstStyle/>
          <a:p>
            <a:endParaRPr lang="ko-KR" altLang="en-US"/>
          </a:p>
        </p:txBody>
      </p:sp>
      <p:sp>
        <p:nvSpPr>
          <p:cNvPr id="16" name="Text 14"/>
          <p:cNvSpPr txBox="1"/>
          <p:nvPr/>
        </p:nvSpPr>
        <p:spPr>
          <a:xfrm>
            <a:off x="777240" y="3419856"/>
            <a:ext cx="658368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예) 청송군 편의점 — 5·6월 전월 대비 증가율(%)</a:t>
            </a:r>
            <a:endParaRPr lang="en-US" sz="1250" dirty="0"/>
          </a:p>
        </p:txBody>
      </p:sp>
      <p:graphicFrame>
        <p:nvGraphicFramePr>
          <p:cNvPr id="17" name="Chart 0"/>
          <p:cNvGraphicFramePr/>
          <p:nvPr/>
        </p:nvGraphicFramePr>
        <p:xfrm>
          <a:off x="685800" y="3730752"/>
          <a:ext cx="37947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4709160" y="3794760"/>
            <a:ext cx="548640" cy="457200"/>
          </a:xfrm>
          <a:prstGeom prst="rect">
            <a:avLst/>
          </a:prstGeom>
          <a:noFill/>
          <a:ln/>
        </p:spPr>
        <p:txBody>
          <a:bodyPr wrap="square" lIns="0" tIns="0" rIns="0" bIns="0" rtlCol="0" anchor="ctr"/>
          <a:lstStyle/>
          <a:p>
            <a:pPr marL="0" indent="0">
              <a:buNone/>
            </a:pPr>
            <a:r>
              <a:rPr lang="en-US" sz="1200" b="1" dirty="0">
                <a:solidFill>
                  <a:srgbClr val="64748B"/>
                </a:solidFill>
                <a:latin typeface="Malgun Gothic" pitchFamily="34" charset="0"/>
                <a:ea typeface="Malgun Gothic" pitchFamily="34" charset="-122"/>
                <a:cs typeface="Malgun Gothic" pitchFamily="34" charset="-120"/>
              </a:rPr>
              <a:t>5월</a:t>
            </a:r>
            <a:endParaRPr lang="en-US" sz="1200" dirty="0"/>
          </a:p>
        </p:txBody>
      </p:sp>
      <p:sp>
        <p:nvSpPr>
          <p:cNvPr id="19" name="Text 16"/>
          <p:cNvSpPr txBox="1"/>
          <p:nvPr/>
        </p:nvSpPr>
        <p:spPr>
          <a:xfrm>
            <a:off x="5212080" y="3794760"/>
            <a:ext cx="1463040" cy="457200"/>
          </a:xfrm>
          <a:prstGeom prst="rect">
            <a:avLst/>
          </a:prstGeom>
          <a:noFill/>
          <a:ln/>
        </p:spPr>
        <p:txBody>
          <a:bodyPr wrap="square" lIns="0" tIns="0" rIns="0" bIns="0" rtlCol="0" anchor="ctr"/>
          <a:lstStyle/>
          <a:p>
            <a:pPr marL="0" indent="0">
              <a:buNone/>
            </a:pPr>
            <a:r>
              <a:rPr lang="en-US" sz="1000" dirty="0">
                <a:solidFill>
                  <a:srgbClr val="64748B"/>
                </a:solidFill>
                <a:latin typeface="Malgun Gothic" pitchFamily="34" charset="0"/>
                <a:ea typeface="Malgun Gothic" pitchFamily="34" charset="-122"/>
                <a:cs typeface="Malgun Gothic" pitchFamily="34" charset="-120"/>
              </a:rPr>
              <a:t>+48.0% − 8.2%</a:t>
            </a:r>
            <a:endParaRPr lang="en-US" sz="1000" dirty="0"/>
          </a:p>
        </p:txBody>
      </p:sp>
      <p:sp>
        <p:nvSpPr>
          <p:cNvPr id="20" name="Text 17"/>
          <p:cNvSpPr txBox="1"/>
          <p:nvPr/>
        </p:nvSpPr>
        <p:spPr>
          <a:xfrm>
            <a:off x="6400800" y="3794760"/>
            <a:ext cx="1005840" cy="457200"/>
          </a:xfrm>
          <a:prstGeom prst="rect">
            <a:avLst/>
          </a:prstGeom>
          <a:noFill/>
          <a:ln/>
        </p:spPr>
        <p:txBody>
          <a:bodyPr wrap="square" lIns="0" tIns="0" rIns="0" bIns="0" rtlCol="0" anchor="ctr"/>
          <a:lstStyle/>
          <a:p>
            <a:pPr marL="0" indent="0" algn="r">
              <a:buNone/>
            </a:pPr>
            <a:r>
              <a:rPr lang="en-US" sz="1300" b="1" dirty="0">
                <a:solidFill>
                  <a:srgbClr val="14213D"/>
                </a:solidFill>
                <a:latin typeface="Malgun Gothic" pitchFamily="34" charset="0"/>
                <a:ea typeface="Malgun Gothic" pitchFamily="34" charset="-122"/>
                <a:cs typeface="Malgun Gothic" pitchFamily="34" charset="-120"/>
              </a:rPr>
              <a:t>+39.7%p</a:t>
            </a:r>
            <a:endParaRPr lang="en-US" sz="1300" dirty="0"/>
          </a:p>
        </p:txBody>
      </p:sp>
      <p:sp>
        <p:nvSpPr>
          <p:cNvPr id="21" name="Text 18"/>
          <p:cNvSpPr txBox="1"/>
          <p:nvPr/>
        </p:nvSpPr>
        <p:spPr>
          <a:xfrm>
            <a:off x="4709160" y="4434840"/>
            <a:ext cx="548640" cy="457200"/>
          </a:xfrm>
          <a:prstGeom prst="rect">
            <a:avLst/>
          </a:prstGeom>
          <a:noFill/>
          <a:ln/>
        </p:spPr>
        <p:txBody>
          <a:bodyPr wrap="square" lIns="0" tIns="0" rIns="0" bIns="0" rtlCol="0" anchor="ctr"/>
          <a:lstStyle/>
          <a:p>
            <a:pPr marL="0" indent="0">
              <a:buNone/>
            </a:pPr>
            <a:r>
              <a:rPr lang="en-US" sz="1200" b="1" dirty="0">
                <a:solidFill>
                  <a:srgbClr val="64748B"/>
                </a:solidFill>
                <a:latin typeface="Malgun Gothic" pitchFamily="34" charset="0"/>
                <a:ea typeface="Malgun Gothic" pitchFamily="34" charset="-122"/>
                <a:cs typeface="Malgun Gothic" pitchFamily="34" charset="-120"/>
              </a:rPr>
              <a:t>6월</a:t>
            </a:r>
            <a:endParaRPr lang="en-US" sz="1200" dirty="0"/>
          </a:p>
        </p:txBody>
      </p:sp>
      <p:sp>
        <p:nvSpPr>
          <p:cNvPr id="22" name="Text 19"/>
          <p:cNvSpPr txBox="1"/>
          <p:nvPr/>
        </p:nvSpPr>
        <p:spPr>
          <a:xfrm>
            <a:off x="5212080" y="4434840"/>
            <a:ext cx="1463040" cy="457200"/>
          </a:xfrm>
          <a:prstGeom prst="rect">
            <a:avLst/>
          </a:prstGeom>
          <a:noFill/>
          <a:ln/>
        </p:spPr>
        <p:txBody>
          <a:bodyPr wrap="square" lIns="0" tIns="0" rIns="0" bIns="0" rtlCol="0" anchor="ctr"/>
          <a:lstStyle/>
          <a:p>
            <a:pPr marL="0" indent="0">
              <a:buNone/>
            </a:pPr>
            <a:r>
              <a:rPr lang="en-US" sz="1000" dirty="0">
                <a:solidFill>
                  <a:srgbClr val="64748B"/>
                </a:solidFill>
                <a:latin typeface="Malgun Gothic" pitchFamily="34" charset="0"/>
                <a:ea typeface="Malgun Gothic" pitchFamily="34" charset="-122"/>
                <a:cs typeface="Malgun Gothic" pitchFamily="34" charset="-120"/>
              </a:rPr>
              <a:t>+49.7% − (−0.6%)</a:t>
            </a:r>
            <a:endParaRPr lang="en-US" sz="1000" dirty="0"/>
          </a:p>
        </p:txBody>
      </p:sp>
      <p:sp>
        <p:nvSpPr>
          <p:cNvPr id="23" name="Text 20"/>
          <p:cNvSpPr txBox="1"/>
          <p:nvPr/>
        </p:nvSpPr>
        <p:spPr>
          <a:xfrm>
            <a:off x="6400800" y="4434840"/>
            <a:ext cx="1005840" cy="457200"/>
          </a:xfrm>
          <a:prstGeom prst="rect">
            <a:avLst/>
          </a:prstGeom>
          <a:noFill/>
          <a:ln/>
        </p:spPr>
        <p:txBody>
          <a:bodyPr wrap="square" lIns="0" tIns="0" rIns="0" bIns="0" rtlCol="0" anchor="ctr"/>
          <a:lstStyle/>
          <a:p>
            <a:pPr marL="0" indent="0" algn="r">
              <a:buNone/>
            </a:pPr>
            <a:r>
              <a:rPr lang="en-US" sz="1300" b="1" dirty="0">
                <a:solidFill>
                  <a:srgbClr val="14213D"/>
                </a:solidFill>
                <a:latin typeface="Malgun Gothic" pitchFamily="34" charset="0"/>
                <a:ea typeface="Malgun Gothic" pitchFamily="34" charset="-122"/>
                <a:cs typeface="Malgun Gothic" pitchFamily="34" charset="-120"/>
              </a:rPr>
              <a:t>+50.3%p</a:t>
            </a:r>
            <a:endParaRPr lang="en-US" sz="1300" dirty="0"/>
          </a:p>
        </p:txBody>
      </p:sp>
      <p:sp>
        <p:nvSpPr>
          <p:cNvPr id="24" name="Shape 21"/>
          <p:cNvSpPr/>
          <p:nvPr/>
        </p:nvSpPr>
        <p:spPr>
          <a:xfrm>
            <a:off x="4709160" y="5074920"/>
            <a:ext cx="2697480" cy="0"/>
          </a:xfrm>
          <a:prstGeom prst="line">
            <a:avLst/>
          </a:prstGeom>
          <a:noFill/>
          <a:ln w="12700">
            <a:solidFill>
              <a:srgbClr val="C4CEDC"/>
            </a:solidFill>
            <a:prstDash val="solid"/>
          </a:ln>
        </p:spPr>
        <p:txBody>
          <a:bodyPr/>
          <a:lstStyle/>
          <a:p>
            <a:endParaRPr lang="ko-KR" altLang="en-US"/>
          </a:p>
        </p:txBody>
      </p:sp>
      <p:sp>
        <p:nvSpPr>
          <p:cNvPr id="25" name="Text 22"/>
          <p:cNvSpPr txBox="1"/>
          <p:nvPr/>
        </p:nvSpPr>
        <p:spPr>
          <a:xfrm>
            <a:off x="4709160" y="5193792"/>
            <a:ext cx="2011680" cy="274320"/>
          </a:xfrm>
          <a:prstGeom prst="rect">
            <a:avLst/>
          </a:prstGeom>
          <a:noFill/>
          <a:ln/>
        </p:spPr>
        <p:txBody>
          <a:bodyPr wrap="square" lIns="0" tIns="0" rIns="0" bIns="0" rtlCol="0" anchor="t"/>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신호 점수 (평균)</a:t>
            </a:r>
            <a:endParaRPr lang="en-US" sz="1150" dirty="0"/>
          </a:p>
        </p:txBody>
      </p:sp>
      <p:sp>
        <p:nvSpPr>
          <p:cNvPr id="26" name="Text 23"/>
          <p:cNvSpPr txBox="1"/>
          <p:nvPr/>
        </p:nvSpPr>
        <p:spPr>
          <a:xfrm>
            <a:off x="4696634" y="5377674"/>
            <a:ext cx="2697480" cy="457200"/>
          </a:xfrm>
          <a:prstGeom prst="rect">
            <a:avLst/>
          </a:prstGeom>
          <a:noFill/>
          <a:ln/>
        </p:spPr>
        <p:txBody>
          <a:bodyPr wrap="square" lIns="0" tIns="0" rIns="0" bIns="0" rtlCol="0" anchor="ctr"/>
          <a:lstStyle/>
          <a:p>
            <a:pPr marL="0" indent="0" algn="r">
              <a:buNone/>
            </a:pPr>
            <a:r>
              <a:rPr lang="en-US" sz="2800" b="1" dirty="0">
                <a:solidFill>
                  <a:srgbClr val="E8383D"/>
                </a:solidFill>
                <a:latin typeface="Malgun Gothic" pitchFamily="34" charset="0"/>
                <a:ea typeface="Malgun Gothic" pitchFamily="34" charset="-122"/>
                <a:cs typeface="Malgun Gothic" pitchFamily="34" charset="-120"/>
              </a:rPr>
              <a:t>+45.0%p</a:t>
            </a:r>
            <a:endParaRPr lang="en-US" sz="2800" dirty="0"/>
          </a:p>
        </p:txBody>
      </p:sp>
      <p:sp>
        <p:nvSpPr>
          <p:cNvPr id="27" name="Shape 24"/>
          <p:cNvSpPr/>
          <p:nvPr/>
        </p:nvSpPr>
        <p:spPr>
          <a:xfrm>
            <a:off x="7863840" y="1783080"/>
            <a:ext cx="3776472" cy="1325880"/>
          </a:xfrm>
          <a:prstGeom prst="roundRect">
            <a:avLst>
              <a:gd name="adj" fmla="val 8276"/>
            </a:avLst>
          </a:prstGeom>
          <a:solidFill>
            <a:srgbClr val="FFFFFF"/>
          </a:solidFill>
          <a:ln w="9525">
            <a:solidFill>
              <a:srgbClr val="D9E0EA"/>
            </a:solidFill>
            <a:prstDash val="solid"/>
          </a:ln>
        </p:spPr>
        <p:txBody>
          <a:bodyPr/>
          <a:lstStyle/>
          <a:p>
            <a:endParaRPr lang="ko-KR" altLang="en-US"/>
          </a:p>
        </p:txBody>
      </p:sp>
      <p:sp>
        <p:nvSpPr>
          <p:cNvPr id="28" name="Shape 25"/>
          <p:cNvSpPr/>
          <p:nvPr/>
        </p:nvSpPr>
        <p:spPr>
          <a:xfrm>
            <a:off x="8046720" y="1991012"/>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29" name="Image 0" descr="preencoded.png"/>
          <p:cNvPicPr>
            <a:picLocks noChangeAspect="1"/>
          </p:cNvPicPr>
          <p:nvPr/>
        </p:nvPicPr>
        <p:blipFill>
          <a:blip r:embed="rId4"/>
          <a:stretch>
            <a:fillRect/>
          </a:stretch>
        </p:blipFill>
        <p:spPr>
          <a:xfrm>
            <a:off x="8149590" y="2093882"/>
            <a:ext cx="251460" cy="251460"/>
          </a:xfrm>
          <a:prstGeom prst="rect">
            <a:avLst/>
          </a:prstGeom>
        </p:spPr>
      </p:pic>
      <p:sp>
        <p:nvSpPr>
          <p:cNvPr id="30" name="Text 26"/>
          <p:cNvSpPr txBox="1"/>
          <p:nvPr/>
        </p:nvSpPr>
        <p:spPr>
          <a:xfrm>
            <a:off x="8641080" y="2038736"/>
            <a:ext cx="283464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왜 ‘상대’인가</a:t>
            </a:r>
            <a:endParaRPr lang="en-US" sz="1250" dirty="0"/>
          </a:p>
        </p:txBody>
      </p:sp>
      <p:sp>
        <p:nvSpPr>
          <p:cNvPr id="31" name="Text 27"/>
          <p:cNvSpPr txBox="1"/>
          <p:nvPr/>
        </p:nvSpPr>
        <p:spPr>
          <a:xfrm>
            <a:off x="8641080" y="2340488"/>
            <a:ext cx="2834640" cy="8229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업종 공통의 계절 흐름(예: 3월 전국 +16.6%)을 빼야 지역 고유의 신호만 남는다. 단순 증가율은 스키장 상권 같은 계절 요인에 오염된다.</a:t>
            </a:r>
            <a:endParaRPr lang="en-US" sz="1050" dirty="0"/>
          </a:p>
        </p:txBody>
      </p:sp>
      <p:sp>
        <p:nvSpPr>
          <p:cNvPr id="32" name="Shape 28"/>
          <p:cNvSpPr/>
          <p:nvPr/>
        </p:nvSpPr>
        <p:spPr>
          <a:xfrm>
            <a:off x="7863840" y="3200400"/>
            <a:ext cx="3776472" cy="1325880"/>
          </a:xfrm>
          <a:prstGeom prst="roundRect">
            <a:avLst>
              <a:gd name="adj" fmla="val 8276"/>
            </a:avLst>
          </a:prstGeom>
          <a:solidFill>
            <a:srgbClr val="FFFFFF"/>
          </a:solidFill>
          <a:ln w="9525">
            <a:solidFill>
              <a:srgbClr val="D9E0EA"/>
            </a:solidFill>
            <a:prstDash val="solid"/>
          </a:ln>
        </p:spPr>
        <p:txBody>
          <a:bodyPr/>
          <a:lstStyle/>
          <a:p>
            <a:endParaRPr lang="ko-KR" altLang="en-US"/>
          </a:p>
        </p:txBody>
      </p:sp>
      <p:sp>
        <p:nvSpPr>
          <p:cNvPr id="33" name="Shape 29"/>
          <p:cNvSpPr/>
          <p:nvPr/>
        </p:nvSpPr>
        <p:spPr>
          <a:xfrm>
            <a:off x="8046720" y="3408332"/>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34" name="Image 1" descr="preencoded.png"/>
          <p:cNvPicPr>
            <a:picLocks noChangeAspect="1"/>
          </p:cNvPicPr>
          <p:nvPr/>
        </p:nvPicPr>
        <p:blipFill>
          <a:blip r:embed="rId5"/>
          <a:stretch>
            <a:fillRect/>
          </a:stretch>
        </p:blipFill>
        <p:spPr>
          <a:xfrm>
            <a:off x="8149590" y="3511202"/>
            <a:ext cx="251460" cy="251460"/>
          </a:xfrm>
          <a:prstGeom prst="rect">
            <a:avLst/>
          </a:prstGeom>
        </p:spPr>
      </p:pic>
      <p:sp>
        <p:nvSpPr>
          <p:cNvPr id="35" name="Text 30"/>
          <p:cNvSpPr txBox="1"/>
          <p:nvPr/>
        </p:nvSpPr>
        <p:spPr>
          <a:xfrm>
            <a:off x="8641080" y="3456056"/>
            <a:ext cx="283464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왜 ‘건수(CNT)’인가</a:t>
            </a:r>
            <a:endParaRPr lang="en-US" sz="1250" dirty="0"/>
          </a:p>
        </p:txBody>
      </p:sp>
      <p:sp>
        <p:nvSpPr>
          <p:cNvPr id="36" name="Text 31"/>
          <p:cNvSpPr txBox="1"/>
          <p:nvPr/>
        </p:nvSpPr>
        <p:spPr>
          <a:xfrm>
            <a:off x="8641080" y="3757808"/>
            <a:ext cx="2834640" cy="8229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금액은 객단가에 흔들린다. ‘방문객이 늘기 시작한 곳’을 먼저 잡으려는 목적에는 건수가 맞아 채택했다.</a:t>
            </a:r>
            <a:endParaRPr lang="en-US" sz="1050" dirty="0"/>
          </a:p>
        </p:txBody>
      </p:sp>
      <p:sp>
        <p:nvSpPr>
          <p:cNvPr id="37" name="Shape 32"/>
          <p:cNvSpPr/>
          <p:nvPr/>
        </p:nvSpPr>
        <p:spPr>
          <a:xfrm>
            <a:off x="7863840" y="4617720"/>
            <a:ext cx="3776472" cy="1325880"/>
          </a:xfrm>
          <a:prstGeom prst="roundRect">
            <a:avLst>
              <a:gd name="adj" fmla="val 8276"/>
            </a:avLst>
          </a:prstGeom>
          <a:solidFill>
            <a:srgbClr val="FFFFFF"/>
          </a:solidFill>
          <a:ln w="9525">
            <a:solidFill>
              <a:srgbClr val="D9E0EA"/>
            </a:solidFill>
            <a:prstDash val="solid"/>
          </a:ln>
        </p:spPr>
        <p:txBody>
          <a:bodyPr/>
          <a:lstStyle/>
          <a:p>
            <a:endParaRPr lang="ko-KR" altLang="en-US"/>
          </a:p>
        </p:txBody>
      </p:sp>
      <p:sp>
        <p:nvSpPr>
          <p:cNvPr id="38" name="Shape 33"/>
          <p:cNvSpPr/>
          <p:nvPr/>
        </p:nvSpPr>
        <p:spPr>
          <a:xfrm>
            <a:off x="8046720" y="4825652"/>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39" name="Image 2" descr="preencoded.png"/>
          <p:cNvPicPr>
            <a:picLocks noChangeAspect="1"/>
          </p:cNvPicPr>
          <p:nvPr/>
        </p:nvPicPr>
        <p:blipFill>
          <a:blip r:embed="rId6"/>
          <a:stretch>
            <a:fillRect/>
          </a:stretch>
        </p:blipFill>
        <p:spPr>
          <a:xfrm>
            <a:off x="8149590" y="4928522"/>
            <a:ext cx="251460" cy="251460"/>
          </a:xfrm>
          <a:prstGeom prst="rect">
            <a:avLst/>
          </a:prstGeom>
        </p:spPr>
      </p:pic>
      <p:sp>
        <p:nvSpPr>
          <p:cNvPr id="40" name="Text 34"/>
          <p:cNvSpPr txBox="1"/>
          <p:nvPr/>
        </p:nvSpPr>
        <p:spPr>
          <a:xfrm>
            <a:off x="8641080" y="4873376"/>
            <a:ext cx="283464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왜 ‘최소건수 필터’인가</a:t>
            </a:r>
            <a:endParaRPr lang="en-US" sz="1250" dirty="0"/>
          </a:p>
        </p:txBody>
      </p:sp>
      <p:sp>
        <p:nvSpPr>
          <p:cNvPr id="41" name="Text 35"/>
          <p:cNvSpPr txBox="1"/>
          <p:nvPr/>
        </p:nvSpPr>
        <p:spPr>
          <a:xfrm>
            <a:off x="8641080" y="5175128"/>
            <a:ext cx="2834640" cy="82296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셀 규모가 11~99,532건으로 들쭉날쭉하다. 누적 200건·최근월 30건 미만은 제외해 2,199개 → 2,111개 조합만 남겼다.</a:t>
            </a:r>
            <a:endParaRPr lang="en-US" sz="1050" dirty="0"/>
          </a:p>
        </p:txBody>
      </p:sp>
      <p:sp>
        <p:nvSpPr>
          <p:cNvPr id="42" name="Text 3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3" name="Text 3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12 / 42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오탐 제거</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자동 스코어가 놓치는 함정은 육안 검수와 재계산으로 걸러냈다</a:t>
            </a:r>
            <a:endParaRPr lang="en-US" sz="2400" dirty="0"/>
          </a:p>
        </p:txBody>
      </p:sp>
      <p:sp>
        <p:nvSpPr>
          <p:cNvPr id="6" name="Shape 4"/>
          <p:cNvSpPr/>
          <p:nvPr/>
        </p:nvSpPr>
        <p:spPr>
          <a:xfrm>
            <a:off x="548640" y="1737360"/>
            <a:ext cx="4343400" cy="4242816"/>
          </a:xfrm>
          <a:prstGeom prst="roundRect">
            <a:avLst>
              <a:gd name="adj" fmla="val 258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74520"/>
            <a:ext cx="393192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무주군 스낵 — 외국인 이용 건수(건)</a:t>
            </a:r>
            <a:endParaRPr lang="en-US" sz="1250" dirty="0"/>
          </a:p>
        </p:txBody>
      </p:sp>
      <p:graphicFrame>
        <p:nvGraphicFramePr>
          <p:cNvPr id="8" name="Chart 0"/>
          <p:cNvGraphicFramePr/>
          <p:nvPr/>
        </p:nvGraphicFramePr>
        <p:xfrm>
          <a:off x="640080" y="2194560"/>
          <a:ext cx="41605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4572000"/>
            <a:ext cx="3886200" cy="777240"/>
          </a:xfrm>
          <a:prstGeom prst="rect">
            <a:avLst/>
          </a:prstGeom>
          <a:noFill/>
          <a:ln/>
        </p:spPr>
        <p:txBody>
          <a:bodyPr wrap="square" lIns="0" tIns="0" rIns="0" bIns="0" rtlCol="0" anchor="t"/>
          <a:lstStyle/>
          <a:p>
            <a:pPr marL="0" indent="0">
              <a:lnSpc>
                <a:spcPct val="112000"/>
              </a:lnSpc>
              <a:buNone/>
            </a:pPr>
            <a:r>
              <a:rPr lang="en-US" sz="1050" dirty="0">
                <a:solidFill>
                  <a:srgbClr val="3A475C"/>
                </a:solidFill>
                <a:latin typeface="Malgun Gothic" pitchFamily="34" charset="0"/>
                <a:ea typeface="Malgun Gothic" pitchFamily="34" charset="-122"/>
                <a:cs typeface="Malgun Gothic" pitchFamily="34" charset="-120"/>
              </a:rPr>
              <a:t>1~2월 스키 시즌(476·540건) 뒤 3~5월에는 38~59건으로 급감했고 6월에 76건. 6월 증가율만 보면 +100%이지만 ‘성장’이 아니라 바닥에서의 반등이다.</a:t>
            </a:r>
            <a:endParaRPr lang="en-US" sz="1050" dirty="0"/>
          </a:p>
        </p:txBody>
      </p:sp>
      <p:sp>
        <p:nvSpPr>
          <p:cNvPr id="10" name="Shape 7"/>
          <p:cNvSpPr/>
          <p:nvPr/>
        </p:nvSpPr>
        <p:spPr>
          <a:xfrm>
            <a:off x="777240" y="5440680"/>
            <a:ext cx="3154680" cy="310896"/>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11" name="Text 8"/>
          <p:cNvSpPr txBox="1"/>
          <p:nvPr/>
        </p:nvSpPr>
        <p:spPr>
          <a:xfrm>
            <a:off x="777240" y="5440680"/>
            <a:ext cx="3154680" cy="310896"/>
          </a:xfrm>
          <a:prstGeom prst="rect">
            <a:avLst/>
          </a:prstGeom>
          <a:noFill/>
          <a:ln/>
        </p:spPr>
        <p:txBody>
          <a:bodyPr wrap="square" lIns="0" tIns="0" rIns="0" bIns="0" rtlCol="0" anchor="ctr"/>
          <a:lstStyle/>
          <a:p>
            <a:pPr marL="0" indent="0" algn="ctr">
              <a:buNone/>
            </a:pPr>
            <a:r>
              <a:rPr lang="en-US" sz="1050" b="1" dirty="0">
                <a:solidFill>
                  <a:srgbClr val="B7232B"/>
                </a:solidFill>
                <a:latin typeface="Malgun Gothic" pitchFamily="34" charset="0"/>
                <a:ea typeface="Malgun Gothic" pitchFamily="34" charset="-122"/>
                <a:cs typeface="Malgun Gothic" pitchFamily="34" charset="-120"/>
              </a:rPr>
              <a:t>자동 스코어 상위 → 육안 검수에서 제외</a:t>
            </a:r>
            <a:endParaRPr lang="en-US" sz="1050" dirty="0"/>
          </a:p>
        </p:txBody>
      </p:sp>
      <p:sp>
        <p:nvSpPr>
          <p:cNvPr id="12" name="Shape 9"/>
          <p:cNvSpPr/>
          <p:nvPr/>
        </p:nvSpPr>
        <p:spPr>
          <a:xfrm>
            <a:off x="5120640" y="1737360"/>
            <a:ext cx="6519672" cy="1005840"/>
          </a:xfrm>
          <a:prstGeom prst="roundRect">
            <a:avLst>
              <a:gd name="adj" fmla="val 10909"/>
            </a:avLst>
          </a:prstGeom>
          <a:solidFill>
            <a:srgbClr val="F3F6FB"/>
          </a:solidFill>
          <a:ln w="12700">
            <a:solidFill>
              <a:srgbClr val="F3F6FB"/>
            </a:solidFill>
            <a:prstDash val="solid"/>
          </a:ln>
        </p:spPr>
        <p:txBody>
          <a:bodyPr/>
          <a:lstStyle/>
          <a:p>
            <a:endParaRPr lang="ko-KR" altLang="en-US"/>
          </a:p>
        </p:txBody>
      </p:sp>
      <p:sp>
        <p:nvSpPr>
          <p:cNvPr id="13" name="Shape 10"/>
          <p:cNvSpPr/>
          <p:nvPr/>
        </p:nvSpPr>
        <p:spPr>
          <a:xfrm>
            <a:off x="5303520" y="1930386"/>
            <a:ext cx="384048" cy="384048"/>
          </a:xfrm>
          <a:prstGeom prst="ellipse">
            <a:avLst/>
          </a:prstGeom>
          <a:solidFill>
            <a:srgbClr val="0B1B33"/>
          </a:solidFill>
          <a:ln w="12700">
            <a:solidFill>
              <a:srgbClr val="E8383D"/>
            </a:solidFill>
            <a:prstDash val="solid"/>
          </a:ln>
        </p:spPr>
        <p:txBody>
          <a:bodyPr/>
          <a:lstStyle/>
          <a:p>
            <a:endParaRPr lang="ko-KR" altLang="en-US"/>
          </a:p>
        </p:txBody>
      </p:sp>
      <p:sp>
        <p:nvSpPr>
          <p:cNvPr id="14" name="Text 11"/>
          <p:cNvSpPr txBox="1"/>
          <p:nvPr/>
        </p:nvSpPr>
        <p:spPr>
          <a:xfrm>
            <a:off x="5303520" y="193038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5" name="Text 12"/>
          <p:cNvSpPr txBox="1"/>
          <p:nvPr/>
        </p:nvSpPr>
        <p:spPr>
          <a:xfrm>
            <a:off x="5852160" y="1878904"/>
            <a:ext cx="557784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계절성 오염</a:t>
            </a:r>
            <a:endParaRPr lang="en-US" sz="1250" dirty="0"/>
          </a:p>
        </p:txBody>
      </p:sp>
      <p:sp>
        <p:nvSpPr>
          <p:cNvPr id="16" name="Text 13"/>
          <p:cNvSpPr txBox="1"/>
          <p:nvPr/>
        </p:nvSpPr>
        <p:spPr>
          <a:xfrm>
            <a:off x="5852160" y="2153224"/>
            <a:ext cx="5669280" cy="603504"/>
          </a:xfrm>
          <a:prstGeom prst="rect">
            <a:avLst/>
          </a:prstGeom>
          <a:noFill/>
          <a:ln/>
        </p:spPr>
        <p:txBody>
          <a:bodyPr wrap="square" lIns="0" tIns="0" rIns="0" bIns="0" rtlCol="0" anchor="t"/>
          <a:lstStyle/>
          <a:p>
            <a:pPr marL="0" indent="0">
              <a:lnSpc>
                <a:spcPct val="108000"/>
              </a:lnSpc>
              <a:buNone/>
            </a:pPr>
            <a:r>
              <a:rPr lang="en-US" sz="1000" b="1" dirty="0">
                <a:solidFill>
                  <a:srgbClr val="B7232B"/>
                </a:solidFill>
                <a:latin typeface="Malgun Gothic" pitchFamily="34" charset="0"/>
                <a:ea typeface="Malgun Gothic" pitchFamily="34" charset="-122"/>
                <a:cs typeface="Malgun Gothic" pitchFamily="34" charset="-120"/>
              </a:rPr>
              <a:t>함정  </a:t>
            </a:r>
            <a:r>
              <a:rPr lang="en-US" sz="1000" dirty="0">
                <a:solidFill>
                  <a:srgbClr val="3A475C"/>
                </a:solidFill>
                <a:latin typeface="Malgun Gothic" pitchFamily="34" charset="0"/>
                <a:ea typeface="Malgun Gothic" pitchFamily="34" charset="-122"/>
                <a:cs typeface="Malgun Gothic" pitchFamily="34" charset="-120"/>
              </a:rPr>
              <a:t>업종 공통의 계절 흐름(스키장 상권 등)이 단순 증가율을 부풀린다</a:t>
            </a:r>
            <a:endParaRPr lang="en-US" sz="1000" dirty="0"/>
          </a:p>
          <a:p>
            <a:pPr marL="0" indent="0">
              <a:lnSpc>
                <a:spcPct val="108000"/>
              </a:lnSpc>
              <a:buNone/>
            </a:pPr>
            <a:r>
              <a:rPr lang="en-US" sz="1000" b="1" dirty="0">
                <a:solidFill>
                  <a:srgbClr val="0B7A6D"/>
                </a:solidFill>
                <a:latin typeface="Malgun Gothic" pitchFamily="34" charset="0"/>
                <a:ea typeface="Malgun Gothic" pitchFamily="34" charset="-122"/>
                <a:cs typeface="Malgun Gothic" pitchFamily="34" charset="-120"/>
              </a:rPr>
              <a:t>대응  </a:t>
            </a:r>
            <a:r>
              <a:rPr lang="en-US" sz="1000" dirty="0">
                <a:solidFill>
                  <a:srgbClr val="3A475C"/>
                </a:solidFill>
                <a:latin typeface="Malgun Gothic" pitchFamily="34" charset="0"/>
                <a:ea typeface="Malgun Gothic" pitchFamily="34" charset="-122"/>
                <a:cs typeface="Malgun Gothic" pitchFamily="34" charset="-120"/>
              </a:rPr>
              <a:t>전국 같은 업종의 증가율을 뺀 ‘상대 초과성장률’로 재정의</a:t>
            </a:r>
            <a:endParaRPr lang="en-US" sz="1000" dirty="0"/>
          </a:p>
        </p:txBody>
      </p:sp>
      <p:sp>
        <p:nvSpPr>
          <p:cNvPr id="17" name="Shape 14"/>
          <p:cNvSpPr/>
          <p:nvPr/>
        </p:nvSpPr>
        <p:spPr>
          <a:xfrm>
            <a:off x="5120640" y="2816352"/>
            <a:ext cx="6519672" cy="1005840"/>
          </a:xfrm>
          <a:prstGeom prst="roundRect">
            <a:avLst>
              <a:gd name="adj" fmla="val 10909"/>
            </a:avLst>
          </a:prstGeom>
          <a:solidFill>
            <a:srgbClr val="FDECEC"/>
          </a:solidFill>
          <a:ln w="12700">
            <a:solidFill>
              <a:srgbClr val="FDECEC"/>
            </a:solidFill>
            <a:prstDash val="solid"/>
          </a:ln>
        </p:spPr>
        <p:txBody>
          <a:bodyPr/>
          <a:lstStyle/>
          <a:p>
            <a:endParaRPr lang="ko-KR" altLang="en-US"/>
          </a:p>
        </p:txBody>
      </p:sp>
      <p:sp>
        <p:nvSpPr>
          <p:cNvPr id="18" name="Shape 15"/>
          <p:cNvSpPr/>
          <p:nvPr/>
        </p:nvSpPr>
        <p:spPr>
          <a:xfrm>
            <a:off x="5303520" y="3009378"/>
            <a:ext cx="384048" cy="384048"/>
          </a:xfrm>
          <a:prstGeom prst="ellipse">
            <a:avLst/>
          </a:prstGeom>
          <a:solidFill>
            <a:srgbClr val="0B1B33"/>
          </a:solidFill>
          <a:ln w="12700">
            <a:solidFill>
              <a:srgbClr val="E8383D"/>
            </a:solidFill>
            <a:prstDash val="solid"/>
          </a:ln>
        </p:spPr>
        <p:txBody>
          <a:bodyPr/>
          <a:lstStyle/>
          <a:p>
            <a:endParaRPr lang="ko-KR" altLang="en-US"/>
          </a:p>
        </p:txBody>
      </p:sp>
      <p:sp>
        <p:nvSpPr>
          <p:cNvPr id="19" name="Text 16"/>
          <p:cNvSpPr txBox="1"/>
          <p:nvPr/>
        </p:nvSpPr>
        <p:spPr>
          <a:xfrm>
            <a:off x="5303520" y="300937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20" name="Text 17"/>
          <p:cNvSpPr txBox="1"/>
          <p:nvPr/>
        </p:nvSpPr>
        <p:spPr>
          <a:xfrm>
            <a:off x="5852160" y="2957896"/>
            <a:ext cx="557784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저베이스 반등</a:t>
            </a:r>
            <a:endParaRPr lang="en-US" sz="1250" dirty="0"/>
          </a:p>
        </p:txBody>
      </p:sp>
      <p:sp>
        <p:nvSpPr>
          <p:cNvPr id="21" name="Text 18"/>
          <p:cNvSpPr txBox="1"/>
          <p:nvPr/>
        </p:nvSpPr>
        <p:spPr>
          <a:xfrm>
            <a:off x="5852160" y="3232216"/>
            <a:ext cx="5669280" cy="603504"/>
          </a:xfrm>
          <a:prstGeom prst="rect">
            <a:avLst/>
          </a:prstGeom>
          <a:noFill/>
          <a:ln/>
        </p:spPr>
        <p:txBody>
          <a:bodyPr wrap="square" lIns="0" tIns="0" rIns="0" bIns="0" rtlCol="0" anchor="t"/>
          <a:lstStyle/>
          <a:p>
            <a:pPr marL="0" indent="0">
              <a:lnSpc>
                <a:spcPct val="108000"/>
              </a:lnSpc>
              <a:buNone/>
            </a:pPr>
            <a:r>
              <a:rPr lang="en-US" sz="1000" b="1" dirty="0">
                <a:solidFill>
                  <a:srgbClr val="B7232B"/>
                </a:solidFill>
                <a:latin typeface="Malgun Gothic" pitchFamily="34" charset="0"/>
                <a:ea typeface="Malgun Gothic" pitchFamily="34" charset="-122"/>
                <a:cs typeface="Malgun Gothic" pitchFamily="34" charset="-120"/>
              </a:rPr>
              <a:t>함정  </a:t>
            </a:r>
            <a:r>
              <a:rPr lang="en-US" sz="1000" dirty="0">
                <a:solidFill>
                  <a:srgbClr val="3A475C"/>
                </a:solidFill>
                <a:latin typeface="Malgun Gothic" pitchFamily="34" charset="0"/>
                <a:ea typeface="Malgun Gothic" pitchFamily="34" charset="-122"/>
                <a:cs typeface="Malgun Gothic" pitchFamily="34" charset="-120"/>
              </a:rPr>
              <a:t>무주군 스낵처럼 낮은 바닥(38건)에서 반등한 것을 최근 증가율이 과대평가한다</a:t>
            </a:r>
            <a:endParaRPr lang="en-US" sz="1000" dirty="0"/>
          </a:p>
          <a:p>
            <a:pPr marL="0" indent="0">
              <a:lnSpc>
                <a:spcPct val="108000"/>
              </a:lnSpc>
              <a:buNone/>
            </a:pPr>
            <a:r>
              <a:rPr lang="en-US" sz="1000" b="1" dirty="0">
                <a:solidFill>
                  <a:srgbClr val="0B7A6D"/>
                </a:solidFill>
                <a:latin typeface="Malgun Gothic" pitchFamily="34" charset="0"/>
                <a:ea typeface="Malgun Gothic" pitchFamily="34" charset="-122"/>
                <a:cs typeface="Malgun Gothic" pitchFamily="34" charset="-120"/>
              </a:rPr>
              <a:t>대응  </a:t>
            </a:r>
            <a:r>
              <a:rPr lang="en-US" sz="1000" dirty="0">
                <a:solidFill>
                  <a:srgbClr val="3A475C"/>
                </a:solidFill>
                <a:latin typeface="Malgun Gothic" pitchFamily="34" charset="0"/>
                <a:ea typeface="Malgun Gothic" pitchFamily="34" charset="-122"/>
                <a:cs typeface="Malgun Gothic" pitchFamily="34" charset="-120"/>
              </a:rPr>
              <a:t>최소건수 필터 + 6개월 추이 육안 검수 → 제외</a:t>
            </a:r>
            <a:endParaRPr lang="en-US" sz="1000" dirty="0"/>
          </a:p>
        </p:txBody>
      </p:sp>
      <p:sp>
        <p:nvSpPr>
          <p:cNvPr id="22" name="Shape 19"/>
          <p:cNvSpPr/>
          <p:nvPr/>
        </p:nvSpPr>
        <p:spPr>
          <a:xfrm>
            <a:off x="5120640" y="3895344"/>
            <a:ext cx="6519672" cy="1005840"/>
          </a:xfrm>
          <a:prstGeom prst="roundRect">
            <a:avLst>
              <a:gd name="adj" fmla="val 10909"/>
            </a:avLst>
          </a:prstGeom>
          <a:solidFill>
            <a:srgbClr val="F3F6FB"/>
          </a:solidFill>
          <a:ln w="12700">
            <a:solidFill>
              <a:srgbClr val="F3F6FB"/>
            </a:solidFill>
            <a:prstDash val="solid"/>
          </a:ln>
        </p:spPr>
        <p:txBody>
          <a:bodyPr/>
          <a:lstStyle/>
          <a:p>
            <a:endParaRPr lang="ko-KR" altLang="en-US"/>
          </a:p>
        </p:txBody>
      </p:sp>
      <p:sp>
        <p:nvSpPr>
          <p:cNvPr id="23" name="Shape 20"/>
          <p:cNvSpPr/>
          <p:nvPr/>
        </p:nvSpPr>
        <p:spPr>
          <a:xfrm>
            <a:off x="5303520" y="4088370"/>
            <a:ext cx="384048" cy="384048"/>
          </a:xfrm>
          <a:prstGeom prst="ellipse">
            <a:avLst/>
          </a:prstGeom>
          <a:solidFill>
            <a:srgbClr val="0B1B33"/>
          </a:solidFill>
          <a:ln w="12700">
            <a:solidFill>
              <a:srgbClr val="E8383D"/>
            </a:solidFill>
            <a:prstDash val="solid"/>
          </a:ln>
        </p:spPr>
        <p:txBody>
          <a:bodyPr/>
          <a:lstStyle/>
          <a:p>
            <a:endParaRPr lang="ko-KR" altLang="en-US"/>
          </a:p>
        </p:txBody>
      </p:sp>
      <p:sp>
        <p:nvSpPr>
          <p:cNvPr id="24" name="Text 21"/>
          <p:cNvSpPr txBox="1"/>
          <p:nvPr/>
        </p:nvSpPr>
        <p:spPr>
          <a:xfrm>
            <a:off x="5303520" y="408837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5" name="Text 22"/>
          <p:cNvSpPr txBox="1"/>
          <p:nvPr/>
        </p:nvSpPr>
        <p:spPr>
          <a:xfrm>
            <a:off x="5852160" y="4036888"/>
            <a:ext cx="557784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지역 축제</a:t>
            </a:r>
            <a:endParaRPr lang="en-US" sz="1250" dirty="0"/>
          </a:p>
        </p:txBody>
      </p:sp>
      <p:sp>
        <p:nvSpPr>
          <p:cNvPr id="26" name="Text 23"/>
          <p:cNvSpPr txBox="1"/>
          <p:nvPr/>
        </p:nvSpPr>
        <p:spPr>
          <a:xfrm>
            <a:off x="5852160" y="4311208"/>
            <a:ext cx="5669280" cy="603504"/>
          </a:xfrm>
          <a:prstGeom prst="rect">
            <a:avLst/>
          </a:prstGeom>
          <a:noFill/>
          <a:ln/>
        </p:spPr>
        <p:txBody>
          <a:bodyPr wrap="square" lIns="0" tIns="0" rIns="0" bIns="0" rtlCol="0" anchor="t"/>
          <a:lstStyle/>
          <a:p>
            <a:pPr marL="0" indent="0">
              <a:lnSpc>
                <a:spcPct val="108000"/>
              </a:lnSpc>
              <a:buNone/>
            </a:pPr>
            <a:r>
              <a:rPr lang="en-US" sz="1000" b="1" dirty="0">
                <a:solidFill>
                  <a:srgbClr val="B7232B"/>
                </a:solidFill>
                <a:latin typeface="Malgun Gothic" pitchFamily="34" charset="0"/>
                <a:ea typeface="Malgun Gothic" pitchFamily="34" charset="-122"/>
                <a:cs typeface="Malgun Gothic" pitchFamily="34" charset="-120"/>
              </a:rPr>
              <a:t>함정  </a:t>
            </a:r>
            <a:r>
              <a:rPr lang="en-US" sz="1000" dirty="0">
                <a:solidFill>
                  <a:srgbClr val="3A475C"/>
                </a:solidFill>
                <a:latin typeface="Malgun Gothic" pitchFamily="34" charset="0"/>
                <a:ea typeface="Malgun Gothic" pitchFamily="34" charset="-122"/>
                <a:cs typeface="Malgun Gothic" pitchFamily="34" charset="-120"/>
              </a:rPr>
              <a:t>곡성 장미축제·포천 한탄강 가든페스타·음성 품바축제가 특정 월을 부풀린다</a:t>
            </a:r>
            <a:endParaRPr lang="en-US" sz="1000" dirty="0"/>
          </a:p>
          <a:p>
            <a:pPr marL="0" indent="0">
              <a:lnSpc>
                <a:spcPct val="108000"/>
              </a:lnSpc>
              <a:buNone/>
            </a:pPr>
            <a:r>
              <a:rPr lang="en-US" sz="1000" b="1" dirty="0">
                <a:solidFill>
                  <a:srgbClr val="0B7A6D"/>
                </a:solidFill>
                <a:latin typeface="Malgun Gothic" pitchFamily="34" charset="0"/>
                <a:ea typeface="Malgun Gothic" pitchFamily="34" charset="-122"/>
                <a:cs typeface="Malgun Gothic" pitchFamily="34" charset="-120"/>
              </a:rPr>
              <a:t>대응  </a:t>
            </a:r>
            <a:r>
              <a:rPr lang="en-US" sz="1000" dirty="0">
                <a:solidFill>
                  <a:srgbClr val="3A475C"/>
                </a:solidFill>
                <a:latin typeface="Malgun Gothic" pitchFamily="34" charset="0"/>
                <a:ea typeface="Malgun Gothic" pitchFamily="34" charset="-122"/>
                <a:cs typeface="Malgun Gothic" pitchFamily="34" charset="-120"/>
              </a:rPr>
              <a:t>축제월을 빼고 재계산 → 곡성은 제외 유지, 포천·음성은 신호가 남아 복귀 (지역·기간 정리 14쪽)</a:t>
            </a:r>
            <a:endParaRPr lang="en-US" sz="1000" dirty="0"/>
          </a:p>
        </p:txBody>
      </p:sp>
      <p:sp>
        <p:nvSpPr>
          <p:cNvPr id="27" name="Shape 24"/>
          <p:cNvSpPr/>
          <p:nvPr/>
        </p:nvSpPr>
        <p:spPr>
          <a:xfrm>
            <a:off x="5120640" y="4974336"/>
            <a:ext cx="6519672" cy="1005840"/>
          </a:xfrm>
          <a:prstGeom prst="roundRect">
            <a:avLst>
              <a:gd name="adj" fmla="val 10909"/>
            </a:avLst>
          </a:prstGeom>
          <a:solidFill>
            <a:srgbClr val="F3F6FB"/>
          </a:solidFill>
          <a:ln w="12700">
            <a:solidFill>
              <a:srgbClr val="F3F6FB"/>
            </a:solidFill>
            <a:prstDash val="solid"/>
          </a:ln>
        </p:spPr>
        <p:txBody>
          <a:bodyPr/>
          <a:lstStyle/>
          <a:p>
            <a:endParaRPr lang="ko-KR" altLang="en-US"/>
          </a:p>
        </p:txBody>
      </p:sp>
      <p:sp>
        <p:nvSpPr>
          <p:cNvPr id="28" name="Shape 25"/>
          <p:cNvSpPr/>
          <p:nvPr/>
        </p:nvSpPr>
        <p:spPr>
          <a:xfrm>
            <a:off x="5303520" y="5167362"/>
            <a:ext cx="384048" cy="384048"/>
          </a:xfrm>
          <a:prstGeom prst="ellipse">
            <a:avLst/>
          </a:prstGeom>
          <a:solidFill>
            <a:srgbClr val="0B1B33"/>
          </a:solidFill>
          <a:ln w="12700">
            <a:solidFill>
              <a:srgbClr val="E8383D"/>
            </a:solidFill>
            <a:prstDash val="solid"/>
          </a:ln>
        </p:spPr>
        <p:txBody>
          <a:bodyPr/>
          <a:lstStyle/>
          <a:p>
            <a:endParaRPr lang="ko-KR" altLang="en-US"/>
          </a:p>
        </p:txBody>
      </p:sp>
      <p:sp>
        <p:nvSpPr>
          <p:cNvPr id="29" name="Text 26"/>
          <p:cNvSpPr txBox="1"/>
          <p:nvPr/>
        </p:nvSpPr>
        <p:spPr>
          <a:xfrm>
            <a:off x="5303520" y="516736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30" name="Text 27"/>
          <p:cNvSpPr txBox="1"/>
          <p:nvPr/>
        </p:nvSpPr>
        <p:spPr>
          <a:xfrm>
            <a:off x="5852160" y="5128406"/>
            <a:ext cx="5577840" cy="256032"/>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상위 20개 편향</a:t>
            </a:r>
            <a:endParaRPr lang="en-US" sz="1250" dirty="0"/>
          </a:p>
        </p:txBody>
      </p:sp>
      <p:sp>
        <p:nvSpPr>
          <p:cNvPr id="31" name="Text 28"/>
          <p:cNvSpPr txBox="1"/>
          <p:nvPr/>
        </p:nvSpPr>
        <p:spPr>
          <a:xfrm>
            <a:off x="5852160" y="5402726"/>
            <a:ext cx="5669280" cy="603504"/>
          </a:xfrm>
          <a:prstGeom prst="rect">
            <a:avLst/>
          </a:prstGeom>
          <a:noFill/>
          <a:ln/>
        </p:spPr>
        <p:txBody>
          <a:bodyPr wrap="square" lIns="0" tIns="0" rIns="0" bIns="0" rtlCol="0" anchor="t"/>
          <a:lstStyle/>
          <a:p>
            <a:pPr marL="0" indent="0">
              <a:lnSpc>
                <a:spcPct val="108000"/>
              </a:lnSpc>
              <a:buNone/>
            </a:pPr>
            <a:r>
              <a:rPr lang="en-US" sz="1000" b="1" dirty="0">
                <a:solidFill>
                  <a:srgbClr val="B7232B"/>
                </a:solidFill>
                <a:latin typeface="Malgun Gothic" pitchFamily="34" charset="0"/>
                <a:ea typeface="Malgun Gothic" pitchFamily="34" charset="-122"/>
                <a:cs typeface="Malgun Gothic" pitchFamily="34" charset="-120"/>
              </a:rPr>
              <a:t>함정  </a:t>
            </a:r>
            <a:r>
              <a:rPr lang="en-US" sz="1000" dirty="0">
                <a:solidFill>
                  <a:srgbClr val="3A475C"/>
                </a:solidFill>
                <a:latin typeface="Malgun Gothic" pitchFamily="34" charset="0"/>
                <a:ea typeface="Malgun Gothic" pitchFamily="34" charset="-122"/>
                <a:cs typeface="Malgun Gothic" pitchFamily="34" charset="-120"/>
              </a:rPr>
              <a:t>개별 조합 상위 20개만 보면 ‘청송군 하나’뿐인 것처럼 보인다</a:t>
            </a:r>
            <a:endParaRPr lang="en-US" sz="1000" dirty="0"/>
          </a:p>
          <a:p>
            <a:pPr marL="0" indent="0">
              <a:lnSpc>
                <a:spcPct val="108000"/>
              </a:lnSpc>
              <a:buNone/>
            </a:pPr>
            <a:r>
              <a:rPr lang="en-US" sz="1000" b="1" dirty="0">
                <a:solidFill>
                  <a:srgbClr val="0B7A6D"/>
                </a:solidFill>
                <a:latin typeface="Malgun Gothic" pitchFamily="34" charset="0"/>
                <a:ea typeface="Malgun Gothic" pitchFamily="34" charset="-122"/>
                <a:cs typeface="Malgun Gothic" pitchFamily="34" charset="-120"/>
              </a:rPr>
              <a:t>대응  </a:t>
            </a:r>
            <a:r>
              <a:rPr lang="en-US" sz="1000" dirty="0">
                <a:solidFill>
                  <a:srgbClr val="3A475C"/>
                </a:solidFill>
                <a:latin typeface="Malgun Gothic" pitchFamily="34" charset="0"/>
                <a:ea typeface="Malgun Gothic" pitchFamily="34" charset="-122"/>
                <a:cs typeface="Malgun Gothic" pitchFamily="34" charset="-120"/>
              </a:rPr>
              <a:t>시군구 단위(SIDO+CCG)로 재집계 · 절대 순증가량·양수비율로 교차검증 → 후보 확장</a:t>
            </a:r>
            <a:endParaRPr lang="en-US" sz="1000" dirty="0"/>
          </a:p>
        </p:txBody>
      </p:sp>
      <p:sp>
        <p:nvSpPr>
          <p:cNvPr id="32" name="Text 29"/>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3" name="Text 30"/>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13 / 42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계절성·지역축제 통제</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계절 특수성과 지역 축제 변수를 지역별·기간별로 정리해 통제했다</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4041648"/>
        </p:xfrm>
        <a:graphic>
          <a:graphicData uri="http://schemas.openxmlformats.org/drawingml/2006/table">
            <a:tbl>
              <a:tblPr/>
              <a:tblGrid>
                <a:gridCol w="11887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84048">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구분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지역</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기간</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소비에 미친 영향</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처리 방법</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731520">
                <a:tc>
                  <a:txBody>
                    <a:bodyPr/>
                    <a:lstStyle/>
                    <a:p>
                      <a:pPr marL="0" indent="0">
                        <a:buNone/>
                      </a:pPr>
                      <a:r>
                        <a:rPr lang="en-US" sz="1000" b="1" dirty="0">
                          <a:solidFill>
                            <a:srgbClr val="0B7A6D"/>
                          </a:solidFill>
                          <a:latin typeface="Malgun Gothic" pitchFamily="34" charset="0"/>
                          <a:ea typeface="Malgun Gothic" pitchFamily="34" charset="-122"/>
                          <a:cs typeface="Malgun Gothic" pitchFamily="34" charset="-120"/>
                        </a:rPr>
                        <a:t>전국 계절성</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전국 · 11개 업종 공통</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buNone/>
                      </a:pPr>
                      <a:r>
                        <a:rPr lang="en-US" sz="950" dirty="0">
                          <a:solidFill>
                            <a:srgbClr val="64748B"/>
                          </a:solidFill>
                          <a:latin typeface="Malgun Gothic" pitchFamily="34" charset="0"/>
                          <a:ea typeface="Malgun Gothic" pitchFamily="34" charset="-122"/>
                          <a:cs typeface="Malgun Gothic" pitchFamily="34" charset="-120"/>
                        </a:rPr>
                        <a:t>1~3월</a:t>
                      </a:r>
                      <a:endParaRPr lang="en-US" sz="950" dirty="0">
                        <a:latin typeface="Malgun Gothic" charset="0"/>
                        <a:ea typeface="Malgun Gothic" charset="0"/>
                        <a:cs typeface="Malgun Gothic" charset="0"/>
                      </a:endParaRPr>
                    </a:p>
                    <a:p>
                      <a:pPr marL="0" indent="0">
                        <a:buNone/>
                      </a:pPr>
                      <a:r>
                        <a:rPr lang="en-US" sz="950" dirty="0">
                          <a:solidFill>
                            <a:srgbClr val="64748B"/>
                          </a:solidFill>
                          <a:latin typeface="Malgun Gothic" pitchFamily="34" charset="0"/>
                          <a:ea typeface="Malgun Gothic" pitchFamily="34" charset="-122"/>
                          <a:cs typeface="Malgun Gothic" pitchFamily="34" charset="-120"/>
                        </a:rPr>
                        <a:t>(3월 +16.6%)</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특정월에 전 업종이 동시에 늘어 단순 증가율이 계절 흐름과 지역 신호를 구분하지 못함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전국 같은 업종의 증가율을 뺀 ‘상대 초과성장률’로 재정의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extLst>
                  <a:ext uri="{0D108BD9-81ED-4DB2-BD59-A6C34878D82A}">
                    <a16:rowId xmlns:a16="http://schemas.microsoft.com/office/drawing/2014/main" val="10001"/>
                  </a:ext>
                </a:extLst>
              </a:tr>
              <a:tr h="731520">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지역 축제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곡성군 (장미축제)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64748B"/>
                          </a:solidFill>
                          <a:latin typeface="Malgun Gothic" pitchFamily="34" charset="0"/>
                          <a:ea typeface="Malgun Gothic" pitchFamily="34" charset="-122"/>
                          <a:cs typeface="Malgun Gothic" pitchFamily="34" charset="-120"/>
                        </a:rPr>
                        <a:t>5/22~5/31</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축제 기간 동안 소비가 일시적으로 급증</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축제월을 뺀 구간으로 재계산 → 신호 소멸, 제외 유지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731520">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지역 축제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포천시 (한탄강 봄 가든페스타)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950" dirty="0">
                          <a:solidFill>
                            <a:srgbClr val="64748B"/>
                          </a:solidFill>
                          <a:latin typeface="Malgun Gothic" pitchFamily="34" charset="0"/>
                          <a:ea typeface="Malgun Gothic" pitchFamily="34" charset="-122"/>
                          <a:cs typeface="Malgun Gothic" pitchFamily="34" charset="-120"/>
                        </a:rPr>
                        <a:t>5/1~6/7</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5주 이상 장기간 축제로 5~6월 소비 전반에 영향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축제월을 빼도 신호가 남음 → 후보로 복귀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지역 축제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음성군 (품바축제)</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64748B"/>
                          </a:solidFill>
                          <a:latin typeface="Malgun Gothic" pitchFamily="34" charset="0"/>
                          <a:ea typeface="Malgun Gothic" pitchFamily="34" charset="-122"/>
                          <a:cs typeface="Malgun Gothic" pitchFamily="34" charset="-120"/>
                        </a:rPr>
                        <a:t>6/10~6/14</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단기간 집중 축제로 6월 소비 일부를 견인</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축제월을 빼도 신호가 남음 → 후보로 복귀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731520">
                <a:tc>
                  <a:txBody>
                    <a:bodyPr/>
                    <a:lstStyle/>
                    <a:p>
                      <a:pPr marL="0" indent="0">
                        <a:buNone/>
                      </a:pPr>
                      <a:r>
                        <a:rPr lang="en-US" sz="1000" b="1" dirty="0">
                          <a:solidFill>
                            <a:srgbClr val="2F55B3"/>
                          </a:solidFill>
                          <a:latin typeface="Malgun Gothic" pitchFamily="34" charset="0"/>
                          <a:ea typeface="Malgun Gothic" pitchFamily="34" charset="-122"/>
                          <a:cs typeface="Malgun Gothic" pitchFamily="34" charset="-120"/>
                        </a:rPr>
                        <a:t>대조군 이벤트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tc>
                  <a:txBody>
                    <a:bodyP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보령시 (모터페스티벌)</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tc>
                  <a:txBody>
                    <a:bodyPr/>
                    <a:lstStyle/>
                    <a:p>
                      <a:pPr marL="0" indent="0">
                        <a:buNone/>
                      </a:pPr>
                      <a:r>
                        <a:rPr lang="en-US" sz="950" dirty="0">
                          <a:solidFill>
                            <a:srgbClr val="64748B"/>
                          </a:solidFill>
                          <a:latin typeface="Malgun Gothic" pitchFamily="34" charset="0"/>
                          <a:ea typeface="Malgun Gothic" pitchFamily="34" charset="-122"/>
                          <a:cs typeface="Malgun Gothic" pitchFamily="34" charset="-120"/>
                        </a:rPr>
                        <a:t>4/24 사전보도</a:t>
                      </a:r>
                      <a:endParaRPr lang="en-US" sz="950" dirty="0">
                        <a:latin typeface="Malgun Gothic" charset="0"/>
                        <a:ea typeface="Malgun Gothic" charset="0"/>
                        <a:cs typeface="Malgun Gothic" charset="0"/>
                      </a:endParaRPr>
                    </a:p>
                    <a:p>
                      <a:pPr marL="0" indent="0">
                        <a:buNone/>
                      </a:pPr>
                      <a:r>
                        <a:rPr lang="en-US" sz="950" dirty="0">
                          <a:solidFill>
                            <a:srgbClr val="64748B"/>
                          </a:solidFill>
                          <a:latin typeface="Malgun Gothic" pitchFamily="34" charset="0"/>
                          <a:ea typeface="Malgun Gothic" pitchFamily="34" charset="-122"/>
                          <a:cs typeface="Malgun Gothic" pitchFamily="34" charset="-120"/>
                        </a:rPr>
                        <a:t>5/2~5/3 개최</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이미 알려진 이벤트로 5월 외국인 카드 이용 +26.8%(전국 +7.9%)</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신규 후보가 아닌 ‘이미 알려진 곳’ 대조군으로 분류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5742432"/>
            <a:ext cx="11091672" cy="512064"/>
          </a:xfrm>
          <a:prstGeom prst="roundRect">
            <a:avLst>
              <a:gd name="adj" fmla="val 17857"/>
            </a:avLst>
          </a:prstGeom>
          <a:solidFill>
            <a:srgbClr val="FFF4DC"/>
          </a:solidFill>
          <a:ln w="12700">
            <a:solidFill>
              <a:srgbClr val="FFF4DC"/>
            </a:solidFill>
            <a:prstDash val="solid"/>
          </a:ln>
        </p:spPr>
        <p:txBody>
          <a:bodyPr/>
          <a:lstStyle/>
          <a:p>
            <a:endParaRPr lang="ko-KR" altLang="en-US"/>
          </a:p>
        </p:txBody>
      </p:sp>
      <p:sp>
        <p:nvSpPr>
          <p:cNvPr id="8" name="Text 5"/>
          <p:cNvSpPr txBox="1"/>
          <p:nvPr/>
        </p:nvSpPr>
        <p:spPr>
          <a:xfrm>
            <a:off x="777240" y="5742432"/>
            <a:ext cx="10698480" cy="512064"/>
          </a:xfrm>
          <a:prstGeom prst="rect">
            <a:avLst/>
          </a:prstGeom>
          <a:noFill/>
          <a:ln/>
        </p:spPr>
        <p:txBody>
          <a:bodyPr wrap="square" lIns="0" tIns="0" rIns="0" bIns="0" rtlCol="0" anchor="ctr"/>
          <a:lstStyle/>
          <a:p>
            <a:pPr marL="0" indent="0">
              <a:lnSpc>
                <a:spcPct val="105000"/>
              </a:lnSpc>
              <a:buNone/>
            </a:pPr>
            <a:r>
              <a:rPr lang="en-US" sz="1000" b="1" dirty="0">
                <a:solidFill>
                  <a:srgbClr val="9A6B00"/>
                </a:solidFill>
                <a:latin typeface="Malgun Gothic" pitchFamily="34" charset="0"/>
                <a:ea typeface="Malgun Gothic" pitchFamily="34" charset="-122"/>
                <a:cs typeface="Malgun Gothic" pitchFamily="34" charset="-120"/>
              </a:rPr>
              <a:t>축제는 통째로 버리지 않았다  </a:t>
            </a:r>
            <a:r>
              <a:rPr lang="en-US" sz="1000" dirty="0">
                <a:solidFill>
                  <a:srgbClr val="14213D"/>
                </a:solidFill>
                <a:latin typeface="Malgun Gothic" pitchFamily="34" charset="0"/>
                <a:ea typeface="Malgun Gothic" pitchFamily="34" charset="-122"/>
                <a:cs typeface="Malgun Gothic" pitchFamily="34" charset="-120"/>
              </a:rPr>
              <a:t>곡성·포천·음성은 축제월을 뺀 구간으로 재계산해 순수 신호가 남는지 확인했다 — 오탐 제거(13쪽), 신호의 원인 분류(16쪽) 참고.</a:t>
            </a:r>
            <a:endParaRPr lang="en-US" sz="1000" dirty="0"/>
          </a:p>
        </p:txBody>
      </p:sp>
      <p:sp>
        <p:nvSpPr>
          <p:cNvPr id="9" name="Text 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0" name="Text 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14 / 42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신호 지도</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지도로 보면 후보 8곳은 강원·경북의 소규모 군 지역과 서해의 섬(옹진군)에 있다</a:t>
            </a:r>
            <a:endParaRPr lang="en-US" sz="2400" dirty="0"/>
          </a:p>
        </p:txBody>
      </p:sp>
      <p:pic>
        <p:nvPicPr>
          <p:cNvPr id="6" name="Image 0" descr="figs/signal_map_crop.png"/>
          <p:cNvPicPr>
            <a:picLocks noChangeAspect="1"/>
          </p:cNvPicPr>
          <p:nvPr/>
        </p:nvPicPr>
        <p:blipFill>
          <a:blip r:embed="rId3"/>
          <a:stretch>
            <a:fillRect/>
          </a:stretch>
        </p:blipFill>
        <p:spPr>
          <a:xfrm>
            <a:off x="548640" y="1691640"/>
            <a:ext cx="4480046" cy="4315968"/>
          </a:xfrm>
          <a:prstGeom prst="rect">
            <a:avLst/>
          </a:prstGeom>
        </p:spPr>
      </p:pic>
      <p:sp>
        <p:nvSpPr>
          <p:cNvPr id="7" name="Shape 4"/>
          <p:cNvSpPr/>
          <p:nvPr/>
        </p:nvSpPr>
        <p:spPr>
          <a:xfrm>
            <a:off x="5348726" y="1737360"/>
            <a:ext cx="6291586" cy="1097280"/>
          </a:xfrm>
          <a:prstGeom prst="roundRect">
            <a:avLst>
              <a:gd name="adj" fmla="val 10000"/>
            </a:avLst>
          </a:prstGeom>
          <a:solidFill>
            <a:srgbClr val="F3F6FB"/>
          </a:solidFill>
          <a:ln w="12700">
            <a:solidFill>
              <a:srgbClr val="F3F6FB"/>
            </a:solidFill>
            <a:prstDash val="solid"/>
          </a:ln>
        </p:spPr>
        <p:txBody>
          <a:bodyPr/>
          <a:lstStyle/>
          <a:p>
            <a:endParaRPr lang="ko-KR" altLang="en-US"/>
          </a:p>
        </p:txBody>
      </p:sp>
      <p:sp>
        <p:nvSpPr>
          <p:cNvPr id="8" name="Text 5"/>
          <p:cNvSpPr txBox="1"/>
          <p:nvPr/>
        </p:nvSpPr>
        <p:spPr>
          <a:xfrm>
            <a:off x="5577326" y="1916482"/>
            <a:ext cx="2743200" cy="256032"/>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지도 읽는 법</a:t>
            </a:r>
            <a:endParaRPr lang="en-US" sz="1250" dirty="0"/>
          </a:p>
        </p:txBody>
      </p:sp>
      <p:sp>
        <p:nvSpPr>
          <p:cNvPr id="9" name="Text 6"/>
          <p:cNvSpPr txBox="1"/>
          <p:nvPr/>
        </p:nvSpPr>
        <p:spPr>
          <a:xfrm>
            <a:off x="5577326" y="2203328"/>
            <a:ext cx="5834386" cy="685800"/>
          </a:xfrm>
          <a:prstGeom prst="rect">
            <a:avLst/>
          </a:prstGeom>
          <a:noFill/>
          <a:ln/>
        </p:spPr>
        <p:txBody>
          <a:bodyPr wrap="square" lIns="0" tIns="0" rIns="0" bIns="0" rtlCol="0" anchor="t"/>
          <a:lstStyle/>
          <a:p>
            <a:pPr marL="0" indent="0">
              <a:lnSpc>
                <a:spcPct val="112000"/>
              </a:lnSpc>
              <a:buNone/>
            </a:pPr>
            <a:r>
              <a:rPr lang="en-US" sz="1050" dirty="0">
                <a:solidFill>
                  <a:srgbClr val="3A475C"/>
                </a:solidFill>
                <a:latin typeface="Malgun Gothic" pitchFamily="34" charset="0"/>
                <a:ea typeface="Malgun Gothic" pitchFamily="34" charset="-122"/>
                <a:cs typeface="Malgun Gothic" pitchFamily="34" charset="-120"/>
              </a:rPr>
              <a:t>색은 시군구별 평균 상대 초과성장률(전국 동종업종 대비 · 5~6월 평균 · 외국인 이용 건수 · 저베이스 반등 4셀 제외)이다. 굵은 테두리가 후보 8곳, 점선이 대조군 보령시.</a:t>
            </a:r>
            <a:endParaRPr lang="en-US" sz="1050" dirty="0"/>
          </a:p>
        </p:txBody>
      </p:sp>
      <p:sp>
        <p:nvSpPr>
          <p:cNvPr id="10" name="Shape 7"/>
          <p:cNvSpPr/>
          <p:nvPr/>
        </p:nvSpPr>
        <p:spPr>
          <a:xfrm>
            <a:off x="5348726" y="2926080"/>
            <a:ext cx="6291586" cy="2240280"/>
          </a:xfrm>
          <a:prstGeom prst="roundRect">
            <a:avLst>
              <a:gd name="adj" fmla="val 4898"/>
            </a:avLst>
          </a:prstGeom>
          <a:solidFill>
            <a:srgbClr val="FFFFFF"/>
          </a:solidFill>
          <a:ln w="9525">
            <a:solidFill>
              <a:srgbClr val="D9E0EA"/>
            </a:solidFill>
            <a:prstDash val="solid"/>
          </a:ln>
        </p:spPr>
        <p:txBody>
          <a:bodyPr/>
          <a:lstStyle/>
          <a:p>
            <a:endParaRPr lang="ko-KR" altLang="en-US"/>
          </a:p>
        </p:txBody>
      </p:sp>
      <p:sp>
        <p:nvSpPr>
          <p:cNvPr id="11" name="Text 8"/>
          <p:cNvSpPr txBox="1"/>
          <p:nvPr/>
        </p:nvSpPr>
        <p:spPr>
          <a:xfrm>
            <a:off x="5577326" y="3055098"/>
            <a:ext cx="365760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후보는 이렇게 좁혔다</a:t>
            </a:r>
            <a:endParaRPr lang="en-US" sz="1250" dirty="0"/>
          </a:p>
        </p:txBody>
      </p:sp>
      <p:sp>
        <p:nvSpPr>
          <p:cNvPr id="12" name="Shape 9"/>
          <p:cNvSpPr/>
          <p:nvPr/>
        </p:nvSpPr>
        <p:spPr>
          <a:xfrm>
            <a:off x="5577326" y="3383280"/>
            <a:ext cx="237744" cy="237744"/>
          </a:xfrm>
          <a:prstGeom prst="ellipse">
            <a:avLst/>
          </a:prstGeom>
          <a:solidFill>
            <a:srgbClr val="0B1B33"/>
          </a:solidFill>
          <a:ln w="12700">
            <a:solidFill>
              <a:srgbClr val="E8383D"/>
            </a:solidFill>
            <a:prstDash val="solid"/>
          </a:ln>
        </p:spPr>
        <p:txBody>
          <a:bodyPr/>
          <a:lstStyle/>
          <a:p>
            <a:endParaRPr lang="ko-KR" altLang="en-US"/>
          </a:p>
        </p:txBody>
      </p:sp>
      <p:sp>
        <p:nvSpPr>
          <p:cNvPr id="13" name="Text 10"/>
          <p:cNvSpPr txBox="1"/>
          <p:nvPr/>
        </p:nvSpPr>
        <p:spPr>
          <a:xfrm>
            <a:off x="5577326" y="3383280"/>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1</a:t>
            </a:r>
            <a:endParaRPr lang="en-US" sz="950" dirty="0"/>
          </a:p>
        </p:txBody>
      </p:sp>
      <p:sp>
        <p:nvSpPr>
          <p:cNvPr id="14" name="Text 11"/>
          <p:cNvSpPr txBox="1"/>
          <p:nvPr/>
        </p:nvSpPr>
        <p:spPr>
          <a:xfrm>
            <a:off x="5952230" y="3364992"/>
            <a:ext cx="3959866" cy="274320"/>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전국 255개 시군구 × 11개 업종 (외국인 세그먼트)</a:t>
            </a:r>
            <a:endParaRPr lang="en-US" sz="1050" dirty="0"/>
          </a:p>
        </p:txBody>
      </p:sp>
      <p:sp>
        <p:nvSpPr>
          <p:cNvPr id="15" name="Text 12"/>
          <p:cNvSpPr txBox="1"/>
          <p:nvPr/>
        </p:nvSpPr>
        <p:spPr>
          <a:xfrm>
            <a:off x="9857232" y="3364992"/>
            <a:ext cx="1600200" cy="274320"/>
          </a:xfrm>
          <a:prstGeom prst="rect">
            <a:avLst/>
          </a:prstGeom>
          <a:noFill/>
          <a:ln/>
        </p:spPr>
        <p:txBody>
          <a:bodyPr wrap="square" lIns="0" tIns="0" rIns="0" bIns="0" rtlCol="0" anchor="ctr"/>
          <a:lstStyle/>
          <a:p>
            <a:pPr marL="0" indent="0" algn="r">
              <a:buNone/>
            </a:pPr>
            <a:r>
              <a:rPr lang="en-US" sz="1050" b="1" dirty="0">
                <a:solidFill>
                  <a:srgbClr val="B7232B"/>
                </a:solidFill>
                <a:latin typeface="Malgun Gothic" pitchFamily="34" charset="0"/>
                <a:ea typeface="Malgun Gothic" pitchFamily="34" charset="-122"/>
                <a:cs typeface="Malgun Gothic" pitchFamily="34" charset="-120"/>
              </a:rPr>
              <a:t>2,199개 조합</a:t>
            </a:r>
            <a:endParaRPr lang="en-US" sz="1050" dirty="0"/>
          </a:p>
        </p:txBody>
      </p:sp>
      <p:sp>
        <p:nvSpPr>
          <p:cNvPr id="16" name="Shape 13"/>
          <p:cNvSpPr/>
          <p:nvPr/>
        </p:nvSpPr>
        <p:spPr>
          <a:xfrm>
            <a:off x="5577326" y="3721608"/>
            <a:ext cx="237744" cy="237744"/>
          </a:xfrm>
          <a:prstGeom prst="ellipse">
            <a:avLst/>
          </a:prstGeom>
          <a:solidFill>
            <a:srgbClr val="0B1B33"/>
          </a:solidFill>
          <a:ln w="12700">
            <a:solidFill>
              <a:srgbClr val="E8383D"/>
            </a:solidFill>
            <a:prstDash val="solid"/>
          </a:ln>
        </p:spPr>
        <p:txBody>
          <a:bodyPr/>
          <a:lstStyle/>
          <a:p>
            <a:endParaRPr lang="ko-KR" altLang="en-US"/>
          </a:p>
        </p:txBody>
      </p:sp>
      <p:sp>
        <p:nvSpPr>
          <p:cNvPr id="17" name="Text 14"/>
          <p:cNvSpPr txBox="1"/>
          <p:nvPr/>
        </p:nvSpPr>
        <p:spPr>
          <a:xfrm>
            <a:off x="5577326" y="3721608"/>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2</a:t>
            </a:r>
            <a:endParaRPr lang="en-US" sz="950" dirty="0"/>
          </a:p>
        </p:txBody>
      </p:sp>
      <p:sp>
        <p:nvSpPr>
          <p:cNvPr id="18" name="Text 15"/>
          <p:cNvSpPr txBox="1"/>
          <p:nvPr/>
        </p:nvSpPr>
        <p:spPr>
          <a:xfrm>
            <a:off x="5952230" y="3703320"/>
            <a:ext cx="3959866" cy="274320"/>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최소건수 필터 (누적 ≥200 · 최근월 ≥30)</a:t>
            </a:r>
            <a:endParaRPr lang="en-US" sz="1050" dirty="0"/>
          </a:p>
        </p:txBody>
      </p:sp>
      <p:sp>
        <p:nvSpPr>
          <p:cNvPr id="19" name="Text 16"/>
          <p:cNvSpPr txBox="1"/>
          <p:nvPr/>
        </p:nvSpPr>
        <p:spPr>
          <a:xfrm>
            <a:off x="9857232" y="3703320"/>
            <a:ext cx="1600200" cy="274320"/>
          </a:xfrm>
          <a:prstGeom prst="rect">
            <a:avLst/>
          </a:prstGeom>
          <a:noFill/>
          <a:ln/>
        </p:spPr>
        <p:txBody>
          <a:bodyPr wrap="square" lIns="0" tIns="0" rIns="0" bIns="0" rtlCol="0" anchor="ctr"/>
          <a:lstStyle/>
          <a:p>
            <a:pPr marL="0" indent="0" algn="r">
              <a:buNone/>
            </a:pPr>
            <a:r>
              <a:rPr lang="en-US" sz="1050" b="1" dirty="0">
                <a:solidFill>
                  <a:srgbClr val="B7232B"/>
                </a:solidFill>
                <a:latin typeface="Malgun Gothic" pitchFamily="34" charset="0"/>
                <a:ea typeface="Malgun Gothic" pitchFamily="34" charset="-122"/>
                <a:cs typeface="Malgun Gothic" pitchFamily="34" charset="-120"/>
              </a:rPr>
              <a:t>2,111개</a:t>
            </a:r>
            <a:endParaRPr lang="en-US" sz="1050" dirty="0"/>
          </a:p>
        </p:txBody>
      </p:sp>
      <p:sp>
        <p:nvSpPr>
          <p:cNvPr id="20" name="Shape 17"/>
          <p:cNvSpPr/>
          <p:nvPr/>
        </p:nvSpPr>
        <p:spPr>
          <a:xfrm>
            <a:off x="5577326" y="4059936"/>
            <a:ext cx="237744" cy="237744"/>
          </a:xfrm>
          <a:prstGeom prst="ellipse">
            <a:avLst/>
          </a:prstGeom>
          <a:solidFill>
            <a:srgbClr val="0B1B33"/>
          </a:solidFill>
          <a:ln w="12700">
            <a:solidFill>
              <a:srgbClr val="E8383D"/>
            </a:solidFill>
            <a:prstDash val="solid"/>
          </a:ln>
        </p:spPr>
        <p:txBody>
          <a:bodyPr/>
          <a:lstStyle/>
          <a:p>
            <a:endParaRPr lang="ko-KR" altLang="en-US"/>
          </a:p>
        </p:txBody>
      </p:sp>
      <p:sp>
        <p:nvSpPr>
          <p:cNvPr id="21" name="Text 18"/>
          <p:cNvSpPr txBox="1"/>
          <p:nvPr/>
        </p:nvSpPr>
        <p:spPr>
          <a:xfrm>
            <a:off x="5577326" y="4059936"/>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3</a:t>
            </a:r>
            <a:endParaRPr lang="en-US" sz="950" dirty="0"/>
          </a:p>
        </p:txBody>
      </p:sp>
      <p:sp>
        <p:nvSpPr>
          <p:cNvPr id="22" name="Text 19"/>
          <p:cNvSpPr txBox="1"/>
          <p:nvPr/>
        </p:nvSpPr>
        <p:spPr>
          <a:xfrm>
            <a:off x="5952230" y="4041648"/>
            <a:ext cx="3959866" cy="274320"/>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상대 초과성장률 스코어링 → 상위 육안 검수</a:t>
            </a:r>
            <a:endParaRPr lang="en-US" sz="1050" dirty="0"/>
          </a:p>
        </p:txBody>
      </p:sp>
      <p:sp>
        <p:nvSpPr>
          <p:cNvPr id="23" name="Text 20"/>
          <p:cNvSpPr txBox="1"/>
          <p:nvPr/>
        </p:nvSpPr>
        <p:spPr>
          <a:xfrm>
            <a:off x="9857232" y="4041648"/>
            <a:ext cx="1600200" cy="274320"/>
          </a:xfrm>
          <a:prstGeom prst="rect">
            <a:avLst/>
          </a:prstGeom>
          <a:noFill/>
          <a:ln/>
        </p:spPr>
        <p:txBody>
          <a:bodyPr wrap="square" lIns="0" tIns="0" rIns="0" bIns="0" rtlCol="0" anchor="ctr"/>
          <a:lstStyle/>
          <a:p>
            <a:pPr marL="0" indent="0" algn="r">
              <a:buNone/>
            </a:pPr>
            <a:r>
              <a:rPr lang="en-US" sz="1050" b="1" dirty="0">
                <a:solidFill>
                  <a:srgbClr val="B7232B"/>
                </a:solidFill>
                <a:latin typeface="Malgun Gothic" pitchFamily="34" charset="0"/>
                <a:ea typeface="Malgun Gothic" pitchFamily="34" charset="-122"/>
                <a:cs typeface="Malgun Gothic" pitchFamily="34" charset="-120"/>
              </a:rPr>
              <a:t>아티팩트 제외</a:t>
            </a:r>
            <a:endParaRPr lang="en-US" sz="1050" dirty="0"/>
          </a:p>
        </p:txBody>
      </p:sp>
      <p:sp>
        <p:nvSpPr>
          <p:cNvPr id="24" name="Shape 21"/>
          <p:cNvSpPr/>
          <p:nvPr/>
        </p:nvSpPr>
        <p:spPr>
          <a:xfrm>
            <a:off x="5577326" y="4398264"/>
            <a:ext cx="237744" cy="237744"/>
          </a:xfrm>
          <a:prstGeom prst="ellipse">
            <a:avLst/>
          </a:prstGeom>
          <a:solidFill>
            <a:srgbClr val="0B1B33"/>
          </a:solidFill>
          <a:ln w="12700">
            <a:solidFill>
              <a:srgbClr val="E8383D"/>
            </a:solidFill>
            <a:prstDash val="solid"/>
          </a:ln>
        </p:spPr>
        <p:txBody>
          <a:bodyPr/>
          <a:lstStyle/>
          <a:p>
            <a:endParaRPr lang="ko-KR" altLang="en-US"/>
          </a:p>
        </p:txBody>
      </p:sp>
      <p:sp>
        <p:nvSpPr>
          <p:cNvPr id="25" name="Text 22"/>
          <p:cNvSpPr txBox="1"/>
          <p:nvPr/>
        </p:nvSpPr>
        <p:spPr>
          <a:xfrm>
            <a:off x="5577326" y="439826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4</a:t>
            </a:r>
            <a:endParaRPr lang="en-US" sz="950" dirty="0"/>
          </a:p>
        </p:txBody>
      </p:sp>
      <p:sp>
        <p:nvSpPr>
          <p:cNvPr id="26" name="Text 23"/>
          <p:cNvSpPr txBox="1"/>
          <p:nvPr/>
        </p:nvSpPr>
        <p:spPr>
          <a:xfrm>
            <a:off x="5952230" y="4379976"/>
            <a:ext cx="3959866" cy="274320"/>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시군구 단위 재집계 · 교차검증</a:t>
            </a:r>
            <a:endParaRPr lang="en-US" sz="1050" dirty="0"/>
          </a:p>
        </p:txBody>
      </p:sp>
      <p:sp>
        <p:nvSpPr>
          <p:cNvPr id="27" name="Text 24"/>
          <p:cNvSpPr txBox="1"/>
          <p:nvPr/>
        </p:nvSpPr>
        <p:spPr>
          <a:xfrm>
            <a:off x="9857232" y="4379976"/>
            <a:ext cx="1600200" cy="274320"/>
          </a:xfrm>
          <a:prstGeom prst="rect">
            <a:avLst/>
          </a:prstGeom>
          <a:noFill/>
          <a:ln/>
        </p:spPr>
        <p:txBody>
          <a:bodyPr wrap="square" lIns="0" tIns="0" rIns="0" bIns="0" rtlCol="0" anchor="ctr"/>
          <a:lstStyle/>
          <a:p>
            <a:pPr marL="0" indent="0" algn="r">
              <a:buNone/>
            </a:pPr>
            <a:r>
              <a:rPr lang="en-US" sz="1050" b="1" dirty="0">
                <a:solidFill>
                  <a:srgbClr val="B7232B"/>
                </a:solidFill>
                <a:latin typeface="Malgun Gothic" pitchFamily="34" charset="0"/>
                <a:ea typeface="Malgun Gothic" pitchFamily="34" charset="-122"/>
                <a:cs typeface="Malgun Gothic" pitchFamily="34" charset="-120"/>
              </a:rPr>
              <a:t>유력 지역 압축</a:t>
            </a:r>
            <a:endParaRPr lang="en-US" sz="1050" dirty="0"/>
          </a:p>
        </p:txBody>
      </p:sp>
      <p:sp>
        <p:nvSpPr>
          <p:cNvPr id="28" name="Shape 25"/>
          <p:cNvSpPr/>
          <p:nvPr/>
        </p:nvSpPr>
        <p:spPr>
          <a:xfrm>
            <a:off x="5577326" y="4736592"/>
            <a:ext cx="237744" cy="237744"/>
          </a:xfrm>
          <a:prstGeom prst="ellipse">
            <a:avLst/>
          </a:prstGeom>
          <a:solidFill>
            <a:srgbClr val="E8383D"/>
          </a:solidFill>
          <a:ln w="12700">
            <a:solidFill>
              <a:srgbClr val="E8383D"/>
            </a:solidFill>
            <a:prstDash val="solid"/>
          </a:ln>
        </p:spPr>
        <p:txBody>
          <a:bodyPr/>
          <a:lstStyle/>
          <a:p>
            <a:endParaRPr lang="ko-KR" altLang="en-US"/>
          </a:p>
        </p:txBody>
      </p:sp>
      <p:sp>
        <p:nvSpPr>
          <p:cNvPr id="29" name="Text 26"/>
          <p:cNvSpPr txBox="1"/>
          <p:nvPr/>
        </p:nvSpPr>
        <p:spPr>
          <a:xfrm>
            <a:off x="5577326" y="4736592"/>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5</a:t>
            </a:r>
            <a:endParaRPr lang="en-US" sz="950" dirty="0"/>
          </a:p>
        </p:txBody>
      </p:sp>
      <p:sp>
        <p:nvSpPr>
          <p:cNvPr id="30" name="Text 27"/>
          <p:cNvSpPr txBox="1"/>
          <p:nvPr/>
        </p:nvSpPr>
        <p:spPr>
          <a:xfrm>
            <a:off x="5952230" y="4718304"/>
            <a:ext cx="3959866" cy="274320"/>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개별 추이 · 원인(뉴스) 검증</a:t>
            </a:r>
            <a:endParaRPr lang="en-US" sz="1050" dirty="0"/>
          </a:p>
        </p:txBody>
      </p:sp>
      <p:sp>
        <p:nvSpPr>
          <p:cNvPr id="31" name="Text 28"/>
          <p:cNvSpPr txBox="1"/>
          <p:nvPr/>
        </p:nvSpPr>
        <p:spPr>
          <a:xfrm>
            <a:off x="9857232" y="4718304"/>
            <a:ext cx="1600200" cy="274320"/>
          </a:xfrm>
          <a:prstGeom prst="rect">
            <a:avLst/>
          </a:prstGeom>
          <a:noFill/>
          <a:ln/>
        </p:spPr>
        <p:txBody>
          <a:bodyPr wrap="square" lIns="0" tIns="0" rIns="0" bIns="0" rtlCol="0" anchor="ctr"/>
          <a:lstStyle/>
          <a:p>
            <a:pPr marL="0" indent="0" algn="r">
              <a:buNone/>
            </a:pPr>
            <a:r>
              <a:rPr lang="en-US" sz="1050" b="1" dirty="0">
                <a:solidFill>
                  <a:srgbClr val="E8383D"/>
                </a:solidFill>
                <a:latin typeface="Malgun Gothic" pitchFamily="34" charset="0"/>
                <a:ea typeface="Malgun Gothic" pitchFamily="34" charset="-122"/>
                <a:cs typeface="Malgun Gothic" pitchFamily="34" charset="-120"/>
              </a:rPr>
              <a:t>후보 8곳 + 대조군</a:t>
            </a:r>
            <a:endParaRPr lang="en-US" sz="1050" dirty="0"/>
          </a:p>
        </p:txBody>
      </p:sp>
      <p:sp>
        <p:nvSpPr>
          <p:cNvPr id="32" name="Shape 29"/>
          <p:cNvSpPr/>
          <p:nvPr/>
        </p:nvSpPr>
        <p:spPr>
          <a:xfrm>
            <a:off x="5348726" y="5257800"/>
            <a:ext cx="6291586" cy="713232"/>
          </a:xfrm>
          <a:prstGeom prst="roundRect">
            <a:avLst>
              <a:gd name="adj" fmla="val 15385"/>
            </a:avLst>
          </a:prstGeom>
          <a:solidFill>
            <a:srgbClr val="FFF4DC"/>
          </a:solidFill>
          <a:ln w="12700">
            <a:solidFill>
              <a:srgbClr val="FFF4DC"/>
            </a:solidFill>
            <a:prstDash val="solid"/>
          </a:ln>
        </p:spPr>
        <p:txBody>
          <a:bodyPr/>
          <a:lstStyle/>
          <a:p>
            <a:endParaRPr lang="ko-KR" altLang="en-US"/>
          </a:p>
        </p:txBody>
      </p:sp>
      <p:sp>
        <p:nvSpPr>
          <p:cNvPr id="33" name="Text 30"/>
          <p:cNvSpPr txBox="1"/>
          <p:nvPr/>
        </p:nvSpPr>
        <p:spPr>
          <a:xfrm>
            <a:off x="5577326" y="5257800"/>
            <a:ext cx="5834386" cy="713232"/>
          </a:xfrm>
          <a:prstGeom prst="rect">
            <a:avLst/>
          </a:prstGeom>
          <a:noFill/>
          <a:ln/>
        </p:spPr>
        <p:txBody>
          <a:bodyPr wrap="square" lIns="0" tIns="0" rIns="0" bIns="0" rtlCol="0" anchor="ctr"/>
          <a:lstStyle/>
          <a:p>
            <a:pPr marL="0" indent="0">
              <a:lnSpc>
                <a:spcPct val="110000"/>
              </a:lnSpc>
              <a:buNone/>
            </a:pPr>
            <a:r>
              <a:rPr lang="en-US" sz="1050" b="1" dirty="0">
                <a:solidFill>
                  <a:srgbClr val="9A6B00"/>
                </a:solidFill>
                <a:latin typeface="Malgun Gothic" pitchFamily="34" charset="0"/>
                <a:ea typeface="Malgun Gothic" pitchFamily="34" charset="-122"/>
                <a:cs typeface="Malgun Gothic" pitchFamily="34" charset="-120"/>
              </a:rPr>
              <a:t>붉은색이 곧 </a:t>
            </a:r>
            <a:r>
              <a:rPr lang="en-US" sz="1050" b="1" dirty="0" err="1">
                <a:solidFill>
                  <a:srgbClr val="9A6B00"/>
                </a:solidFill>
                <a:latin typeface="Malgun Gothic" pitchFamily="34" charset="0"/>
                <a:ea typeface="Malgun Gothic" pitchFamily="34" charset="-122"/>
                <a:cs typeface="Malgun Gothic" pitchFamily="34" charset="-120"/>
              </a:rPr>
              <a:t>후보는</a:t>
            </a:r>
            <a:r>
              <a:rPr lang="en-US" sz="1050" b="1" dirty="0">
                <a:solidFill>
                  <a:srgbClr val="9A6B00"/>
                </a:solidFill>
                <a:latin typeface="Malgun Gothic" pitchFamily="34" charset="0"/>
                <a:ea typeface="Malgun Gothic" pitchFamily="34" charset="-122"/>
                <a:cs typeface="Malgun Gothic" pitchFamily="34" charset="-120"/>
              </a:rPr>
              <a:t> </a:t>
            </a:r>
            <a:r>
              <a:rPr lang="en-US" sz="1050" b="1" dirty="0" err="1">
                <a:solidFill>
                  <a:srgbClr val="9A6B00"/>
                </a:solidFill>
                <a:latin typeface="Malgun Gothic" pitchFamily="34" charset="0"/>
                <a:ea typeface="Malgun Gothic" pitchFamily="34" charset="-122"/>
                <a:cs typeface="Malgun Gothic" pitchFamily="34" charset="-120"/>
              </a:rPr>
              <a:t>아니다</a:t>
            </a:r>
            <a:endParaRPr lang="en-US" sz="1050" b="1" dirty="0">
              <a:solidFill>
                <a:srgbClr val="9A6B00"/>
              </a:solidFill>
              <a:latin typeface="Malgun Gothic" pitchFamily="34" charset="0"/>
              <a:ea typeface="Malgun Gothic" pitchFamily="34" charset="-122"/>
              <a:cs typeface="Malgun Gothic" pitchFamily="34" charset="-120"/>
            </a:endParaRPr>
          </a:p>
          <a:p>
            <a:pPr marL="0" indent="0">
              <a:lnSpc>
                <a:spcPct val="110000"/>
              </a:lnSpc>
              <a:buNone/>
            </a:pPr>
            <a:r>
              <a:rPr lang="en-US" sz="1050" dirty="0" err="1">
                <a:solidFill>
                  <a:srgbClr val="14213D"/>
                </a:solidFill>
                <a:latin typeface="Malgun Gothic" pitchFamily="34" charset="0"/>
                <a:ea typeface="Malgun Gothic" pitchFamily="34" charset="-122"/>
                <a:cs typeface="Malgun Gothic" pitchFamily="34" charset="-120"/>
              </a:rPr>
              <a:t>함평군처럼</a:t>
            </a:r>
            <a:r>
              <a:rPr lang="en-US" sz="1050" dirty="0">
                <a:solidFill>
                  <a:srgbClr val="14213D"/>
                </a:solidFill>
                <a:latin typeface="Malgun Gothic" pitchFamily="34" charset="0"/>
                <a:ea typeface="Malgun Gothic" pitchFamily="34" charset="-122"/>
                <a:cs typeface="Malgun Gothic" pitchFamily="34" charset="-120"/>
              </a:rPr>
              <a:t> 후보 밖에도 진한 곳이 있다(중국음식 한 업종의 튐이 평균을 끌어올림). </a:t>
            </a:r>
          </a:p>
          <a:p>
            <a:pPr marL="0" indent="0">
              <a:lnSpc>
                <a:spcPct val="110000"/>
              </a:lnSpc>
              <a:buNone/>
            </a:pPr>
            <a:r>
              <a:rPr lang="en-US" sz="1050" dirty="0" err="1">
                <a:solidFill>
                  <a:srgbClr val="14213D"/>
                </a:solidFill>
                <a:latin typeface="Malgun Gothic" pitchFamily="34" charset="0"/>
                <a:ea typeface="Malgun Gothic" pitchFamily="34" charset="-122"/>
                <a:cs typeface="Malgun Gothic" pitchFamily="34" charset="-120"/>
              </a:rPr>
              <a:t>후보는</a:t>
            </a:r>
            <a:r>
              <a:rPr lang="en-US" sz="1050" dirty="0">
                <a:solidFill>
                  <a:srgbClr val="14213D"/>
                </a:solidFill>
                <a:latin typeface="Malgun Gothic" pitchFamily="34" charset="0"/>
                <a:ea typeface="Malgun Gothic" pitchFamily="34" charset="-122"/>
                <a:cs typeface="Malgun Gothic" pitchFamily="34" charset="-120"/>
              </a:rPr>
              <a:t> 여러 업종의 동시 신호 · 아티팩트 검수 · 개별 뉴스 검증을 거친 곳만 남겼다.</a:t>
            </a:r>
            <a:endParaRPr lang="en-US" sz="1050" dirty="0"/>
          </a:p>
        </p:txBody>
      </p:sp>
      <p:sp>
        <p:nvSpPr>
          <p:cNvPr id="34" name="Text 31"/>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5" name="Text 32"/>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15 / 42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신호의 원인 분류</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신호의 원인을 먼저 가른다 — 세 가지 교란 요인과 후보의 Track 분류</a:t>
            </a:r>
            <a:endParaRPr lang="en-US" sz="2400" dirty="0"/>
          </a:p>
        </p:txBody>
      </p:sp>
      <p:sp>
        <p:nvSpPr>
          <p:cNvPr id="6" name="Text 4"/>
          <p:cNvSpPr txBox="1"/>
          <p:nvPr/>
        </p:nvSpPr>
        <p:spPr>
          <a:xfrm>
            <a:off x="548640" y="1656692"/>
            <a:ext cx="4572000" cy="256032"/>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신호를 부풀리는 세 가지 요인</a:t>
            </a:r>
            <a:endParaRPr lang="en-US" sz="1250" dirty="0"/>
          </a:p>
        </p:txBody>
      </p:sp>
      <p:sp>
        <p:nvSpPr>
          <p:cNvPr id="7" name="Shape 5"/>
          <p:cNvSpPr/>
          <p:nvPr/>
        </p:nvSpPr>
        <p:spPr>
          <a:xfrm>
            <a:off x="548640" y="1975104"/>
            <a:ext cx="3520440" cy="1737360"/>
          </a:xfrm>
          <a:prstGeom prst="roundRect">
            <a:avLst>
              <a:gd name="adj" fmla="val 6316"/>
            </a:avLst>
          </a:prstGeom>
          <a:solidFill>
            <a:srgbClr val="F3F6FB"/>
          </a:solidFill>
          <a:ln w="12700">
            <a:solidFill>
              <a:srgbClr val="F3F6FB"/>
            </a:solidFill>
            <a:prstDash val="solid"/>
          </a:ln>
        </p:spPr>
        <p:txBody>
          <a:bodyPr/>
          <a:lstStyle/>
          <a:p>
            <a:endParaRPr lang="ko-KR" altLang="en-US"/>
          </a:p>
        </p:txBody>
      </p:sp>
      <p:sp>
        <p:nvSpPr>
          <p:cNvPr id="8" name="Shape 6"/>
          <p:cNvSpPr/>
          <p:nvPr/>
        </p:nvSpPr>
        <p:spPr>
          <a:xfrm>
            <a:off x="731520" y="2121408"/>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9" name="Text 7"/>
          <p:cNvSpPr txBox="1"/>
          <p:nvPr/>
        </p:nvSpPr>
        <p:spPr>
          <a:xfrm>
            <a:off x="731520" y="21214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0" name="Text 8"/>
          <p:cNvSpPr txBox="1"/>
          <p:nvPr/>
        </p:nvSpPr>
        <p:spPr>
          <a:xfrm>
            <a:off x="1188720" y="2121408"/>
            <a:ext cx="1828800" cy="329184"/>
          </a:xfrm>
          <a:prstGeom prst="rect">
            <a:avLst/>
          </a:prstGeom>
          <a:noFill/>
          <a:ln/>
        </p:spPr>
        <p:txBody>
          <a:bodyPr wrap="square" lIns="0" tIns="0" rIns="0" bIns="0" rtlCol="0" anchor="ctr"/>
          <a:lstStyle/>
          <a:p>
            <a:pPr marL="0" indent="0">
              <a:buNone/>
            </a:pPr>
            <a:r>
              <a:rPr lang="en-US" sz="1350" b="1" dirty="0">
                <a:solidFill>
                  <a:srgbClr val="14213D"/>
                </a:solidFill>
                <a:latin typeface="Malgun Gothic" pitchFamily="34" charset="0"/>
                <a:ea typeface="Malgun Gothic" pitchFamily="34" charset="-122"/>
                <a:cs typeface="Malgun Gothic" pitchFamily="34" charset="-120"/>
              </a:rPr>
              <a:t>계절 요인</a:t>
            </a:r>
            <a:endParaRPr lang="en-US" sz="1350" dirty="0"/>
          </a:p>
        </p:txBody>
      </p:sp>
      <p:sp>
        <p:nvSpPr>
          <p:cNvPr id="11" name="Shape 9"/>
          <p:cNvSpPr/>
          <p:nvPr/>
        </p:nvSpPr>
        <p:spPr>
          <a:xfrm>
            <a:off x="3200400" y="2157984"/>
            <a:ext cx="685800" cy="23774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2" name="Text 10"/>
          <p:cNvSpPr txBox="1"/>
          <p:nvPr/>
        </p:nvSpPr>
        <p:spPr>
          <a:xfrm>
            <a:off x="3200400" y="2157984"/>
            <a:ext cx="685800" cy="237744"/>
          </a:xfrm>
          <a:prstGeom prst="rect">
            <a:avLst/>
          </a:prstGeom>
          <a:noFill/>
          <a:ln/>
        </p:spPr>
        <p:txBody>
          <a:bodyPr wrap="square" lIns="0" tIns="0" rIns="0" bIns="0" rtlCol="0" anchor="ctr"/>
          <a:lstStyle/>
          <a:p>
            <a:pPr marL="0" indent="0" algn="ctr">
              <a:buNone/>
            </a:pPr>
            <a:r>
              <a:rPr lang="en-US" sz="900" b="1" dirty="0">
                <a:solidFill>
                  <a:srgbClr val="64748B"/>
                </a:solidFill>
                <a:latin typeface="Malgun Gothic" pitchFamily="34" charset="0"/>
                <a:ea typeface="Malgun Gothic" pitchFamily="34" charset="-122"/>
                <a:cs typeface="Malgun Gothic" pitchFamily="34" charset="-120"/>
              </a:rPr>
              <a:t>12쪽</a:t>
            </a:r>
            <a:endParaRPr lang="en-US" sz="900" dirty="0"/>
          </a:p>
        </p:txBody>
      </p:sp>
      <p:sp>
        <p:nvSpPr>
          <p:cNvPr id="13" name="Text 11"/>
          <p:cNvSpPr txBox="1"/>
          <p:nvPr/>
        </p:nvSpPr>
        <p:spPr>
          <a:xfrm>
            <a:off x="749808" y="2578608"/>
            <a:ext cx="3118104" cy="566928"/>
          </a:xfrm>
          <a:prstGeom prst="rect">
            <a:avLst/>
          </a:prstGeom>
          <a:noFill/>
          <a:ln/>
        </p:spPr>
        <p:txBody>
          <a:bodyPr wrap="square" lIns="0" tIns="0" rIns="0" bIns="0" rtlCol="0" anchor="t"/>
          <a:lstStyle/>
          <a:p>
            <a:pPr marL="0" indent="0">
              <a:lnSpc>
                <a:spcPct val="108000"/>
              </a:lnSpc>
              <a:buNone/>
            </a:pPr>
            <a:r>
              <a:rPr lang="en-US" sz="950" b="1" dirty="0" err="1">
                <a:solidFill>
                  <a:srgbClr val="B7232B"/>
                </a:solidFill>
                <a:latin typeface="Malgun Gothic" pitchFamily="34" charset="0"/>
                <a:ea typeface="Malgun Gothic" pitchFamily="34" charset="-122"/>
                <a:cs typeface="Malgun Gothic" pitchFamily="34" charset="-120"/>
              </a:rPr>
              <a:t>문제</a:t>
            </a:r>
            <a:r>
              <a:rPr lang="en-US" sz="950" b="1" dirty="0">
                <a:solidFill>
                  <a:srgbClr val="B7232B"/>
                </a:solidFill>
                <a:latin typeface="Malgun Gothic" pitchFamily="34" charset="0"/>
                <a:ea typeface="Malgun Gothic" pitchFamily="34" charset="-122"/>
                <a:cs typeface="Malgun Gothic" pitchFamily="34" charset="-120"/>
              </a:rPr>
              <a:t>  </a:t>
            </a:r>
            <a:r>
              <a:rPr lang="en-US" sz="950" dirty="0" err="1">
                <a:solidFill>
                  <a:srgbClr val="3A475C"/>
                </a:solidFill>
                <a:latin typeface="Malgun Gothic" pitchFamily="34" charset="0"/>
                <a:ea typeface="Malgun Gothic" pitchFamily="34" charset="-122"/>
                <a:cs typeface="Malgun Gothic" pitchFamily="34" charset="-120"/>
              </a:rPr>
              <a:t>업종</a:t>
            </a:r>
            <a:r>
              <a:rPr lang="en-US" sz="950" dirty="0">
                <a:solidFill>
                  <a:srgbClr val="3A475C"/>
                </a:solidFill>
                <a:latin typeface="Malgun Gothic" pitchFamily="34" charset="0"/>
                <a:ea typeface="Malgun Gothic" pitchFamily="34" charset="-122"/>
                <a:cs typeface="Malgun Gothic" pitchFamily="34" charset="-120"/>
              </a:rPr>
              <a:t> 공통의 계절 흐름(예: 3월 전국 +16.6%, 스키장 상권)이 증가율을 부풀린다.</a:t>
            </a:r>
            <a:endParaRPr lang="en-US" sz="950" dirty="0"/>
          </a:p>
        </p:txBody>
      </p:sp>
      <p:sp>
        <p:nvSpPr>
          <p:cNvPr id="14" name="Text 12"/>
          <p:cNvSpPr txBox="1"/>
          <p:nvPr/>
        </p:nvSpPr>
        <p:spPr>
          <a:xfrm>
            <a:off x="749808" y="3163824"/>
            <a:ext cx="3118104" cy="512064"/>
          </a:xfrm>
          <a:prstGeom prst="rect">
            <a:avLst/>
          </a:prstGeom>
          <a:noFill/>
          <a:ln/>
        </p:spPr>
        <p:txBody>
          <a:bodyPr wrap="square" lIns="0" tIns="0" rIns="0" bIns="0" rtlCol="0" anchor="t"/>
          <a:lstStyle/>
          <a:p>
            <a:pPr marL="0" indent="0">
              <a:lnSpc>
                <a:spcPct val="108000"/>
              </a:lnSpc>
              <a:buNone/>
            </a:pPr>
            <a:r>
              <a:rPr lang="en-US" sz="950" b="1" dirty="0" err="1">
                <a:solidFill>
                  <a:srgbClr val="0B7A6D"/>
                </a:solidFill>
                <a:latin typeface="Malgun Gothic" pitchFamily="34" charset="0"/>
                <a:ea typeface="Malgun Gothic" pitchFamily="34" charset="-122"/>
                <a:cs typeface="Malgun Gothic" pitchFamily="34" charset="-120"/>
              </a:rPr>
              <a:t>처리</a:t>
            </a:r>
            <a:r>
              <a:rPr lang="en-US" sz="950" b="1" dirty="0">
                <a:solidFill>
                  <a:srgbClr val="0B7A6D"/>
                </a:solidFill>
                <a:latin typeface="Malgun Gothic" pitchFamily="34" charset="0"/>
                <a:ea typeface="Malgun Gothic" pitchFamily="34" charset="-122"/>
                <a:cs typeface="Malgun Gothic" pitchFamily="34" charset="-120"/>
              </a:rPr>
              <a:t>  </a:t>
            </a:r>
            <a:r>
              <a:rPr lang="en-US" sz="950" dirty="0" err="1">
                <a:solidFill>
                  <a:srgbClr val="14213D"/>
                </a:solidFill>
                <a:latin typeface="Malgun Gothic" pitchFamily="34" charset="0"/>
                <a:ea typeface="Malgun Gothic" pitchFamily="34" charset="-122"/>
                <a:cs typeface="Malgun Gothic" pitchFamily="34" charset="-120"/>
              </a:rPr>
              <a:t>전국</a:t>
            </a:r>
            <a:r>
              <a:rPr lang="en-US" sz="950" dirty="0">
                <a:solidFill>
                  <a:srgbClr val="14213D"/>
                </a:solidFill>
                <a:latin typeface="Malgun Gothic" pitchFamily="34" charset="0"/>
                <a:ea typeface="Malgun Gothic" pitchFamily="34" charset="-122"/>
                <a:cs typeface="Malgun Gothic" pitchFamily="34" charset="-120"/>
              </a:rPr>
              <a:t> 같은 업종의 증가율을 뺀 ‘상대 초과성장률’로 정의</a:t>
            </a:r>
            <a:endParaRPr lang="en-US" sz="950" dirty="0"/>
          </a:p>
        </p:txBody>
      </p:sp>
      <p:sp>
        <p:nvSpPr>
          <p:cNvPr id="15" name="Shape 13"/>
          <p:cNvSpPr/>
          <p:nvPr/>
        </p:nvSpPr>
        <p:spPr>
          <a:xfrm>
            <a:off x="4334256" y="1975104"/>
            <a:ext cx="3520440" cy="1737360"/>
          </a:xfrm>
          <a:prstGeom prst="roundRect">
            <a:avLst>
              <a:gd name="adj" fmla="val 6316"/>
            </a:avLst>
          </a:prstGeom>
          <a:solidFill>
            <a:srgbClr val="F3F6FB"/>
          </a:solidFill>
          <a:ln w="12700">
            <a:solidFill>
              <a:srgbClr val="F3F6FB"/>
            </a:solidFill>
            <a:prstDash val="solid"/>
          </a:ln>
        </p:spPr>
        <p:txBody>
          <a:bodyPr/>
          <a:lstStyle/>
          <a:p>
            <a:endParaRPr lang="ko-KR" altLang="en-US"/>
          </a:p>
        </p:txBody>
      </p:sp>
      <p:sp>
        <p:nvSpPr>
          <p:cNvPr id="16" name="Shape 14"/>
          <p:cNvSpPr/>
          <p:nvPr/>
        </p:nvSpPr>
        <p:spPr>
          <a:xfrm>
            <a:off x="4517136" y="2121408"/>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7" name="Text 15"/>
          <p:cNvSpPr txBox="1"/>
          <p:nvPr/>
        </p:nvSpPr>
        <p:spPr>
          <a:xfrm>
            <a:off x="4517136" y="21214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8" name="Text 16"/>
          <p:cNvSpPr txBox="1"/>
          <p:nvPr/>
        </p:nvSpPr>
        <p:spPr>
          <a:xfrm>
            <a:off x="4974336" y="2121408"/>
            <a:ext cx="1828800" cy="329184"/>
          </a:xfrm>
          <a:prstGeom prst="rect">
            <a:avLst/>
          </a:prstGeom>
          <a:noFill/>
          <a:ln/>
        </p:spPr>
        <p:txBody>
          <a:bodyPr wrap="square" lIns="0" tIns="0" rIns="0" bIns="0" rtlCol="0" anchor="ctr"/>
          <a:lstStyle/>
          <a:p>
            <a:pPr marL="0" indent="0">
              <a:buNone/>
            </a:pPr>
            <a:r>
              <a:rPr lang="en-US" sz="1350" b="1" dirty="0">
                <a:solidFill>
                  <a:srgbClr val="14213D"/>
                </a:solidFill>
                <a:latin typeface="Malgun Gothic" pitchFamily="34" charset="0"/>
                <a:ea typeface="Malgun Gothic" pitchFamily="34" charset="-122"/>
                <a:cs typeface="Malgun Gothic" pitchFamily="34" charset="-120"/>
              </a:rPr>
              <a:t>지역 축제</a:t>
            </a:r>
            <a:endParaRPr lang="en-US" sz="1350" dirty="0"/>
          </a:p>
        </p:txBody>
      </p:sp>
      <p:sp>
        <p:nvSpPr>
          <p:cNvPr id="19" name="Shape 17"/>
          <p:cNvSpPr/>
          <p:nvPr/>
        </p:nvSpPr>
        <p:spPr>
          <a:xfrm>
            <a:off x="6986016" y="2157984"/>
            <a:ext cx="685800" cy="23774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0" name="Text 18"/>
          <p:cNvSpPr txBox="1"/>
          <p:nvPr/>
        </p:nvSpPr>
        <p:spPr>
          <a:xfrm>
            <a:off x="6986016" y="2157984"/>
            <a:ext cx="685800" cy="237744"/>
          </a:xfrm>
          <a:prstGeom prst="rect">
            <a:avLst/>
          </a:prstGeom>
          <a:noFill/>
          <a:ln/>
        </p:spPr>
        <p:txBody>
          <a:bodyPr wrap="square" lIns="0" tIns="0" rIns="0" bIns="0" rtlCol="0" anchor="ctr"/>
          <a:lstStyle/>
          <a:p>
            <a:pPr marL="0" indent="0" algn="ctr">
              <a:buNone/>
            </a:pPr>
            <a:r>
              <a:rPr lang="en-US" sz="900" b="1" dirty="0">
                <a:solidFill>
                  <a:srgbClr val="64748B"/>
                </a:solidFill>
                <a:latin typeface="Malgun Gothic" pitchFamily="34" charset="0"/>
                <a:ea typeface="Malgun Gothic" pitchFamily="34" charset="-122"/>
                <a:cs typeface="Malgun Gothic" pitchFamily="34" charset="-120"/>
              </a:rPr>
              <a:t>14쪽</a:t>
            </a:r>
            <a:endParaRPr lang="en-US" sz="900" dirty="0"/>
          </a:p>
        </p:txBody>
      </p:sp>
      <p:sp>
        <p:nvSpPr>
          <p:cNvPr id="21" name="Text 19"/>
          <p:cNvSpPr txBox="1"/>
          <p:nvPr/>
        </p:nvSpPr>
        <p:spPr>
          <a:xfrm>
            <a:off x="4535424" y="2578608"/>
            <a:ext cx="3118104" cy="566928"/>
          </a:xfrm>
          <a:prstGeom prst="rect">
            <a:avLst/>
          </a:prstGeom>
          <a:noFill/>
          <a:ln/>
        </p:spPr>
        <p:txBody>
          <a:bodyPr wrap="square" lIns="0" tIns="0" rIns="0" bIns="0" rtlCol="0" anchor="t"/>
          <a:lstStyle/>
          <a:p>
            <a:pPr marL="0" indent="0">
              <a:lnSpc>
                <a:spcPct val="108000"/>
              </a:lnSpc>
              <a:buNone/>
            </a:pPr>
            <a:r>
              <a:rPr lang="en-US" sz="950" b="1" dirty="0" err="1">
                <a:solidFill>
                  <a:srgbClr val="B7232B"/>
                </a:solidFill>
                <a:latin typeface="Malgun Gothic" pitchFamily="34" charset="0"/>
                <a:ea typeface="Malgun Gothic" pitchFamily="34" charset="-122"/>
                <a:cs typeface="Malgun Gothic" pitchFamily="34" charset="-120"/>
              </a:rPr>
              <a:t>문제</a:t>
            </a:r>
            <a:r>
              <a:rPr lang="en-US" sz="950" b="1" dirty="0">
                <a:solidFill>
                  <a:srgbClr val="B7232B"/>
                </a:solidFill>
                <a:latin typeface="Malgun Gothic" pitchFamily="34" charset="0"/>
                <a:ea typeface="Malgun Gothic" pitchFamily="34" charset="-122"/>
                <a:cs typeface="Malgun Gothic" pitchFamily="34" charset="-120"/>
              </a:rPr>
              <a:t>  </a:t>
            </a:r>
            <a:r>
              <a:rPr lang="en-US" sz="950" dirty="0" err="1">
                <a:solidFill>
                  <a:srgbClr val="3A475C"/>
                </a:solidFill>
                <a:latin typeface="Malgun Gothic" pitchFamily="34" charset="0"/>
                <a:ea typeface="Malgun Gothic" pitchFamily="34" charset="-122"/>
                <a:cs typeface="Malgun Gothic" pitchFamily="34" charset="-120"/>
              </a:rPr>
              <a:t>곡성·포천·음성</a:t>
            </a:r>
            <a:r>
              <a:rPr lang="en-US" sz="950" dirty="0">
                <a:solidFill>
                  <a:srgbClr val="3A475C"/>
                </a:solidFill>
                <a:latin typeface="Malgun Gothic" pitchFamily="34" charset="0"/>
                <a:ea typeface="Malgun Gothic" pitchFamily="34" charset="-122"/>
                <a:cs typeface="Malgun Gothic" pitchFamily="34" charset="-120"/>
              </a:rPr>
              <a:t> 등의 축제가 특정 월 소비를 일시적으로 끌어올린다.</a:t>
            </a:r>
            <a:endParaRPr lang="en-US" sz="950" dirty="0"/>
          </a:p>
        </p:txBody>
      </p:sp>
      <p:sp>
        <p:nvSpPr>
          <p:cNvPr id="22" name="Text 20"/>
          <p:cNvSpPr txBox="1"/>
          <p:nvPr/>
        </p:nvSpPr>
        <p:spPr>
          <a:xfrm>
            <a:off x="4535424" y="3163824"/>
            <a:ext cx="3118104" cy="512064"/>
          </a:xfrm>
          <a:prstGeom prst="rect">
            <a:avLst/>
          </a:prstGeom>
          <a:noFill/>
          <a:ln/>
        </p:spPr>
        <p:txBody>
          <a:bodyPr wrap="square" lIns="0" tIns="0" rIns="0" bIns="0" rtlCol="0" anchor="t"/>
          <a:lstStyle/>
          <a:p>
            <a:pPr marL="0" indent="0">
              <a:lnSpc>
                <a:spcPct val="108000"/>
              </a:lnSpc>
              <a:buNone/>
            </a:pPr>
            <a:r>
              <a:rPr lang="en-US" sz="950" b="1" dirty="0">
                <a:solidFill>
                  <a:srgbClr val="0B7A6D"/>
                </a:solidFill>
                <a:latin typeface="Malgun Gothic" pitchFamily="34" charset="0"/>
                <a:ea typeface="Malgun Gothic" pitchFamily="34" charset="-122"/>
                <a:cs typeface="Malgun Gothic" pitchFamily="34" charset="-120"/>
              </a:rPr>
              <a:t>처리  </a:t>
            </a:r>
            <a:r>
              <a:rPr lang="en-US" sz="950" dirty="0">
                <a:solidFill>
                  <a:srgbClr val="14213D"/>
                </a:solidFill>
                <a:latin typeface="Malgun Gothic" pitchFamily="34" charset="0"/>
                <a:ea typeface="Malgun Gothic" pitchFamily="34" charset="-122"/>
                <a:cs typeface="Malgun Gothic" pitchFamily="34" charset="-120"/>
              </a:rPr>
              <a:t>축제월을 뺀 구간으로 재계산해 신호가 남는지 확인 · 보령시는 대조군으로 분리</a:t>
            </a:r>
            <a:endParaRPr lang="en-US" sz="950" dirty="0"/>
          </a:p>
        </p:txBody>
      </p:sp>
      <p:sp>
        <p:nvSpPr>
          <p:cNvPr id="23" name="Shape 21"/>
          <p:cNvSpPr/>
          <p:nvPr/>
        </p:nvSpPr>
        <p:spPr>
          <a:xfrm>
            <a:off x="8119872" y="1975104"/>
            <a:ext cx="3520440" cy="1737360"/>
          </a:xfrm>
          <a:prstGeom prst="roundRect">
            <a:avLst>
              <a:gd name="adj" fmla="val 6316"/>
            </a:avLst>
          </a:prstGeom>
          <a:solidFill>
            <a:srgbClr val="F3F6FB"/>
          </a:solidFill>
          <a:ln w="12700">
            <a:solidFill>
              <a:srgbClr val="F3F6FB"/>
            </a:solidFill>
            <a:prstDash val="solid"/>
          </a:ln>
        </p:spPr>
        <p:txBody>
          <a:bodyPr/>
          <a:lstStyle/>
          <a:p>
            <a:endParaRPr lang="ko-KR" altLang="en-US"/>
          </a:p>
        </p:txBody>
      </p:sp>
      <p:sp>
        <p:nvSpPr>
          <p:cNvPr id="24" name="Shape 22"/>
          <p:cNvSpPr/>
          <p:nvPr/>
        </p:nvSpPr>
        <p:spPr>
          <a:xfrm>
            <a:off x="8302752" y="2121408"/>
            <a:ext cx="329184" cy="329184"/>
          </a:xfrm>
          <a:prstGeom prst="ellipse">
            <a:avLst/>
          </a:prstGeom>
          <a:solidFill>
            <a:srgbClr val="E8383D"/>
          </a:solidFill>
          <a:ln w="12700">
            <a:solidFill>
              <a:srgbClr val="E8383D"/>
            </a:solidFill>
            <a:prstDash val="solid"/>
          </a:ln>
        </p:spPr>
        <p:txBody>
          <a:bodyPr/>
          <a:lstStyle/>
          <a:p>
            <a:endParaRPr lang="ko-KR" altLang="en-US"/>
          </a:p>
        </p:txBody>
      </p:sp>
      <p:sp>
        <p:nvSpPr>
          <p:cNvPr id="25" name="Text 23"/>
          <p:cNvSpPr txBox="1"/>
          <p:nvPr/>
        </p:nvSpPr>
        <p:spPr>
          <a:xfrm>
            <a:off x="8302752" y="21214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6" name="Text 24"/>
          <p:cNvSpPr txBox="1"/>
          <p:nvPr/>
        </p:nvSpPr>
        <p:spPr>
          <a:xfrm>
            <a:off x="8759952" y="2121408"/>
            <a:ext cx="1828800" cy="329184"/>
          </a:xfrm>
          <a:prstGeom prst="rect">
            <a:avLst/>
          </a:prstGeom>
          <a:noFill/>
          <a:ln/>
        </p:spPr>
        <p:txBody>
          <a:bodyPr wrap="square" lIns="0" tIns="0" rIns="0" bIns="0" rtlCol="0" anchor="ctr"/>
          <a:lstStyle/>
          <a:p>
            <a:pPr marL="0" indent="0">
              <a:buNone/>
            </a:pPr>
            <a:r>
              <a:rPr lang="en-US" sz="1350" b="1" dirty="0">
                <a:solidFill>
                  <a:srgbClr val="14213D"/>
                </a:solidFill>
                <a:latin typeface="Malgun Gothic" pitchFamily="34" charset="0"/>
                <a:ea typeface="Malgun Gothic" pitchFamily="34" charset="-122"/>
                <a:cs typeface="Malgun Gothic" pitchFamily="34" charset="-120"/>
              </a:rPr>
              <a:t>계절근로자</a:t>
            </a:r>
            <a:endParaRPr lang="en-US" sz="1350" dirty="0"/>
          </a:p>
        </p:txBody>
      </p:sp>
      <p:sp>
        <p:nvSpPr>
          <p:cNvPr id="27" name="Shape 25"/>
          <p:cNvSpPr/>
          <p:nvPr/>
        </p:nvSpPr>
        <p:spPr>
          <a:xfrm>
            <a:off x="10771632" y="2157984"/>
            <a:ext cx="685800" cy="23774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8" name="Text 26"/>
          <p:cNvSpPr txBox="1"/>
          <p:nvPr/>
        </p:nvSpPr>
        <p:spPr>
          <a:xfrm>
            <a:off x="10771632" y="2157984"/>
            <a:ext cx="685800" cy="237744"/>
          </a:xfrm>
          <a:prstGeom prst="rect">
            <a:avLst/>
          </a:prstGeom>
          <a:noFill/>
          <a:ln/>
        </p:spPr>
        <p:txBody>
          <a:bodyPr wrap="square" lIns="0" tIns="0" rIns="0" bIns="0" rtlCol="0" anchor="ctr"/>
          <a:lstStyle/>
          <a:p>
            <a:pPr marL="0" indent="0" algn="ctr">
              <a:buNone/>
            </a:pPr>
            <a:r>
              <a:rPr lang="en-US" sz="900" b="1" dirty="0">
                <a:solidFill>
                  <a:srgbClr val="64748B"/>
                </a:solidFill>
                <a:latin typeface="Malgun Gothic" pitchFamily="34" charset="0"/>
                <a:ea typeface="Malgun Gothic" pitchFamily="34" charset="-122"/>
                <a:cs typeface="Malgun Gothic" pitchFamily="34" charset="-120"/>
              </a:rPr>
              <a:t>20쪽</a:t>
            </a:r>
            <a:endParaRPr lang="en-US" sz="900" dirty="0"/>
          </a:p>
        </p:txBody>
      </p:sp>
      <p:sp>
        <p:nvSpPr>
          <p:cNvPr id="29" name="Text 27"/>
          <p:cNvSpPr txBox="1"/>
          <p:nvPr/>
        </p:nvSpPr>
        <p:spPr>
          <a:xfrm>
            <a:off x="8321040" y="2578608"/>
            <a:ext cx="3118104" cy="566928"/>
          </a:xfrm>
          <a:prstGeom prst="rect">
            <a:avLst/>
          </a:prstGeom>
          <a:noFill/>
          <a:ln/>
        </p:spPr>
        <p:txBody>
          <a:bodyPr wrap="square" lIns="0" tIns="0" rIns="0" bIns="0" rtlCol="0" anchor="t"/>
          <a:lstStyle/>
          <a:p>
            <a:pPr marL="0" indent="0">
              <a:lnSpc>
                <a:spcPct val="108000"/>
              </a:lnSpc>
              <a:buNone/>
            </a:pPr>
            <a:r>
              <a:rPr lang="en-US" sz="950" b="1" dirty="0">
                <a:solidFill>
                  <a:srgbClr val="B7232B"/>
                </a:solidFill>
                <a:latin typeface="Malgun Gothic" pitchFamily="34" charset="0"/>
                <a:ea typeface="Malgun Gothic" pitchFamily="34" charset="-122"/>
                <a:cs typeface="Malgun Gothic" pitchFamily="34" charset="-120"/>
              </a:rPr>
              <a:t>문제  </a:t>
            </a:r>
            <a:r>
              <a:rPr lang="en-US" sz="950" dirty="0">
                <a:solidFill>
                  <a:srgbClr val="3A475C"/>
                </a:solidFill>
                <a:latin typeface="Malgun Gothic" pitchFamily="34" charset="0"/>
                <a:ea typeface="Malgun Gothic" pitchFamily="34" charset="-122"/>
                <a:cs typeface="Malgun Gothic" pitchFamily="34" charset="-120"/>
              </a:rPr>
              <a:t>관광객이 아니라 입국한 계절근로자의 소비가 신호를 만들 수 있다. GENDER_CD=3은 둘을 가르지 못한다.</a:t>
            </a:r>
            <a:endParaRPr lang="en-US" sz="950" dirty="0"/>
          </a:p>
        </p:txBody>
      </p:sp>
      <p:sp>
        <p:nvSpPr>
          <p:cNvPr id="30" name="Text 28"/>
          <p:cNvSpPr txBox="1"/>
          <p:nvPr/>
        </p:nvSpPr>
        <p:spPr>
          <a:xfrm>
            <a:off x="8321040" y="3163824"/>
            <a:ext cx="3118104" cy="512064"/>
          </a:xfrm>
          <a:prstGeom prst="rect">
            <a:avLst/>
          </a:prstGeom>
          <a:noFill/>
          <a:ln/>
        </p:spPr>
        <p:txBody>
          <a:bodyPr wrap="square" lIns="0" tIns="0" rIns="0" bIns="0" rtlCol="0" anchor="t"/>
          <a:lstStyle/>
          <a:p>
            <a:pPr marL="0" indent="0">
              <a:lnSpc>
                <a:spcPct val="108000"/>
              </a:lnSpc>
              <a:buNone/>
            </a:pPr>
            <a:r>
              <a:rPr lang="en-US" sz="950" b="1" dirty="0">
                <a:solidFill>
                  <a:srgbClr val="0B7A6D"/>
                </a:solidFill>
                <a:latin typeface="Malgun Gothic" pitchFamily="34" charset="0"/>
                <a:ea typeface="Malgun Gothic" pitchFamily="34" charset="-122"/>
                <a:cs typeface="Malgun Gothic" pitchFamily="34" charset="-120"/>
              </a:rPr>
              <a:t>처리  </a:t>
            </a:r>
            <a:r>
              <a:rPr lang="en-US" sz="950" dirty="0">
                <a:solidFill>
                  <a:srgbClr val="14213D"/>
                </a:solidFill>
                <a:latin typeface="Malgun Gothic" pitchFamily="34" charset="0"/>
                <a:ea typeface="Malgun Gothic" pitchFamily="34" charset="-122"/>
                <a:cs typeface="Malgun Gothic" pitchFamily="34" charset="-120"/>
              </a:rPr>
              <a:t>지역 언론의 입국 보도를 소비 급증 시점과 대조해 원인을 분류</a:t>
            </a:r>
            <a:endParaRPr lang="en-US" sz="950" dirty="0"/>
          </a:p>
        </p:txBody>
      </p:sp>
      <p:pic>
        <p:nvPicPr>
          <p:cNvPr id="31" name="Image 0" descr="preencoded.png"/>
          <p:cNvPicPr>
            <a:picLocks noChangeAspect="1"/>
          </p:cNvPicPr>
          <p:nvPr/>
        </p:nvPicPr>
        <p:blipFill>
          <a:blip r:embed="rId3"/>
          <a:stretch>
            <a:fillRect/>
          </a:stretch>
        </p:blipFill>
        <p:spPr>
          <a:xfrm>
            <a:off x="5952744" y="3749040"/>
            <a:ext cx="274320" cy="274320"/>
          </a:xfrm>
          <a:prstGeom prst="rect">
            <a:avLst/>
          </a:prstGeom>
        </p:spPr>
      </p:pic>
      <p:sp>
        <p:nvSpPr>
          <p:cNvPr id="32" name="Text 29"/>
          <p:cNvSpPr txBox="1"/>
          <p:nvPr/>
        </p:nvSpPr>
        <p:spPr>
          <a:xfrm>
            <a:off x="6355080" y="3739896"/>
            <a:ext cx="5303520" cy="292608"/>
          </a:xfrm>
          <a:prstGeom prst="rect">
            <a:avLst/>
          </a:prstGeom>
          <a:noFill/>
          <a:ln/>
        </p:spPr>
        <p:txBody>
          <a:bodyPr wrap="square" lIns="0" tIns="0" rIns="0" bIns="0" rtlCol="0" anchor="ctr"/>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세 번째 요인(계절근로자)의 확인 결과로 후보 8곳을 Track A·B로 나눈다</a:t>
            </a:r>
            <a:endParaRPr lang="en-US" sz="1050" dirty="0"/>
          </a:p>
        </p:txBody>
      </p:sp>
      <p:sp>
        <p:nvSpPr>
          <p:cNvPr id="33" name="Shape 30"/>
          <p:cNvSpPr/>
          <p:nvPr/>
        </p:nvSpPr>
        <p:spPr>
          <a:xfrm>
            <a:off x="548640" y="4114800"/>
            <a:ext cx="4160520" cy="1901952"/>
          </a:xfrm>
          <a:prstGeom prst="roundRect">
            <a:avLst>
              <a:gd name="adj" fmla="val 5769"/>
            </a:avLst>
          </a:prstGeom>
          <a:solidFill>
            <a:srgbClr val="E3F6F3"/>
          </a:solidFill>
          <a:ln w="12700">
            <a:solidFill>
              <a:srgbClr val="E3F6F3"/>
            </a:solidFill>
            <a:prstDash val="solid"/>
          </a:ln>
        </p:spPr>
        <p:txBody>
          <a:bodyPr/>
          <a:lstStyle/>
          <a:p>
            <a:endParaRPr lang="ko-KR" altLang="en-US"/>
          </a:p>
        </p:txBody>
      </p:sp>
      <p:sp>
        <p:nvSpPr>
          <p:cNvPr id="34" name="Shape 31"/>
          <p:cNvSpPr/>
          <p:nvPr/>
        </p:nvSpPr>
        <p:spPr>
          <a:xfrm>
            <a:off x="713232" y="4242816"/>
            <a:ext cx="2514600"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5" name="Text 32"/>
          <p:cNvSpPr txBox="1"/>
          <p:nvPr/>
        </p:nvSpPr>
        <p:spPr>
          <a:xfrm>
            <a:off x="713232" y="4242816"/>
            <a:ext cx="2514600" cy="256032"/>
          </a:xfrm>
          <a:prstGeom prst="rect">
            <a:avLst/>
          </a:prstGeom>
          <a:noFill/>
          <a:ln/>
        </p:spPr>
        <p:txBody>
          <a:bodyPr wrap="square" lIns="0" tIns="0" rIns="0" bIns="0" rtlCol="0" anchor="ctr"/>
          <a:lstStyle/>
          <a:p>
            <a:pPr marL="0" indent="0" algn="ctr">
              <a:buNone/>
            </a:pPr>
            <a:r>
              <a:rPr lang="en-US" sz="950" b="1" dirty="0">
                <a:solidFill>
                  <a:srgbClr val="0B7A6D"/>
                </a:solidFill>
                <a:latin typeface="Malgun Gothic" pitchFamily="34" charset="0"/>
                <a:ea typeface="Malgun Gothic" pitchFamily="34" charset="-122"/>
                <a:cs typeface="Malgun Gothic" pitchFamily="34" charset="-120"/>
              </a:rPr>
              <a:t>Track A · 관광 유입형 (메인)</a:t>
            </a:r>
            <a:endParaRPr lang="en-US" sz="950" dirty="0"/>
          </a:p>
        </p:txBody>
      </p:sp>
      <p:sp>
        <p:nvSpPr>
          <p:cNvPr id="36" name="Text 33"/>
          <p:cNvSpPr txBox="1"/>
          <p:nvPr/>
        </p:nvSpPr>
        <p:spPr>
          <a:xfrm>
            <a:off x="731520" y="4626864"/>
            <a:ext cx="3794760" cy="1298448"/>
          </a:xfrm>
          <a:prstGeom prst="rect">
            <a:avLst/>
          </a:prstGeom>
          <a:noFill/>
          <a:ln/>
        </p:spPr>
        <p:txBody>
          <a:bodyPr wrap="square" lIns="0" tIns="0" rIns="0" bIns="0" rtlCol="0" anchor="t"/>
          <a:lstStyle/>
          <a:p>
            <a:pPr marL="0" indent="0">
              <a:lnSpc>
                <a:spcPct val="110000"/>
              </a:lnSpc>
              <a:buNone/>
            </a:pPr>
            <a:r>
              <a:rPr lang="en-US" sz="1000" b="1" dirty="0" err="1">
                <a:solidFill>
                  <a:srgbClr val="0B7A6D"/>
                </a:solidFill>
                <a:latin typeface="Malgun Gothic" pitchFamily="34" charset="0"/>
                <a:ea typeface="Malgun Gothic" pitchFamily="34" charset="-122"/>
                <a:cs typeface="Malgun Gothic" pitchFamily="34" charset="-120"/>
              </a:rPr>
              <a:t>기준</a:t>
            </a:r>
            <a:r>
              <a:rPr lang="en-US" sz="1000" b="1" dirty="0">
                <a:solidFill>
                  <a:srgbClr val="0B7A6D"/>
                </a:solidFill>
                <a:latin typeface="Malgun Gothic" pitchFamily="34" charset="0"/>
                <a:ea typeface="Malgun Gothic" pitchFamily="34" charset="-122"/>
                <a:cs typeface="Malgun Gothic" pitchFamily="34" charset="-120"/>
              </a:rPr>
              <a:t>  </a:t>
            </a:r>
            <a:r>
              <a:rPr lang="en-US" sz="1000" dirty="0" err="1">
                <a:solidFill>
                  <a:srgbClr val="14213D"/>
                </a:solidFill>
                <a:latin typeface="Malgun Gothic" pitchFamily="34" charset="0"/>
                <a:ea typeface="Malgun Gothic" pitchFamily="34" charset="-122"/>
                <a:cs typeface="Malgun Gothic" pitchFamily="34" charset="-120"/>
              </a:rPr>
              <a:t>계절근로자</a:t>
            </a:r>
            <a:r>
              <a:rPr lang="en-US" sz="1000" dirty="0">
                <a:solidFill>
                  <a:srgbClr val="14213D"/>
                </a:solidFill>
                <a:latin typeface="Malgun Gothic" pitchFamily="34" charset="0"/>
                <a:ea typeface="Malgun Gothic" pitchFamily="34" charset="-122"/>
                <a:cs typeface="Malgun Gothic" pitchFamily="34" charset="-120"/>
              </a:rPr>
              <a:t> 입국 등 소비 증가를 설명하는 다른 원인이 </a:t>
            </a:r>
            <a:r>
              <a:rPr lang="en-US" sz="1000" dirty="0" err="1">
                <a:solidFill>
                  <a:srgbClr val="14213D"/>
                </a:solidFill>
                <a:latin typeface="Malgun Gothic" pitchFamily="34" charset="0"/>
                <a:ea typeface="Malgun Gothic" pitchFamily="34" charset="-122"/>
                <a:cs typeface="Malgun Gothic" pitchFamily="34" charset="-120"/>
              </a:rPr>
              <a:t>확인되지</a:t>
            </a:r>
            <a:r>
              <a:rPr lang="en-US" sz="1000" dirty="0">
                <a:solidFill>
                  <a:srgbClr val="14213D"/>
                </a:solidFill>
                <a:latin typeface="Malgun Gothic" pitchFamily="34" charset="0"/>
                <a:ea typeface="Malgun Gothic" pitchFamily="34" charset="-122"/>
                <a:cs typeface="Malgun Gothic" pitchFamily="34" charset="-120"/>
              </a:rPr>
              <a:t> </a:t>
            </a:r>
            <a:r>
              <a:rPr lang="en-US" sz="1000" dirty="0" err="1">
                <a:solidFill>
                  <a:srgbClr val="14213D"/>
                </a:solidFill>
                <a:latin typeface="Malgun Gothic" pitchFamily="34" charset="0"/>
                <a:ea typeface="Malgun Gothic" pitchFamily="34" charset="-122"/>
                <a:cs typeface="Malgun Gothic" pitchFamily="34" charset="-120"/>
              </a:rPr>
              <a:t>않았다</a:t>
            </a:r>
            <a:endParaRPr lang="en-US" sz="1000" dirty="0">
              <a:solidFill>
                <a:srgbClr val="14213D"/>
              </a:solidFill>
              <a:latin typeface="Malgun Gothic" pitchFamily="34" charset="0"/>
              <a:ea typeface="Malgun Gothic" pitchFamily="34" charset="-122"/>
              <a:cs typeface="Malgun Gothic" pitchFamily="34" charset="-120"/>
            </a:endParaRPr>
          </a:p>
          <a:p>
            <a:pPr marL="0" indent="0">
              <a:lnSpc>
                <a:spcPct val="110000"/>
              </a:lnSpc>
              <a:buNone/>
            </a:pPr>
            <a:endParaRPr lang="en-US" sz="1000" dirty="0"/>
          </a:p>
          <a:p>
            <a:pPr marL="0" indent="0">
              <a:lnSpc>
                <a:spcPct val="110000"/>
              </a:lnSpc>
              <a:buNone/>
            </a:pPr>
            <a:r>
              <a:rPr lang="en-US" sz="1000" b="1" dirty="0">
                <a:solidFill>
                  <a:srgbClr val="0B7A6D"/>
                </a:solidFill>
                <a:latin typeface="Malgun Gothic" pitchFamily="34" charset="0"/>
                <a:ea typeface="Malgun Gothic" pitchFamily="34" charset="-122"/>
                <a:cs typeface="Malgun Gothic" pitchFamily="34" charset="-120"/>
              </a:rPr>
              <a:t>해당  </a:t>
            </a:r>
            <a:r>
              <a:rPr lang="en-US" sz="1000" dirty="0">
                <a:solidFill>
                  <a:srgbClr val="14213D"/>
                </a:solidFill>
                <a:latin typeface="Malgun Gothic" pitchFamily="34" charset="0"/>
                <a:ea typeface="Malgun Gothic" pitchFamily="34" charset="-122"/>
                <a:cs typeface="Malgun Gothic" pitchFamily="34" charset="-120"/>
              </a:rPr>
              <a:t>옹진·양양(확인된 반증 없음) · 영월·의성(혼합 가능 — 각주로 </a:t>
            </a:r>
            <a:r>
              <a:rPr lang="en-US" sz="1000" dirty="0" err="1">
                <a:solidFill>
                  <a:srgbClr val="14213D"/>
                </a:solidFill>
                <a:latin typeface="Malgun Gothic" pitchFamily="34" charset="0"/>
                <a:ea typeface="Malgun Gothic" pitchFamily="34" charset="-122"/>
                <a:cs typeface="Malgun Gothic" pitchFamily="34" charset="-120"/>
              </a:rPr>
              <a:t>표기</a:t>
            </a:r>
            <a:r>
              <a:rPr lang="en-US" sz="1000" dirty="0">
                <a:solidFill>
                  <a:srgbClr val="14213D"/>
                </a:solidFill>
                <a:latin typeface="Malgun Gothic" pitchFamily="34" charset="0"/>
                <a:ea typeface="Malgun Gothic" pitchFamily="34" charset="-122"/>
                <a:cs typeface="Malgun Gothic" pitchFamily="34" charset="-120"/>
              </a:rPr>
              <a:t>)</a:t>
            </a:r>
          </a:p>
          <a:p>
            <a:pPr marL="0" indent="0">
              <a:lnSpc>
                <a:spcPct val="110000"/>
              </a:lnSpc>
              <a:buNone/>
            </a:pPr>
            <a:endParaRPr lang="en-US" sz="1000" dirty="0"/>
          </a:p>
          <a:p>
            <a:pPr marL="0" indent="0">
              <a:lnSpc>
                <a:spcPct val="110000"/>
              </a:lnSpc>
              <a:buNone/>
            </a:pPr>
            <a:r>
              <a:rPr lang="en-US" sz="1000" b="1" dirty="0">
                <a:solidFill>
                  <a:srgbClr val="0B7A6D"/>
                </a:solidFill>
                <a:latin typeface="Malgun Gothic" pitchFamily="34" charset="0"/>
                <a:ea typeface="Malgun Gothic" pitchFamily="34" charset="-122"/>
                <a:cs typeface="Malgun Gothic" pitchFamily="34" charset="-120"/>
              </a:rPr>
              <a:t>서비스  </a:t>
            </a:r>
            <a:r>
              <a:rPr lang="en-US" sz="1000" dirty="0">
                <a:solidFill>
                  <a:srgbClr val="14213D"/>
                </a:solidFill>
                <a:latin typeface="Malgun Gothic" pitchFamily="34" charset="0"/>
                <a:ea typeface="Malgun Gothic" pitchFamily="34" charset="-122"/>
                <a:cs typeface="Malgun Gothic" pitchFamily="34" charset="-120"/>
              </a:rPr>
              <a:t>조기 알림 → 얼리버드 큐레이션 → 첫 결제 리워드</a:t>
            </a:r>
            <a:endParaRPr lang="en-US" sz="1000" dirty="0"/>
          </a:p>
        </p:txBody>
      </p:sp>
      <p:sp>
        <p:nvSpPr>
          <p:cNvPr id="37" name="Shape 34"/>
          <p:cNvSpPr/>
          <p:nvPr/>
        </p:nvSpPr>
        <p:spPr>
          <a:xfrm>
            <a:off x="4892040" y="4114800"/>
            <a:ext cx="3886200" cy="1901952"/>
          </a:xfrm>
          <a:prstGeom prst="roundRect">
            <a:avLst>
              <a:gd name="adj" fmla="val 5769"/>
            </a:avLst>
          </a:prstGeom>
          <a:solidFill>
            <a:srgbClr val="FDECEC"/>
          </a:solidFill>
          <a:ln w="12700">
            <a:solidFill>
              <a:srgbClr val="FDECEC"/>
            </a:solidFill>
            <a:prstDash val="solid"/>
          </a:ln>
        </p:spPr>
        <p:txBody>
          <a:bodyPr/>
          <a:lstStyle/>
          <a:p>
            <a:endParaRPr lang="ko-KR" altLang="en-US"/>
          </a:p>
        </p:txBody>
      </p:sp>
      <p:sp>
        <p:nvSpPr>
          <p:cNvPr id="38" name="Shape 35"/>
          <p:cNvSpPr/>
          <p:nvPr/>
        </p:nvSpPr>
        <p:spPr>
          <a:xfrm>
            <a:off x="5056632" y="4242816"/>
            <a:ext cx="2514600"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9" name="Text 36"/>
          <p:cNvSpPr txBox="1"/>
          <p:nvPr/>
        </p:nvSpPr>
        <p:spPr>
          <a:xfrm>
            <a:off x="5056632" y="4242816"/>
            <a:ext cx="2514600" cy="256032"/>
          </a:xfrm>
          <a:prstGeom prst="rect">
            <a:avLst/>
          </a:prstGeom>
          <a:noFill/>
          <a:ln/>
        </p:spPr>
        <p:txBody>
          <a:bodyPr wrap="square" lIns="0" tIns="0" rIns="0" bIns="0" rtlCol="0" anchor="ctr"/>
          <a:lstStyle/>
          <a:p>
            <a:pPr marL="0" indent="0" algn="ctr">
              <a:buNone/>
            </a:pPr>
            <a:r>
              <a:rPr lang="en-US" sz="950" b="1" dirty="0">
                <a:solidFill>
                  <a:srgbClr val="B7232B"/>
                </a:solidFill>
                <a:latin typeface="Malgun Gothic" pitchFamily="34" charset="0"/>
                <a:ea typeface="Malgun Gothic" pitchFamily="34" charset="-122"/>
                <a:cs typeface="Malgun Gothic" pitchFamily="34" charset="-120"/>
              </a:rPr>
              <a:t>Track B · 이주노동 유입형 (확장)</a:t>
            </a:r>
            <a:endParaRPr lang="en-US" sz="950" dirty="0"/>
          </a:p>
        </p:txBody>
      </p:sp>
      <p:sp>
        <p:nvSpPr>
          <p:cNvPr id="40" name="Text 37"/>
          <p:cNvSpPr txBox="1"/>
          <p:nvPr/>
        </p:nvSpPr>
        <p:spPr>
          <a:xfrm>
            <a:off x="5074920" y="4626864"/>
            <a:ext cx="3520440" cy="1298448"/>
          </a:xfrm>
          <a:prstGeom prst="rect">
            <a:avLst/>
          </a:prstGeom>
          <a:noFill/>
          <a:ln/>
        </p:spPr>
        <p:txBody>
          <a:bodyPr wrap="square" lIns="0" tIns="0" rIns="0" bIns="0" rtlCol="0" anchor="t"/>
          <a:lstStyle/>
          <a:p>
            <a:pPr marL="0" indent="0">
              <a:lnSpc>
                <a:spcPct val="110000"/>
              </a:lnSpc>
              <a:buNone/>
            </a:pPr>
            <a:r>
              <a:rPr lang="en-US" sz="1000" b="1" dirty="0">
                <a:solidFill>
                  <a:srgbClr val="B7232B"/>
                </a:solidFill>
                <a:latin typeface="Malgun Gothic" pitchFamily="34" charset="0"/>
                <a:ea typeface="Malgun Gothic" pitchFamily="34" charset="-122"/>
                <a:cs typeface="Malgun Gothic" pitchFamily="34" charset="-120"/>
              </a:rPr>
              <a:t>기준  </a:t>
            </a:r>
            <a:r>
              <a:rPr lang="en-US" sz="1000" dirty="0">
                <a:solidFill>
                  <a:srgbClr val="14213D"/>
                </a:solidFill>
                <a:latin typeface="Malgun Gothic" pitchFamily="34" charset="0"/>
                <a:ea typeface="Malgun Gothic" pitchFamily="34" charset="-122"/>
                <a:cs typeface="Malgun Gothic" pitchFamily="34" charset="-120"/>
              </a:rPr>
              <a:t>계절근로자 입국이 보도로 확인되고 시점이 소비 </a:t>
            </a:r>
            <a:r>
              <a:rPr lang="en-US" sz="1000" dirty="0" err="1">
                <a:solidFill>
                  <a:srgbClr val="14213D"/>
                </a:solidFill>
                <a:latin typeface="Malgun Gothic" pitchFamily="34" charset="0"/>
                <a:ea typeface="Malgun Gothic" pitchFamily="34" charset="-122"/>
                <a:cs typeface="Malgun Gothic" pitchFamily="34" charset="-120"/>
              </a:rPr>
              <a:t>급증과</a:t>
            </a:r>
            <a:r>
              <a:rPr lang="en-US" sz="1000" dirty="0">
                <a:solidFill>
                  <a:srgbClr val="14213D"/>
                </a:solidFill>
                <a:latin typeface="Malgun Gothic" pitchFamily="34" charset="0"/>
                <a:ea typeface="Malgun Gothic" pitchFamily="34" charset="-122"/>
                <a:cs typeface="Malgun Gothic" pitchFamily="34" charset="-120"/>
              </a:rPr>
              <a:t> </a:t>
            </a:r>
            <a:r>
              <a:rPr lang="en-US" sz="1000" dirty="0" err="1">
                <a:solidFill>
                  <a:srgbClr val="14213D"/>
                </a:solidFill>
                <a:latin typeface="Malgun Gothic" pitchFamily="34" charset="0"/>
                <a:ea typeface="Malgun Gothic" pitchFamily="34" charset="-122"/>
                <a:cs typeface="Malgun Gothic" pitchFamily="34" charset="-120"/>
              </a:rPr>
              <a:t>겹친다</a:t>
            </a:r>
            <a:endParaRPr lang="en-US" sz="1000" dirty="0">
              <a:solidFill>
                <a:srgbClr val="14213D"/>
              </a:solidFill>
              <a:latin typeface="Malgun Gothic" pitchFamily="34" charset="0"/>
              <a:ea typeface="Malgun Gothic" pitchFamily="34" charset="-122"/>
              <a:cs typeface="Malgun Gothic" pitchFamily="34" charset="-120"/>
            </a:endParaRPr>
          </a:p>
          <a:p>
            <a:pPr marL="0" indent="0">
              <a:lnSpc>
                <a:spcPct val="110000"/>
              </a:lnSpc>
              <a:buNone/>
            </a:pPr>
            <a:endParaRPr lang="en-US" sz="1000" dirty="0"/>
          </a:p>
          <a:p>
            <a:pPr marL="0" indent="0">
              <a:lnSpc>
                <a:spcPct val="110000"/>
              </a:lnSpc>
              <a:buNone/>
            </a:pPr>
            <a:r>
              <a:rPr lang="en-US" sz="1000" b="1" dirty="0">
                <a:solidFill>
                  <a:srgbClr val="B7232B"/>
                </a:solidFill>
                <a:latin typeface="Malgun Gothic" pitchFamily="34" charset="0"/>
                <a:ea typeface="Malgun Gothic" pitchFamily="34" charset="-122"/>
                <a:cs typeface="Malgun Gothic" pitchFamily="34" charset="-120"/>
              </a:rPr>
              <a:t>해당  </a:t>
            </a:r>
            <a:r>
              <a:rPr lang="en-US" sz="1000" dirty="0">
                <a:solidFill>
                  <a:srgbClr val="14213D"/>
                </a:solidFill>
                <a:latin typeface="Malgun Gothic" pitchFamily="34" charset="0"/>
                <a:ea typeface="Malgun Gothic" pitchFamily="34" charset="-122"/>
                <a:cs typeface="Malgun Gothic" pitchFamily="34" charset="-120"/>
              </a:rPr>
              <a:t>청송 · 영양 · 봉화 · 고성(</a:t>
            </a:r>
            <a:r>
              <a:rPr lang="en-US" sz="1000" dirty="0" err="1">
                <a:solidFill>
                  <a:srgbClr val="14213D"/>
                </a:solidFill>
                <a:latin typeface="Malgun Gothic" pitchFamily="34" charset="0"/>
                <a:ea typeface="Malgun Gothic" pitchFamily="34" charset="-122"/>
                <a:cs typeface="Malgun Gothic" pitchFamily="34" charset="-120"/>
              </a:rPr>
              <a:t>강원</a:t>
            </a:r>
            <a:r>
              <a:rPr lang="en-US" sz="1000" dirty="0">
                <a:solidFill>
                  <a:srgbClr val="14213D"/>
                </a:solidFill>
                <a:latin typeface="Malgun Gothic" pitchFamily="34" charset="0"/>
                <a:ea typeface="Malgun Gothic" pitchFamily="34" charset="-122"/>
                <a:cs typeface="Malgun Gothic" pitchFamily="34" charset="-120"/>
              </a:rPr>
              <a:t>)</a:t>
            </a:r>
          </a:p>
          <a:p>
            <a:pPr marL="0" indent="0">
              <a:lnSpc>
                <a:spcPct val="110000"/>
              </a:lnSpc>
              <a:buNone/>
            </a:pPr>
            <a:endParaRPr lang="en-US" sz="1000" dirty="0"/>
          </a:p>
          <a:p>
            <a:pPr marL="0" indent="0">
              <a:lnSpc>
                <a:spcPct val="110000"/>
              </a:lnSpc>
              <a:buNone/>
            </a:pPr>
            <a:r>
              <a:rPr lang="en-US" sz="1000" b="1" dirty="0">
                <a:solidFill>
                  <a:srgbClr val="B7232B"/>
                </a:solidFill>
                <a:latin typeface="Malgun Gothic" pitchFamily="34" charset="0"/>
                <a:ea typeface="Malgun Gothic" pitchFamily="34" charset="-122"/>
                <a:cs typeface="Malgun Gothic" pitchFamily="34" charset="-120"/>
              </a:rPr>
              <a:t>서비스  </a:t>
            </a:r>
            <a:r>
              <a:rPr lang="en-US" sz="1000" dirty="0">
                <a:solidFill>
                  <a:srgbClr val="14213D"/>
                </a:solidFill>
                <a:latin typeface="Malgun Gothic" pitchFamily="34" charset="0"/>
                <a:ea typeface="Malgun Gothic" pitchFamily="34" charset="-122"/>
                <a:cs typeface="Malgun Gothic" pitchFamily="34" charset="-120"/>
              </a:rPr>
              <a:t>이주정착 지원(다국어 결제 안내·생활정보) — 아이디어 수준</a:t>
            </a:r>
            <a:endParaRPr lang="en-US" sz="1000" dirty="0"/>
          </a:p>
        </p:txBody>
      </p:sp>
      <p:sp>
        <p:nvSpPr>
          <p:cNvPr id="41" name="Shape 38"/>
          <p:cNvSpPr/>
          <p:nvPr/>
        </p:nvSpPr>
        <p:spPr>
          <a:xfrm>
            <a:off x="8961120" y="4114800"/>
            <a:ext cx="2679192" cy="1901952"/>
          </a:xfrm>
          <a:prstGeom prst="roundRect">
            <a:avLst>
              <a:gd name="adj" fmla="val 5769"/>
            </a:avLst>
          </a:prstGeom>
          <a:solidFill>
            <a:srgbClr val="F3F6FB"/>
          </a:solidFill>
          <a:ln w="12700">
            <a:solidFill>
              <a:srgbClr val="E8EFFC"/>
            </a:solidFill>
            <a:prstDash val="solid"/>
          </a:ln>
        </p:spPr>
        <p:txBody>
          <a:bodyPr/>
          <a:lstStyle/>
          <a:p>
            <a:endParaRPr lang="ko-KR" altLang="en-US"/>
          </a:p>
        </p:txBody>
      </p:sp>
      <p:sp>
        <p:nvSpPr>
          <p:cNvPr id="42" name="Shape 39"/>
          <p:cNvSpPr/>
          <p:nvPr/>
        </p:nvSpPr>
        <p:spPr>
          <a:xfrm>
            <a:off x="9125712" y="4242816"/>
            <a:ext cx="2350008" cy="256032"/>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3" name="Text 40"/>
          <p:cNvSpPr txBox="1"/>
          <p:nvPr/>
        </p:nvSpPr>
        <p:spPr>
          <a:xfrm>
            <a:off x="9125712" y="4242816"/>
            <a:ext cx="2350008" cy="256032"/>
          </a:xfrm>
          <a:prstGeom prst="rect">
            <a:avLst/>
          </a:prstGeom>
          <a:noFill/>
          <a:ln/>
        </p:spPr>
        <p:txBody>
          <a:bodyPr wrap="square" lIns="0" tIns="0" rIns="0" bIns="0" rtlCol="0" anchor="ctr"/>
          <a:lstStyle/>
          <a:p>
            <a:pPr marL="0" indent="0" algn="ctr">
              <a:buNone/>
            </a:pPr>
            <a:r>
              <a:rPr lang="en-US" sz="950" b="1" dirty="0">
                <a:solidFill>
                  <a:schemeClr val="accent1"/>
                </a:solidFill>
                <a:latin typeface="Malgun Gothic" pitchFamily="34" charset="0"/>
                <a:ea typeface="Malgun Gothic" pitchFamily="34" charset="-122"/>
                <a:cs typeface="Malgun Gothic" pitchFamily="34" charset="-120"/>
              </a:rPr>
              <a:t>대조군 · 이미 알려진 곳</a:t>
            </a:r>
            <a:endParaRPr lang="en-US" sz="950" dirty="0">
              <a:solidFill>
                <a:schemeClr val="accent1"/>
              </a:solidFill>
            </a:endParaRPr>
          </a:p>
        </p:txBody>
      </p:sp>
      <p:sp>
        <p:nvSpPr>
          <p:cNvPr id="44" name="Text 41"/>
          <p:cNvSpPr txBox="1"/>
          <p:nvPr/>
        </p:nvSpPr>
        <p:spPr>
          <a:xfrm>
            <a:off x="9144000" y="4626864"/>
            <a:ext cx="2313432" cy="1298448"/>
          </a:xfrm>
          <a:prstGeom prst="rect">
            <a:avLst/>
          </a:prstGeom>
          <a:noFill/>
          <a:ln/>
        </p:spPr>
        <p:txBody>
          <a:bodyPr wrap="square" lIns="0" tIns="0" rIns="0" bIns="0" rtlCol="0" anchor="t"/>
          <a:lstStyle/>
          <a:p>
            <a:pPr marL="0" indent="0">
              <a:lnSpc>
                <a:spcPct val="110000"/>
              </a:lnSpc>
              <a:buNone/>
            </a:pPr>
            <a:r>
              <a:rPr lang="en-US" sz="1000" b="1" dirty="0">
                <a:solidFill>
                  <a:srgbClr val="2F55B3"/>
                </a:solidFill>
                <a:latin typeface="Malgun Gothic" pitchFamily="34" charset="0"/>
                <a:ea typeface="Malgun Gothic" pitchFamily="34" charset="-122"/>
                <a:cs typeface="Malgun Gothic" pitchFamily="34" charset="-120"/>
              </a:rPr>
              <a:t>기준  </a:t>
            </a:r>
            <a:r>
              <a:rPr lang="en-US" sz="1000" dirty="0">
                <a:solidFill>
                  <a:srgbClr val="14213D"/>
                </a:solidFill>
                <a:latin typeface="Malgun Gothic" pitchFamily="34" charset="0"/>
                <a:ea typeface="Malgun Gothic" pitchFamily="34" charset="-122"/>
                <a:cs typeface="Malgun Gothic" pitchFamily="34" charset="-120"/>
              </a:rPr>
              <a:t>축제 보도(4/24) 뒤 5월에 </a:t>
            </a:r>
            <a:r>
              <a:rPr lang="en-US" sz="1000" dirty="0" err="1">
                <a:solidFill>
                  <a:srgbClr val="14213D"/>
                </a:solidFill>
                <a:latin typeface="Malgun Gothic" pitchFamily="34" charset="0"/>
                <a:ea typeface="Malgun Gothic" pitchFamily="34" charset="-122"/>
                <a:cs typeface="Malgun Gothic" pitchFamily="34" charset="-120"/>
              </a:rPr>
              <a:t>소비가</a:t>
            </a:r>
            <a:r>
              <a:rPr lang="en-US" sz="1000" dirty="0">
                <a:solidFill>
                  <a:srgbClr val="14213D"/>
                </a:solidFill>
                <a:latin typeface="Malgun Gothic" pitchFamily="34" charset="0"/>
                <a:ea typeface="Malgun Gothic" pitchFamily="34" charset="-122"/>
                <a:cs typeface="Malgun Gothic" pitchFamily="34" charset="-120"/>
              </a:rPr>
              <a:t> </a:t>
            </a:r>
            <a:r>
              <a:rPr lang="en-US" sz="1000" dirty="0" err="1">
                <a:solidFill>
                  <a:srgbClr val="14213D"/>
                </a:solidFill>
                <a:latin typeface="Malgun Gothic" pitchFamily="34" charset="0"/>
                <a:ea typeface="Malgun Gothic" pitchFamily="34" charset="-122"/>
                <a:cs typeface="Malgun Gothic" pitchFamily="34" charset="-120"/>
              </a:rPr>
              <a:t>늘었다</a:t>
            </a:r>
            <a:endParaRPr lang="en-US" sz="1000" dirty="0">
              <a:solidFill>
                <a:srgbClr val="14213D"/>
              </a:solidFill>
              <a:latin typeface="Malgun Gothic" pitchFamily="34" charset="0"/>
              <a:ea typeface="Malgun Gothic" pitchFamily="34" charset="-122"/>
              <a:cs typeface="Malgun Gothic" pitchFamily="34" charset="-120"/>
            </a:endParaRPr>
          </a:p>
          <a:p>
            <a:pPr marL="0" indent="0">
              <a:lnSpc>
                <a:spcPct val="110000"/>
              </a:lnSpc>
              <a:buNone/>
            </a:pPr>
            <a:endParaRPr lang="en-US" sz="1000" dirty="0"/>
          </a:p>
          <a:p>
            <a:pPr marL="0" indent="0">
              <a:lnSpc>
                <a:spcPct val="110000"/>
              </a:lnSpc>
              <a:buNone/>
            </a:pPr>
            <a:r>
              <a:rPr lang="en-US" sz="1000" b="1" dirty="0" err="1">
                <a:solidFill>
                  <a:srgbClr val="2F55B3"/>
                </a:solidFill>
                <a:latin typeface="Malgun Gothic" pitchFamily="34" charset="0"/>
                <a:ea typeface="Malgun Gothic" pitchFamily="34" charset="-122"/>
                <a:cs typeface="Malgun Gothic" pitchFamily="34" charset="-120"/>
              </a:rPr>
              <a:t>해당</a:t>
            </a:r>
            <a:r>
              <a:rPr lang="en-US" sz="1000" b="1" dirty="0">
                <a:solidFill>
                  <a:srgbClr val="2F55B3"/>
                </a:solidFill>
                <a:latin typeface="Malgun Gothic" pitchFamily="34" charset="0"/>
                <a:ea typeface="Malgun Gothic" pitchFamily="34" charset="-122"/>
                <a:cs typeface="Malgun Gothic" pitchFamily="34" charset="-120"/>
              </a:rPr>
              <a:t>  </a:t>
            </a:r>
            <a:r>
              <a:rPr lang="en-US" sz="1000" dirty="0" err="1">
                <a:solidFill>
                  <a:srgbClr val="14213D"/>
                </a:solidFill>
                <a:latin typeface="Malgun Gothic" pitchFamily="34" charset="0"/>
                <a:ea typeface="Malgun Gothic" pitchFamily="34" charset="-122"/>
                <a:cs typeface="Malgun Gothic" pitchFamily="34" charset="-120"/>
              </a:rPr>
              <a:t>보령시</a:t>
            </a:r>
            <a:endParaRPr lang="en-US" sz="1000" dirty="0">
              <a:solidFill>
                <a:srgbClr val="14213D"/>
              </a:solidFill>
              <a:latin typeface="Malgun Gothic" pitchFamily="34" charset="0"/>
              <a:ea typeface="Malgun Gothic" pitchFamily="34" charset="-122"/>
              <a:cs typeface="Malgun Gothic" pitchFamily="34" charset="-120"/>
            </a:endParaRPr>
          </a:p>
          <a:p>
            <a:pPr marL="0" indent="0">
              <a:lnSpc>
                <a:spcPct val="110000"/>
              </a:lnSpc>
              <a:buNone/>
            </a:pPr>
            <a:endParaRPr lang="en-US" sz="1000" dirty="0"/>
          </a:p>
          <a:p>
            <a:pPr marL="0" indent="0">
              <a:lnSpc>
                <a:spcPct val="110000"/>
              </a:lnSpc>
              <a:buNone/>
            </a:pPr>
            <a:r>
              <a:rPr lang="en-US" sz="1000" b="1" dirty="0">
                <a:solidFill>
                  <a:srgbClr val="2F55B3"/>
                </a:solidFill>
                <a:latin typeface="Malgun Gothic" pitchFamily="34" charset="0"/>
                <a:ea typeface="Malgun Gothic" pitchFamily="34" charset="-122"/>
                <a:cs typeface="Malgun Gothic" pitchFamily="34" charset="-120"/>
              </a:rPr>
              <a:t>용도  </a:t>
            </a:r>
            <a:r>
              <a:rPr lang="en-US" sz="1000" dirty="0">
                <a:solidFill>
                  <a:srgbClr val="14213D"/>
                </a:solidFill>
                <a:latin typeface="Malgun Gothic" pitchFamily="34" charset="0"/>
                <a:ea typeface="Malgun Gothic" pitchFamily="34" charset="-122"/>
                <a:cs typeface="Malgun Gothic" pitchFamily="34" charset="-120"/>
              </a:rPr>
              <a:t>후보가 아닌 비교용</a:t>
            </a:r>
            <a:endParaRPr lang="en-US" sz="1000" dirty="0"/>
          </a:p>
        </p:txBody>
      </p:sp>
      <p:sp>
        <p:nvSpPr>
          <p:cNvPr id="45" name="Text 42"/>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트랙은 뉴스 근거에 따른 정성적 판단이며 통계 기준이 아니다. 이후 히트맵(17쪽)·후보 분류(20쪽)·서비스(28쪽)·기대효과(32쪽)에서 같은 표기를 쓴다.</a:t>
            </a:r>
            <a:endParaRPr lang="en-US" sz="900" dirty="0"/>
          </a:p>
        </p:txBody>
      </p:sp>
      <p:sp>
        <p:nvSpPr>
          <p:cNvPr id="46" name="Text 43"/>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7" name="Text 44"/>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16 / 42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히트맵</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후보 8곳은 한 업종의 튐이 아니라, 여러 업종에서 동시에 신호가 나타났다</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91672" cy="3959352"/>
        </p:xfrm>
        <a:graphic>
          <a:graphicData uri="http://schemas.openxmlformats.org/drawingml/2006/table">
            <a:tbl>
              <a:tblPr/>
              <a:tblGrid>
                <a:gridCol w="13716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749808">
                  <a:extLst>
                    <a:ext uri="{9D8B030D-6E8A-4147-A177-3AD203B41FA5}">
                      <a16:colId xmlns:a16="http://schemas.microsoft.com/office/drawing/2014/main" val="20002"/>
                    </a:ext>
                  </a:extLst>
                </a:gridCol>
                <a:gridCol w="749808">
                  <a:extLst>
                    <a:ext uri="{9D8B030D-6E8A-4147-A177-3AD203B41FA5}">
                      <a16:colId xmlns:a16="http://schemas.microsoft.com/office/drawing/2014/main" val="20003"/>
                    </a:ext>
                  </a:extLst>
                </a:gridCol>
                <a:gridCol w="749808">
                  <a:extLst>
                    <a:ext uri="{9D8B030D-6E8A-4147-A177-3AD203B41FA5}">
                      <a16:colId xmlns:a16="http://schemas.microsoft.com/office/drawing/2014/main" val="20004"/>
                    </a:ext>
                  </a:extLst>
                </a:gridCol>
                <a:gridCol w="749808">
                  <a:extLst>
                    <a:ext uri="{9D8B030D-6E8A-4147-A177-3AD203B41FA5}">
                      <a16:colId xmlns:a16="http://schemas.microsoft.com/office/drawing/2014/main" val="20005"/>
                    </a:ext>
                  </a:extLst>
                </a:gridCol>
                <a:gridCol w="749808">
                  <a:extLst>
                    <a:ext uri="{9D8B030D-6E8A-4147-A177-3AD203B41FA5}">
                      <a16:colId xmlns:a16="http://schemas.microsoft.com/office/drawing/2014/main" val="20006"/>
                    </a:ext>
                  </a:extLst>
                </a:gridCol>
                <a:gridCol w="749808">
                  <a:extLst>
                    <a:ext uri="{9D8B030D-6E8A-4147-A177-3AD203B41FA5}">
                      <a16:colId xmlns:a16="http://schemas.microsoft.com/office/drawing/2014/main" val="20007"/>
                    </a:ext>
                  </a:extLst>
                </a:gridCol>
                <a:gridCol w="749808">
                  <a:extLst>
                    <a:ext uri="{9D8B030D-6E8A-4147-A177-3AD203B41FA5}">
                      <a16:colId xmlns:a16="http://schemas.microsoft.com/office/drawing/2014/main" val="20008"/>
                    </a:ext>
                  </a:extLst>
                </a:gridCol>
                <a:gridCol w="749808">
                  <a:extLst>
                    <a:ext uri="{9D8B030D-6E8A-4147-A177-3AD203B41FA5}">
                      <a16:colId xmlns:a16="http://schemas.microsoft.com/office/drawing/2014/main" val="20009"/>
                    </a:ext>
                  </a:extLst>
                </a:gridCol>
                <a:gridCol w="749808">
                  <a:extLst>
                    <a:ext uri="{9D8B030D-6E8A-4147-A177-3AD203B41FA5}">
                      <a16:colId xmlns:a16="http://schemas.microsoft.com/office/drawing/2014/main" val="20010"/>
                    </a:ext>
                  </a:extLst>
                </a:gridCol>
                <a:gridCol w="1280160">
                  <a:extLst>
                    <a:ext uri="{9D8B030D-6E8A-4147-A177-3AD203B41FA5}">
                      <a16:colId xmlns:a16="http://schemas.microsoft.com/office/drawing/2014/main" val="20011"/>
                    </a:ext>
                  </a:extLst>
                </a:gridCol>
              </a:tblGrid>
              <a:tr h="502920">
                <a:tc>
                  <a:txBody>
                    <a:bodyP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지역</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l">
                        <a:buNone/>
                      </a:pPr>
                      <a:r>
                        <a:rPr lang="en-US" sz="1000" b="1" dirty="0">
                          <a:solidFill>
                            <a:srgbClr val="FFFFFF"/>
                          </a:solidFill>
                          <a:latin typeface="Malgun Gothic" pitchFamily="34" charset="0"/>
                          <a:ea typeface="Malgun Gothic" pitchFamily="34" charset="-122"/>
                          <a:cs typeface="Malgun Gothic" pitchFamily="34" charset="-120"/>
                        </a:rPr>
                        <a:t>트랙 분류 (16쪽)</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편의점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슈퍼</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마켓</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대형</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할인점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일반</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한식</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서양</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음식</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중국</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음식</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제과점</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스낵</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일식</a:t>
                      </a:r>
                      <a:endParaRPr lang="en-US" sz="1000" dirty="0">
                        <a:latin typeface="Malgun Gothic" charset="0"/>
                        <a:ea typeface="Malgun Gothic" charset="0"/>
                        <a:cs typeface="Malgun Gothic" charset="0"/>
                      </a:endParaRPr>
                    </a:p>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회집</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+10%p↑ 업종</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옹진군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0B7A6D"/>
                          </a:solidFill>
                          <a:latin typeface="Malgun Gothic" pitchFamily="34" charset="0"/>
                          <a:ea typeface="Malgun Gothic" pitchFamily="34" charset="-122"/>
                          <a:cs typeface="Malgun Gothic" pitchFamily="34" charset="-120"/>
                        </a:rPr>
                        <a:t>A · 반증 없음 · 히어로</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+7.0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+16.9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+12.9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3 / 4</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양양군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0B7A6D"/>
                          </a:solidFill>
                          <a:latin typeface="Malgun Gothic" pitchFamily="34" charset="0"/>
                          <a:ea typeface="Malgun Gothic" pitchFamily="34" charset="-122"/>
                          <a:cs typeface="Malgun Gothic" pitchFamily="34" charset="-120"/>
                        </a:rPr>
                        <a:t>A · 반증 없음</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+2.2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+10.0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+15.1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+36.6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+10.9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+25.4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00" strike="sngStrike" dirty="0">
                          <a:solidFill>
                            <a:srgbClr val="7A8BA6"/>
                          </a:solidFill>
                          <a:latin typeface="Malgun Gothic" pitchFamily="34" charset="0"/>
                          <a:ea typeface="Malgun Gothic" pitchFamily="34" charset="-122"/>
                          <a:cs typeface="Malgun Gothic" pitchFamily="34" charset="-120"/>
                        </a:rPr>
                        <a:t>+150.1※</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DBE6"/>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6 / 7</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영월군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9A6B00"/>
                          </a:solidFill>
                          <a:latin typeface="Malgun Gothic" pitchFamily="34" charset="0"/>
                          <a:ea typeface="Malgun Gothic" pitchFamily="34" charset="-122"/>
                          <a:cs typeface="Malgun Gothic" pitchFamily="34" charset="-120"/>
                        </a:rPr>
                        <a:t>A · 혼합 가능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4DC"/>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+10.4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+8.9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+0.2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+26.0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+8.0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5 / 8</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의성군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9A6B00"/>
                          </a:solidFill>
                          <a:latin typeface="Malgun Gothic" pitchFamily="34" charset="0"/>
                          <a:ea typeface="Malgun Gothic" pitchFamily="34" charset="-122"/>
                          <a:cs typeface="Malgun Gothic" pitchFamily="34" charset="-120"/>
                        </a:rPr>
                        <a:t>A · 혼합 가능</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4DC"/>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+28.1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+12.0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5B6F94"/>
                          </a:solidFill>
                          <a:latin typeface="Malgun Gothic" pitchFamily="34" charset="0"/>
                          <a:ea typeface="Malgun Gothic" pitchFamily="34" charset="-122"/>
                          <a:cs typeface="Malgun Gothic" pitchFamily="34" charset="-120"/>
                        </a:rPr>
                        <a:t>−7.0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7"/>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+33.8</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5B6F94"/>
                          </a:solidFill>
                          <a:latin typeface="Malgun Gothic" pitchFamily="34" charset="0"/>
                          <a:ea typeface="Malgun Gothic" pitchFamily="34" charset="-122"/>
                          <a:cs typeface="Malgun Gothic" pitchFamily="34" charset="-120"/>
                        </a:rPr>
                        <a:t>−0.4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7"/>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+26.7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+15.1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5 / 7</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청송군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B7232B"/>
                          </a:solidFill>
                          <a:latin typeface="Malgun Gothic" pitchFamily="34" charset="0"/>
                          <a:ea typeface="Malgun Gothic" pitchFamily="34" charset="-122"/>
                          <a:cs typeface="Malgun Gothic" pitchFamily="34" charset="-120"/>
                        </a:rPr>
                        <a:t>B · 계절근로 · 대표 사례</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tc>
                  <a:txBody>
                    <a:bodyP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+45.0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383D"/>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+26.5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+6.7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+43.9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383D"/>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3 / 4</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봉화군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B7232B"/>
                          </a:solidFill>
                          <a:latin typeface="Malgun Gothic" pitchFamily="34" charset="0"/>
                          <a:ea typeface="Malgun Gothic" pitchFamily="34" charset="-122"/>
                          <a:cs typeface="Malgun Gothic" pitchFamily="34" charset="-120"/>
                        </a:rPr>
                        <a:t>B · 계절근로 확인</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+20.1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+15.4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+16.3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+13.5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strike="sngStrike" dirty="0">
                          <a:solidFill>
                            <a:srgbClr val="7A8BA6"/>
                          </a:solidFill>
                          <a:latin typeface="Malgun Gothic" pitchFamily="34" charset="0"/>
                          <a:ea typeface="Malgun Gothic" pitchFamily="34" charset="-122"/>
                          <a:cs typeface="Malgun Gothic" pitchFamily="34" charset="-120"/>
                        </a:rPr>
                        <a:t>+75.5※</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DBE6"/>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4 / 4</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영양군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B7232B"/>
                          </a:solidFill>
                          <a:latin typeface="Malgun Gothic" pitchFamily="34" charset="0"/>
                          <a:ea typeface="Malgun Gothic" pitchFamily="34" charset="-122"/>
                          <a:cs typeface="Malgun Gothic" pitchFamily="34" charset="-120"/>
                        </a:rPr>
                        <a:t>B · 계절근로 확인</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+20.4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+38.4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+2.6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+28.3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+17.8</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+29.6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5 / 6</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고성군(강원)</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B7232B"/>
                          </a:solidFill>
                          <a:latin typeface="Malgun Gothic" pitchFamily="34" charset="0"/>
                          <a:ea typeface="Malgun Gothic" pitchFamily="34" charset="-122"/>
                          <a:cs typeface="Malgun Gothic" pitchFamily="34" charset="-120"/>
                        </a:rPr>
                        <a:t>B · 계절근로 확인</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+14.0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+11.5</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+6.7</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+20.2</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+21.1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4A2600"/>
                          </a:solidFill>
                          <a:latin typeface="Malgun Gothic" pitchFamily="34" charset="0"/>
                          <a:ea typeface="Malgun Gothic" pitchFamily="34" charset="-122"/>
                          <a:cs typeface="Malgun Gothic" pitchFamily="34" charset="-120"/>
                        </a:rPr>
                        <a:t>+20.8</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9B76A"/>
                    </a:solidFill>
                  </a:tcPr>
                </a:tc>
                <a:tc>
                  <a:txBody>
                    <a:bodyPr/>
                    <a:lstStyle/>
                    <a:p>
                      <a:pPr marL="0" indent="0" algn="ctr">
                        <a:buNone/>
                      </a:pPr>
                      <a:r>
                        <a:rPr lang="en-US" sz="1050" dirty="0">
                          <a:solidFill>
                            <a:srgbClr val="A9B8D0"/>
                          </a:solidFill>
                          <a:latin typeface="Malgun Gothic" pitchFamily="34" charset="0"/>
                          <a:ea typeface="Malgun Gothic" pitchFamily="34" charset="-122"/>
                          <a:cs typeface="Malgun Gothic" pitchFamily="34" charset="-120"/>
                        </a:rPr>
                        <a:t>—</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B7232B"/>
                          </a:solidFill>
                          <a:latin typeface="Malgun Gothic" pitchFamily="34" charset="0"/>
                          <a:ea typeface="Malgun Gothic" pitchFamily="34" charset="-122"/>
                          <a:cs typeface="Malgun Gothic" pitchFamily="34" charset="-120"/>
                        </a:rPr>
                        <a:t>5 / 6</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보령시</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b="1" dirty="0">
                          <a:solidFill>
                            <a:srgbClr val="2F55B3"/>
                          </a:solidFill>
                          <a:latin typeface="Malgun Gothic" pitchFamily="34" charset="0"/>
                          <a:ea typeface="Malgun Gothic" pitchFamily="34" charset="-122"/>
                          <a:cs typeface="Malgun Gothic" pitchFamily="34" charset="-120"/>
                        </a:rPr>
                        <a:t>대조군 · 이미 유명</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FFC"/>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+11.6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+6.0</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+2.9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+7.8</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+12.1</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+12.4</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+13.8</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050" dirty="0">
                          <a:solidFill>
                            <a:srgbClr val="14213D"/>
                          </a:solidFill>
                          <a:latin typeface="Malgun Gothic" pitchFamily="34" charset="0"/>
                          <a:ea typeface="Malgun Gothic" pitchFamily="34" charset="-122"/>
                          <a:cs typeface="Malgun Gothic" pitchFamily="34" charset="-120"/>
                        </a:rPr>
                        <a:t>+2.9</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1F4F8"/>
                    </a:solidFill>
                  </a:tcPr>
                </a:tc>
                <a:tc>
                  <a:txBody>
                    <a:bodyPr/>
                    <a:lstStyle/>
                    <a:p>
                      <a:pPr marL="0" indent="0" algn="ctr">
                        <a:buNone/>
                      </a:pPr>
                      <a:r>
                        <a:rPr lang="en-US" sz="1050" dirty="0">
                          <a:solidFill>
                            <a:srgbClr val="6B4A00"/>
                          </a:solidFill>
                          <a:latin typeface="Malgun Gothic" pitchFamily="34" charset="0"/>
                          <a:ea typeface="Malgun Gothic" pitchFamily="34" charset="-122"/>
                          <a:cs typeface="Malgun Gothic" pitchFamily="34" charset="-120"/>
                        </a:rPr>
                        <a:t>+15.3</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EBB8"/>
                    </a:solidFill>
                  </a:tcPr>
                </a:tc>
                <a:tc>
                  <a:txBody>
                    <a:bodyPr/>
                    <a:lstStyle/>
                    <a:p>
                      <a:pPr marL="0" indent="0" algn="ctr">
                        <a:buNone/>
                      </a:pPr>
                      <a:r>
                        <a:rPr lang="en-US" sz="1150" b="1" dirty="0">
                          <a:solidFill>
                            <a:srgbClr val="64748B"/>
                          </a:solidFill>
                          <a:latin typeface="Malgun Gothic" pitchFamily="34" charset="0"/>
                          <a:ea typeface="Malgun Gothic" pitchFamily="34" charset="-122"/>
                          <a:cs typeface="Malgun Gothic" pitchFamily="34" charset="-120"/>
                        </a:rPr>
                        <a:t>5 / 9</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Text 4"/>
          <p:cNvSpPr txBox="1"/>
          <p:nvPr/>
        </p:nvSpPr>
        <p:spPr>
          <a:xfrm>
            <a:off x="548640" y="5760720"/>
            <a:ext cx="237744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5~6월 평균 상대 초과성장률(%p)</a:t>
            </a:r>
            <a:endParaRPr lang="en-US" sz="950" dirty="0"/>
          </a:p>
        </p:txBody>
      </p:sp>
      <p:sp>
        <p:nvSpPr>
          <p:cNvPr id="8" name="Shape 5"/>
          <p:cNvSpPr/>
          <p:nvPr/>
        </p:nvSpPr>
        <p:spPr>
          <a:xfrm>
            <a:off x="3017520" y="5797296"/>
            <a:ext cx="201168" cy="164592"/>
          </a:xfrm>
          <a:prstGeom prst="rect">
            <a:avLst/>
          </a:prstGeom>
          <a:solidFill>
            <a:srgbClr val="E6ECF7"/>
          </a:solidFill>
          <a:ln w="6350">
            <a:solidFill>
              <a:srgbClr val="D9E0EA"/>
            </a:solidFill>
            <a:prstDash val="solid"/>
          </a:ln>
        </p:spPr>
        <p:txBody>
          <a:bodyPr/>
          <a:lstStyle/>
          <a:p>
            <a:endParaRPr lang="ko-KR" altLang="en-US"/>
          </a:p>
        </p:txBody>
      </p:sp>
      <p:sp>
        <p:nvSpPr>
          <p:cNvPr id="9" name="Text 6"/>
          <p:cNvSpPr txBox="1"/>
          <p:nvPr/>
        </p:nvSpPr>
        <p:spPr>
          <a:xfrm>
            <a:off x="3273552" y="5760720"/>
            <a:ext cx="59436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음수</a:t>
            </a:r>
            <a:endParaRPr lang="en-US" sz="950" dirty="0"/>
          </a:p>
        </p:txBody>
      </p:sp>
      <p:sp>
        <p:nvSpPr>
          <p:cNvPr id="10" name="Shape 7"/>
          <p:cNvSpPr/>
          <p:nvPr/>
        </p:nvSpPr>
        <p:spPr>
          <a:xfrm>
            <a:off x="3886200" y="5797296"/>
            <a:ext cx="201168" cy="164592"/>
          </a:xfrm>
          <a:prstGeom prst="rect">
            <a:avLst/>
          </a:prstGeom>
          <a:solidFill>
            <a:srgbClr val="F1F4F8"/>
          </a:solidFill>
          <a:ln w="6350">
            <a:solidFill>
              <a:srgbClr val="D9E0EA"/>
            </a:solidFill>
            <a:prstDash val="solid"/>
          </a:ln>
        </p:spPr>
        <p:txBody>
          <a:bodyPr/>
          <a:lstStyle/>
          <a:p>
            <a:endParaRPr lang="ko-KR" altLang="en-US"/>
          </a:p>
        </p:txBody>
      </p:sp>
      <p:sp>
        <p:nvSpPr>
          <p:cNvPr id="11" name="Text 8"/>
          <p:cNvSpPr txBox="1"/>
          <p:nvPr/>
        </p:nvSpPr>
        <p:spPr>
          <a:xfrm>
            <a:off x="4142232" y="5760720"/>
            <a:ext cx="59436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0~10</a:t>
            </a:r>
            <a:endParaRPr lang="en-US" sz="950" dirty="0"/>
          </a:p>
        </p:txBody>
      </p:sp>
      <p:sp>
        <p:nvSpPr>
          <p:cNvPr id="12" name="Shape 9"/>
          <p:cNvSpPr/>
          <p:nvPr/>
        </p:nvSpPr>
        <p:spPr>
          <a:xfrm>
            <a:off x="4754880" y="5797296"/>
            <a:ext cx="201168" cy="164592"/>
          </a:xfrm>
          <a:prstGeom prst="rect">
            <a:avLst/>
          </a:prstGeom>
          <a:solidFill>
            <a:srgbClr val="FFEBB8"/>
          </a:solidFill>
          <a:ln w="6350">
            <a:solidFill>
              <a:srgbClr val="D9E0EA"/>
            </a:solidFill>
            <a:prstDash val="solid"/>
          </a:ln>
        </p:spPr>
        <p:txBody>
          <a:bodyPr/>
          <a:lstStyle/>
          <a:p>
            <a:endParaRPr lang="ko-KR" altLang="en-US"/>
          </a:p>
        </p:txBody>
      </p:sp>
      <p:sp>
        <p:nvSpPr>
          <p:cNvPr id="13" name="Text 10"/>
          <p:cNvSpPr txBox="1"/>
          <p:nvPr/>
        </p:nvSpPr>
        <p:spPr>
          <a:xfrm>
            <a:off x="5010912" y="5760720"/>
            <a:ext cx="59436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10~20</a:t>
            </a:r>
            <a:endParaRPr lang="en-US" sz="950" dirty="0"/>
          </a:p>
        </p:txBody>
      </p:sp>
      <p:sp>
        <p:nvSpPr>
          <p:cNvPr id="14" name="Shape 11"/>
          <p:cNvSpPr/>
          <p:nvPr/>
        </p:nvSpPr>
        <p:spPr>
          <a:xfrm>
            <a:off x="5623560" y="5797296"/>
            <a:ext cx="201168" cy="164592"/>
          </a:xfrm>
          <a:prstGeom prst="rect">
            <a:avLst/>
          </a:prstGeom>
          <a:solidFill>
            <a:srgbClr val="F9B76A"/>
          </a:solidFill>
          <a:ln w="6350">
            <a:solidFill>
              <a:srgbClr val="D9E0EA"/>
            </a:solidFill>
            <a:prstDash val="solid"/>
          </a:ln>
        </p:spPr>
        <p:txBody>
          <a:bodyPr/>
          <a:lstStyle/>
          <a:p>
            <a:endParaRPr lang="ko-KR" altLang="en-US"/>
          </a:p>
        </p:txBody>
      </p:sp>
      <p:sp>
        <p:nvSpPr>
          <p:cNvPr id="15" name="Text 12"/>
          <p:cNvSpPr txBox="1"/>
          <p:nvPr/>
        </p:nvSpPr>
        <p:spPr>
          <a:xfrm>
            <a:off x="5879592" y="5760720"/>
            <a:ext cx="59436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20~40</a:t>
            </a:r>
            <a:endParaRPr lang="en-US" sz="950" dirty="0"/>
          </a:p>
        </p:txBody>
      </p:sp>
      <p:sp>
        <p:nvSpPr>
          <p:cNvPr id="16" name="Shape 13"/>
          <p:cNvSpPr/>
          <p:nvPr/>
        </p:nvSpPr>
        <p:spPr>
          <a:xfrm>
            <a:off x="6492240" y="5797296"/>
            <a:ext cx="201168" cy="164592"/>
          </a:xfrm>
          <a:prstGeom prst="rect">
            <a:avLst/>
          </a:prstGeom>
          <a:solidFill>
            <a:srgbClr val="E8383D"/>
          </a:solidFill>
          <a:ln w="6350">
            <a:solidFill>
              <a:srgbClr val="D9E0EA"/>
            </a:solidFill>
            <a:prstDash val="solid"/>
          </a:ln>
        </p:spPr>
        <p:txBody>
          <a:bodyPr/>
          <a:lstStyle/>
          <a:p>
            <a:endParaRPr lang="ko-KR" altLang="en-US"/>
          </a:p>
        </p:txBody>
      </p:sp>
      <p:sp>
        <p:nvSpPr>
          <p:cNvPr id="17" name="Text 14"/>
          <p:cNvSpPr txBox="1"/>
          <p:nvPr/>
        </p:nvSpPr>
        <p:spPr>
          <a:xfrm>
            <a:off x="6748272" y="5760720"/>
            <a:ext cx="594360" cy="237744"/>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40+</a:t>
            </a:r>
            <a:endParaRPr lang="en-US" sz="950" dirty="0"/>
          </a:p>
        </p:txBody>
      </p:sp>
      <p:sp>
        <p:nvSpPr>
          <p:cNvPr id="6" name="Text 15"/>
          <p:cNvSpPr txBox="1"/>
          <p:nvPr/>
        </p:nvSpPr>
        <p:spPr>
          <a:xfrm>
            <a:off x="7360920" y="5742432"/>
            <a:ext cx="4297680" cy="365760"/>
          </a:xfrm>
          <a:prstGeom prst="rect">
            <a:avLst/>
          </a:prstGeom>
          <a:noFill/>
          <a:ln/>
        </p:spPr>
        <p:txBody>
          <a:bodyPr wrap="square" lIns="0" tIns="0" rIns="0" bIns="0" rtlCol="0" anchor="t"/>
          <a:lstStyle/>
          <a:p>
            <a:pPr marL="0" indent="0">
              <a:lnSpc>
                <a:spcPct val="105000"/>
              </a:lnSpc>
              <a:buNone/>
            </a:pPr>
            <a:r>
              <a:rPr lang="en-US" sz="850" dirty="0">
                <a:solidFill>
                  <a:srgbClr val="64748B"/>
                </a:solidFill>
                <a:latin typeface="Malgun Gothic" pitchFamily="34" charset="0"/>
                <a:ea typeface="Malgun Gothic" pitchFamily="34" charset="-122"/>
                <a:cs typeface="Malgun Gothic" pitchFamily="34" charset="-120"/>
              </a:rPr>
              <a:t>※ 회색 취소선: 저베이스 반등으로 판정해 판정에서 제외한 셀  ·  — : 최소건수 필터 미충족 또는 표본 없음(갈비전문점·한정식은 외국인 표본 없음)</a:t>
            </a:r>
            <a:endParaRPr lang="en-US" sz="850" dirty="0"/>
          </a:p>
        </p:txBody>
      </p:sp>
      <p:sp>
        <p:nvSpPr>
          <p:cNvPr id="19" name="Text 1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20" name="Text 1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17 / 42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사례 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err="1">
                <a:solidFill>
                  <a:srgbClr val="14213D"/>
                </a:solidFill>
                <a:latin typeface="Malgun Gothic" pitchFamily="34" charset="0"/>
                <a:ea typeface="Malgun Gothic" pitchFamily="34" charset="-122"/>
                <a:cs typeface="Malgun Gothic" pitchFamily="34" charset="-120"/>
              </a:rPr>
              <a:t>청송군</a:t>
            </a:r>
            <a:r>
              <a:rPr lang="en-US" sz="1600" b="1" dirty="0">
                <a:solidFill>
                  <a:srgbClr val="14213D"/>
                </a:solidFill>
                <a:latin typeface="Malgun Gothic" pitchFamily="34" charset="0"/>
                <a:ea typeface="Malgun Gothic" pitchFamily="34" charset="-122"/>
                <a:cs typeface="Malgun Gothic" pitchFamily="34" charset="-120"/>
              </a:rPr>
              <a:t> </a:t>
            </a:r>
          </a:p>
          <a:p>
            <a:pPr marL="0" indent="0">
              <a:lnSpc>
                <a:spcPct val="105000"/>
              </a:lnSpc>
              <a:buNone/>
            </a:pPr>
            <a:r>
              <a:rPr lang="en-US" sz="1600" b="1" dirty="0">
                <a:solidFill>
                  <a:srgbClr val="14213D"/>
                </a:solidFill>
                <a:latin typeface="Malgun Gothic" pitchFamily="34" charset="0"/>
                <a:ea typeface="Malgun Gothic" pitchFamily="34" charset="-122"/>
                <a:cs typeface="Malgun Gothic" pitchFamily="34" charset="-120"/>
              </a:rPr>
              <a:t>세 업종이 함께 뛰었지만, 원인은 계절근로자의 입국이었다</a:t>
            </a:r>
            <a:endParaRPr lang="en-US" sz="1600" dirty="0"/>
          </a:p>
        </p:txBody>
      </p:sp>
      <p:sp>
        <p:nvSpPr>
          <p:cNvPr id="6" name="Shape 4"/>
          <p:cNvSpPr/>
          <p:nvPr/>
        </p:nvSpPr>
        <p:spPr>
          <a:xfrm>
            <a:off x="548640" y="1737360"/>
            <a:ext cx="6400800" cy="4242816"/>
          </a:xfrm>
          <a:prstGeom prst="roundRect">
            <a:avLst>
              <a:gd name="adj" fmla="val 258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56232"/>
            <a:ext cx="585216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청송군 업종별 외국인 이용 건수 지수 (1월 = 100)</a:t>
            </a:r>
            <a:endParaRPr lang="en-US" sz="1250" dirty="0"/>
          </a:p>
        </p:txBody>
      </p:sp>
      <p:graphicFrame>
        <p:nvGraphicFramePr>
          <p:cNvPr id="8" name="Chart 0"/>
          <p:cNvGraphicFramePr/>
          <p:nvPr/>
        </p:nvGraphicFramePr>
        <p:xfrm>
          <a:off x="640080" y="2176272"/>
          <a:ext cx="621792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5074920"/>
            <a:ext cx="1371600" cy="384048"/>
          </a:xfrm>
          <a:prstGeom prst="rect">
            <a:avLst/>
          </a:prstGeom>
          <a:noFill/>
          <a:ln/>
        </p:spPr>
        <p:txBody>
          <a:bodyPr wrap="square" lIns="0" tIns="0" rIns="0" bIns="0" rtlCol="0" anchor="b"/>
          <a:lstStyle/>
          <a:p>
            <a:pPr marL="0" indent="0">
              <a:buNone/>
            </a:pPr>
            <a:r>
              <a:rPr lang="en-US" sz="2200" b="1" dirty="0">
                <a:solidFill>
                  <a:srgbClr val="E8383D"/>
                </a:solidFill>
                <a:latin typeface="Malgun Gothic" pitchFamily="34" charset="0"/>
                <a:ea typeface="Malgun Gothic" pitchFamily="34" charset="-122"/>
                <a:cs typeface="Malgun Gothic" pitchFamily="34" charset="-120"/>
              </a:rPr>
              <a:t>325</a:t>
            </a:r>
            <a:endParaRPr lang="en-US" sz="2200" dirty="0"/>
          </a:p>
        </p:txBody>
      </p:sp>
      <p:sp>
        <p:nvSpPr>
          <p:cNvPr id="10" name="Text 7"/>
          <p:cNvSpPr txBox="1"/>
          <p:nvPr/>
        </p:nvSpPr>
        <p:spPr>
          <a:xfrm>
            <a:off x="777240" y="5468112"/>
            <a:ext cx="146304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6월 지수 · 서양음식</a:t>
            </a:r>
            <a:endParaRPr lang="en-US" sz="950" dirty="0"/>
          </a:p>
        </p:txBody>
      </p:sp>
      <p:sp>
        <p:nvSpPr>
          <p:cNvPr id="11" name="Text 8"/>
          <p:cNvSpPr txBox="1"/>
          <p:nvPr/>
        </p:nvSpPr>
        <p:spPr>
          <a:xfrm>
            <a:off x="2286000" y="5074920"/>
            <a:ext cx="1371600" cy="384048"/>
          </a:xfrm>
          <a:prstGeom prst="rect">
            <a:avLst/>
          </a:prstGeom>
          <a:noFill/>
          <a:ln/>
        </p:spPr>
        <p:txBody>
          <a:bodyPr wrap="square" lIns="0" tIns="0" rIns="0" bIns="0" rtlCol="0" anchor="b"/>
          <a:lstStyle/>
          <a:p>
            <a:pPr marL="0" indent="0">
              <a:buNone/>
            </a:pPr>
            <a:r>
              <a:rPr lang="en-US" sz="2200" b="1" dirty="0">
                <a:solidFill>
                  <a:srgbClr val="E8383D"/>
                </a:solidFill>
                <a:latin typeface="Malgun Gothic" pitchFamily="34" charset="0"/>
                <a:ea typeface="Malgun Gothic" pitchFamily="34" charset="-122"/>
                <a:cs typeface="Malgun Gothic" pitchFamily="34" charset="-120"/>
              </a:rPr>
              <a:t>292</a:t>
            </a:r>
            <a:endParaRPr lang="en-US" sz="2200" dirty="0"/>
          </a:p>
        </p:txBody>
      </p:sp>
      <p:sp>
        <p:nvSpPr>
          <p:cNvPr id="12" name="Text 9"/>
          <p:cNvSpPr txBox="1"/>
          <p:nvPr/>
        </p:nvSpPr>
        <p:spPr>
          <a:xfrm>
            <a:off x="2286000" y="5468112"/>
            <a:ext cx="146304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6월 지수 · 편의점</a:t>
            </a:r>
            <a:endParaRPr lang="en-US" sz="950" dirty="0"/>
          </a:p>
        </p:txBody>
      </p:sp>
      <p:sp>
        <p:nvSpPr>
          <p:cNvPr id="13" name="Text 10"/>
          <p:cNvSpPr txBox="1"/>
          <p:nvPr/>
        </p:nvSpPr>
        <p:spPr>
          <a:xfrm>
            <a:off x="3794760" y="5074920"/>
            <a:ext cx="1371600" cy="384048"/>
          </a:xfrm>
          <a:prstGeom prst="rect">
            <a:avLst/>
          </a:prstGeom>
          <a:noFill/>
          <a:ln/>
        </p:spPr>
        <p:txBody>
          <a:bodyPr wrap="square" lIns="0" tIns="0" rIns="0" bIns="0" rtlCol="0" anchor="b"/>
          <a:lstStyle/>
          <a:p>
            <a:pPr marL="0" indent="0">
              <a:buNone/>
            </a:pPr>
            <a:r>
              <a:rPr lang="en-US" sz="2200" b="1" dirty="0">
                <a:solidFill>
                  <a:srgbClr val="E8383D"/>
                </a:solidFill>
                <a:latin typeface="Malgun Gothic" pitchFamily="34" charset="0"/>
                <a:ea typeface="Malgun Gothic" pitchFamily="34" charset="-122"/>
                <a:cs typeface="Malgun Gothic" pitchFamily="34" charset="-120"/>
              </a:rPr>
              <a:t>195</a:t>
            </a:r>
            <a:endParaRPr lang="en-US" sz="2200" dirty="0"/>
          </a:p>
        </p:txBody>
      </p:sp>
      <p:sp>
        <p:nvSpPr>
          <p:cNvPr id="14" name="Text 11"/>
          <p:cNvSpPr txBox="1"/>
          <p:nvPr/>
        </p:nvSpPr>
        <p:spPr>
          <a:xfrm>
            <a:off x="3794760" y="5468112"/>
            <a:ext cx="146304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6월 지수 · 슈퍼마켓</a:t>
            </a:r>
            <a:endParaRPr lang="en-US" sz="950" dirty="0"/>
          </a:p>
        </p:txBody>
      </p:sp>
      <p:sp>
        <p:nvSpPr>
          <p:cNvPr id="15" name="Text 12"/>
          <p:cNvSpPr txBox="1"/>
          <p:nvPr/>
        </p:nvSpPr>
        <p:spPr>
          <a:xfrm>
            <a:off x="5303520" y="5074920"/>
            <a:ext cx="1371600" cy="384048"/>
          </a:xfrm>
          <a:prstGeom prst="rect">
            <a:avLst/>
          </a:prstGeom>
          <a:noFill/>
          <a:ln/>
        </p:spPr>
        <p:txBody>
          <a:bodyPr wrap="square" lIns="0" tIns="0" rIns="0" bIns="0" rtlCol="0" anchor="b"/>
          <a:lstStyle/>
          <a:p>
            <a:pPr marL="0" indent="0">
              <a:buNone/>
            </a:pPr>
            <a:r>
              <a:rPr lang="en-US" sz="2200" b="1" dirty="0">
                <a:solidFill>
                  <a:srgbClr val="64748B"/>
                </a:solidFill>
                <a:latin typeface="Malgun Gothic" pitchFamily="34" charset="0"/>
                <a:ea typeface="Malgun Gothic" pitchFamily="34" charset="-122"/>
                <a:cs typeface="Malgun Gothic" pitchFamily="34" charset="-120"/>
              </a:rPr>
              <a:t>116</a:t>
            </a:r>
            <a:endParaRPr lang="en-US" sz="2200" dirty="0"/>
          </a:p>
        </p:txBody>
      </p:sp>
      <p:sp>
        <p:nvSpPr>
          <p:cNvPr id="16" name="Text 13"/>
          <p:cNvSpPr txBox="1"/>
          <p:nvPr/>
        </p:nvSpPr>
        <p:spPr>
          <a:xfrm>
            <a:off x="5303520" y="5468112"/>
            <a:ext cx="146304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6월 지수 · 전국 평균</a:t>
            </a:r>
            <a:endParaRPr lang="en-US" sz="950" dirty="0"/>
          </a:p>
        </p:txBody>
      </p:sp>
      <p:sp>
        <p:nvSpPr>
          <p:cNvPr id="17" name="Shape 14"/>
          <p:cNvSpPr/>
          <p:nvPr/>
        </p:nvSpPr>
        <p:spPr>
          <a:xfrm>
            <a:off x="7223760" y="1737360"/>
            <a:ext cx="4416552" cy="1371600"/>
          </a:xfrm>
          <a:prstGeom prst="roundRect">
            <a:avLst>
              <a:gd name="adj" fmla="val 8000"/>
            </a:avLst>
          </a:prstGeom>
          <a:solidFill>
            <a:srgbClr val="FFFFFF"/>
          </a:solidFill>
          <a:ln w="9525">
            <a:solidFill>
              <a:srgbClr val="D9E0EA"/>
            </a:solidFill>
            <a:prstDash val="solid"/>
          </a:ln>
        </p:spPr>
        <p:txBody>
          <a:bodyPr/>
          <a:lstStyle/>
          <a:p>
            <a:endParaRPr lang="ko-KR" altLang="en-US"/>
          </a:p>
        </p:txBody>
      </p:sp>
      <p:sp>
        <p:nvSpPr>
          <p:cNvPr id="18" name="Text 15"/>
          <p:cNvSpPr txBox="1"/>
          <p:nvPr/>
        </p:nvSpPr>
        <p:spPr>
          <a:xfrm>
            <a:off x="7452360" y="1891430"/>
            <a:ext cx="2743200" cy="256032"/>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무엇이 보였나</a:t>
            </a:r>
            <a:endParaRPr lang="en-US" sz="1250" dirty="0"/>
          </a:p>
        </p:txBody>
      </p:sp>
      <p:sp>
        <p:nvSpPr>
          <p:cNvPr id="19" name="Text 16"/>
          <p:cNvSpPr txBox="1"/>
          <p:nvPr/>
        </p:nvSpPr>
        <p:spPr>
          <a:xfrm>
            <a:off x="7452360" y="2165750"/>
            <a:ext cx="3959352" cy="96012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편의점·슈퍼마켓·서양음식 3개 업종이 동시에 상승했다(신호 점수 +45.0 · +26.5 · +43.9%p). 외국인 이용 건수는 1월 1,442건에서 6월 2,579건(약 1.8배)으로, 전국(약 1.16배)과 대비된다.</a:t>
            </a:r>
            <a:endParaRPr lang="en-US" sz="1050" dirty="0"/>
          </a:p>
        </p:txBody>
      </p:sp>
      <p:sp>
        <p:nvSpPr>
          <p:cNvPr id="20" name="Shape 17"/>
          <p:cNvSpPr/>
          <p:nvPr/>
        </p:nvSpPr>
        <p:spPr>
          <a:xfrm>
            <a:off x="7223760" y="3200400"/>
            <a:ext cx="4416552" cy="1600200"/>
          </a:xfrm>
          <a:prstGeom prst="roundRect">
            <a:avLst>
              <a:gd name="adj" fmla="val 6857"/>
            </a:avLst>
          </a:prstGeom>
          <a:solidFill>
            <a:srgbClr val="FDECEC"/>
          </a:solidFill>
          <a:ln w="12700">
            <a:solidFill>
              <a:srgbClr val="FDECEC"/>
            </a:solidFill>
            <a:prstDash val="solid"/>
          </a:ln>
        </p:spPr>
        <p:txBody>
          <a:bodyPr/>
          <a:lstStyle/>
          <a:p>
            <a:endParaRPr lang="ko-KR" altLang="en-US"/>
          </a:p>
        </p:txBody>
      </p:sp>
      <p:sp>
        <p:nvSpPr>
          <p:cNvPr id="21" name="Text 18"/>
          <p:cNvSpPr txBox="1"/>
          <p:nvPr/>
        </p:nvSpPr>
        <p:spPr>
          <a:xfrm>
            <a:off x="7452360" y="3354470"/>
            <a:ext cx="2743200" cy="256032"/>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무엇이 밝혀졌나</a:t>
            </a:r>
            <a:endParaRPr lang="en-US" sz="1250" dirty="0"/>
          </a:p>
        </p:txBody>
      </p:sp>
      <p:sp>
        <p:nvSpPr>
          <p:cNvPr id="22" name="Text 19"/>
          <p:cNvSpPr txBox="1"/>
          <p:nvPr/>
        </p:nvSpPr>
        <p:spPr>
          <a:xfrm>
            <a:off x="7452360" y="3628790"/>
            <a:ext cx="3959352" cy="1188720"/>
          </a:xfrm>
          <a:prstGeom prst="rect">
            <a:avLst/>
          </a:prstGeom>
          <a:noFill/>
          <a:ln/>
        </p:spPr>
        <p:txBody>
          <a:bodyPr wrap="square" lIns="0" tIns="0" rIns="0" bIns="0" rtlCol="0" anchor="t"/>
          <a:lstStyle/>
          <a:p>
            <a:pPr marL="0" indent="0">
              <a:lnSpc>
                <a:spcPct val="110000"/>
              </a:lnSpc>
              <a:buNone/>
            </a:pPr>
            <a:r>
              <a:rPr lang="en-US" sz="1050" dirty="0">
                <a:solidFill>
                  <a:srgbClr val="3A475C"/>
                </a:solidFill>
                <a:latin typeface="Malgun Gothic" pitchFamily="34" charset="0"/>
                <a:ea typeface="Malgun Gothic" pitchFamily="34" charset="-122"/>
                <a:cs typeface="Malgun Gothic" pitchFamily="34" charset="-120"/>
              </a:rPr>
              <a:t>4/27~5월 중순 계절근로자 451명이 순차 입국(전년 대비 약 +79%)해 소비 급증 시점과 겹쳤다. 그래서 청송군은 Track B(이주노동 유입형)로 분류했고, 관광객과 이주노동자를 구분하지 못하는 데이터의 한계를 보여 주는 대표 사례가 됐다.</a:t>
            </a:r>
            <a:endParaRPr lang="en-US" sz="1050" dirty="0"/>
          </a:p>
        </p:txBody>
      </p:sp>
      <p:sp>
        <p:nvSpPr>
          <p:cNvPr id="23" name="Shape 20"/>
          <p:cNvSpPr/>
          <p:nvPr/>
        </p:nvSpPr>
        <p:spPr>
          <a:xfrm>
            <a:off x="7223760" y="4892040"/>
            <a:ext cx="4416552" cy="1088136"/>
          </a:xfrm>
          <a:prstGeom prst="roundRect">
            <a:avLst>
              <a:gd name="adj" fmla="val 10084"/>
            </a:avLst>
          </a:prstGeom>
          <a:solidFill>
            <a:srgbClr val="0B1B33"/>
          </a:solidFill>
          <a:ln w="12700">
            <a:solidFill>
              <a:srgbClr val="0B1B33"/>
            </a:solidFill>
            <a:prstDash val="solid"/>
          </a:ln>
        </p:spPr>
        <p:txBody>
          <a:bodyPr/>
          <a:lstStyle/>
          <a:p>
            <a:endParaRPr lang="ko-KR" altLang="en-US"/>
          </a:p>
        </p:txBody>
      </p:sp>
      <p:sp>
        <p:nvSpPr>
          <p:cNvPr id="24" name="Text 21"/>
          <p:cNvSpPr txBox="1"/>
          <p:nvPr/>
        </p:nvSpPr>
        <p:spPr>
          <a:xfrm>
            <a:off x="7452360" y="4892040"/>
            <a:ext cx="3959352" cy="1088136"/>
          </a:xfrm>
          <a:prstGeom prst="rect">
            <a:avLst/>
          </a:prstGeom>
          <a:noFill/>
          <a:ln/>
        </p:spPr>
        <p:txBody>
          <a:bodyPr wrap="square" lIns="0" tIns="0" rIns="0" bIns="0" rtlCol="0" anchor="ctr"/>
          <a:lstStyle/>
          <a:p>
            <a:pPr marL="0" indent="0">
              <a:lnSpc>
                <a:spcPct val="112000"/>
              </a:lnSpc>
              <a:buNone/>
            </a:pPr>
            <a:r>
              <a:rPr lang="en-US" sz="1150" b="1" dirty="0">
                <a:solidFill>
                  <a:srgbClr val="FFFFFF"/>
                </a:solidFill>
                <a:latin typeface="Malgun Gothic" pitchFamily="34" charset="0"/>
                <a:ea typeface="Malgun Gothic" pitchFamily="34" charset="-122"/>
                <a:cs typeface="Malgun Gothic" pitchFamily="34" charset="-120"/>
              </a:rPr>
              <a:t>그래서 신호와 함께 ‘신호의 원인’을 구분하는 문제를 개선안의 중심에 놓았다 — 체류자격 세분화 필드 제안</a:t>
            </a:r>
            <a:endParaRPr lang="en-US" sz="1150" dirty="0"/>
          </a:p>
        </p:txBody>
      </p:sp>
      <p:sp>
        <p:nvSpPr>
          <p:cNvPr id="25" name="Text 2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26" name="Text 2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18 / 42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사례 ②</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err="1">
                <a:solidFill>
                  <a:srgbClr val="14213D"/>
                </a:solidFill>
                <a:latin typeface="Malgun Gothic" pitchFamily="34" charset="0"/>
                <a:ea typeface="Malgun Gothic" pitchFamily="34" charset="-122"/>
                <a:cs typeface="Malgun Gothic" pitchFamily="34" charset="-120"/>
              </a:rPr>
              <a:t>양양군</a:t>
            </a:r>
            <a:r>
              <a:rPr lang="en-US" sz="1600" b="1" dirty="0">
                <a:solidFill>
                  <a:srgbClr val="14213D"/>
                </a:solidFill>
                <a:latin typeface="Malgun Gothic" pitchFamily="34" charset="0"/>
                <a:ea typeface="Malgun Gothic" pitchFamily="34" charset="-122"/>
                <a:cs typeface="Malgun Gothic" pitchFamily="34" charset="-120"/>
              </a:rPr>
              <a:t> </a:t>
            </a:r>
          </a:p>
          <a:p>
            <a:pPr marL="0" indent="0">
              <a:lnSpc>
                <a:spcPct val="105000"/>
              </a:lnSpc>
              <a:buNone/>
            </a:pPr>
            <a:r>
              <a:rPr lang="en-US" sz="1600" b="1" dirty="0">
                <a:solidFill>
                  <a:srgbClr val="14213D"/>
                </a:solidFill>
                <a:latin typeface="Malgun Gothic" pitchFamily="34" charset="0"/>
                <a:ea typeface="Malgun Gothic" pitchFamily="34" charset="-122"/>
                <a:cs typeface="Malgun Gothic" pitchFamily="34" charset="-120"/>
              </a:rPr>
              <a:t>큰 표본 3개 업종이 함께 올랐다. 작은 표본의 급등(일식회집)은 제외했다</a:t>
            </a:r>
            <a:endParaRPr lang="en-US" sz="1600" dirty="0"/>
          </a:p>
        </p:txBody>
      </p:sp>
      <p:sp>
        <p:nvSpPr>
          <p:cNvPr id="6" name="Shape 4"/>
          <p:cNvSpPr/>
          <p:nvPr/>
        </p:nvSpPr>
        <p:spPr>
          <a:xfrm>
            <a:off x="548640" y="1737360"/>
            <a:ext cx="5852160" cy="4242816"/>
          </a:xfrm>
          <a:prstGeom prst="roundRect">
            <a:avLst>
              <a:gd name="adj" fmla="val 258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56232"/>
            <a:ext cx="539496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양양군 3개 업종 외국인 이용 건수 지수 (1월 = 100)</a:t>
            </a:r>
            <a:endParaRPr lang="en-US" sz="1250" dirty="0"/>
          </a:p>
        </p:txBody>
      </p:sp>
      <p:graphicFrame>
        <p:nvGraphicFramePr>
          <p:cNvPr id="8" name="Chart 0"/>
          <p:cNvGraphicFramePr/>
          <p:nvPr/>
        </p:nvGraphicFramePr>
        <p:xfrm>
          <a:off x="640080" y="2176272"/>
          <a:ext cx="56692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5029200"/>
            <a:ext cx="1645920" cy="365760"/>
          </a:xfrm>
          <a:prstGeom prst="rect">
            <a:avLst/>
          </a:prstGeom>
          <a:noFill/>
          <a:ln/>
        </p:spPr>
        <p:txBody>
          <a:bodyPr wrap="square" lIns="0" tIns="0" rIns="0" bIns="0" rtlCol="0" anchor="b"/>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+90%</a:t>
            </a:r>
            <a:endParaRPr lang="en-US" sz="2100" dirty="0"/>
          </a:p>
        </p:txBody>
      </p:sp>
      <p:sp>
        <p:nvSpPr>
          <p:cNvPr id="10" name="Text 7"/>
          <p:cNvSpPr txBox="1"/>
          <p:nvPr/>
        </p:nvSpPr>
        <p:spPr>
          <a:xfrm>
            <a:off x="777240" y="5422392"/>
            <a:ext cx="173736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서양음식 385 → 732건</a:t>
            </a:r>
            <a:endParaRPr lang="en-US" sz="950" dirty="0"/>
          </a:p>
        </p:txBody>
      </p:sp>
      <p:sp>
        <p:nvSpPr>
          <p:cNvPr id="11" name="Text 8"/>
          <p:cNvSpPr txBox="1"/>
          <p:nvPr/>
        </p:nvSpPr>
        <p:spPr>
          <a:xfrm>
            <a:off x="2560320" y="5029200"/>
            <a:ext cx="1645920" cy="365760"/>
          </a:xfrm>
          <a:prstGeom prst="rect">
            <a:avLst/>
          </a:prstGeom>
          <a:noFill/>
          <a:ln/>
        </p:spPr>
        <p:txBody>
          <a:bodyPr wrap="square" lIns="0" tIns="0" rIns="0" bIns="0" rtlCol="0" anchor="b"/>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+54%</a:t>
            </a:r>
            <a:endParaRPr lang="en-US" sz="2100" dirty="0"/>
          </a:p>
        </p:txBody>
      </p:sp>
      <p:sp>
        <p:nvSpPr>
          <p:cNvPr id="12" name="Text 9"/>
          <p:cNvSpPr txBox="1"/>
          <p:nvPr/>
        </p:nvSpPr>
        <p:spPr>
          <a:xfrm>
            <a:off x="2560320" y="5422392"/>
            <a:ext cx="173736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일반한식 704 → 1,083건</a:t>
            </a:r>
            <a:endParaRPr lang="en-US" sz="950" dirty="0"/>
          </a:p>
        </p:txBody>
      </p:sp>
      <p:sp>
        <p:nvSpPr>
          <p:cNvPr id="13" name="Text 10"/>
          <p:cNvSpPr txBox="1"/>
          <p:nvPr/>
        </p:nvSpPr>
        <p:spPr>
          <a:xfrm>
            <a:off x="4343400" y="5029200"/>
            <a:ext cx="1645920" cy="365760"/>
          </a:xfrm>
          <a:prstGeom prst="rect">
            <a:avLst/>
          </a:prstGeom>
          <a:noFill/>
          <a:ln/>
        </p:spPr>
        <p:txBody>
          <a:bodyPr wrap="square" lIns="0" tIns="0" rIns="0" bIns="0" rtlCol="0" anchor="b"/>
          <a:lstStyle/>
          <a:p>
            <a:pPr marL="0" indent="0">
              <a:buNone/>
            </a:pPr>
            <a:r>
              <a:rPr lang="en-US" sz="2100" b="1" dirty="0">
                <a:solidFill>
                  <a:srgbClr val="E8383D"/>
                </a:solidFill>
                <a:latin typeface="Malgun Gothic" pitchFamily="34" charset="0"/>
                <a:ea typeface="Malgun Gothic" pitchFamily="34" charset="-122"/>
                <a:cs typeface="Malgun Gothic" pitchFamily="34" charset="-120"/>
              </a:rPr>
              <a:t>+51%</a:t>
            </a:r>
            <a:endParaRPr lang="en-US" sz="2100" dirty="0"/>
          </a:p>
        </p:txBody>
      </p:sp>
      <p:sp>
        <p:nvSpPr>
          <p:cNvPr id="14" name="Text 11"/>
          <p:cNvSpPr txBox="1"/>
          <p:nvPr/>
        </p:nvSpPr>
        <p:spPr>
          <a:xfrm>
            <a:off x="4343400" y="5422392"/>
            <a:ext cx="1737360" cy="274320"/>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편의점 2,533 → 3,827건</a:t>
            </a:r>
            <a:endParaRPr lang="en-US" sz="950" dirty="0"/>
          </a:p>
        </p:txBody>
      </p:sp>
      <p:sp>
        <p:nvSpPr>
          <p:cNvPr id="15" name="Shape 12"/>
          <p:cNvSpPr/>
          <p:nvPr/>
        </p:nvSpPr>
        <p:spPr>
          <a:xfrm>
            <a:off x="6629400" y="1737360"/>
            <a:ext cx="5010912" cy="2331720"/>
          </a:xfrm>
          <a:prstGeom prst="roundRect">
            <a:avLst>
              <a:gd name="adj" fmla="val 4706"/>
            </a:avLst>
          </a:prstGeom>
          <a:solidFill>
            <a:srgbClr val="FDECEC"/>
          </a:solidFill>
          <a:ln w="12700">
            <a:solidFill>
              <a:srgbClr val="FDECEC"/>
            </a:solidFill>
            <a:prstDash val="solid"/>
          </a:ln>
        </p:spPr>
        <p:txBody>
          <a:bodyPr/>
          <a:lstStyle/>
          <a:p>
            <a:endParaRPr lang="ko-KR" altLang="en-US"/>
          </a:p>
        </p:txBody>
      </p:sp>
      <p:sp>
        <p:nvSpPr>
          <p:cNvPr id="16" name="Text 13"/>
          <p:cNvSpPr txBox="1"/>
          <p:nvPr/>
        </p:nvSpPr>
        <p:spPr>
          <a:xfrm>
            <a:off x="6858000" y="1891430"/>
            <a:ext cx="3657600" cy="274320"/>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제외한 신호 — 일식회집</a:t>
            </a:r>
            <a:endParaRPr lang="en-US" sz="1250" dirty="0"/>
          </a:p>
        </p:txBody>
      </p:sp>
      <p:graphicFrame>
        <p:nvGraphicFramePr>
          <p:cNvPr id="17" name="Chart 1"/>
          <p:cNvGraphicFramePr/>
          <p:nvPr>
            <p:extLst>
              <p:ext uri="{D42A27DB-BD31-4B8C-83A1-F6EECF244321}">
                <p14:modId xmlns:p14="http://schemas.microsoft.com/office/powerpoint/2010/main" val="2594857328"/>
              </p:ext>
            </p:extLst>
          </p:nvPr>
        </p:nvGraphicFramePr>
        <p:xfrm>
          <a:off x="6766560" y="2146460"/>
          <a:ext cx="278892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txBox="1"/>
          <p:nvPr/>
        </p:nvSpPr>
        <p:spPr>
          <a:xfrm>
            <a:off x="9646920" y="2257190"/>
            <a:ext cx="1810512" cy="1783080"/>
          </a:xfrm>
          <a:prstGeom prst="rect">
            <a:avLst/>
          </a:prstGeom>
          <a:noFill/>
          <a:ln/>
        </p:spPr>
        <p:txBody>
          <a:bodyPr wrap="square" lIns="0" tIns="0" rIns="0" bIns="0" rtlCol="0" anchor="t"/>
          <a:lstStyle/>
          <a:p>
            <a:pPr marL="0" indent="0">
              <a:lnSpc>
                <a:spcPct val="112000"/>
              </a:lnSpc>
              <a:buNone/>
            </a:pPr>
            <a:r>
              <a:rPr lang="en-US" sz="1000" dirty="0">
                <a:solidFill>
                  <a:srgbClr val="3A475C"/>
                </a:solidFill>
                <a:latin typeface="Malgun Gothic" pitchFamily="34" charset="0"/>
                <a:ea typeface="Malgun Gothic" pitchFamily="34" charset="-122"/>
                <a:cs typeface="Malgun Gothic" pitchFamily="34" charset="-120"/>
              </a:rPr>
              <a:t>점수 1.50으로 부동의 1위였지만 월 14~59건의 작은 표본이 출렁인 것이었다. 무주군 스낵과 같은 저베이스 반등형 노이즈로 판정해 제외하고, 큰 표본 3개 업종을 근거로 삼았다.</a:t>
            </a:r>
            <a:endParaRPr lang="en-US" sz="1000" dirty="0"/>
          </a:p>
        </p:txBody>
      </p:sp>
      <p:sp>
        <p:nvSpPr>
          <p:cNvPr id="19" name="Shape 15"/>
          <p:cNvSpPr/>
          <p:nvPr/>
        </p:nvSpPr>
        <p:spPr>
          <a:xfrm>
            <a:off x="6629400" y="4160520"/>
            <a:ext cx="5010912" cy="1819656"/>
          </a:xfrm>
          <a:prstGeom prst="roundRect">
            <a:avLst>
              <a:gd name="adj" fmla="val 6030"/>
            </a:avLst>
          </a:prstGeom>
          <a:solidFill>
            <a:srgbClr val="F3F6FB"/>
          </a:solidFill>
          <a:ln w="12700">
            <a:solidFill>
              <a:srgbClr val="F3F6FB"/>
            </a:solidFill>
            <a:prstDash val="solid"/>
          </a:ln>
        </p:spPr>
        <p:txBody>
          <a:bodyPr/>
          <a:lstStyle/>
          <a:p>
            <a:endParaRPr lang="ko-KR" altLang="en-US"/>
          </a:p>
        </p:txBody>
      </p:sp>
      <p:sp>
        <p:nvSpPr>
          <p:cNvPr id="20" name="Text 16"/>
          <p:cNvSpPr txBox="1"/>
          <p:nvPr/>
        </p:nvSpPr>
        <p:spPr>
          <a:xfrm>
            <a:off x="6858000" y="4314590"/>
            <a:ext cx="4114800" cy="274320"/>
          </a:xfrm>
          <a:prstGeom prst="rect">
            <a:avLst/>
          </a:prstGeom>
          <a:noFill/>
          <a:ln/>
        </p:spPr>
        <p:txBody>
          <a:bodyPr wrap="square" lIns="0" tIns="0" rIns="0" bIns="0" rtlCol="0" anchor="t"/>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양양군은 어떻게 분류했나</a:t>
            </a:r>
            <a:endParaRPr lang="en-US" sz="1250" dirty="0"/>
          </a:p>
        </p:txBody>
      </p:sp>
      <p:sp>
        <p:nvSpPr>
          <p:cNvPr id="21" name="Text 17"/>
          <p:cNvSpPr txBox="1"/>
          <p:nvPr/>
        </p:nvSpPr>
        <p:spPr>
          <a:xfrm>
            <a:off x="6858000" y="4634630"/>
            <a:ext cx="4553712" cy="1371600"/>
          </a:xfrm>
          <a:prstGeom prst="rect">
            <a:avLst/>
          </a:prstGeom>
          <a:noFill/>
          <a:ln/>
        </p:spPr>
        <p:txBody>
          <a:bodyPr wrap="square" lIns="0" tIns="0" rIns="0" bIns="0" rtlCol="0" anchor="t"/>
          <a:lstStyle/>
          <a:p>
            <a:pPr marL="152400" indent="-152400">
              <a:lnSpc>
                <a:spcPct val="110000"/>
              </a:lnSpc>
              <a:spcAft>
                <a:spcPts val="500"/>
              </a:spcAft>
              <a:buSzPct val="100000"/>
              <a:buChar char="•"/>
            </a:pPr>
            <a:r>
              <a:rPr lang="en-US" sz="1050" dirty="0">
                <a:solidFill>
                  <a:srgbClr val="3A475C"/>
                </a:solidFill>
                <a:latin typeface="Malgun Gothic" pitchFamily="34" charset="0"/>
                <a:ea typeface="Malgun Gothic" pitchFamily="34" charset="-122"/>
                <a:cs typeface="Malgun Gothic" pitchFamily="34" charset="-120"/>
              </a:rPr>
              <a:t>분석 기간 내 계절근로자 등 개별 사건성 뉴스를 찾지 못했다 — 반증이 확인되지 않아 Track A(관광 유입형)로 분류했다.</a:t>
            </a:r>
            <a:endParaRPr lang="en-US" sz="1050" dirty="0"/>
          </a:p>
          <a:p>
            <a:pPr marL="152400" indent="-152400">
              <a:lnSpc>
                <a:spcPct val="110000"/>
              </a:lnSpc>
              <a:buSzPct val="100000"/>
              <a:buChar char="•"/>
            </a:pPr>
            <a:r>
              <a:rPr lang="en-US" sz="1050" dirty="0">
                <a:solidFill>
                  <a:srgbClr val="3A475C"/>
                </a:solidFill>
                <a:latin typeface="Malgun Gothic" pitchFamily="34" charset="0"/>
                <a:ea typeface="Malgun Gothic" pitchFamily="34" charset="-122"/>
                <a:cs typeface="Malgun Gothic" pitchFamily="34" charset="-120"/>
              </a:rPr>
              <a:t>다만 방문자 증가(4월)가 카드 정점(5월)보다 먼저여서, 옹진군과 달리 카드가 앞선 사례는 아니다.</a:t>
            </a:r>
            <a:endParaRPr lang="en-US" sz="1050" dirty="0"/>
          </a:p>
        </p:txBody>
      </p:sp>
      <p:sp>
        <p:nvSpPr>
          <p:cNvPr id="22" name="Text 18"/>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23" name="Text 19"/>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19 / 42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04  </a:t>
            </a:r>
            <a:r>
              <a:rPr lang="en-US" sz="1150" b="1" dirty="0">
                <a:solidFill>
                  <a:srgbClr val="64748B"/>
                </a:solidFill>
                <a:latin typeface="Malgun Gothic" pitchFamily="34" charset="0"/>
                <a:ea typeface="Malgun Gothic" pitchFamily="34" charset="-122"/>
                <a:cs typeface="Malgun Gothic" pitchFamily="34" charset="-120"/>
              </a:rPr>
              <a:t>분석 결과 · 원인 확인과 분류</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후보 8곳의 신호 원인을 뉴스로 확인해 Track A·B로 분류했다</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3598973401"/>
              </p:ext>
            </p:extLst>
          </p:nvPr>
        </p:nvGraphicFramePr>
        <p:xfrm>
          <a:off x="548640" y="1719072"/>
          <a:ext cx="11091672" cy="3666744"/>
        </p:xfrm>
        <a:graphic>
          <a:graphicData uri="http://schemas.openxmlformats.org/drawingml/2006/table">
            <a:tbl>
              <a:tblPr/>
              <a:tblGrid>
                <a:gridCol w="1234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617220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329184">
                <a:tc>
                  <a:txBody>
                    <a:bodyPr/>
                    <a:lstStyle/>
                    <a:p>
                      <a:pPr marL="0" indent="0" algn="l">
                        <a:buNone/>
                      </a:pPr>
                      <a:r>
                        <a:rPr lang="en-US" sz="1050" b="1" dirty="0">
                          <a:solidFill>
                            <a:srgbClr val="FFFFFF"/>
                          </a:solidFill>
                          <a:latin typeface="Malgun Gothic" pitchFamily="34" charset="0"/>
                          <a:ea typeface="Malgun Gothic" pitchFamily="34" charset="-122"/>
                          <a:cs typeface="Malgun Gothic" pitchFamily="34" charset="-120"/>
                        </a:rPr>
                        <a:t>지역</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카드 신호 정점</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l">
                        <a:buNone/>
                      </a:pPr>
                      <a:r>
                        <a:rPr lang="en-US" sz="1050" b="1" dirty="0">
                          <a:solidFill>
                            <a:srgbClr val="FFFFFF"/>
                          </a:solidFill>
                          <a:latin typeface="Malgun Gothic" pitchFamily="34" charset="0"/>
                          <a:ea typeface="Malgun Gothic" pitchFamily="34" charset="-122"/>
                          <a:cs typeface="Malgun Gothic" pitchFamily="34" charset="-120"/>
                        </a:rPr>
                        <a:t>뉴스·자료로 확인한 사실 (근거 기사: 부록 A6)</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tc>
                  <a:txBody>
                    <a:bodyPr/>
                    <a:lstStyle/>
                    <a:p>
                      <a:pPr marL="0" indent="0" algn="l">
                        <a:buNone/>
                      </a:pPr>
                      <a:r>
                        <a:rPr lang="en-US" sz="1050" b="1" dirty="0">
                          <a:solidFill>
                            <a:srgbClr val="FFFFFF"/>
                          </a:solidFill>
                          <a:latin typeface="Malgun Gothic" pitchFamily="34" charset="0"/>
                          <a:ea typeface="Malgun Gothic" pitchFamily="34" charset="-122"/>
                          <a:cs typeface="Malgun Gothic" pitchFamily="34" charset="-120"/>
                        </a:rPr>
                        <a:t>분류</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청송군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5월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4/27~5월 중순 계절근로자 451명 순차 입국(전년 대비 약 +79%, 119개 농가 배치)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Track B · 계절근로 확인</a:t>
                      </a:r>
                      <a:endParaRPr lang="en-US" sz="1000" dirty="0">
                        <a:latin typeface="Malgun Gothic" charset="0"/>
                        <a:ea typeface="Malgun Gothic" charset="0"/>
                        <a:cs typeface="Malgun Gothic" charset="0"/>
                      </a:endParaRPr>
                    </a:p>
                    <a:p>
                      <a:pPr marL="0" indent="0">
                        <a:buNone/>
                      </a:pPr>
                      <a:r>
                        <a:rPr lang="en-US" sz="900" b="1" dirty="0">
                          <a:solidFill>
                            <a:srgbClr val="B7232B"/>
                          </a:solidFill>
                          <a:latin typeface="Malgun Gothic" pitchFamily="34" charset="0"/>
                          <a:ea typeface="Malgun Gothic" pitchFamily="34" charset="-122"/>
                          <a:cs typeface="Malgun Gothic" pitchFamily="34" charset="-120"/>
                        </a:rPr>
                        <a:t>대표 사례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extLst>
                  <a:ext uri="{0D108BD9-81ED-4DB2-BD59-A6C34878D82A}">
                    <a16:rowId xmlns:a16="http://schemas.microsoft.com/office/drawing/2014/main" val="10001"/>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영양군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6월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6/10~11 계절근로자 247명 입국(3차, 올해 누적 792명 · 연 1,238명 배치 계획) — 슈퍼마켓 454→811건 급증 구간(5→6월)과 겹침</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Track B · 계절근로 확인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extLst>
                  <a:ext uri="{0D108BD9-81ED-4DB2-BD59-A6C34878D82A}">
                    <a16:rowId xmlns:a16="http://schemas.microsoft.com/office/drawing/2014/main" val="10002"/>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봉화군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5월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3/24 보도: 2026년 상반기 계절근로자 200명 첫 입국</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Track B · 계절근로 확인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고성군(강원)</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4월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5/26 보도: 계절근로자 109명 입국·근무 중(6월 초 39명 추가 예정) → 이주노동 유입형(Track B)으로 분류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B7232B"/>
                          </a:solidFill>
                          <a:latin typeface="Malgun Gothic" pitchFamily="34" charset="0"/>
                          <a:ea typeface="Malgun Gothic" pitchFamily="34" charset="-122"/>
                          <a:cs typeface="Malgun Gothic" pitchFamily="34" charset="-120"/>
                        </a:rPr>
                        <a:t>Track B · 계절근로 확인</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DECEC"/>
                    </a:solidFill>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영월군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4월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개별 사건성 뉴스는 찾지 못함 — 관광객과 계절근로자가 섞였을 가능성을 각주로 처리</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9A6B00"/>
                          </a:solidFill>
                          <a:latin typeface="Malgun Gothic" pitchFamily="34" charset="0"/>
                          <a:ea typeface="Malgun Gothic" pitchFamily="34" charset="-122"/>
                          <a:cs typeface="Malgun Gothic" pitchFamily="34" charset="-120"/>
                        </a:rPr>
                        <a:t>Track A · 혼합 가능(각주)</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4DC"/>
                    </a:solidFill>
                  </a:tcPr>
                </a:tc>
                <a:extLst>
                  <a:ext uri="{0D108BD9-81ED-4DB2-BD59-A6C34878D82A}">
                    <a16:rowId xmlns:a16="http://schemas.microsoft.com/office/drawing/2014/main" val="10005"/>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의성군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5월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계절근로자 배정이 4년 새 8배(2022년 90명 → 2026년 728명)로 늘었다는 구조적 증가 보도 — 혼합 가능성</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9A6B00"/>
                          </a:solidFill>
                          <a:latin typeface="Malgun Gothic" pitchFamily="34" charset="0"/>
                          <a:ea typeface="Malgun Gothic" pitchFamily="34" charset="-122"/>
                          <a:cs typeface="Malgun Gothic" pitchFamily="34" charset="-120"/>
                        </a:rPr>
                        <a:t>Track A · 혼합 가능(각주)</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4DC"/>
                    </a:solidFill>
                  </a:tcPr>
                </a:tc>
                <a:extLst>
                  <a:ext uri="{0D108BD9-81ED-4DB2-BD59-A6C34878D82A}">
                    <a16:rowId xmlns:a16="http://schemas.microsoft.com/office/drawing/2014/main" val="10006"/>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양양군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5월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분석 기간 내 개별 사건성 뉴스 없음(양양 관련 기사는 7~8월 국내 피서객 — 기간·세그먼트 불일치)</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0B7A6D"/>
                          </a:solidFill>
                          <a:latin typeface="Malgun Gothic" pitchFamily="34" charset="0"/>
                          <a:ea typeface="Malgun Gothic" pitchFamily="34" charset="-122"/>
                          <a:cs typeface="Malgun Gothic" pitchFamily="34" charset="-120"/>
                        </a:rPr>
                        <a:t>Track A · 확인된 반증 없음</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extLst>
                  <a:ext uri="{0D108BD9-81ED-4DB2-BD59-A6C34878D82A}">
                    <a16:rowId xmlns:a16="http://schemas.microsoft.com/office/drawing/2014/main" val="10007"/>
                  </a:ext>
                </a:extLst>
              </a:tr>
              <a:tr h="411480">
                <a:tc>
                  <a:txBody>
                    <a:bodyP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옹진군</a:t>
                      </a:r>
                      <a:endParaRPr lang="en-US" sz="11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lgn="ctr">
                        <a:buNone/>
                      </a:pPr>
                      <a:r>
                        <a:rPr lang="en-US" sz="1050" dirty="0">
                          <a:solidFill>
                            <a:srgbClr val="64748B"/>
                          </a:solidFill>
                          <a:latin typeface="Malgun Gothic" pitchFamily="34" charset="0"/>
                          <a:ea typeface="Malgun Gothic" pitchFamily="34" charset="-122"/>
                          <a:cs typeface="Malgun Gothic" pitchFamily="34" charset="-120"/>
                        </a:rPr>
                        <a:t>3월</a:t>
                      </a:r>
                      <a:endParaRPr lang="en-US" sz="10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950" dirty="0">
                          <a:solidFill>
                            <a:srgbClr val="3A475C"/>
                          </a:solidFill>
                          <a:latin typeface="Malgun Gothic" pitchFamily="34" charset="0"/>
                          <a:ea typeface="Malgun Gothic" pitchFamily="34" charset="-122"/>
                          <a:cs typeface="Malgun Gothic" pitchFamily="34" charset="-120"/>
                        </a:rPr>
                        <a:t>2026.6월 기준 외국인 어선원(E-9-4) 657명이 상주 근무 중이고, 농업 계절근로자(E-8)는 8/31에야 도입 준비에 착수 — 분석 기간 이후</a:t>
                      </a:r>
                      <a:endParaRPr lang="en-US" sz="95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marL="0" indent="0">
                        <a:buNone/>
                      </a:pPr>
                      <a:r>
                        <a:rPr lang="en-US" sz="1000" b="1" dirty="0">
                          <a:solidFill>
                            <a:srgbClr val="0B7A6D"/>
                          </a:solidFill>
                          <a:latin typeface="Malgun Gothic" pitchFamily="34" charset="0"/>
                          <a:ea typeface="Malgun Gothic" pitchFamily="34" charset="-122"/>
                          <a:cs typeface="Malgun Gothic" pitchFamily="34" charset="-120"/>
                        </a:rPr>
                        <a:t>Track A · 확인된 반증 없음</a:t>
                      </a:r>
                      <a:endParaRPr lang="en-US" sz="1000" dirty="0">
                        <a:latin typeface="Malgun Gothic" charset="0"/>
                        <a:ea typeface="Malgun Gothic" charset="0"/>
                        <a:cs typeface="Malgun Gothic" charset="0"/>
                      </a:endParaRPr>
                    </a:p>
                    <a:p>
                      <a:pPr marL="0" indent="0">
                        <a:buNone/>
                      </a:pPr>
                      <a:r>
                        <a:rPr lang="en-US" sz="900" b="1" dirty="0">
                          <a:solidFill>
                            <a:srgbClr val="0B7A6D"/>
                          </a:solidFill>
                          <a:latin typeface="Malgun Gothic" pitchFamily="34" charset="0"/>
                          <a:ea typeface="Malgun Gothic" pitchFamily="34" charset="-122"/>
                          <a:cs typeface="Malgun Gothic" pitchFamily="34" charset="-120"/>
                        </a:rPr>
                        <a:t>히어로 사례</a:t>
                      </a:r>
                      <a:endParaRPr lang="en-US" sz="1000" dirty="0">
                        <a:latin typeface="Malgun Gothic" charset="0"/>
                        <a:ea typeface="Malgun Gothic" charset="0"/>
                        <a:cs typeface="Malgun Gothic" charset="0"/>
                      </a:endParaRPr>
                    </a:p>
                  </a:txBody>
                  <a:tcPr marL="73152" marR="73152" marT="27432" marB="27432"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3F6F3"/>
                    </a:solidFill>
                  </a:tcPr>
                </a:tc>
                <a:extLst>
                  <a:ext uri="{0D108BD9-81ED-4DB2-BD59-A6C34878D82A}">
                    <a16:rowId xmlns:a16="http://schemas.microsoft.com/office/drawing/2014/main" val="10008"/>
                  </a:ext>
                </a:extLst>
              </a:tr>
            </a:tbl>
          </a:graphicData>
        </a:graphic>
      </p:graphicFrame>
      <p:sp>
        <p:nvSpPr>
          <p:cNvPr id="7" name="Shape 4"/>
          <p:cNvSpPr/>
          <p:nvPr/>
        </p:nvSpPr>
        <p:spPr>
          <a:xfrm>
            <a:off x="548640" y="5468112"/>
            <a:ext cx="5440680" cy="530352"/>
          </a:xfrm>
          <a:prstGeom prst="roundRect">
            <a:avLst>
              <a:gd name="adj" fmla="val 17241"/>
            </a:avLst>
          </a:prstGeom>
          <a:solidFill>
            <a:srgbClr val="FFF4DC"/>
          </a:solidFill>
          <a:ln w="12700">
            <a:solidFill>
              <a:srgbClr val="FFF4DC"/>
            </a:solidFill>
            <a:prstDash val="solid"/>
          </a:ln>
        </p:spPr>
        <p:txBody>
          <a:bodyPr/>
          <a:lstStyle/>
          <a:p>
            <a:endParaRPr lang="ko-KR" altLang="en-US"/>
          </a:p>
        </p:txBody>
      </p:sp>
      <p:sp>
        <p:nvSpPr>
          <p:cNvPr id="8" name="Text 5"/>
          <p:cNvSpPr txBox="1"/>
          <p:nvPr/>
        </p:nvSpPr>
        <p:spPr>
          <a:xfrm>
            <a:off x="731520" y="5468112"/>
            <a:ext cx="5120640" cy="530352"/>
          </a:xfrm>
          <a:prstGeom prst="rect">
            <a:avLst/>
          </a:prstGeom>
          <a:noFill/>
          <a:ln/>
        </p:spPr>
        <p:txBody>
          <a:bodyPr wrap="square" lIns="0" tIns="0" rIns="0" bIns="0" rtlCol="0" anchor="ctr"/>
          <a:lstStyle/>
          <a:p>
            <a:pPr marL="0" indent="0">
              <a:lnSpc>
                <a:spcPct val="105000"/>
              </a:lnSpc>
              <a:buNone/>
            </a:pPr>
            <a:r>
              <a:rPr lang="en-US" sz="950" b="1" dirty="0">
                <a:solidFill>
                  <a:srgbClr val="9A6B00"/>
                </a:solidFill>
                <a:latin typeface="Malgun Gothic" pitchFamily="34" charset="0"/>
                <a:ea typeface="Malgun Gothic" pitchFamily="34" charset="-122"/>
                <a:cs typeface="Malgun Gothic" pitchFamily="34" charset="-120"/>
              </a:rPr>
              <a:t>분류의 한계  </a:t>
            </a:r>
            <a:r>
              <a:rPr lang="en-US" sz="950" dirty="0">
                <a:solidFill>
                  <a:srgbClr val="14213D"/>
                </a:solidFill>
                <a:latin typeface="Malgun Gothic" pitchFamily="34" charset="0"/>
                <a:ea typeface="Malgun Gothic" pitchFamily="34" charset="-122"/>
                <a:cs typeface="Malgun Gothic" pitchFamily="34" charset="-120"/>
              </a:rPr>
              <a:t>트랙은 뉴스 근거에 따른 정성적 판단이며 통계 기준이 아니다. 경계 사례(예: 봉화 3/24 입국 vs 5월 정점)는 달리 볼 여지가 있다.</a:t>
            </a:r>
            <a:endParaRPr lang="en-US" sz="950" dirty="0"/>
          </a:p>
        </p:txBody>
      </p:sp>
      <p:sp>
        <p:nvSpPr>
          <p:cNvPr id="9" name="Shape 6"/>
          <p:cNvSpPr/>
          <p:nvPr/>
        </p:nvSpPr>
        <p:spPr>
          <a:xfrm>
            <a:off x="6199632" y="5468112"/>
            <a:ext cx="5440680" cy="530352"/>
          </a:xfrm>
          <a:prstGeom prst="roundRect">
            <a:avLst>
              <a:gd name="adj" fmla="val 17241"/>
            </a:avLst>
          </a:prstGeom>
          <a:solidFill>
            <a:srgbClr val="0B1B33"/>
          </a:solidFill>
          <a:ln w="12700">
            <a:solidFill>
              <a:srgbClr val="0B1B33"/>
            </a:solidFill>
            <a:prstDash val="solid"/>
          </a:ln>
        </p:spPr>
        <p:txBody>
          <a:bodyPr/>
          <a:lstStyle/>
          <a:p>
            <a:endParaRPr lang="ko-KR" altLang="en-US"/>
          </a:p>
        </p:txBody>
      </p:sp>
      <p:sp>
        <p:nvSpPr>
          <p:cNvPr id="10" name="Text 7"/>
          <p:cNvSpPr txBox="1"/>
          <p:nvPr/>
        </p:nvSpPr>
        <p:spPr>
          <a:xfrm>
            <a:off x="6400800" y="5468112"/>
            <a:ext cx="5074920" cy="530352"/>
          </a:xfrm>
          <a:prstGeom prst="rect">
            <a:avLst/>
          </a:prstGeom>
          <a:noFill/>
          <a:ln/>
        </p:spPr>
        <p:txBody>
          <a:bodyPr wrap="square" lIns="0" tIns="0" rIns="0" bIns="0" rtlCol="0" anchor="ctr"/>
          <a:lstStyle/>
          <a:p>
            <a:pPr marL="0" indent="0">
              <a:lnSpc>
                <a:spcPct val="105000"/>
              </a:lnSpc>
              <a:buNone/>
            </a:pPr>
            <a:r>
              <a:rPr lang="en-US" sz="1000" b="1" dirty="0">
                <a:solidFill>
                  <a:srgbClr val="FFFFFF"/>
                </a:solidFill>
                <a:latin typeface="Malgun Gothic" pitchFamily="34" charset="0"/>
                <a:ea typeface="Malgun Gothic" pitchFamily="34" charset="-122"/>
                <a:cs typeface="Malgun Gothic" pitchFamily="34" charset="-120"/>
              </a:rPr>
              <a:t>GENDER_CD=3은 단기 관광객과 계절근로자를 구분하지 않는다 → BC카드 데이터 개선 제안으로 연결</a:t>
            </a:r>
            <a:endParaRPr lang="en-US" sz="1000" dirty="0"/>
          </a:p>
        </p:txBody>
      </p:sp>
      <p:sp>
        <p:nvSpPr>
          <p:cNvPr id="11" name="Text 8"/>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2" name="Text 9"/>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20 / 42</a:t>
            </a:r>
            <a:endParaRPr lang="en-US" sz="900" dirty="0"/>
          </a:p>
        </p:txBody>
      </p:sp>
      <p:sp>
        <p:nvSpPr>
          <p:cNvPr id="14" name="그래픽 12" descr="별 윤곽선">
            <a:extLst>
              <a:ext uri="{FF2B5EF4-FFF2-40B4-BE49-F238E27FC236}">
                <a16:creationId xmlns:a16="http://schemas.microsoft.com/office/drawing/2014/main" id="{088AE6F8-1A36-1456-1D4C-E71AAA7A8794}"/>
              </a:ext>
            </a:extLst>
          </p:cNvPr>
          <p:cNvSpPr/>
          <p:nvPr/>
        </p:nvSpPr>
        <p:spPr>
          <a:xfrm>
            <a:off x="1111674" y="5063842"/>
            <a:ext cx="200660" cy="200722"/>
          </a:xfrm>
          <a:custGeom>
            <a:avLst/>
            <a:gdLst>
              <a:gd name="csX0" fmla="*/ 100330 w 200660"/>
              <a:gd name="csY0" fmla="*/ 15872 h 200722"/>
              <a:gd name="csX1" fmla="*/ 120647 w 200660"/>
              <a:gd name="csY1" fmla="*/ 76860 h 200722"/>
              <a:gd name="csX2" fmla="*/ 121791 w 200660"/>
              <a:gd name="csY2" fmla="*/ 80292 h 200722"/>
              <a:gd name="csX3" fmla="*/ 187256 w 200660"/>
              <a:gd name="csY3" fmla="*/ 80292 h 200722"/>
              <a:gd name="csX4" fmla="*/ 139682 w 200660"/>
              <a:gd name="csY4" fmla="*/ 121678 h 200722"/>
              <a:gd name="csX5" fmla="*/ 137239 w 200660"/>
              <a:gd name="csY5" fmla="*/ 123802 h 200722"/>
              <a:gd name="csX6" fmla="*/ 138169 w 200660"/>
              <a:gd name="csY6" fmla="*/ 126905 h 200722"/>
              <a:gd name="csX7" fmla="*/ 156630 w 200660"/>
              <a:gd name="csY7" fmla="*/ 188452 h 200722"/>
              <a:gd name="csX8" fmla="*/ 103182 w 200660"/>
              <a:gd name="csY8" fmla="*/ 151436 h 200722"/>
              <a:gd name="csX9" fmla="*/ 100330 w 200660"/>
              <a:gd name="csY9" fmla="*/ 149459 h 200722"/>
              <a:gd name="csX10" fmla="*/ 97473 w 200660"/>
              <a:gd name="csY10" fmla="*/ 151436 h 200722"/>
              <a:gd name="csX11" fmla="*/ 44027 w 200660"/>
              <a:gd name="csY11" fmla="*/ 188442 h 200722"/>
              <a:gd name="csX12" fmla="*/ 62488 w 200660"/>
              <a:gd name="csY12" fmla="*/ 126895 h 200722"/>
              <a:gd name="csX13" fmla="*/ 63419 w 200660"/>
              <a:gd name="csY13" fmla="*/ 123792 h 200722"/>
              <a:gd name="csX14" fmla="*/ 60976 w 200660"/>
              <a:gd name="csY14" fmla="*/ 121668 h 200722"/>
              <a:gd name="csX15" fmla="*/ 13402 w 200660"/>
              <a:gd name="csY15" fmla="*/ 80282 h 200722"/>
              <a:gd name="csX16" fmla="*/ 78867 w 200660"/>
              <a:gd name="csY16" fmla="*/ 80282 h 200722"/>
              <a:gd name="csX17" fmla="*/ 80011 w 200660"/>
              <a:gd name="csY17" fmla="*/ 76850 h 200722"/>
              <a:gd name="csX18" fmla="*/ 75248 w 200660"/>
              <a:gd name="csY18" fmla="*/ 75275 h 200722"/>
              <a:gd name="csX19" fmla="*/ 0 w 200660"/>
              <a:gd name="csY19" fmla="*/ 75275 h 200722"/>
              <a:gd name="csX20" fmla="*/ 57690 w 200660"/>
              <a:gd name="csY20" fmla="*/ 125440 h 200722"/>
              <a:gd name="csX21" fmla="*/ 35116 w 200660"/>
              <a:gd name="csY21" fmla="*/ 200723 h 200722"/>
              <a:gd name="csX22" fmla="*/ 100330 w 200660"/>
              <a:gd name="csY22" fmla="*/ 155562 h 200722"/>
              <a:gd name="csX23" fmla="*/ 165545 w 200660"/>
              <a:gd name="csY23" fmla="*/ 200723 h 200722"/>
              <a:gd name="csX24" fmla="*/ 142970 w 200660"/>
              <a:gd name="csY24" fmla="*/ 125453 h 200722"/>
              <a:gd name="csX25" fmla="*/ 200660 w 200660"/>
              <a:gd name="csY25" fmla="*/ 75288 h 200722"/>
              <a:gd name="csX26" fmla="*/ 125413 w 200660"/>
              <a:gd name="csY26" fmla="*/ 75288 h 200722"/>
              <a:gd name="csX27" fmla="*/ 100330 w 200660"/>
              <a:gd name="csY27" fmla="*/ 0 h 2007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200660" h="200722">
                <a:moveTo>
                  <a:pt x="100330" y="15872"/>
                </a:moveTo>
                <a:lnTo>
                  <a:pt x="120647" y="76860"/>
                </a:lnTo>
                <a:lnTo>
                  <a:pt x="121791" y="80292"/>
                </a:lnTo>
                <a:lnTo>
                  <a:pt x="187256" y="80292"/>
                </a:lnTo>
                <a:lnTo>
                  <a:pt x="139682" y="121678"/>
                </a:lnTo>
                <a:lnTo>
                  <a:pt x="137239" y="123802"/>
                </a:lnTo>
                <a:lnTo>
                  <a:pt x="138169" y="126905"/>
                </a:lnTo>
                <a:lnTo>
                  <a:pt x="156630" y="188452"/>
                </a:lnTo>
                <a:lnTo>
                  <a:pt x="103182" y="151436"/>
                </a:lnTo>
                <a:lnTo>
                  <a:pt x="100330" y="149459"/>
                </a:lnTo>
                <a:lnTo>
                  <a:pt x="97473" y="151436"/>
                </a:lnTo>
                <a:lnTo>
                  <a:pt x="44027" y="188442"/>
                </a:lnTo>
                <a:lnTo>
                  <a:pt x="62488" y="126895"/>
                </a:lnTo>
                <a:lnTo>
                  <a:pt x="63419" y="123792"/>
                </a:lnTo>
                <a:lnTo>
                  <a:pt x="60976" y="121668"/>
                </a:lnTo>
                <a:lnTo>
                  <a:pt x="13402" y="80282"/>
                </a:lnTo>
                <a:lnTo>
                  <a:pt x="78867" y="80282"/>
                </a:lnTo>
                <a:lnTo>
                  <a:pt x="80011" y="76850"/>
                </a:lnTo>
                <a:close/>
                <a:moveTo>
                  <a:pt x="75248" y="75275"/>
                </a:moveTo>
                <a:lnTo>
                  <a:pt x="0" y="75275"/>
                </a:lnTo>
                <a:lnTo>
                  <a:pt x="57690" y="125440"/>
                </a:lnTo>
                <a:lnTo>
                  <a:pt x="35116" y="200723"/>
                </a:lnTo>
                <a:lnTo>
                  <a:pt x="100330" y="155562"/>
                </a:lnTo>
                <a:lnTo>
                  <a:pt x="165545" y="200723"/>
                </a:lnTo>
                <a:lnTo>
                  <a:pt x="142970" y="125453"/>
                </a:lnTo>
                <a:lnTo>
                  <a:pt x="200660" y="75288"/>
                </a:lnTo>
                <a:lnTo>
                  <a:pt x="125413" y="75288"/>
                </a:lnTo>
                <a:lnTo>
                  <a:pt x="100330" y="0"/>
                </a:lnTo>
                <a:close/>
              </a:path>
            </a:pathLst>
          </a:custGeom>
          <a:solidFill>
            <a:srgbClr val="FFFF00"/>
          </a:solidFill>
          <a:ln w="2480" cap="flat">
            <a:solidFill>
              <a:srgbClr val="FFFF00"/>
            </a:solidFill>
            <a:prstDash val="solid"/>
            <a:miter/>
          </a:ln>
        </p:spPr>
        <p:txBody>
          <a:bodyPr/>
          <a:lstStyle/>
          <a:p>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H1 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H1은 카드와 독립된 외부 원천으로 </a:t>
            </a:r>
            <a:r>
              <a:rPr lang="en-US" sz="2400" b="1" dirty="0" err="1">
                <a:solidFill>
                  <a:srgbClr val="14213D"/>
                </a:solidFill>
                <a:latin typeface="Malgun Gothic" pitchFamily="34" charset="0"/>
                <a:ea typeface="Malgun Gothic" pitchFamily="34" charset="-122"/>
                <a:cs typeface="Malgun Gothic" pitchFamily="34" charset="-120"/>
              </a:rPr>
              <a:t>확인한다</a:t>
            </a:r>
            <a:r>
              <a:rPr lang="en-US" sz="2400" b="1" dirty="0">
                <a:solidFill>
                  <a:srgbClr val="14213D"/>
                </a:solidFill>
                <a:latin typeface="Malgun Gothic" pitchFamily="34" charset="0"/>
                <a:ea typeface="Malgun Gothic" pitchFamily="34" charset="-122"/>
                <a:cs typeface="Malgun Gothic" pitchFamily="34" charset="-120"/>
              </a:rPr>
              <a:t> </a:t>
            </a:r>
          </a:p>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 한국관광 데이터랩 외국인 방문자수</a:t>
            </a:r>
            <a:endParaRPr lang="en-US" sz="2400" dirty="0"/>
          </a:p>
        </p:txBody>
      </p:sp>
      <p:sp>
        <p:nvSpPr>
          <p:cNvPr id="6" name="Text 4"/>
          <p:cNvSpPr txBox="1"/>
          <p:nvPr/>
        </p:nvSpPr>
        <p:spPr>
          <a:xfrm>
            <a:off x="548640" y="1700784"/>
            <a:ext cx="2743200" cy="274320"/>
          </a:xfrm>
          <a:prstGeom prst="rect">
            <a:avLst/>
          </a:prstGeom>
          <a:noFill/>
          <a:ln/>
        </p:spPr>
        <p:txBody>
          <a:bodyPr wrap="square" lIns="0" tIns="0" rIns="0" bIns="0" rtlCol="0" anchor="t"/>
          <a:lstStyle/>
          <a:p>
            <a:pPr marL="0" indent="0">
              <a:buNone/>
            </a:pPr>
            <a:r>
              <a:rPr lang="en-US" sz="1250" b="1" dirty="0">
                <a:solidFill>
                  <a:srgbClr val="B7232B"/>
                </a:solidFill>
                <a:latin typeface="Malgun Gothic" pitchFamily="34" charset="0"/>
                <a:ea typeface="Malgun Gothic" pitchFamily="34" charset="-122"/>
                <a:cs typeface="Malgun Gothic" pitchFamily="34" charset="-120"/>
              </a:rPr>
              <a:t>왜 이 자료인가</a:t>
            </a:r>
            <a:endParaRPr lang="en-US" sz="1250" dirty="0"/>
          </a:p>
        </p:txBody>
      </p:sp>
      <p:sp>
        <p:nvSpPr>
          <p:cNvPr id="7" name="Shape 5"/>
          <p:cNvSpPr/>
          <p:nvPr/>
        </p:nvSpPr>
        <p:spPr>
          <a:xfrm>
            <a:off x="548640" y="2011680"/>
            <a:ext cx="6446520" cy="987552"/>
          </a:xfrm>
          <a:prstGeom prst="roundRect">
            <a:avLst>
              <a:gd name="adj" fmla="val 9259"/>
            </a:avLst>
          </a:prstGeom>
          <a:solidFill>
            <a:srgbClr val="F3F6FB"/>
          </a:solidFill>
          <a:ln w="12700">
            <a:solidFill>
              <a:srgbClr val="F3F6FB"/>
            </a:solidFill>
            <a:prstDash val="solid"/>
          </a:ln>
        </p:spPr>
        <p:txBody>
          <a:bodyPr/>
          <a:lstStyle/>
          <a:p>
            <a:endParaRPr lang="ko-KR" altLang="en-US"/>
          </a:p>
        </p:txBody>
      </p:sp>
      <p:sp>
        <p:nvSpPr>
          <p:cNvPr id="8" name="Shape 6"/>
          <p:cNvSpPr/>
          <p:nvPr/>
        </p:nvSpPr>
        <p:spPr>
          <a:xfrm>
            <a:off x="777240" y="2167128"/>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9" name="Text 7"/>
          <p:cNvSpPr txBox="1"/>
          <p:nvPr/>
        </p:nvSpPr>
        <p:spPr>
          <a:xfrm>
            <a:off x="777240" y="216712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1</a:t>
            </a:r>
            <a:endParaRPr lang="en-US" sz="1150" dirty="0"/>
          </a:p>
        </p:txBody>
      </p:sp>
      <p:sp>
        <p:nvSpPr>
          <p:cNvPr id="10" name="Text 8"/>
          <p:cNvSpPr txBox="1"/>
          <p:nvPr/>
        </p:nvSpPr>
        <p:spPr>
          <a:xfrm>
            <a:off x="1280160" y="2139696"/>
            <a:ext cx="539496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같은 대상 — 외국인</a:t>
            </a:r>
            <a:endParaRPr lang="en-US" sz="1250" dirty="0"/>
          </a:p>
        </p:txBody>
      </p:sp>
      <p:sp>
        <p:nvSpPr>
          <p:cNvPr id="11" name="Text 9"/>
          <p:cNvSpPr txBox="1"/>
          <p:nvPr/>
        </p:nvSpPr>
        <p:spPr>
          <a:xfrm>
            <a:off x="1280160" y="2468880"/>
            <a:ext cx="5532120" cy="493776"/>
          </a:xfrm>
          <a:prstGeom prst="rect">
            <a:avLst/>
          </a:prstGeom>
          <a:noFill/>
          <a:ln/>
        </p:spPr>
        <p:txBody>
          <a:bodyPr wrap="square" lIns="0" tIns="0" rIns="0" bIns="0" rtlCol="0" anchor="t"/>
          <a:lstStyle/>
          <a:p>
            <a:pPr marL="0" indent="0">
              <a:lnSpc>
                <a:spcPct val="112000"/>
              </a:lnSpc>
              <a:buNone/>
            </a:pPr>
            <a:r>
              <a:rPr lang="en-US" sz="1050" dirty="0">
                <a:solidFill>
                  <a:srgbClr val="3A475C"/>
                </a:solidFill>
                <a:latin typeface="Malgun Gothic" pitchFamily="34" charset="0"/>
                <a:ea typeface="Malgun Gothic" pitchFamily="34" charset="-122"/>
                <a:cs typeface="Malgun Gothic" pitchFamily="34" charset="-120"/>
              </a:rPr>
              <a:t>카드의 외국인 세그먼트(GENDER_CD=3)와 방문자수의 외국인 구분(touDivCd=3)이 같은 대상을 가리킨다. 서로 다른 원천이 같은 대상을 측정한다.</a:t>
            </a:r>
            <a:endParaRPr lang="en-US" sz="1050" dirty="0"/>
          </a:p>
        </p:txBody>
      </p:sp>
      <p:sp>
        <p:nvSpPr>
          <p:cNvPr id="12" name="Shape 10"/>
          <p:cNvSpPr/>
          <p:nvPr/>
        </p:nvSpPr>
        <p:spPr>
          <a:xfrm>
            <a:off x="548640" y="3090672"/>
            <a:ext cx="6446520" cy="987552"/>
          </a:xfrm>
          <a:prstGeom prst="roundRect">
            <a:avLst>
              <a:gd name="adj" fmla="val 9259"/>
            </a:avLst>
          </a:prstGeom>
          <a:solidFill>
            <a:srgbClr val="F3F6FB"/>
          </a:solidFill>
          <a:ln w="12700">
            <a:solidFill>
              <a:srgbClr val="F3F6FB"/>
            </a:solidFill>
            <a:prstDash val="solid"/>
          </a:ln>
        </p:spPr>
        <p:txBody>
          <a:bodyPr/>
          <a:lstStyle/>
          <a:p>
            <a:endParaRPr lang="ko-KR" altLang="en-US"/>
          </a:p>
        </p:txBody>
      </p:sp>
      <p:sp>
        <p:nvSpPr>
          <p:cNvPr id="13" name="Shape 11"/>
          <p:cNvSpPr/>
          <p:nvPr/>
        </p:nvSpPr>
        <p:spPr>
          <a:xfrm>
            <a:off x="777240" y="3246120"/>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4" name="Text 12"/>
          <p:cNvSpPr txBox="1"/>
          <p:nvPr/>
        </p:nvSpPr>
        <p:spPr>
          <a:xfrm>
            <a:off x="777240" y="3246120"/>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2</a:t>
            </a:r>
            <a:endParaRPr lang="en-US" sz="1150" dirty="0"/>
          </a:p>
        </p:txBody>
      </p:sp>
      <p:sp>
        <p:nvSpPr>
          <p:cNvPr id="15" name="Text 13"/>
          <p:cNvSpPr txBox="1"/>
          <p:nvPr/>
        </p:nvSpPr>
        <p:spPr>
          <a:xfrm>
            <a:off x="1280160" y="3218688"/>
            <a:ext cx="539496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같은 단위 — 시군구 × 월</a:t>
            </a:r>
            <a:endParaRPr lang="en-US" sz="1250" dirty="0"/>
          </a:p>
        </p:txBody>
      </p:sp>
      <p:sp>
        <p:nvSpPr>
          <p:cNvPr id="16" name="Text 14"/>
          <p:cNvSpPr txBox="1"/>
          <p:nvPr/>
        </p:nvSpPr>
        <p:spPr>
          <a:xfrm>
            <a:off x="1280160" y="3547872"/>
            <a:ext cx="5532120" cy="493776"/>
          </a:xfrm>
          <a:prstGeom prst="rect">
            <a:avLst/>
          </a:prstGeom>
          <a:noFill/>
          <a:ln/>
        </p:spPr>
        <p:txBody>
          <a:bodyPr wrap="square" lIns="0" tIns="0" rIns="0" bIns="0" rtlCol="0" anchor="t"/>
          <a:lstStyle/>
          <a:p>
            <a:pPr marL="0" indent="0">
              <a:lnSpc>
                <a:spcPct val="112000"/>
              </a:lnSpc>
              <a:buNone/>
            </a:pPr>
            <a:r>
              <a:rPr lang="en-US" sz="1050" dirty="0">
                <a:solidFill>
                  <a:srgbClr val="3A475C"/>
                </a:solidFill>
                <a:latin typeface="Malgun Gothic" pitchFamily="34" charset="0"/>
                <a:ea typeface="Malgun Gothic" pitchFamily="34" charset="-122"/>
                <a:cs typeface="Malgun Gothic" pitchFamily="34" charset="-120"/>
              </a:rPr>
              <a:t>기초지자체 일별 방문자수를 월별로 합산해, 카드 집계 단위(시군구·월)와 그대로 맞물린다. 후보 8곳 × 2026.1~6월.</a:t>
            </a:r>
            <a:endParaRPr lang="en-US" sz="1050" dirty="0"/>
          </a:p>
        </p:txBody>
      </p:sp>
      <p:sp>
        <p:nvSpPr>
          <p:cNvPr id="17" name="Shape 15"/>
          <p:cNvSpPr/>
          <p:nvPr/>
        </p:nvSpPr>
        <p:spPr>
          <a:xfrm>
            <a:off x="548640" y="4169664"/>
            <a:ext cx="6446520" cy="987552"/>
          </a:xfrm>
          <a:prstGeom prst="roundRect">
            <a:avLst>
              <a:gd name="adj" fmla="val 9259"/>
            </a:avLst>
          </a:prstGeom>
          <a:solidFill>
            <a:srgbClr val="F3F6FB"/>
          </a:solidFill>
          <a:ln w="12700">
            <a:solidFill>
              <a:srgbClr val="F3F6FB"/>
            </a:solidFill>
            <a:prstDash val="solid"/>
          </a:ln>
        </p:spPr>
        <p:txBody>
          <a:bodyPr/>
          <a:lstStyle/>
          <a:p>
            <a:endParaRPr lang="ko-KR" altLang="en-US"/>
          </a:p>
        </p:txBody>
      </p:sp>
      <p:sp>
        <p:nvSpPr>
          <p:cNvPr id="18" name="Shape 16"/>
          <p:cNvSpPr/>
          <p:nvPr/>
        </p:nvSpPr>
        <p:spPr>
          <a:xfrm>
            <a:off x="777240" y="4325112"/>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9" name="Text 17"/>
          <p:cNvSpPr txBox="1"/>
          <p:nvPr/>
        </p:nvSpPr>
        <p:spPr>
          <a:xfrm>
            <a:off x="777240" y="4325112"/>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Malgun Gothic" pitchFamily="34" charset="0"/>
                <a:ea typeface="Malgun Gothic" pitchFamily="34" charset="-122"/>
                <a:cs typeface="Malgun Gothic" pitchFamily="34" charset="-120"/>
              </a:rPr>
              <a:t>3</a:t>
            </a:r>
            <a:endParaRPr lang="en-US" sz="1150" dirty="0"/>
          </a:p>
        </p:txBody>
      </p:sp>
      <p:sp>
        <p:nvSpPr>
          <p:cNvPr id="20" name="Text 18"/>
          <p:cNvSpPr txBox="1"/>
          <p:nvPr/>
        </p:nvSpPr>
        <p:spPr>
          <a:xfrm>
            <a:off x="1280160" y="4297680"/>
            <a:ext cx="539496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카드와 독립된 원천</a:t>
            </a:r>
            <a:endParaRPr lang="en-US" sz="1250" dirty="0"/>
          </a:p>
        </p:txBody>
      </p:sp>
      <p:sp>
        <p:nvSpPr>
          <p:cNvPr id="21" name="Text 19"/>
          <p:cNvSpPr txBox="1"/>
          <p:nvPr/>
        </p:nvSpPr>
        <p:spPr>
          <a:xfrm>
            <a:off x="1280160" y="4626864"/>
            <a:ext cx="5532120" cy="493776"/>
          </a:xfrm>
          <a:prstGeom prst="rect">
            <a:avLst/>
          </a:prstGeom>
          <a:noFill/>
          <a:ln/>
        </p:spPr>
        <p:txBody>
          <a:bodyPr wrap="square" lIns="0" tIns="0" rIns="0" bIns="0" rtlCol="0" anchor="t"/>
          <a:lstStyle/>
          <a:p>
            <a:pPr marL="0" indent="0">
              <a:lnSpc>
                <a:spcPct val="112000"/>
              </a:lnSpc>
              <a:buNone/>
            </a:pPr>
            <a:r>
              <a:rPr lang="en-US" sz="1050" dirty="0">
                <a:solidFill>
                  <a:srgbClr val="3A475C"/>
                </a:solidFill>
                <a:latin typeface="Malgun Gothic" pitchFamily="34" charset="0"/>
                <a:ea typeface="Malgun Gothic" pitchFamily="34" charset="-122"/>
                <a:cs typeface="Malgun Gothic" pitchFamily="34" charset="-120"/>
              </a:rPr>
              <a:t>이동통신 데이터 기반이라 BC카드 결제와 순환 참조가 없다. BC카드 결제에 기반한 통계는 교차검증에 쓰지 않는다.</a:t>
            </a:r>
            <a:endParaRPr lang="en-US" sz="1050" dirty="0"/>
          </a:p>
        </p:txBody>
      </p:sp>
      <p:sp>
        <p:nvSpPr>
          <p:cNvPr id="22" name="Shape 20"/>
          <p:cNvSpPr/>
          <p:nvPr/>
        </p:nvSpPr>
        <p:spPr>
          <a:xfrm>
            <a:off x="7223760" y="1700784"/>
            <a:ext cx="4416552" cy="3401568"/>
          </a:xfrm>
          <a:prstGeom prst="roundRect">
            <a:avLst>
              <a:gd name="adj" fmla="val 3226"/>
            </a:avLst>
          </a:prstGeom>
          <a:solidFill>
            <a:srgbClr val="0B1B33"/>
          </a:solidFill>
          <a:ln w="12700">
            <a:solidFill>
              <a:srgbClr val="0B1B33"/>
            </a:solidFill>
            <a:prstDash val="solid"/>
          </a:ln>
        </p:spPr>
        <p:txBody>
          <a:bodyPr/>
          <a:lstStyle/>
          <a:p>
            <a:endParaRPr lang="ko-KR" altLang="en-US"/>
          </a:p>
        </p:txBody>
      </p:sp>
      <p:sp>
        <p:nvSpPr>
          <p:cNvPr id="23" name="Shape 21"/>
          <p:cNvSpPr/>
          <p:nvPr/>
        </p:nvSpPr>
        <p:spPr>
          <a:xfrm>
            <a:off x="7452360" y="1856232"/>
            <a:ext cx="640080" cy="246888"/>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24" name="Text 22"/>
          <p:cNvSpPr txBox="1"/>
          <p:nvPr/>
        </p:nvSpPr>
        <p:spPr>
          <a:xfrm>
            <a:off x="7452360" y="1856232"/>
            <a:ext cx="640080" cy="246888"/>
          </a:xfrm>
          <a:prstGeom prst="rect">
            <a:avLst/>
          </a:prstGeom>
          <a:noFill/>
          <a:ln/>
        </p:spPr>
        <p:txBody>
          <a:bodyPr wrap="square" lIns="0" tIns="0" rIns="0" bIns="0" rtlCol="0" anchor="ctr"/>
          <a:lstStyle/>
          <a:p>
            <a:pPr marL="0" indent="0" algn="ctr">
              <a:buNone/>
            </a:pPr>
            <a:r>
              <a:rPr lang="en-US" sz="1000" b="1" dirty="0">
                <a:solidFill>
                  <a:srgbClr val="FFFFFF"/>
                </a:solidFill>
                <a:latin typeface="Malgun Gothic" pitchFamily="34" charset="0"/>
                <a:ea typeface="Malgun Gothic" pitchFamily="34" charset="-122"/>
                <a:cs typeface="Malgun Gothic" pitchFamily="34" charset="-120"/>
              </a:rPr>
              <a:t>활용</a:t>
            </a:r>
            <a:endParaRPr lang="en-US" sz="1000" dirty="0"/>
          </a:p>
        </p:txBody>
      </p:sp>
      <p:sp>
        <p:nvSpPr>
          <p:cNvPr id="25" name="Text 23"/>
          <p:cNvSpPr txBox="1"/>
          <p:nvPr/>
        </p:nvSpPr>
        <p:spPr>
          <a:xfrm>
            <a:off x="8183880" y="1828800"/>
            <a:ext cx="3291840" cy="301752"/>
          </a:xfrm>
          <a:prstGeom prst="rect">
            <a:avLst/>
          </a:prstGeom>
          <a:noFill/>
          <a:ln/>
        </p:spPr>
        <p:txBody>
          <a:bodyPr wrap="square" lIns="0" tIns="0" rIns="0" bIns="0" rtlCol="0" anchor="ctr"/>
          <a:lstStyle/>
          <a:p>
            <a:pPr marL="0" indent="0">
              <a:buNone/>
            </a:pPr>
            <a:r>
              <a:rPr lang="en-US" sz="1400" b="1" dirty="0">
                <a:solidFill>
                  <a:srgbClr val="FFFFFF"/>
                </a:solidFill>
                <a:latin typeface="Malgun Gothic" pitchFamily="34" charset="0"/>
                <a:ea typeface="Malgun Gothic" pitchFamily="34" charset="-122"/>
                <a:cs typeface="Malgun Gothic" pitchFamily="34" charset="-120"/>
              </a:rPr>
              <a:t>한국관광 데이터랩 (TourAPI)</a:t>
            </a:r>
            <a:endParaRPr lang="en-US" sz="1400" dirty="0"/>
          </a:p>
        </p:txBody>
      </p:sp>
      <p:sp>
        <p:nvSpPr>
          <p:cNvPr id="26" name="Text 24"/>
          <p:cNvSpPr txBox="1"/>
          <p:nvPr/>
        </p:nvSpPr>
        <p:spPr>
          <a:xfrm>
            <a:off x="7452360" y="2176272"/>
            <a:ext cx="3959352" cy="237744"/>
          </a:xfrm>
          <a:prstGeom prst="rect">
            <a:avLst/>
          </a:prstGeom>
          <a:noFill/>
          <a:ln/>
        </p:spPr>
        <p:txBody>
          <a:bodyPr wrap="square" lIns="0" tIns="0" rIns="0" bIns="0" rtlCol="0" anchor="t"/>
          <a:lstStyle/>
          <a:p>
            <a:pPr marL="0" indent="0">
              <a:buNone/>
            </a:pPr>
            <a:r>
              <a:rPr lang="en-US" sz="1000" dirty="0">
                <a:solidFill>
                  <a:srgbClr val="A9B8D0"/>
                </a:solidFill>
                <a:latin typeface="Malgun Gothic" pitchFamily="34" charset="0"/>
                <a:ea typeface="Malgun Gothic" pitchFamily="34" charset="-122"/>
                <a:cs typeface="Malgun Gothic" pitchFamily="34" charset="-120"/>
              </a:rPr>
              <a:t>기초자치단체 지역방문자수 · 이동통신 데이터 기반</a:t>
            </a:r>
            <a:endParaRPr lang="en-US" sz="1000" dirty="0"/>
          </a:p>
        </p:txBody>
      </p:sp>
      <p:sp>
        <p:nvSpPr>
          <p:cNvPr id="27" name="Text 25"/>
          <p:cNvSpPr txBox="1"/>
          <p:nvPr/>
        </p:nvSpPr>
        <p:spPr>
          <a:xfrm>
            <a:off x="7452360" y="2542032"/>
            <a:ext cx="548640" cy="457200"/>
          </a:xfrm>
          <a:prstGeom prst="rect">
            <a:avLst/>
          </a:prstGeom>
          <a:noFill/>
          <a:ln/>
        </p:spPr>
        <p:txBody>
          <a:bodyPr wrap="square" lIns="0" tIns="0" rIns="0" bIns="0" rtlCol="0" anchor="t"/>
          <a:lstStyle/>
          <a:p>
            <a:pPr marL="0" indent="0">
              <a:buNone/>
            </a:pPr>
            <a:r>
              <a:rPr lang="en-US" sz="1000" b="1" dirty="0">
                <a:solidFill>
                  <a:srgbClr val="FF7A7E"/>
                </a:solidFill>
                <a:latin typeface="Malgun Gothic" pitchFamily="34" charset="0"/>
                <a:ea typeface="Malgun Gothic" pitchFamily="34" charset="-122"/>
                <a:cs typeface="Malgun Gothic" pitchFamily="34" charset="-120"/>
              </a:rPr>
              <a:t>대상</a:t>
            </a:r>
            <a:endParaRPr lang="en-US" sz="1000" dirty="0"/>
          </a:p>
        </p:txBody>
      </p:sp>
      <p:sp>
        <p:nvSpPr>
          <p:cNvPr id="28" name="Text 26"/>
          <p:cNvSpPr txBox="1"/>
          <p:nvPr/>
        </p:nvSpPr>
        <p:spPr>
          <a:xfrm>
            <a:off x="8001000" y="2542032"/>
            <a:ext cx="3410712" cy="5029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외국인 방문자수(touDivCd=3) ↔ 카드 GENDER_CD=3 — 서로 다른 원천이 같은 대상을 측정</a:t>
            </a:r>
            <a:endParaRPr lang="en-US" sz="1050" dirty="0"/>
          </a:p>
        </p:txBody>
      </p:sp>
      <p:sp>
        <p:nvSpPr>
          <p:cNvPr id="29" name="Text 27"/>
          <p:cNvSpPr txBox="1"/>
          <p:nvPr/>
        </p:nvSpPr>
        <p:spPr>
          <a:xfrm>
            <a:off x="7452360" y="3145536"/>
            <a:ext cx="548640" cy="457200"/>
          </a:xfrm>
          <a:prstGeom prst="rect">
            <a:avLst/>
          </a:prstGeom>
          <a:noFill/>
          <a:ln/>
        </p:spPr>
        <p:txBody>
          <a:bodyPr wrap="square" lIns="0" tIns="0" rIns="0" bIns="0" rtlCol="0" anchor="t"/>
          <a:lstStyle/>
          <a:p>
            <a:pPr marL="0" indent="0">
              <a:buNone/>
            </a:pPr>
            <a:r>
              <a:rPr lang="en-US" sz="1000" b="1" dirty="0">
                <a:solidFill>
                  <a:srgbClr val="FF7A7E"/>
                </a:solidFill>
                <a:latin typeface="Malgun Gothic" pitchFamily="34" charset="0"/>
                <a:ea typeface="Malgun Gothic" pitchFamily="34" charset="-122"/>
                <a:cs typeface="Malgun Gothic" pitchFamily="34" charset="-120"/>
              </a:rPr>
              <a:t>범위</a:t>
            </a:r>
            <a:endParaRPr lang="en-US" sz="1000" dirty="0"/>
          </a:p>
        </p:txBody>
      </p:sp>
      <p:sp>
        <p:nvSpPr>
          <p:cNvPr id="30" name="Text 28"/>
          <p:cNvSpPr txBox="1"/>
          <p:nvPr/>
        </p:nvSpPr>
        <p:spPr>
          <a:xfrm>
            <a:off x="8001000" y="3145536"/>
            <a:ext cx="3410712" cy="5029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시군구 × 일별 → 월별 합산 · 2026.1.1~6.30 (181일) · 후보 8곳</a:t>
            </a:r>
            <a:endParaRPr lang="en-US" sz="1050" dirty="0"/>
          </a:p>
        </p:txBody>
      </p:sp>
      <p:sp>
        <p:nvSpPr>
          <p:cNvPr id="31" name="Shape 29"/>
          <p:cNvSpPr/>
          <p:nvPr/>
        </p:nvSpPr>
        <p:spPr>
          <a:xfrm>
            <a:off x="7452360" y="3767328"/>
            <a:ext cx="3959352" cy="0"/>
          </a:xfrm>
          <a:prstGeom prst="line">
            <a:avLst/>
          </a:prstGeom>
          <a:noFill/>
          <a:ln w="12700">
            <a:solidFill>
              <a:srgbClr val="1D3A6B"/>
            </a:solidFill>
            <a:prstDash val="solid"/>
          </a:ln>
        </p:spPr>
        <p:txBody>
          <a:bodyPr/>
          <a:lstStyle/>
          <a:p>
            <a:endParaRPr lang="ko-KR" altLang="en-US"/>
          </a:p>
        </p:txBody>
      </p:sp>
      <p:sp>
        <p:nvSpPr>
          <p:cNvPr id="32" name="Text 30"/>
          <p:cNvSpPr txBox="1"/>
          <p:nvPr/>
        </p:nvSpPr>
        <p:spPr>
          <a:xfrm>
            <a:off x="7452360" y="3840480"/>
            <a:ext cx="2743200" cy="256032"/>
          </a:xfrm>
          <a:prstGeom prst="rect">
            <a:avLst/>
          </a:prstGeom>
          <a:noFill/>
          <a:ln/>
        </p:spPr>
        <p:txBody>
          <a:bodyPr wrap="square" lIns="0" tIns="0" rIns="0" bIns="0" rtlCol="0" anchor="t"/>
          <a:lstStyle/>
          <a:p>
            <a:pPr marL="0" indent="0">
              <a:buNone/>
            </a:pPr>
            <a:r>
              <a:rPr lang="en-US" sz="1100" b="1" dirty="0">
                <a:solidFill>
                  <a:srgbClr val="FF7A7E"/>
                </a:solidFill>
                <a:latin typeface="Malgun Gothic" pitchFamily="34" charset="0"/>
                <a:ea typeface="Malgun Gothic" pitchFamily="34" charset="-122"/>
                <a:cs typeface="Malgun Gothic" pitchFamily="34" charset="-120"/>
              </a:rPr>
              <a:t>수집 시 유의점</a:t>
            </a:r>
            <a:endParaRPr lang="en-US" sz="1100" dirty="0"/>
          </a:p>
        </p:txBody>
      </p:sp>
      <p:sp>
        <p:nvSpPr>
          <p:cNvPr id="33" name="Text 31"/>
          <p:cNvSpPr txBox="1"/>
          <p:nvPr/>
        </p:nvSpPr>
        <p:spPr>
          <a:xfrm>
            <a:off x="7452360" y="4114800"/>
            <a:ext cx="3959352" cy="960120"/>
          </a:xfrm>
          <a:prstGeom prst="rect">
            <a:avLst/>
          </a:prstGeom>
          <a:noFill/>
          <a:ln/>
        </p:spPr>
        <p:txBody>
          <a:bodyPr wrap="square" lIns="0" tIns="0" rIns="0" bIns="0" rtlCol="0" anchor="t"/>
          <a:lstStyle/>
          <a:p>
            <a:pPr marL="127000" indent="-127000">
              <a:lnSpc>
                <a:spcPct val="108000"/>
              </a:lnSpc>
              <a:spcAft>
                <a:spcPts val="300"/>
              </a:spcAft>
              <a:buSzPct val="100000"/>
              <a:buChar char="•"/>
            </a:pPr>
            <a:r>
              <a:rPr lang="en-US" sz="950" dirty="0">
                <a:solidFill>
                  <a:srgbClr val="A9B8D0"/>
                </a:solidFill>
                <a:latin typeface="Malgun Gothic" pitchFamily="34" charset="0"/>
                <a:ea typeface="Malgun Gothic" pitchFamily="34" charset="-122"/>
                <a:cs typeface="Malgun Gothic" pitchFamily="34" charset="-120"/>
              </a:rPr>
              <a:t>지역 필터 파라미터가 없어 전국 시군구를 받은 뒤 코드로 걸러낸다.</a:t>
            </a:r>
            <a:endParaRPr lang="en-US" sz="950" dirty="0"/>
          </a:p>
          <a:p>
            <a:pPr marL="127000" indent="-127000">
              <a:lnSpc>
                <a:spcPct val="108000"/>
              </a:lnSpc>
              <a:buSzPct val="100000"/>
              <a:buChar char="•"/>
            </a:pPr>
            <a:r>
              <a:rPr lang="en-US" sz="950" dirty="0">
                <a:solidFill>
                  <a:srgbClr val="A9B8D0"/>
                </a:solidFill>
                <a:latin typeface="Malgun Gothic" pitchFamily="34" charset="0"/>
                <a:ea typeface="Malgun Gothic" pitchFamily="34" charset="-122"/>
                <a:cs typeface="Malgun Gothic" pitchFamily="34" charset="-120"/>
              </a:rPr>
              <a:t>강원특별자치도 전환으로 시군구 코드가 42xxx→51xxx로 바뀌어 고성·영월·양양이 누락될 수 있어, 응답을 직접 조회해 확인했다.</a:t>
            </a:r>
            <a:endParaRPr lang="en-US" sz="950" dirty="0"/>
          </a:p>
        </p:txBody>
      </p:sp>
      <p:sp>
        <p:nvSpPr>
          <p:cNvPr id="34" name="Shape 32"/>
          <p:cNvSpPr/>
          <p:nvPr/>
        </p:nvSpPr>
        <p:spPr>
          <a:xfrm>
            <a:off x="548640" y="5230368"/>
            <a:ext cx="11091672" cy="804672"/>
          </a:xfrm>
          <a:prstGeom prst="roundRect">
            <a:avLst>
              <a:gd name="adj" fmla="val 11364"/>
            </a:avLst>
          </a:prstGeom>
          <a:solidFill>
            <a:srgbClr val="FFF4DC"/>
          </a:solidFill>
          <a:ln w="12700">
            <a:solidFill>
              <a:srgbClr val="FFF4DC"/>
            </a:solidFill>
            <a:prstDash val="solid"/>
          </a:ln>
        </p:spPr>
        <p:txBody>
          <a:bodyPr/>
          <a:lstStyle/>
          <a:p>
            <a:endParaRPr lang="ko-KR" altLang="en-US"/>
          </a:p>
        </p:txBody>
      </p:sp>
      <p:sp>
        <p:nvSpPr>
          <p:cNvPr id="35" name="Text 33"/>
          <p:cNvSpPr txBox="1"/>
          <p:nvPr/>
        </p:nvSpPr>
        <p:spPr>
          <a:xfrm>
            <a:off x="777240" y="5266944"/>
            <a:ext cx="5212080" cy="731520"/>
          </a:xfrm>
          <a:prstGeom prst="rect">
            <a:avLst/>
          </a:prstGeom>
          <a:noFill/>
          <a:ln/>
        </p:spPr>
        <p:txBody>
          <a:bodyPr wrap="square" lIns="0" tIns="0" rIns="0" bIns="0" rtlCol="0" anchor="ctr"/>
          <a:lstStyle/>
          <a:p>
            <a:pPr marL="0" indent="0">
              <a:lnSpc>
                <a:spcPct val="112000"/>
              </a:lnSpc>
              <a:buNone/>
            </a:pPr>
            <a:r>
              <a:rPr lang="en-US" sz="1050" b="1" dirty="0">
                <a:solidFill>
                  <a:srgbClr val="0B7A6D"/>
                </a:solidFill>
                <a:latin typeface="Malgun Gothic" pitchFamily="34" charset="0"/>
                <a:ea typeface="Malgun Gothic" pitchFamily="34" charset="-122"/>
                <a:cs typeface="Malgun Gothic" pitchFamily="34" charset="-120"/>
              </a:rPr>
              <a:t>이 자료로 확인할 수 있는 것  </a:t>
            </a:r>
            <a:r>
              <a:rPr lang="en-US" sz="1050" dirty="0">
                <a:solidFill>
                  <a:srgbClr val="14213D"/>
                </a:solidFill>
                <a:latin typeface="Malgun Gothic" pitchFamily="34" charset="0"/>
                <a:ea typeface="Malgun Gothic" pitchFamily="34" charset="-122"/>
                <a:cs typeface="Malgun Gothic" pitchFamily="34" charset="-120"/>
              </a:rPr>
              <a:t>카드 신호가 실제 방문(유입) 추이와 같은 시군구·월 단위로 함께 움직이는가</a:t>
            </a:r>
            <a:endParaRPr lang="en-US" sz="1050" dirty="0"/>
          </a:p>
        </p:txBody>
      </p:sp>
      <p:sp>
        <p:nvSpPr>
          <p:cNvPr id="36" name="Shape 34"/>
          <p:cNvSpPr/>
          <p:nvPr/>
        </p:nvSpPr>
        <p:spPr>
          <a:xfrm>
            <a:off x="6172200" y="5358384"/>
            <a:ext cx="0" cy="548640"/>
          </a:xfrm>
          <a:prstGeom prst="line">
            <a:avLst/>
          </a:prstGeom>
          <a:noFill/>
          <a:ln w="12700">
            <a:solidFill>
              <a:srgbClr val="D8C9A0"/>
            </a:solidFill>
            <a:prstDash val="solid"/>
          </a:ln>
        </p:spPr>
        <p:txBody>
          <a:bodyPr/>
          <a:lstStyle/>
          <a:p>
            <a:endParaRPr lang="ko-KR" altLang="en-US"/>
          </a:p>
        </p:txBody>
      </p:sp>
      <p:sp>
        <p:nvSpPr>
          <p:cNvPr id="37" name="Text 35"/>
          <p:cNvSpPr txBox="1"/>
          <p:nvPr/>
        </p:nvSpPr>
        <p:spPr>
          <a:xfrm>
            <a:off x="6355080" y="5266944"/>
            <a:ext cx="5120640" cy="731520"/>
          </a:xfrm>
          <a:prstGeom prst="rect">
            <a:avLst/>
          </a:prstGeom>
          <a:noFill/>
          <a:ln/>
        </p:spPr>
        <p:txBody>
          <a:bodyPr wrap="square" lIns="0" tIns="0" rIns="0" bIns="0" rtlCol="0" anchor="ctr"/>
          <a:lstStyle/>
          <a:p>
            <a:pPr marL="0" indent="0">
              <a:lnSpc>
                <a:spcPct val="110000"/>
              </a:lnSpc>
              <a:buNone/>
            </a:pPr>
            <a:r>
              <a:rPr lang="en-US" sz="1000" b="1" dirty="0">
                <a:solidFill>
                  <a:srgbClr val="B7232B"/>
                </a:solidFill>
                <a:latin typeface="Malgun Gothic" pitchFamily="34" charset="0"/>
                <a:ea typeface="Malgun Gothic" pitchFamily="34" charset="-122"/>
                <a:cs typeface="Malgun Gothic" pitchFamily="34" charset="-120"/>
              </a:rPr>
              <a:t>확인할 수 없는 것  </a:t>
            </a:r>
            <a:r>
              <a:rPr lang="en-US" sz="1000" dirty="0">
                <a:solidFill>
                  <a:srgbClr val="14213D"/>
                </a:solidFill>
                <a:latin typeface="Malgun Gothic" pitchFamily="34" charset="0"/>
                <a:ea typeface="Malgun Gothic" pitchFamily="34" charset="-122"/>
                <a:cs typeface="Malgun Gothic" pitchFamily="34" charset="-120"/>
              </a:rPr>
              <a:t>SNS·뉴스 같은 대중 인지보다 앞서는가(후속 과제). 그리고 이 자료도 관광객과 체류 노동자를 구분하지 못한다 (청송군 방문자수는 계절근로자 입국 시점인 4월에 +393% 급증)</a:t>
            </a:r>
            <a:endParaRPr lang="en-US" sz="1000" dirty="0"/>
          </a:p>
        </p:txBody>
      </p:sp>
      <p:sp>
        <p:nvSpPr>
          <p:cNvPr id="38" name="Text 3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9" name="Text 3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21 / 42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H1 ②</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정점월로 비교하면, 카드가 방문자보다 먼저인 곳은 옹진군 하나뿐이다</a:t>
            </a:r>
            <a:endParaRPr lang="en-US" sz="2400" dirty="0"/>
          </a:p>
        </p:txBody>
      </p:sp>
      <p:sp>
        <p:nvSpPr>
          <p:cNvPr id="6" name="Text 4"/>
          <p:cNvSpPr txBox="1"/>
          <p:nvPr/>
        </p:nvSpPr>
        <p:spPr>
          <a:xfrm>
            <a:off x="548640" y="1783080"/>
            <a:ext cx="1280160" cy="274320"/>
          </a:xfrm>
          <a:prstGeom prst="rect">
            <a:avLst/>
          </a:prstGeom>
          <a:noFill/>
          <a:ln/>
        </p:spPr>
        <p:txBody>
          <a:bodyPr wrap="square" lIns="0" tIns="0" rIns="0" bIns="0" rtlCol="0" anchor="ctr"/>
          <a:lstStyle/>
          <a:p>
            <a:pPr marL="0" indent="0">
              <a:buNone/>
            </a:pPr>
            <a:r>
              <a:rPr lang="en-US" sz="1050" b="1" dirty="0">
                <a:solidFill>
                  <a:srgbClr val="64748B"/>
                </a:solidFill>
                <a:latin typeface="Malgun Gothic" pitchFamily="34" charset="0"/>
                <a:ea typeface="Malgun Gothic" pitchFamily="34" charset="-122"/>
                <a:cs typeface="Malgun Gothic" pitchFamily="34" charset="-120"/>
              </a:rPr>
              <a:t>지역</a:t>
            </a:r>
            <a:endParaRPr lang="en-US" sz="1050" dirty="0"/>
          </a:p>
        </p:txBody>
      </p:sp>
      <p:sp>
        <p:nvSpPr>
          <p:cNvPr id="7" name="Text 5"/>
          <p:cNvSpPr txBox="1"/>
          <p:nvPr/>
        </p:nvSpPr>
        <p:spPr>
          <a:xfrm>
            <a:off x="1965960" y="1783080"/>
            <a:ext cx="914400" cy="274320"/>
          </a:xfrm>
          <a:prstGeom prst="rect">
            <a:avLst/>
          </a:prstGeom>
          <a:noFill/>
          <a:ln/>
        </p:spPr>
        <p:txBody>
          <a:bodyPr wrap="square" lIns="0" tIns="0" rIns="0" bIns="0" rtlCol="0" anchor="ctr"/>
          <a:lstStyle/>
          <a:p>
            <a:pPr marL="0" indent="0" algn="ctr">
              <a:buNone/>
            </a:pPr>
            <a:r>
              <a:rPr lang="en-US" sz="1100" b="1" dirty="0">
                <a:solidFill>
                  <a:srgbClr val="64748B"/>
                </a:solidFill>
                <a:latin typeface="Malgun Gothic" pitchFamily="34" charset="0"/>
                <a:ea typeface="Malgun Gothic" pitchFamily="34" charset="-122"/>
                <a:cs typeface="Malgun Gothic" pitchFamily="34" charset="-120"/>
              </a:rPr>
              <a:t>3월</a:t>
            </a:r>
            <a:endParaRPr lang="en-US" sz="1100" dirty="0"/>
          </a:p>
        </p:txBody>
      </p:sp>
      <p:sp>
        <p:nvSpPr>
          <p:cNvPr id="8" name="Text 6"/>
          <p:cNvSpPr txBox="1"/>
          <p:nvPr/>
        </p:nvSpPr>
        <p:spPr>
          <a:xfrm>
            <a:off x="2880360" y="1783080"/>
            <a:ext cx="914400" cy="274320"/>
          </a:xfrm>
          <a:prstGeom prst="rect">
            <a:avLst/>
          </a:prstGeom>
          <a:noFill/>
          <a:ln/>
        </p:spPr>
        <p:txBody>
          <a:bodyPr wrap="square" lIns="0" tIns="0" rIns="0" bIns="0" rtlCol="0" anchor="ctr"/>
          <a:lstStyle/>
          <a:p>
            <a:pPr marL="0" indent="0" algn="ctr">
              <a:buNone/>
            </a:pPr>
            <a:r>
              <a:rPr lang="en-US" sz="1100" b="1" dirty="0">
                <a:solidFill>
                  <a:srgbClr val="64748B"/>
                </a:solidFill>
                <a:latin typeface="Malgun Gothic" pitchFamily="34" charset="0"/>
                <a:ea typeface="Malgun Gothic" pitchFamily="34" charset="-122"/>
                <a:cs typeface="Malgun Gothic" pitchFamily="34" charset="-120"/>
              </a:rPr>
              <a:t>4월</a:t>
            </a:r>
            <a:endParaRPr lang="en-US" sz="1100" dirty="0"/>
          </a:p>
        </p:txBody>
      </p:sp>
      <p:sp>
        <p:nvSpPr>
          <p:cNvPr id="9" name="Text 7"/>
          <p:cNvSpPr txBox="1"/>
          <p:nvPr/>
        </p:nvSpPr>
        <p:spPr>
          <a:xfrm>
            <a:off x="3794760" y="1783080"/>
            <a:ext cx="914400" cy="274320"/>
          </a:xfrm>
          <a:prstGeom prst="rect">
            <a:avLst/>
          </a:prstGeom>
          <a:noFill/>
          <a:ln/>
        </p:spPr>
        <p:txBody>
          <a:bodyPr wrap="square" lIns="0" tIns="0" rIns="0" bIns="0" rtlCol="0" anchor="ctr"/>
          <a:lstStyle/>
          <a:p>
            <a:pPr marL="0" indent="0" algn="ctr">
              <a:buNone/>
            </a:pPr>
            <a:r>
              <a:rPr lang="en-US" sz="1100" b="1" dirty="0">
                <a:solidFill>
                  <a:srgbClr val="64748B"/>
                </a:solidFill>
                <a:latin typeface="Malgun Gothic" pitchFamily="34" charset="0"/>
                <a:ea typeface="Malgun Gothic" pitchFamily="34" charset="-122"/>
                <a:cs typeface="Malgun Gothic" pitchFamily="34" charset="-120"/>
              </a:rPr>
              <a:t>5월</a:t>
            </a:r>
            <a:endParaRPr lang="en-US" sz="1100" dirty="0"/>
          </a:p>
        </p:txBody>
      </p:sp>
      <p:sp>
        <p:nvSpPr>
          <p:cNvPr id="10" name="Text 8"/>
          <p:cNvSpPr txBox="1"/>
          <p:nvPr/>
        </p:nvSpPr>
        <p:spPr>
          <a:xfrm>
            <a:off x="4709160" y="1783080"/>
            <a:ext cx="914400" cy="274320"/>
          </a:xfrm>
          <a:prstGeom prst="rect">
            <a:avLst/>
          </a:prstGeom>
          <a:noFill/>
          <a:ln/>
        </p:spPr>
        <p:txBody>
          <a:bodyPr wrap="square" lIns="0" tIns="0" rIns="0" bIns="0" rtlCol="0" anchor="ctr"/>
          <a:lstStyle/>
          <a:p>
            <a:pPr marL="0" indent="0" algn="ctr">
              <a:buNone/>
            </a:pPr>
            <a:r>
              <a:rPr lang="en-US" sz="1100" b="1" dirty="0">
                <a:solidFill>
                  <a:srgbClr val="64748B"/>
                </a:solidFill>
                <a:latin typeface="Malgun Gothic" pitchFamily="34" charset="0"/>
                <a:ea typeface="Malgun Gothic" pitchFamily="34" charset="-122"/>
                <a:cs typeface="Malgun Gothic" pitchFamily="34" charset="-120"/>
              </a:rPr>
              <a:t>6월</a:t>
            </a:r>
            <a:endParaRPr lang="en-US" sz="1100" dirty="0"/>
          </a:p>
        </p:txBody>
      </p:sp>
      <p:sp>
        <p:nvSpPr>
          <p:cNvPr id="11" name="Text 9"/>
          <p:cNvSpPr txBox="1"/>
          <p:nvPr/>
        </p:nvSpPr>
        <p:spPr>
          <a:xfrm>
            <a:off x="5852160" y="1783080"/>
            <a:ext cx="1554480" cy="274320"/>
          </a:xfrm>
          <a:prstGeom prst="rect">
            <a:avLst/>
          </a:prstGeom>
          <a:noFill/>
          <a:ln/>
        </p:spPr>
        <p:txBody>
          <a:bodyPr wrap="square" lIns="0" tIns="0" rIns="0" bIns="0" rtlCol="0" anchor="ctr"/>
          <a:lstStyle/>
          <a:p>
            <a:pPr marL="0" indent="0">
              <a:buNone/>
            </a:pPr>
            <a:r>
              <a:rPr lang="en-US" sz="1050" b="1" dirty="0">
                <a:solidFill>
                  <a:srgbClr val="64748B"/>
                </a:solidFill>
                <a:latin typeface="Malgun Gothic" pitchFamily="34" charset="0"/>
                <a:ea typeface="Malgun Gothic" pitchFamily="34" charset="-122"/>
                <a:cs typeface="Malgun Gothic" pitchFamily="34" charset="-120"/>
              </a:rPr>
              <a:t>선후 관계</a:t>
            </a:r>
            <a:endParaRPr lang="en-US" sz="1050" dirty="0"/>
          </a:p>
        </p:txBody>
      </p:sp>
      <p:sp>
        <p:nvSpPr>
          <p:cNvPr id="12" name="Text 10"/>
          <p:cNvSpPr txBox="1"/>
          <p:nvPr/>
        </p:nvSpPr>
        <p:spPr>
          <a:xfrm>
            <a:off x="7498080" y="1783080"/>
            <a:ext cx="1371600" cy="274320"/>
          </a:xfrm>
          <a:prstGeom prst="rect">
            <a:avLst/>
          </a:prstGeom>
          <a:noFill/>
          <a:ln/>
        </p:spPr>
        <p:txBody>
          <a:bodyPr wrap="square" lIns="0" tIns="0" rIns="0" bIns="0" rtlCol="0" anchor="ctr"/>
          <a:lstStyle/>
          <a:p>
            <a:pPr marL="0" indent="0">
              <a:buNone/>
            </a:pPr>
            <a:r>
              <a:rPr lang="en-US" sz="1000" b="1" dirty="0">
                <a:solidFill>
                  <a:srgbClr val="64748B"/>
                </a:solidFill>
                <a:latin typeface="Malgun Gothic" pitchFamily="34" charset="0"/>
                <a:ea typeface="Malgun Gothic" pitchFamily="34" charset="-122"/>
                <a:cs typeface="Malgun Gothic" pitchFamily="34" charset="-120"/>
              </a:rPr>
              <a:t>계절근로자 뉴스 검증</a:t>
            </a:r>
            <a:endParaRPr lang="en-US" sz="1000" dirty="0"/>
          </a:p>
        </p:txBody>
      </p:sp>
      <p:sp>
        <p:nvSpPr>
          <p:cNvPr id="13" name="Shape 11"/>
          <p:cNvSpPr/>
          <p:nvPr/>
        </p:nvSpPr>
        <p:spPr>
          <a:xfrm>
            <a:off x="2423160" y="2176272"/>
            <a:ext cx="0" cy="3493008"/>
          </a:xfrm>
          <a:prstGeom prst="line">
            <a:avLst/>
          </a:prstGeom>
          <a:noFill/>
          <a:ln w="9525">
            <a:solidFill>
              <a:srgbClr val="E3E9F1"/>
            </a:solidFill>
            <a:prstDash val="dash"/>
          </a:ln>
        </p:spPr>
        <p:txBody>
          <a:bodyPr/>
          <a:lstStyle/>
          <a:p>
            <a:endParaRPr lang="ko-KR" altLang="en-US"/>
          </a:p>
        </p:txBody>
      </p:sp>
      <p:sp>
        <p:nvSpPr>
          <p:cNvPr id="14" name="Shape 12"/>
          <p:cNvSpPr/>
          <p:nvPr/>
        </p:nvSpPr>
        <p:spPr>
          <a:xfrm>
            <a:off x="3337560" y="2176272"/>
            <a:ext cx="0" cy="3493008"/>
          </a:xfrm>
          <a:prstGeom prst="line">
            <a:avLst/>
          </a:prstGeom>
          <a:noFill/>
          <a:ln w="9525">
            <a:solidFill>
              <a:srgbClr val="E3E9F1"/>
            </a:solidFill>
            <a:prstDash val="dash"/>
          </a:ln>
        </p:spPr>
        <p:txBody>
          <a:bodyPr/>
          <a:lstStyle/>
          <a:p>
            <a:endParaRPr lang="ko-KR" altLang="en-US"/>
          </a:p>
        </p:txBody>
      </p:sp>
      <p:sp>
        <p:nvSpPr>
          <p:cNvPr id="15" name="Shape 13"/>
          <p:cNvSpPr/>
          <p:nvPr/>
        </p:nvSpPr>
        <p:spPr>
          <a:xfrm>
            <a:off x="4251960" y="2176272"/>
            <a:ext cx="0" cy="3493008"/>
          </a:xfrm>
          <a:prstGeom prst="line">
            <a:avLst/>
          </a:prstGeom>
          <a:noFill/>
          <a:ln w="9525">
            <a:solidFill>
              <a:srgbClr val="E3E9F1"/>
            </a:solidFill>
            <a:prstDash val="dash"/>
          </a:ln>
        </p:spPr>
        <p:txBody>
          <a:bodyPr/>
          <a:lstStyle/>
          <a:p>
            <a:endParaRPr lang="ko-KR" altLang="en-US"/>
          </a:p>
        </p:txBody>
      </p:sp>
      <p:sp>
        <p:nvSpPr>
          <p:cNvPr id="16" name="Shape 14"/>
          <p:cNvSpPr/>
          <p:nvPr/>
        </p:nvSpPr>
        <p:spPr>
          <a:xfrm>
            <a:off x="5166360" y="2176272"/>
            <a:ext cx="0" cy="3493008"/>
          </a:xfrm>
          <a:prstGeom prst="line">
            <a:avLst/>
          </a:prstGeom>
          <a:noFill/>
          <a:ln w="9525">
            <a:solidFill>
              <a:srgbClr val="E3E9F1"/>
            </a:solidFill>
            <a:prstDash val="dash"/>
          </a:ln>
        </p:spPr>
        <p:txBody>
          <a:bodyPr/>
          <a:lstStyle/>
          <a:p>
            <a:endParaRPr lang="ko-KR" altLang="en-US"/>
          </a:p>
        </p:txBody>
      </p:sp>
      <p:sp>
        <p:nvSpPr>
          <p:cNvPr id="17" name="Shape 15"/>
          <p:cNvSpPr/>
          <p:nvPr/>
        </p:nvSpPr>
        <p:spPr>
          <a:xfrm>
            <a:off x="548640" y="2231136"/>
            <a:ext cx="8321040" cy="393192"/>
          </a:xfrm>
          <a:prstGeom prst="roundRect">
            <a:avLst>
              <a:gd name="adj" fmla="val 18605"/>
            </a:avLst>
          </a:prstGeom>
          <a:solidFill>
            <a:srgbClr val="FDECEC"/>
          </a:solidFill>
          <a:ln w="12700">
            <a:solidFill>
              <a:srgbClr val="FDECEC"/>
            </a:solidFill>
            <a:prstDash val="solid"/>
          </a:ln>
        </p:spPr>
        <p:txBody>
          <a:bodyPr/>
          <a:lstStyle/>
          <a:p>
            <a:endParaRPr lang="ko-KR" altLang="en-US"/>
          </a:p>
        </p:txBody>
      </p:sp>
      <p:sp>
        <p:nvSpPr>
          <p:cNvPr id="18" name="Text 16"/>
          <p:cNvSpPr txBox="1"/>
          <p:nvPr/>
        </p:nvSpPr>
        <p:spPr>
          <a:xfrm>
            <a:off x="685800" y="2212848"/>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옹진군</a:t>
            </a:r>
            <a:endParaRPr lang="en-US" sz="1200" dirty="0"/>
          </a:p>
        </p:txBody>
      </p:sp>
      <p:sp>
        <p:nvSpPr>
          <p:cNvPr id="19" name="Shape 17"/>
          <p:cNvSpPr/>
          <p:nvPr/>
        </p:nvSpPr>
        <p:spPr>
          <a:xfrm>
            <a:off x="2423160" y="2427732"/>
            <a:ext cx="914400" cy="0"/>
          </a:xfrm>
          <a:prstGeom prst="line">
            <a:avLst/>
          </a:prstGeom>
          <a:noFill/>
          <a:ln w="38100">
            <a:solidFill>
              <a:srgbClr val="FF7A7E"/>
            </a:solidFill>
            <a:prstDash val="solid"/>
          </a:ln>
        </p:spPr>
        <p:txBody>
          <a:bodyPr/>
          <a:lstStyle/>
          <a:p>
            <a:endParaRPr lang="ko-KR" altLang="en-US"/>
          </a:p>
        </p:txBody>
      </p:sp>
      <p:sp>
        <p:nvSpPr>
          <p:cNvPr id="20" name="Shape 18"/>
          <p:cNvSpPr/>
          <p:nvPr/>
        </p:nvSpPr>
        <p:spPr>
          <a:xfrm>
            <a:off x="3227832" y="2318004"/>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21" name="Shape 19"/>
          <p:cNvSpPr/>
          <p:nvPr/>
        </p:nvSpPr>
        <p:spPr>
          <a:xfrm>
            <a:off x="2313432" y="2318004"/>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22" name="Text 20"/>
          <p:cNvSpPr txBox="1"/>
          <p:nvPr/>
        </p:nvSpPr>
        <p:spPr>
          <a:xfrm>
            <a:off x="5852160" y="2212848"/>
            <a:ext cx="1600200" cy="429768"/>
          </a:xfrm>
          <a:prstGeom prst="rect">
            <a:avLst/>
          </a:prstGeom>
          <a:noFill/>
          <a:ln/>
        </p:spPr>
        <p:txBody>
          <a:bodyPr wrap="square" lIns="0" tIns="0" rIns="0" bIns="0" rtlCol="0" anchor="ctr"/>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카드가 1개월 먼저</a:t>
            </a:r>
            <a:endParaRPr lang="en-US" sz="1050" dirty="0"/>
          </a:p>
        </p:txBody>
      </p:sp>
      <p:sp>
        <p:nvSpPr>
          <p:cNvPr id="23" name="Shape 21"/>
          <p:cNvSpPr/>
          <p:nvPr/>
        </p:nvSpPr>
        <p:spPr>
          <a:xfrm>
            <a:off x="7543800" y="2304288"/>
            <a:ext cx="1234440" cy="246888"/>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24" name="Text 22"/>
          <p:cNvSpPr txBox="1"/>
          <p:nvPr/>
        </p:nvSpPr>
        <p:spPr>
          <a:xfrm>
            <a:off x="7543800" y="2304288"/>
            <a:ext cx="1234440" cy="246888"/>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반증 없음</a:t>
            </a:r>
            <a:endParaRPr lang="en-US" sz="900" dirty="0"/>
          </a:p>
        </p:txBody>
      </p:sp>
      <p:sp>
        <p:nvSpPr>
          <p:cNvPr id="25" name="Shape 23"/>
          <p:cNvSpPr/>
          <p:nvPr/>
        </p:nvSpPr>
        <p:spPr>
          <a:xfrm>
            <a:off x="548640" y="2660904"/>
            <a:ext cx="8321040" cy="393192"/>
          </a:xfrm>
          <a:prstGeom prst="roundRect">
            <a:avLst>
              <a:gd name="adj" fmla="val 18605"/>
            </a:avLst>
          </a:prstGeom>
          <a:solidFill>
            <a:srgbClr val="F3F6FB"/>
          </a:solidFill>
          <a:ln w="12700">
            <a:solidFill>
              <a:srgbClr val="F3F6FB"/>
            </a:solidFill>
            <a:prstDash val="solid"/>
          </a:ln>
        </p:spPr>
        <p:txBody>
          <a:bodyPr/>
          <a:lstStyle/>
          <a:p>
            <a:endParaRPr lang="ko-KR" altLang="en-US"/>
          </a:p>
        </p:txBody>
      </p:sp>
      <p:sp>
        <p:nvSpPr>
          <p:cNvPr id="26" name="Text 24"/>
          <p:cNvSpPr txBox="1"/>
          <p:nvPr/>
        </p:nvSpPr>
        <p:spPr>
          <a:xfrm>
            <a:off x="685800" y="2642616"/>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영월군</a:t>
            </a:r>
            <a:endParaRPr lang="en-US" sz="1200" dirty="0"/>
          </a:p>
        </p:txBody>
      </p:sp>
      <p:sp>
        <p:nvSpPr>
          <p:cNvPr id="27" name="Shape 25"/>
          <p:cNvSpPr/>
          <p:nvPr/>
        </p:nvSpPr>
        <p:spPr>
          <a:xfrm>
            <a:off x="3136392" y="2747772"/>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28" name="Shape 26"/>
          <p:cNvSpPr/>
          <p:nvPr/>
        </p:nvSpPr>
        <p:spPr>
          <a:xfrm>
            <a:off x="3319272" y="2747772"/>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29" name="Text 27"/>
          <p:cNvSpPr txBox="1"/>
          <p:nvPr/>
        </p:nvSpPr>
        <p:spPr>
          <a:xfrm>
            <a:off x="5852160" y="2642616"/>
            <a:ext cx="1600200" cy="429768"/>
          </a:xfrm>
          <a:prstGeom prst="rect">
            <a:avLst/>
          </a:prstGeom>
          <a:noFill/>
          <a:ln/>
        </p:spPr>
        <p:txBody>
          <a:bodyPr wrap="square" lIns="0" tIns="0" rIns="0" bIns="0" rtlCol="0" anchor="ctr"/>
          <a:lstStyle/>
          <a:p>
            <a:pPr marL="0" indent="0">
              <a:buNone/>
            </a:pPr>
            <a:r>
              <a:rPr lang="en-US" sz="1050" dirty="0">
                <a:solidFill>
                  <a:srgbClr val="64748B"/>
                </a:solidFill>
                <a:latin typeface="Malgun Gothic" pitchFamily="34" charset="0"/>
                <a:ea typeface="Malgun Gothic" pitchFamily="34" charset="-122"/>
                <a:cs typeface="Malgun Gothic" pitchFamily="34" charset="-120"/>
              </a:rPr>
              <a:t>같은 달</a:t>
            </a:r>
            <a:endParaRPr lang="en-US" sz="1050" dirty="0"/>
          </a:p>
        </p:txBody>
      </p:sp>
      <p:sp>
        <p:nvSpPr>
          <p:cNvPr id="30" name="Shape 28"/>
          <p:cNvSpPr/>
          <p:nvPr/>
        </p:nvSpPr>
        <p:spPr>
          <a:xfrm>
            <a:off x="7543800" y="2734056"/>
            <a:ext cx="1234440" cy="246888"/>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31" name="Text 29"/>
          <p:cNvSpPr txBox="1"/>
          <p:nvPr/>
        </p:nvSpPr>
        <p:spPr>
          <a:xfrm>
            <a:off x="7543800" y="2734056"/>
            <a:ext cx="1234440" cy="246888"/>
          </a:xfrm>
          <a:prstGeom prst="rect">
            <a:avLst/>
          </a:prstGeom>
          <a:noFill/>
          <a:ln/>
        </p:spPr>
        <p:txBody>
          <a:bodyPr wrap="square" lIns="0" tIns="0" rIns="0" bIns="0" rtlCol="0" anchor="ctr"/>
          <a:lstStyle/>
          <a:p>
            <a:pPr marL="0" indent="0" algn="ctr">
              <a:buNone/>
            </a:pPr>
            <a:r>
              <a:rPr lang="en-US" sz="900" b="1" dirty="0">
                <a:solidFill>
                  <a:srgbClr val="9A6B00"/>
                </a:solidFill>
                <a:latin typeface="Malgun Gothic" pitchFamily="34" charset="0"/>
                <a:ea typeface="Malgun Gothic" pitchFamily="34" charset="-122"/>
                <a:cs typeface="Malgun Gothic" pitchFamily="34" charset="-120"/>
              </a:rPr>
              <a:t>혼합 가능</a:t>
            </a:r>
            <a:endParaRPr lang="en-US" sz="900" dirty="0"/>
          </a:p>
        </p:txBody>
      </p:sp>
      <p:sp>
        <p:nvSpPr>
          <p:cNvPr id="32" name="Text 30"/>
          <p:cNvSpPr txBox="1"/>
          <p:nvPr/>
        </p:nvSpPr>
        <p:spPr>
          <a:xfrm>
            <a:off x="685800" y="3072384"/>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고성군(강원)</a:t>
            </a:r>
            <a:endParaRPr lang="en-US" sz="1200" dirty="0"/>
          </a:p>
        </p:txBody>
      </p:sp>
      <p:sp>
        <p:nvSpPr>
          <p:cNvPr id="33" name="Shape 31"/>
          <p:cNvSpPr/>
          <p:nvPr/>
        </p:nvSpPr>
        <p:spPr>
          <a:xfrm>
            <a:off x="2423160" y="3287268"/>
            <a:ext cx="914400" cy="0"/>
          </a:xfrm>
          <a:prstGeom prst="line">
            <a:avLst/>
          </a:prstGeom>
          <a:noFill/>
          <a:ln w="38100">
            <a:solidFill>
              <a:srgbClr val="C4CEDC"/>
            </a:solidFill>
            <a:prstDash val="solid"/>
          </a:ln>
        </p:spPr>
        <p:txBody>
          <a:bodyPr/>
          <a:lstStyle/>
          <a:p>
            <a:endParaRPr lang="ko-KR" altLang="en-US"/>
          </a:p>
        </p:txBody>
      </p:sp>
      <p:sp>
        <p:nvSpPr>
          <p:cNvPr id="34" name="Shape 32"/>
          <p:cNvSpPr/>
          <p:nvPr/>
        </p:nvSpPr>
        <p:spPr>
          <a:xfrm>
            <a:off x="2313432" y="3177540"/>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35" name="Shape 33"/>
          <p:cNvSpPr/>
          <p:nvPr/>
        </p:nvSpPr>
        <p:spPr>
          <a:xfrm>
            <a:off x="3227832" y="3177540"/>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36" name="Text 34"/>
          <p:cNvSpPr txBox="1"/>
          <p:nvPr/>
        </p:nvSpPr>
        <p:spPr>
          <a:xfrm>
            <a:off x="5852160" y="3072384"/>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1개월 먼저</a:t>
            </a:r>
            <a:endParaRPr lang="en-US" sz="1050" dirty="0"/>
          </a:p>
        </p:txBody>
      </p:sp>
      <p:sp>
        <p:nvSpPr>
          <p:cNvPr id="37" name="Shape 35"/>
          <p:cNvSpPr/>
          <p:nvPr/>
        </p:nvSpPr>
        <p:spPr>
          <a:xfrm>
            <a:off x="7543800" y="3163824"/>
            <a:ext cx="1234440" cy="246888"/>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38" name="Text 36"/>
          <p:cNvSpPr txBox="1"/>
          <p:nvPr/>
        </p:nvSpPr>
        <p:spPr>
          <a:xfrm>
            <a:off x="7543800" y="3163824"/>
            <a:ext cx="1234440" cy="246888"/>
          </a:xfrm>
          <a:prstGeom prst="rect">
            <a:avLst/>
          </a:prstGeom>
          <a:noFill/>
          <a:ln/>
        </p:spPr>
        <p:txBody>
          <a:bodyPr wrap="square" lIns="0" tIns="0" rIns="0" bIns="0" rtlCol="0" anchor="ctr"/>
          <a:lstStyle/>
          <a:p>
            <a:pPr marL="0" indent="0" algn="ctr">
              <a:buNone/>
            </a:pPr>
            <a:r>
              <a:rPr lang="en-US" sz="900" b="1" dirty="0">
                <a:solidFill>
                  <a:srgbClr val="B7232B"/>
                </a:solidFill>
                <a:latin typeface="Malgun Gothic" pitchFamily="34" charset="0"/>
                <a:ea typeface="Malgun Gothic" pitchFamily="34" charset="-122"/>
                <a:cs typeface="Malgun Gothic" pitchFamily="34" charset="-120"/>
              </a:rPr>
              <a:t>계절근로 확인</a:t>
            </a:r>
            <a:endParaRPr lang="en-US" sz="900" dirty="0"/>
          </a:p>
        </p:txBody>
      </p:sp>
      <p:sp>
        <p:nvSpPr>
          <p:cNvPr id="39" name="Shape 37"/>
          <p:cNvSpPr/>
          <p:nvPr/>
        </p:nvSpPr>
        <p:spPr>
          <a:xfrm>
            <a:off x="548640" y="3520440"/>
            <a:ext cx="8321040" cy="393192"/>
          </a:xfrm>
          <a:prstGeom prst="roundRect">
            <a:avLst>
              <a:gd name="adj" fmla="val 18605"/>
            </a:avLst>
          </a:prstGeom>
          <a:solidFill>
            <a:srgbClr val="F3F6FB"/>
          </a:solidFill>
          <a:ln w="12700">
            <a:solidFill>
              <a:srgbClr val="F3F6FB"/>
            </a:solidFill>
            <a:prstDash val="solid"/>
          </a:ln>
        </p:spPr>
        <p:txBody>
          <a:bodyPr/>
          <a:lstStyle/>
          <a:p>
            <a:endParaRPr lang="ko-KR" altLang="en-US"/>
          </a:p>
        </p:txBody>
      </p:sp>
      <p:sp>
        <p:nvSpPr>
          <p:cNvPr id="40" name="Text 38"/>
          <p:cNvSpPr txBox="1"/>
          <p:nvPr/>
        </p:nvSpPr>
        <p:spPr>
          <a:xfrm>
            <a:off x="685800" y="3502152"/>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청송군</a:t>
            </a:r>
            <a:endParaRPr lang="en-US" sz="1200" dirty="0"/>
          </a:p>
        </p:txBody>
      </p:sp>
      <p:sp>
        <p:nvSpPr>
          <p:cNvPr id="41" name="Shape 39"/>
          <p:cNvSpPr/>
          <p:nvPr/>
        </p:nvSpPr>
        <p:spPr>
          <a:xfrm>
            <a:off x="3337560" y="3717036"/>
            <a:ext cx="914400" cy="0"/>
          </a:xfrm>
          <a:prstGeom prst="line">
            <a:avLst/>
          </a:prstGeom>
          <a:noFill/>
          <a:ln w="38100">
            <a:solidFill>
              <a:srgbClr val="C4CEDC"/>
            </a:solidFill>
            <a:prstDash val="solid"/>
          </a:ln>
        </p:spPr>
        <p:txBody>
          <a:bodyPr/>
          <a:lstStyle/>
          <a:p>
            <a:endParaRPr lang="ko-KR" altLang="en-US"/>
          </a:p>
        </p:txBody>
      </p:sp>
      <p:sp>
        <p:nvSpPr>
          <p:cNvPr id="42" name="Shape 40"/>
          <p:cNvSpPr/>
          <p:nvPr/>
        </p:nvSpPr>
        <p:spPr>
          <a:xfrm>
            <a:off x="3227832" y="3607308"/>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43" name="Shape 41"/>
          <p:cNvSpPr/>
          <p:nvPr/>
        </p:nvSpPr>
        <p:spPr>
          <a:xfrm>
            <a:off x="4142232" y="3607308"/>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44" name="Text 42"/>
          <p:cNvSpPr txBox="1"/>
          <p:nvPr/>
        </p:nvSpPr>
        <p:spPr>
          <a:xfrm>
            <a:off x="5852160" y="3502152"/>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1개월 먼저</a:t>
            </a:r>
            <a:endParaRPr lang="en-US" sz="1050" dirty="0"/>
          </a:p>
        </p:txBody>
      </p:sp>
      <p:sp>
        <p:nvSpPr>
          <p:cNvPr id="45" name="Shape 43"/>
          <p:cNvSpPr/>
          <p:nvPr/>
        </p:nvSpPr>
        <p:spPr>
          <a:xfrm>
            <a:off x="7543800" y="3593592"/>
            <a:ext cx="1234440" cy="246888"/>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46" name="Text 44"/>
          <p:cNvSpPr txBox="1"/>
          <p:nvPr/>
        </p:nvSpPr>
        <p:spPr>
          <a:xfrm>
            <a:off x="7543800" y="3593592"/>
            <a:ext cx="1234440" cy="246888"/>
          </a:xfrm>
          <a:prstGeom prst="rect">
            <a:avLst/>
          </a:prstGeom>
          <a:noFill/>
          <a:ln/>
        </p:spPr>
        <p:txBody>
          <a:bodyPr wrap="square" lIns="0" tIns="0" rIns="0" bIns="0" rtlCol="0" anchor="ctr"/>
          <a:lstStyle/>
          <a:p>
            <a:pPr marL="0" indent="0" algn="ctr">
              <a:buNone/>
            </a:pPr>
            <a:r>
              <a:rPr lang="en-US" sz="900" b="1" dirty="0">
                <a:solidFill>
                  <a:srgbClr val="B7232B"/>
                </a:solidFill>
                <a:latin typeface="Malgun Gothic" pitchFamily="34" charset="0"/>
                <a:ea typeface="Malgun Gothic" pitchFamily="34" charset="-122"/>
                <a:cs typeface="Malgun Gothic" pitchFamily="34" charset="-120"/>
              </a:rPr>
              <a:t>계절근로 확인</a:t>
            </a:r>
            <a:endParaRPr lang="en-US" sz="900" dirty="0"/>
          </a:p>
        </p:txBody>
      </p:sp>
      <p:sp>
        <p:nvSpPr>
          <p:cNvPr id="47" name="Text 45"/>
          <p:cNvSpPr txBox="1"/>
          <p:nvPr/>
        </p:nvSpPr>
        <p:spPr>
          <a:xfrm>
            <a:off x="685800" y="3931920"/>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봉화군</a:t>
            </a:r>
            <a:endParaRPr lang="en-US" sz="1200" dirty="0"/>
          </a:p>
        </p:txBody>
      </p:sp>
      <p:sp>
        <p:nvSpPr>
          <p:cNvPr id="48" name="Shape 46"/>
          <p:cNvSpPr/>
          <p:nvPr/>
        </p:nvSpPr>
        <p:spPr>
          <a:xfrm>
            <a:off x="3337560" y="4146804"/>
            <a:ext cx="914400" cy="0"/>
          </a:xfrm>
          <a:prstGeom prst="line">
            <a:avLst/>
          </a:prstGeom>
          <a:noFill/>
          <a:ln w="38100">
            <a:solidFill>
              <a:srgbClr val="C4CEDC"/>
            </a:solidFill>
            <a:prstDash val="solid"/>
          </a:ln>
        </p:spPr>
        <p:txBody>
          <a:bodyPr/>
          <a:lstStyle/>
          <a:p>
            <a:endParaRPr lang="ko-KR" altLang="en-US"/>
          </a:p>
        </p:txBody>
      </p:sp>
      <p:sp>
        <p:nvSpPr>
          <p:cNvPr id="49" name="Shape 47"/>
          <p:cNvSpPr/>
          <p:nvPr/>
        </p:nvSpPr>
        <p:spPr>
          <a:xfrm>
            <a:off x="3227832" y="4037076"/>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50" name="Shape 48"/>
          <p:cNvSpPr/>
          <p:nvPr/>
        </p:nvSpPr>
        <p:spPr>
          <a:xfrm>
            <a:off x="4142232" y="4037076"/>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51" name="Text 49"/>
          <p:cNvSpPr txBox="1"/>
          <p:nvPr/>
        </p:nvSpPr>
        <p:spPr>
          <a:xfrm>
            <a:off x="5852160" y="3931920"/>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1개월 먼저</a:t>
            </a:r>
            <a:endParaRPr lang="en-US" sz="1050" dirty="0"/>
          </a:p>
        </p:txBody>
      </p:sp>
      <p:sp>
        <p:nvSpPr>
          <p:cNvPr id="52" name="Shape 50"/>
          <p:cNvSpPr/>
          <p:nvPr/>
        </p:nvSpPr>
        <p:spPr>
          <a:xfrm>
            <a:off x="7543800" y="4023360"/>
            <a:ext cx="1234440" cy="246888"/>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53" name="Text 51"/>
          <p:cNvSpPr txBox="1"/>
          <p:nvPr/>
        </p:nvSpPr>
        <p:spPr>
          <a:xfrm>
            <a:off x="7543800" y="4023360"/>
            <a:ext cx="1234440" cy="246888"/>
          </a:xfrm>
          <a:prstGeom prst="rect">
            <a:avLst/>
          </a:prstGeom>
          <a:noFill/>
          <a:ln/>
        </p:spPr>
        <p:txBody>
          <a:bodyPr wrap="square" lIns="0" tIns="0" rIns="0" bIns="0" rtlCol="0" anchor="ctr"/>
          <a:lstStyle/>
          <a:p>
            <a:pPr marL="0" indent="0" algn="ctr">
              <a:buNone/>
            </a:pPr>
            <a:r>
              <a:rPr lang="en-US" sz="900" b="1" dirty="0">
                <a:solidFill>
                  <a:srgbClr val="B7232B"/>
                </a:solidFill>
                <a:latin typeface="Malgun Gothic" pitchFamily="34" charset="0"/>
                <a:ea typeface="Malgun Gothic" pitchFamily="34" charset="-122"/>
                <a:cs typeface="Malgun Gothic" pitchFamily="34" charset="-120"/>
              </a:rPr>
              <a:t>계절근로 확인</a:t>
            </a:r>
            <a:endParaRPr lang="en-US" sz="900" dirty="0"/>
          </a:p>
        </p:txBody>
      </p:sp>
      <p:sp>
        <p:nvSpPr>
          <p:cNvPr id="54" name="Shape 52"/>
          <p:cNvSpPr/>
          <p:nvPr/>
        </p:nvSpPr>
        <p:spPr>
          <a:xfrm>
            <a:off x="548640" y="4379976"/>
            <a:ext cx="8321040" cy="393192"/>
          </a:xfrm>
          <a:prstGeom prst="roundRect">
            <a:avLst>
              <a:gd name="adj" fmla="val 18605"/>
            </a:avLst>
          </a:prstGeom>
          <a:solidFill>
            <a:srgbClr val="F3F6FB"/>
          </a:solidFill>
          <a:ln w="12700">
            <a:solidFill>
              <a:srgbClr val="F3F6FB"/>
            </a:solidFill>
            <a:prstDash val="solid"/>
          </a:ln>
        </p:spPr>
        <p:txBody>
          <a:bodyPr/>
          <a:lstStyle/>
          <a:p>
            <a:endParaRPr lang="ko-KR" altLang="en-US"/>
          </a:p>
        </p:txBody>
      </p:sp>
      <p:sp>
        <p:nvSpPr>
          <p:cNvPr id="55" name="Text 53"/>
          <p:cNvSpPr txBox="1"/>
          <p:nvPr/>
        </p:nvSpPr>
        <p:spPr>
          <a:xfrm>
            <a:off x="685800" y="4361688"/>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의성군</a:t>
            </a:r>
            <a:endParaRPr lang="en-US" sz="1200" dirty="0"/>
          </a:p>
        </p:txBody>
      </p:sp>
      <p:sp>
        <p:nvSpPr>
          <p:cNvPr id="56" name="Shape 54"/>
          <p:cNvSpPr/>
          <p:nvPr/>
        </p:nvSpPr>
        <p:spPr>
          <a:xfrm>
            <a:off x="3337560" y="4576572"/>
            <a:ext cx="914400" cy="0"/>
          </a:xfrm>
          <a:prstGeom prst="line">
            <a:avLst/>
          </a:prstGeom>
          <a:noFill/>
          <a:ln w="38100">
            <a:solidFill>
              <a:srgbClr val="C4CEDC"/>
            </a:solidFill>
            <a:prstDash val="solid"/>
          </a:ln>
        </p:spPr>
        <p:txBody>
          <a:bodyPr/>
          <a:lstStyle/>
          <a:p>
            <a:endParaRPr lang="ko-KR" altLang="en-US"/>
          </a:p>
        </p:txBody>
      </p:sp>
      <p:sp>
        <p:nvSpPr>
          <p:cNvPr id="57" name="Shape 55"/>
          <p:cNvSpPr/>
          <p:nvPr/>
        </p:nvSpPr>
        <p:spPr>
          <a:xfrm>
            <a:off x="3227832" y="4466844"/>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58" name="Shape 56"/>
          <p:cNvSpPr/>
          <p:nvPr/>
        </p:nvSpPr>
        <p:spPr>
          <a:xfrm>
            <a:off x="4142232" y="4466844"/>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59" name="Text 57"/>
          <p:cNvSpPr txBox="1"/>
          <p:nvPr/>
        </p:nvSpPr>
        <p:spPr>
          <a:xfrm>
            <a:off x="5852160" y="4361688"/>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1개월 먼저</a:t>
            </a:r>
            <a:endParaRPr lang="en-US" sz="1050" dirty="0"/>
          </a:p>
        </p:txBody>
      </p:sp>
      <p:sp>
        <p:nvSpPr>
          <p:cNvPr id="60" name="Shape 58"/>
          <p:cNvSpPr/>
          <p:nvPr/>
        </p:nvSpPr>
        <p:spPr>
          <a:xfrm>
            <a:off x="7543800" y="4453128"/>
            <a:ext cx="1234440" cy="246888"/>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61" name="Text 59"/>
          <p:cNvSpPr txBox="1"/>
          <p:nvPr/>
        </p:nvSpPr>
        <p:spPr>
          <a:xfrm>
            <a:off x="7543800" y="4453128"/>
            <a:ext cx="1234440" cy="246888"/>
          </a:xfrm>
          <a:prstGeom prst="rect">
            <a:avLst/>
          </a:prstGeom>
          <a:noFill/>
          <a:ln/>
        </p:spPr>
        <p:txBody>
          <a:bodyPr wrap="square" lIns="0" tIns="0" rIns="0" bIns="0" rtlCol="0" anchor="ctr"/>
          <a:lstStyle/>
          <a:p>
            <a:pPr marL="0" indent="0" algn="ctr">
              <a:buNone/>
            </a:pPr>
            <a:r>
              <a:rPr lang="en-US" sz="900" b="1" dirty="0">
                <a:solidFill>
                  <a:srgbClr val="9A6B00"/>
                </a:solidFill>
                <a:latin typeface="Malgun Gothic" pitchFamily="34" charset="0"/>
                <a:ea typeface="Malgun Gothic" pitchFamily="34" charset="-122"/>
                <a:cs typeface="Malgun Gothic" pitchFamily="34" charset="-120"/>
              </a:rPr>
              <a:t>혼합 가능</a:t>
            </a:r>
            <a:endParaRPr lang="en-US" sz="900" dirty="0"/>
          </a:p>
        </p:txBody>
      </p:sp>
      <p:sp>
        <p:nvSpPr>
          <p:cNvPr id="62" name="Text 60"/>
          <p:cNvSpPr txBox="1"/>
          <p:nvPr/>
        </p:nvSpPr>
        <p:spPr>
          <a:xfrm>
            <a:off x="685800" y="4791456"/>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양양군</a:t>
            </a:r>
            <a:endParaRPr lang="en-US" sz="1200" dirty="0"/>
          </a:p>
        </p:txBody>
      </p:sp>
      <p:sp>
        <p:nvSpPr>
          <p:cNvPr id="63" name="Shape 61"/>
          <p:cNvSpPr/>
          <p:nvPr/>
        </p:nvSpPr>
        <p:spPr>
          <a:xfrm>
            <a:off x="3337560" y="5006340"/>
            <a:ext cx="914400" cy="0"/>
          </a:xfrm>
          <a:prstGeom prst="line">
            <a:avLst/>
          </a:prstGeom>
          <a:noFill/>
          <a:ln w="38100">
            <a:solidFill>
              <a:srgbClr val="C4CEDC"/>
            </a:solidFill>
            <a:prstDash val="solid"/>
          </a:ln>
        </p:spPr>
        <p:txBody>
          <a:bodyPr/>
          <a:lstStyle/>
          <a:p>
            <a:endParaRPr lang="ko-KR" altLang="en-US"/>
          </a:p>
        </p:txBody>
      </p:sp>
      <p:sp>
        <p:nvSpPr>
          <p:cNvPr id="64" name="Shape 62"/>
          <p:cNvSpPr/>
          <p:nvPr/>
        </p:nvSpPr>
        <p:spPr>
          <a:xfrm>
            <a:off x="3227832" y="4896612"/>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65" name="Shape 63"/>
          <p:cNvSpPr/>
          <p:nvPr/>
        </p:nvSpPr>
        <p:spPr>
          <a:xfrm>
            <a:off x="4142232" y="4896612"/>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66" name="Text 64"/>
          <p:cNvSpPr txBox="1"/>
          <p:nvPr/>
        </p:nvSpPr>
        <p:spPr>
          <a:xfrm>
            <a:off x="5852160" y="4791456"/>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1개월 먼저</a:t>
            </a:r>
            <a:endParaRPr lang="en-US" sz="1050" dirty="0"/>
          </a:p>
        </p:txBody>
      </p:sp>
      <p:sp>
        <p:nvSpPr>
          <p:cNvPr id="67" name="Shape 65"/>
          <p:cNvSpPr/>
          <p:nvPr/>
        </p:nvSpPr>
        <p:spPr>
          <a:xfrm>
            <a:off x="7543800" y="4882896"/>
            <a:ext cx="1234440" cy="246888"/>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68" name="Text 66"/>
          <p:cNvSpPr txBox="1"/>
          <p:nvPr/>
        </p:nvSpPr>
        <p:spPr>
          <a:xfrm>
            <a:off x="7543800" y="4882896"/>
            <a:ext cx="1234440" cy="246888"/>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반증 없음</a:t>
            </a:r>
            <a:endParaRPr lang="en-US" sz="900" dirty="0"/>
          </a:p>
        </p:txBody>
      </p:sp>
      <p:sp>
        <p:nvSpPr>
          <p:cNvPr id="69" name="Shape 67"/>
          <p:cNvSpPr/>
          <p:nvPr/>
        </p:nvSpPr>
        <p:spPr>
          <a:xfrm>
            <a:off x="548640" y="5239512"/>
            <a:ext cx="8321040" cy="393192"/>
          </a:xfrm>
          <a:prstGeom prst="roundRect">
            <a:avLst>
              <a:gd name="adj" fmla="val 18605"/>
            </a:avLst>
          </a:prstGeom>
          <a:solidFill>
            <a:srgbClr val="F3F6FB"/>
          </a:solidFill>
          <a:ln w="12700">
            <a:solidFill>
              <a:srgbClr val="F3F6FB"/>
            </a:solidFill>
            <a:prstDash val="solid"/>
          </a:ln>
        </p:spPr>
        <p:txBody>
          <a:bodyPr/>
          <a:lstStyle/>
          <a:p>
            <a:endParaRPr lang="ko-KR" altLang="en-US"/>
          </a:p>
        </p:txBody>
      </p:sp>
      <p:sp>
        <p:nvSpPr>
          <p:cNvPr id="70" name="Text 68"/>
          <p:cNvSpPr txBox="1"/>
          <p:nvPr/>
        </p:nvSpPr>
        <p:spPr>
          <a:xfrm>
            <a:off x="685800" y="5221224"/>
            <a:ext cx="1234440" cy="429768"/>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영양군</a:t>
            </a:r>
            <a:endParaRPr lang="en-US" sz="1200" dirty="0"/>
          </a:p>
        </p:txBody>
      </p:sp>
      <p:sp>
        <p:nvSpPr>
          <p:cNvPr id="71" name="Shape 69"/>
          <p:cNvSpPr/>
          <p:nvPr/>
        </p:nvSpPr>
        <p:spPr>
          <a:xfrm>
            <a:off x="3337560" y="5436108"/>
            <a:ext cx="1828800" cy="0"/>
          </a:xfrm>
          <a:prstGeom prst="line">
            <a:avLst/>
          </a:prstGeom>
          <a:noFill/>
          <a:ln w="38100">
            <a:solidFill>
              <a:srgbClr val="C4CEDC"/>
            </a:solidFill>
            <a:prstDash val="solid"/>
          </a:ln>
        </p:spPr>
        <p:txBody>
          <a:bodyPr/>
          <a:lstStyle/>
          <a:p>
            <a:endParaRPr lang="ko-KR" altLang="en-US"/>
          </a:p>
        </p:txBody>
      </p:sp>
      <p:sp>
        <p:nvSpPr>
          <p:cNvPr id="72" name="Shape 70"/>
          <p:cNvSpPr/>
          <p:nvPr/>
        </p:nvSpPr>
        <p:spPr>
          <a:xfrm>
            <a:off x="3227832" y="5326380"/>
            <a:ext cx="219456" cy="219456"/>
          </a:xfrm>
          <a:prstGeom prst="ellipse">
            <a:avLst/>
          </a:prstGeom>
          <a:solidFill>
            <a:srgbClr val="0B1B33"/>
          </a:solidFill>
          <a:ln w="12700">
            <a:solidFill>
              <a:srgbClr val="FFFFFF"/>
            </a:solidFill>
            <a:prstDash val="solid"/>
          </a:ln>
        </p:spPr>
        <p:txBody>
          <a:bodyPr/>
          <a:lstStyle/>
          <a:p>
            <a:endParaRPr lang="ko-KR" altLang="en-US"/>
          </a:p>
        </p:txBody>
      </p:sp>
      <p:sp>
        <p:nvSpPr>
          <p:cNvPr id="73" name="Shape 71"/>
          <p:cNvSpPr/>
          <p:nvPr/>
        </p:nvSpPr>
        <p:spPr>
          <a:xfrm>
            <a:off x="5056632" y="5326380"/>
            <a:ext cx="219456" cy="219456"/>
          </a:xfrm>
          <a:prstGeom prst="ellipse">
            <a:avLst/>
          </a:prstGeom>
          <a:solidFill>
            <a:srgbClr val="E8383D"/>
          </a:solidFill>
          <a:ln w="12700">
            <a:solidFill>
              <a:srgbClr val="FFFFFF"/>
            </a:solidFill>
            <a:prstDash val="solid"/>
          </a:ln>
        </p:spPr>
        <p:txBody>
          <a:bodyPr/>
          <a:lstStyle/>
          <a:p>
            <a:endParaRPr lang="ko-KR" altLang="en-US"/>
          </a:p>
        </p:txBody>
      </p:sp>
      <p:sp>
        <p:nvSpPr>
          <p:cNvPr id="74" name="Text 72"/>
          <p:cNvSpPr txBox="1"/>
          <p:nvPr/>
        </p:nvSpPr>
        <p:spPr>
          <a:xfrm>
            <a:off x="5852160" y="5221224"/>
            <a:ext cx="1600200" cy="429768"/>
          </a:xfrm>
          <a:prstGeom prst="rect">
            <a:avLst/>
          </a:prstGeom>
          <a:noFill/>
          <a:ln/>
        </p:spPr>
        <p:txBody>
          <a:bodyPr wrap="square" lIns="0" tIns="0" rIns="0" bIns="0" rtlCol="0" anchor="ctr"/>
          <a:lstStyle/>
          <a:p>
            <a:pPr marL="0" indent="0">
              <a:buNone/>
            </a:pPr>
            <a:r>
              <a:rPr lang="en-US" sz="1050" dirty="0">
                <a:solidFill>
                  <a:srgbClr val="14213D"/>
                </a:solidFill>
                <a:latin typeface="Malgun Gothic" pitchFamily="34" charset="0"/>
                <a:ea typeface="Malgun Gothic" pitchFamily="34" charset="-122"/>
                <a:cs typeface="Malgun Gothic" pitchFamily="34" charset="-120"/>
              </a:rPr>
              <a:t>방문자가 2개월 먼저</a:t>
            </a:r>
            <a:endParaRPr lang="en-US" sz="1050" dirty="0"/>
          </a:p>
        </p:txBody>
      </p:sp>
      <p:sp>
        <p:nvSpPr>
          <p:cNvPr id="75" name="Shape 73"/>
          <p:cNvSpPr/>
          <p:nvPr/>
        </p:nvSpPr>
        <p:spPr>
          <a:xfrm>
            <a:off x="7543800" y="5312664"/>
            <a:ext cx="1234440" cy="246888"/>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76" name="Text 74"/>
          <p:cNvSpPr txBox="1"/>
          <p:nvPr/>
        </p:nvSpPr>
        <p:spPr>
          <a:xfrm>
            <a:off x="7543800" y="5312664"/>
            <a:ext cx="1234440" cy="246888"/>
          </a:xfrm>
          <a:prstGeom prst="rect">
            <a:avLst/>
          </a:prstGeom>
          <a:noFill/>
          <a:ln/>
        </p:spPr>
        <p:txBody>
          <a:bodyPr wrap="square" lIns="0" tIns="0" rIns="0" bIns="0" rtlCol="0" anchor="ctr"/>
          <a:lstStyle/>
          <a:p>
            <a:pPr marL="0" indent="0" algn="ctr">
              <a:buNone/>
            </a:pPr>
            <a:r>
              <a:rPr lang="en-US" sz="900" b="1" dirty="0">
                <a:solidFill>
                  <a:srgbClr val="B7232B"/>
                </a:solidFill>
                <a:latin typeface="Malgun Gothic" pitchFamily="34" charset="0"/>
                <a:ea typeface="Malgun Gothic" pitchFamily="34" charset="-122"/>
                <a:cs typeface="Malgun Gothic" pitchFamily="34" charset="-120"/>
              </a:rPr>
              <a:t>계절근로 확인</a:t>
            </a:r>
            <a:endParaRPr lang="en-US" sz="900" dirty="0"/>
          </a:p>
        </p:txBody>
      </p:sp>
      <p:sp>
        <p:nvSpPr>
          <p:cNvPr id="77" name="Shape 75"/>
          <p:cNvSpPr/>
          <p:nvPr/>
        </p:nvSpPr>
        <p:spPr>
          <a:xfrm>
            <a:off x="777240" y="5806440"/>
            <a:ext cx="164592" cy="164592"/>
          </a:xfrm>
          <a:prstGeom prst="ellipse">
            <a:avLst/>
          </a:prstGeom>
          <a:solidFill>
            <a:srgbClr val="E8383D"/>
          </a:solidFill>
          <a:ln w="12700">
            <a:solidFill>
              <a:srgbClr val="E8383D"/>
            </a:solidFill>
            <a:prstDash val="solid"/>
          </a:ln>
        </p:spPr>
        <p:txBody>
          <a:bodyPr/>
          <a:lstStyle/>
          <a:p>
            <a:endParaRPr lang="ko-KR" altLang="en-US"/>
          </a:p>
        </p:txBody>
      </p:sp>
      <p:sp>
        <p:nvSpPr>
          <p:cNvPr id="78" name="Text 76"/>
          <p:cNvSpPr txBox="1"/>
          <p:nvPr/>
        </p:nvSpPr>
        <p:spPr>
          <a:xfrm>
            <a:off x="1005840" y="5760720"/>
            <a:ext cx="1828800" cy="256032"/>
          </a:xfrm>
          <a:prstGeom prst="rect">
            <a:avLst/>
          </a:prstGeom>
          <a:noFill/>
          <a:ln/>
        </p:spPr>
        <p:txBody>
          <a:bodyPr wrap="square" lIns="0" tIns="0" rIns="0" bIns="0" rtlCol="0" anchor="ct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카드 초과성장 정점월</a:t>
            </a:r>
            <a:endParaRPr lang="en-US" sz="1000" dirty="0"/>
          </a:p>
        </p:txBody>
      </p:sp>
      <p:sp>
        <p:nvSpPr>
          <p:cNvPr id="79" name="Shape 77"/>
          <p:cNvSpPr/>
          <p:nvPr/>
        </p:nvSpPr>
        <p:spPr>
          <a:xfrm>
            <a:off x="2880360" y="5806440"/>
            <a:ext cx="164592" cy="164592"/>
          </a:xfrm>
          <a:prstGeom prst="ellipse">
            <a:avLst/>
          </a:prstGeom>
          <a:solidFill>
            <a:srgbClr val="0B1B33"/>
          </a:solidFill>
          <a:ln w="12700">
            <a:solidFill>
              <a:srgbClr val="E8383D"/>
            </a:solidFill>
            <a:prstDash val="solid"/>
          </a:ln>
        </p:spPr>
        <p:txBody>
          <a:bodyPr/>
          <a:lstStyle/>
          <a:p>
            <a:endParaRPr lang="ko-KR" altLang="en-US"/>
          </a:p>
        </p:txBody>
      </p:sp>
      <p:sp>
        <p:nvSpPr>
          <p:cNvPr id="80" name="Text 78"/>
          <p:cNvSpPr txBox="1"/>
          <p:nvPr/>
        </p:nvSpPr>
        <p:spPr>
          <a:xfrm>
            <a:off x="3108960" y="5760720"/>
            <a:ext cx="3108960" cy="256032"/>
          </a:xfrm>
          <a:prstGeom prst="rect">
            <a:avLst/>
          </a:prstGeom>
          <a:noFill/>
          <a:ln/>
        </p:spPr>
        <p:txBody>
          <a:bodyPr wrap="square" lIns="0" tIns="0" rIns="0" bIns="0" rtlCol="0" anchor="ct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외국인 방문자 증가 정점월 (전월 대비)</a:t>
            </a:r>
            <a:endParaRPr lang="en-US" sz="1000" dirty="0"/>
          </a:p>
        </p:txBody>
      </p:sp>
      <p:sp>
        <p:nvSpPr>
          <p:cNvPr id="81" name="Text 79"/>
          <p:cNvSpPr txBox="1"/>
          <p:nvPr/>
        </p:nvSpPr>
        <p:spPr>
          <a:xfrm>
            <a:off x="6355080" y="5742432"/>
            <a:ext cx="2606040" cy="329184"/>
          </a:xfrm>
          <a:prstGeom prst="rect">
            <a:avLst/>
          </a:prstGeom>
          <a:noFill/>
          <a:ln/>
        </p:spPr>
        <p:txBody>
          <a:bodyPr wrap="square" lIns="0" tIns="0" rIns="0" bIns="0" rtlCol="0" anchor="ctr"/>
          <a:lstStyle/>
          <a:p>
            <a:pPr marL="0" indent="0">
              <a:lnSpc>
                <a:spcPct val="100000"/>
              </a:lnSpc>
              <a:buNone/>
            </a:pPr>
            <a:r>
              <a:rPr lang="en-US" sz="800" dirty="0">
                <a:solidFill>
                  <a:srgbClr val="64748B"/>
                </a:solidFill>
                <a:latin typeface="Malgun Gothic" pitchFamily="34" charset="0"/>
                <a:ea typeface="Malgun Gothic" pitchFamily="34" charset="-122"/>
                <a:cs typeface="Malgun Gothic" pitchFamily="34" charset="-120"/>
              </a:rPr>
              <a:t>정점월 = 전월 대비 증가 폭이 가장 큰 달. 지역당 1개월 비교이며 옹진군은 n=1이라 통계 검정이 아니다.</a:t>
            </a:r>
            <a:endParaRPr lang="en-US" sz="800" dirty="0"/>
          </a:p>
        </p:txBody>
      </p:sp>
      <p:sp>
        <p:nvSpPr>
          <p:cNvPr id="82" name="Shape 80"/>
          <p:cNvSpPr/>
          <p:nvPr/>
        </p:nvSpPr>
        <p:spPr>
          <a:xfrm>
            <a:off x="9144000" y="1783080"/>
            <a:ext cx="2496312" cy="978408"/>
          </a:xfrm>
          <a:prstGeom prst="roundRect">
            <a:avLst>
              <a:gd name="adj" fmla="val 9346"/>
            </a:avLst>
          </a:prstGeom>
          <a:solidFill>
            <a:srgbClr val="F3F6FB"/>
          </a:solidFill>
          <a:ln w="12700">
            <a:solidFill>
              <a:srgbClr val="F3F6FB"/>
            </a:solidFill>
            <a:prstDash val="solid"/>
          </a:ln>
        </p:spPr>
        <p:txBody>
          <a:bodyPr/>
          <a:lstStyle/>
          <a:p>
            <a:endParaRPr lang="ko-KR" altLang="en-US"/>
          </a:p>
        </p:txBody>
      </p:sp>
      <p:sp>
        <p:nvSpPr>
          <p:cNvPr id="83" name="Text 81"/>
          <p:cNvSpPr txBox="1"/>
          <p:nvPr/>
        </p:nvSpPr>
        <p:spPr>
          <a:xfrm>
            <a:off x="9326880" y="1828800"/>
            <a:ext cx="914400" cy="502920"/>
          </a:xfrm>
          <a:prstGeom prst="rect">
            <a:avLst/>
          </a:prstGeom>
          <a:noFill/>
          <a:ln/>
        </p:spPr>
        <p:txBody>
          <a:bodyPr wrap="square" lIns="0" tIns="0" rIns="0" bIns="0" rtlCol="0" anchor="ctr"/>
          <a:lstStyle/>
          <a:p>
            <a:pPr marL="0" indent="0">
              <a:buNone/>
            </a:pPr>
            <a:r>
              <a:rPr lang="en-US" sz="2400" b="1" dirty="0">
                <a:solidFill>
                  <a:srgbClr val="0B1B33"/>
                </a:solidFill>
                <a:latin typeface="Malgun Gothic" pitchFamily="34" charset="0"/>
                <a:ea typeface="Malgun Gothic" pitchFamily="34" charset="-122"/>
                <a:cs typeface="Malgun Gothic" pitchFamily="34" charset="-120"/>
              </a:rPr>
              <a:t>6곳</a:t>
            </a:r>
            <a:endParaRPr lang="en-US" sz="2400" dirty="0"/>
          </a:p>
        </p:txBody>
      </p:sp>
      <p:sp>
        <p:nvSpPr>
          <p:cNvPr id="84" name="Text 82"/>
          <p:cNvSpPr txBox="1"/>
          <p:nvPr/>
        </p:nvSpPr>
        <p:spPr>
          <a:xfrm>
            <a:off x="9301828" y="2331720"/>
            <a:ext cx="2313432" cy="182880"/>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방문자 급증이 </a:t>
            </a:r>
            <a:r>
              <a:rPr lang="en-US" sz="950" b="1" dirty="0" err="1">
                <a:solidFill>
                  <a:srgbClr val="14213D"/>
                </a:solidFill>
                <a:latin typeface="Malgun Gothic" pitchFamily="34" charset="0"/>
                <a:ea typeface="Malgun Gothic" pitchFamily="34" charset="-122"/>
                <a:cs typeface="Malgun Gothic" pitchFamily="34" charset="-120"/>
              </a:rPr>
              <a:t>카드</a:t>
            </a:r>
            <a:r>
              <a:rPr lang="en-US" sz="950" b="1" dirty="0">
                <a:solidFill>
                  <a:srgbClr val="14213D"/>
                </a:solidFill>
                <a:latin typeface="Malgun Gothic" pitchFamily="34" charset="0"/>
                <a:ea typeface="Malgun Gothic" pitchFamily="34" charset="-122"/>
                <a:cs typeface="Malgun Gothic" pitchFamily="34" charset="-120"/>
              </a:rPr>
              <a:t> </a:t>
            </a:r>
            <a:r>
              <a:rPr lang="en-US" sz="950" b="1" dirty="0" err="1">
                <a:solidFill>
                  <a:srgbClr val="14213D"/>
                </a:solidFill>
                <a:latin typeface="Malgun Gothic" pitchFamily="34" charset="0"/>
                <a:ea typeface="Malgun Gothic" pitchFamily="34" charset="-122"/>
                <a:cs typeface="Malgun Gothic" pitchFamily="34" charset="-120"/>
              </a:rPr>
              <a:t>정점</a:t>
            </a:r>
            <a:r>
              <a:rPr lang="ko-KR" altLang="en-US" sz="950" b="1" dirty="0" err="1">
                <a:solidFill>
                  <a:srgbClr val="14213D"/>
                </a:solidFill>
                <a:latin typeface="Malgun Gothic" pitchFamily="34" charset="0"/>
                <a:ea typeface="Malgun Gothic" pitchFamily="34" charset="-122"/>
                <a:cs typeface="Malgun Gothic" pitchFamily="34" charset="-120"/>
              </a:rPr>
              <a:t>릏</a:t>
            </a:r>
            <a:r>
              <a:rPr lang="en-US" sz="950" b="1" dirty="0">
                <a:solidFill>
                  <a:srgbClr val="14213D"/>
                </a:solidFill>
                <a:latin typeface="Malgun Gothic" pitchFamily="34" charset="0"/>
                <a:ea typeface="Malgun Gothic" pitchFamily="34" charset="-122"/>
                <a:cs typeface="Malgun Gothic" pitchFamily="34" charset="-120"/>
              </a:rPr>
              <a:t> 1~2개월 </a:t>
            </a:r>
            <a:r>
              <a:rPr lang="ko-KR" altLang="en-US" sz="950" b="1" dirty="0">
                <a:solidFill>
                  <a:srgbClr val="14213D"/>
                </a:solidFill>
                <a:latin typeface="Malgun Gothic" pitchFamily="34" charset="0"/>
                <a:ea typeface="Malgun Gothic" pitchFamily="34" charset="-122"/>
                <a:cs typeface="Malgun Gothic" pitchFamily="34" charset="-120"/>
              </a:rPr>
              <a:t>선행</a:t>
            </a:r>
            <a:endParaRPr lang="en-US" sz="950" dirty="0"/>
          </a:p>
        </p:txBody>
      </p:sp>
      <p:sp>
        <p:nvSpPr>
          <p:cNvPr id="85" name="Text 83"/>
          <p:cNvSpPr txBox="1"/>
          <p:nvPr/>
        </p:nvSpPr>
        <p:spPr>
          <a:xfrm>
            <a:off x="9301828" y="2523744"/>
            <a:ext cx="2176272" cy="182880"/>
          </a:xfrm>
          <a:prstGeom prst="rect">
            <a:avLst/>
          </a:prstGeom>
          <a:noFill/>
          <a:ln/>
        </p:spPr>
        <p:txBody>
          <a:bodyPr wrap="square" lIns="0" tIns="0" rIns="0" bIns="0" rtlCol="0" anchor="ct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청송·봉화·고성·의성·양양·영양</a:t>
            </a:r>
            <a:endParaRPr lang="en-US" sz="850" dirty="0"/>
          </a:p>
        </p:txBody>
      </p:sp>
      <p:sp>
        <p:nvSpPr>
          <p:cNvPr id="86" name="Shape 84"/>
          <p:cNvSpPr/>
          <p:nvPr/>
        </p:nvSpPr>
        <p:spPr>
          <a:xfrm>
            <a:off x="9144000" y="2852928"/>
            <a:ext cx="2496312" cy="978408"/>
          </a:xfrm>
          <a:prstGeom prst="roundRect">
            <a:avLst>
              <a:gd name="adj" fmla="val 9346"/>
            </a:avLst>
          </a:prstGeom>
          <a:solidFill>
            <a:srgbClr val="F3F6FB"/>
          </a:solidFill>
          <a:ln w="12700">
            <a:solidFill>
              <a:srgbClr val="F3F6FB"/>
            </a:solidFill>
            <a:prstDash val="solid"/>
          </a:ln>
        </p:spPr>
        <p:txBody>
          <a:bodyPr/>
          <a:lstStyle/>
          <a:p>
            <a:endParaRPr lang="ko-KR" altLang="en-US"/>
          </a:p>
        </p:txBody>
      </p:sp>
      <p:sp>
        <p:nvSpPr>
          <p:cNvPr id="87" name="Text 85"/>
          <p:cNvSpPr txBox="1"/>
          <p:nvPr/>
        </p:nvSpPr>
        <p:spPr>
          <a:xfrm>
            <a:off x="9326880" y="2898648"/>
            <a:ext cx="914400" cy="502920"/>
          </a:xfrm>
          <a:prstGeom prst="rect">
            <a:avLst/>
          </a:prstGeom>
          <a:noFill/>
          <a:ln/>
        </p:spPr>
        <p:txBody>
          <a:bodyPr wrap="square" lIns="0" tIns="0" rIns="0" bIns="0" rtlCol="0" anchor="ctr"/>
          <a:lstStyle/>
          <a:p>
            <a:pPr marL="0" indent="0">
              <a:buNone/>
            </a:pPr>
            <a:r>
              <a:rPr lang="en-US" sz="2400" b="1" dirty="0">
                <a:solidFill>
                  <a:srgbClr val="64748B"/>
                </a:solidFill>
                <a:latin typeface="Malgun Gothic" pitchFamily="34" charset="0"/>
                <a:ea typeface="Malgun Gothic" pitchFamily="34" charset="-122"/>
                <a:cs typeface="Malgun Gothic" pitchFamily="34" charset="-120"/>
              </a:rPr>
              <a:t>1곳</a:t>
            </a:r>
            <a:endParaRPr lang="en-US" sz="2400" dirty="0"/>
          </a:p>
        </p:txBody>
      </p:sp>
      <p:sp>
        <p:nvSpPr>
          <p:cNvPr id="88" name="Text 86"/>
          <p:cNvSpPr txBox="1"/>
          <p:nvPr/>
        </p:nvSpPr>
        <p:spPr>
          <a:xfrm>
            <a:off x="9326880" y="3401568"/>
            <a:ext cx="2176272" cy="182880"/>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같은 달</a:t>
            </a:r>
            <a:endParaRPr lang="en-US" sz="950" dirty="0"/>
          </a:p>
        </p:txBody>
      </p:sp>
      <p:sp>
        <p:nvSpPr>
          <p:cNvPr id="89" name="Text 87"/>
          <p:cNvSpPr txBox="1"/>
          <p:nvPr/>
        </p:nvSpPr>
        <p:spPr>
          <a:xfrm>
            <a:off x="9326880" y="3593592"/>
            <a:ext cx="2176272" cy="182880"/>
          </a:xfrm>
          <a:prstGeom prst="rect">
            <a:avLst/>
          </a:prstGeom>
          <a:noFill/>
          <a:ln/>
        </p:spPr>
        <p:txBody>
          <a:bodyPr wrap="square" lIns="0" tIns="0" rIns="0" bIns="0" rtlCol="0" anchor="ct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영월군</a:t>
            </a:r>
            <a:endParaRPr lang="en-US" sz="850" dirty="0"/>
          </a:p>
        </p:txBody>
      </p:sp>
      <p:sp>
        <p:nvSpPr>
          <p:cNvPr id="90" name="Shape 88"/>
          <p:cNvSpPr/>
          <p:nvPr/>
        </p:nvSpPr>
        <p:spPr>
          <a:xfrm>
            <a:off x="9144000" y="3922776"/>
            <a:ext cx="2496312" cy="978408"/>
          </a:xfrm>
          <a:prstGeom prst="roundRect">
            <a:avLst>
              <a:gd name="adj" fmla="val 9346"/>
            </a:avLst>
          </a:prstGeom>
          <a:solidFill>
            <a:srgbClr val="FDECEC"/>
          </a:solidFill>
          <a:ln w="12700">
            <a:solidFill>
              <a:srgbClr val="FDECEC"/>
            </a:solidFill>
            <a:prstDash val="solid"/>
          </a:ln>
        </p:spPr>
        <p:txBody>
          <a:bodyPr/>
          <a:lstStyle/>
          <a:p>
            <a:endParaRPr lang="ko-KR" altLang="en-US"/>
          </a:p>
        </p:txBody>
      </p:sp>
      <p:sp>
        <p:nvSpPr>
          <p:cNvPr id="91" name="Text 89"/>
          <p:cNvSpPr txBox="1"/>
          <p:nvPr/>
        </p:nvSpPr>
        <p:spPr>
          <a:xfrm>
            <a:off x="9326880" y="3968496"/>
            <a:ext cx="914400" cy="502920"/>
          </a:xfrm>
          <a:prstGeom prst="rect">
            <a:avLst/>
          </a:prstGeom>
          <a:noFill/>
          <a:ln/>
        </p:spPr>
        <p:txBody>
          <a:bodyPr wrap="square" lIns="0" tIns="0" rIns="0" bIns="0" rtlCol="0" anchor="ctr"/>
          <a:lstStyle/>
          <a:p>
            <a:pPr marL="0" indent="0">
              <a:buNone/>
            </a:pPr>
            <a:r>
              <a:rPr lang="en-US" sz="2400" b="1" dirty="0">
                <a:solidFill>
                  <a:srgbClr val="E8383D"/>
                </a:solidFill>
                <a:latin typeface="Malgun Gothic" pitchFamily="34" charset="0"/>
                <a:ea typeface="Malgun Gothic" pitchFamily="34" charset="-122"/>
                <a:cs typeface="Malgun Gothic" pitchFamily="34" charset="-120"/>
              </a:rPr>
              <a:t>1곳</a:t>
            </a:r>
            <a:endParaRPr lang="en-US" sz="2400" dirty="0"/>
          </a:p>
        </p:txBody>
      </p:sp>
      <p:sp>
        <p:nvSpPr>
          <p:cNvPr id="92" name="Text 90"/>
          <p:cNvSpPr txBox="1"/>
          <p:nvPr/>
        </p:nvSpPr>
        <p:spPr>
          <a:xfrm>
            <a:off x="9326880" y="4471416"/>
            <a:ext cx="2176272" cy="182880"/>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카드가 먼저 (1개월)</a:t>
            </a:r>
            <a:endParaRPr lang="en-US" sz="950" dirty="0"/>
          </a:p>
        </p:txBody>
      </p:sp>
      <p:sp>
        <p:nvSpPr>
          <p:cNvPr id="93" name="Text 91"/>
          <p:cNvSpPr txBox="1"/>
          <p:nvPr/>
        </p:nvSpPr>
        <p:spPr>
          <a:xfrm>
            <a:off x="9326880" y="4663440"/>
            <a:ext cx="2176272" cy="182880"/>
          </a:xfrm>
          <a:prstGeom prst="rect">
            <a:avLst/>
          </a:prstGeom>
          <a:noFill/>
          <a:ln/>
        </p:spPr>
        <p:txBody>
          <a:bodyPr wrap="square" lIns="0" tIns="0" rIns="0" bIns="0" rtlCol="0" anchor="ct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옹진군 · 3월 카드 → 4월 방문자</a:t>
            </a:r>
            <a:endParaRPr lang="en-US" sz="850" dirty="0"/>
          </a:p>
        </p:txBody>
      </p:sp>
      <p:sp>
        <p:nvSpPr>
          <p:cNvPr id="94" name="Shape 92"/>
          <p:cNvSpPr/>
          <p:nvPr/>
        </p:nvSpPr>
        <p:spPr>
          <a:xfrm>
            <a:off x="9144000" y="5029200"/>
            <a:ext cx="2496312" cy="1005840"/>
          </a:xfrm>
          <a:prstGeom prst="roundRect">
            <a:avLst>
              <a:gd name="adj" fmla="val 9091"/>
            </a:avLst>
          </a:prstGeom>
          <a:solidFill>
            <a:srgbClr val="FFF4DC"/>
          </a:solidFill>
          <a:ln w="12700">
            <a:solidFill>
              <a:srgbClr val="FFF4DC"/>
            </a:solidFill>
            <a:prstDash val="solid"/>
          </a:ln>
        </p:spPr>
        <p:txBody>
          <a:bodyPr/>
          <a:lstStyle/>
          <a:p>
            <a:endParaRPr lang="ko-KR" altLang="en-US"/>
          </a:p>
        </p:txBody>
      </p:sp>
      <p:sp>
        <p:nvSpPr>
          <p:cNvPr id="95" name="Text 93"/>
          <p:cNvSpPr txBox="1"/>
          <p:nvPr/>
        </p:nvSpPr>
        <p:spPr>
          <a:xfrm>
            <a:off x="9281160" y="5029200"/>
            <a:ext cx="2221992" cy="1005840"/>
          </a:xfrm>
          <a:prstGeom prst="rect">
            <a:avLst/>
          </a:prstGeom>
          <a:noFill/>
          <a:ln/>
        </p:spPr>
        <p:txBody>
          <a:bodyPr wrap="square" lIns="0" tIns="0" rIns="0" bIns="0" rtlCol="0" anchor="ctr"/>
          <a:lstStyle/>
          <a:p>
            <a:pPr marL="0" indent="0">
              <a:lnSpc>
                <a:spcPct val="110000"/>
              </a:lnSpc>
              <a:buNone/>
            </a:pPr>
            <a:r>
              <a:rPr lang="en-US" sz="950" dirty="0">
                <a:solidFill>
                  <a:srgbClr val="9A6B00"/>
                </a:solidFill>
                <a:latin typeface="Malgun Gothic" pitchFamily="34" charset="0"/>
                <a:ea typeface="Malgun Gothic" pitchFamily="34" charset="-122"/>
                <a:cs typeface="Malgun Gothic" pitchFamily="34" charset="-120"/>
              </a:rPr>
              <a:t>방문자가 먼저인 6곳 중 4곳은 계절근로자 입국이 확인된 지역 — 집단 입국이 방문자 통계를 먼저 밀어 올렸을 가능성이 있다.</a:t>
            </a:r>
            <a:endParaRPr lang="en-US" sz="950" dirty="0"/>
          </a:p>
        </p:txBody>
      </p:sp>
      <p:sp>
        <p:nvSpPr>
          <p:cNvPr id="96" name="Text 94"/>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97" name="Text 95"/>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22 / 42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H1 ③</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통계로 확인해도 방문자 증가 주기가 카드 증가 주기보다 약 1개월 앞선다</a:t>
            </a:r>
            <a:endParaRPr lang="en-US" sz="2400" dirty="0"/>
          </a:p>
        </p:txBody>
      </p:sp>
      <p:sp>
        <p:nvSpPr>
          <p:cNvPr id="6" name="Shape 4"/>
          <p:cNvSpPr/>
          <p:nvPr/>
        </p:nvSpPr>
        <p:spPr>
          <a:xfrm>
            <a:off x="548640" y="1737360"/>
            <a:ext cx="5257800" cy="4242816"/>
          </a:xfrm>
          <a:prstGeom prst="roundRect">
            <a:avLst>
              <a:gd name="adj" fmla="val 258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56232"/>
            <a:ext cx="4846320" cy="274320"/>
          </a:xfrm>
          <a:prstGeom prst="rect">
            <a:avLst/>
          </a:prstGeom>
          <a:noFill/>
          <a:ln/>
        </p:spPr>
        <p:txBody>
          <a:bodyPr wrap="square" lIns="0" tIns="0" rIns="0" bIns="0" rtlCol="0" anchor="t"/>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8개 지역 평균 곡선 (2~6월) — 각 지역의 정점을 100으로 맞춤</a:t>
            </a:r>
            <a:endParaRPr lang="en-US" sz="1200" dirty="0"/>
          </a:p>
        </p:txBody>
      </p:sp>
      <p:graphicFrame>
        <p:nvGraphicFramePr>
          <p:cNvPr id="8" name="Chart 0"/>
          <p:cNvGraphicFramePr/>
          <p:nvPr/>
        </p:nvGraphicFramePr>
        <p:xfrm>
          <a:off x="640080" y="2194560"/>
          <a:ext cx="50749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5029200"/>
            <a:ext cx="4846320" cy="822960"/>
          </a:xfrm>
          <a:prstGeom prst="rect">
            <a:avLst/>
          </a:prstGeom>
          <a:noFill/>
          <a:ln/>
        </p:spPr>
        <p:txBody>
          <a:bodyPr wrap="square" lIns="0" tIns="0" rIns="0" bIns="0" rtlCol="0" anchor="t"/>
          <a:lstStyle/>
          <a:p>
            <a:pPr marL="0" indent="0">
              <a:lnSpc>
                <a:spcPct val="115000"/>
              </a:lnSpc>
              <a:buNone/>
            </a:pPr>
            <a:r>
              <a:rPr lang="en-US" sz="1050" b="1" dirty="0">
                <a:solidFill>
                  <a:srgbClr val="B7232B"/>
                </a:solidFill>
                <a:latin typeface="Malgun Gothic" pitchFamily="34" charset="0"/>
                <a:ea typeface="Malgun Gothic" pitchFamily="34" charset="-122"/>
                <a:cs typeface="Malgun Gothic" pitchFamily="34" charset="-120"/>
              </a:rPr>
              <a:t>방문자 정점(4월) → 카드 정점(5월)</a:t>
            </a:r>
            <a:r>
              <a:rPr lang="en-US" sz="1050" dirty="0">
                <a:solidFill>
                  <a:srgbClr val="3A475C"/>
                </a:solidFill>
                <a:latin typeface="Malgun Gothic" pitchFamily="34" charset="0"/>
                <a:ea typeface="Malgun Gothic" pitchFamily="34" charset="-122"/>
                <a:cs typeface="Malgun Gothic" pitchFamily="34" charset="-120"/>
              </a:rPr>
              <a:t>  평균적으로 약 1개월의 시차. 카드가 정점을 찍을 즈음 방문자는 이미 꺾이기 시작한다.</a:t>
            </a:r>
            <a:endParaRPr lang="en-US" sz="1050" dirty="0"/>
          </a:p>
        </p:txBody>
      </p:sp>
      <p:sp>
        <p:nvSpPr>
          <p:cNvPr id="10" name="Shape 7"/>
          <p:cNvSpPr/>
          <p:nvPr/>
        </p:nvSpPr>
        <p:spPr>
          <a:xfrm>
            <a:off x="6035040" y="1737360"/>
            <a:ext cx="5605272" cy="2514600"/>
          </a:xfrm>
          <a:prstGeom prst="roundRect">
            <a:avLst>
              <a:gd name="adj" fmla="val 4364"/>
            </a:avLst>
          </a:prstGeom>
          <a:solidFill>
            <a:srgbClr val="FFFFFF"/>
          </a:solidFill>
          <a:ln w="9525">
            <a:solidFill>
              <a:srgbClr val="D9E0EA"/>
            </a:solidFill>
            <a:prstDash val="solid"/>
          </a:ln>
        </p:spPr>
        <p:txBody>
          <a:bodyPr/>
          <a:lstStyle/>
          <a:p>
            <a:endParaRPr lang="ko-KR" altLang="en-US"/>
          </a:p>
        </p:txBody>
      </p:sp>
      <p:sp>
        <p:nvSpPr>
          <p:cNvPr id="11" name="Text 8"/>
          <p:cNvSpPr txBox="1"/>
          <p:nvPr/>
        </p:nvSpPr>
        <p:spPr>
          <a:xfrm>
            <a:off x="6263640" y="1828800"/>
            <a:ext cx="4114800" cy="274320"/>
          </a:xfrm>
          <a:prstGeom prst="rect">
            <a:avLst/>
          </a:prstGeom>
          <a:noFill/>
          <a:ln/>
        </p:spPr>
        <p:txBody>
          <a:bodyPr wrap="square" lIns="0" tIns="0" rIns="0" bIns="0" rtlCol="0" anchor="t"/>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시차별 Spearman 순위상관(ρ)</a:t>
            </a:r>
            <a:endParaRPr lang="en-US" sz="1200" dirty="0"/>
          </a:p>
        </p:txBody>
      </p:sp>
      <p:graphicFrame>
        <p:nvGraphicFramePr>
          <p:cNvPr id="12" name="Chart 1"/>
          <p:cNvGraphicFramePr/>
          <p:nvPr/>
        </p:nvGraphicFramePr>
        <p:xfrm>
          <a:off x="6126480" y="2103120"/>
          <a:ext cx="5422392"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9"/>
          <p:cNvSpPr/>
          <p:nvPr/>
        </p:nvSpPr>
        <p:spPr>
          <a:xfrm>
            <a:off x="6035040" y="4343400"/>
            <a:ext cx="5605272" cy="1636776"/>
          </a:xfrm>
          <a:prstGeom prst="roundRect">
            <a:avLst>
              <a:gd name="adj" fmla="val 6704"/>
            </a:avLst>
          </a:prstGeom>
          <a:solidFill>
            <a:srgbClr val="FDECEC"/>
          </a:solidFill>
          <a:ln w="12700">
            <a:solidFill>
              <a:srgbClr val="FDECEC"/>
            </a:solidFill>
            <a:prstDash val="solid"/>
          </a:ln>
        </p:spPr>
        <p:txBody>
          <a:bodyPr/>
          <a:lstStyle/>
          <a:p>
            <a:endParaRPr lang="ko-KR" altLang="en-US"/>
          </a:p>
        </p:txBody>
      </p:sp>
      <p:sp>
        <p:nvSpPr>
          <p:cNvPr id="14" name="Text 10"/>
          <p:cNvSpPr txBox="1"/>
          <p:nvPr/>
        </p:nvSpPr>
        <p:spPr>
          <a:xfrm>
            <a:off x="6263640" y="4479182"/>
            <a:ext cx="4114800" cy="256032"/>
          </a:xfrm>
          <a:prstGeom prst="rect">
            <a:avLst/>
          </a:prstGeom>
          <a:noFill/>
          <a:ln/>
        </p:spPr>
        <p:txBody>
          <a:bodyPr wrap="square" lIns="0" tIns="0" rIns="0" bIns="0" rtlCol="0" anchor="t"/>
          <a:lstStyle/>
          <a:p>
            <a:pPr marL="0" indent="0">
              <a:buNone/>
            </a:pPr>
            <a:r>
              <a:rPr lang="en-US" sz="1200" b="1" dirty="0">
                <a:solidFill>
                  <a:srgbClr val="B7232B"/>
                </a:solidFill>
                <a:latin typeface="Malgun Gothic" pitchFamily="34" charset="0"/>
                <a:ea typeface="Malgun Gothic" pitchFamily="34" charset="-122"/>
                <a:cs typeface="Malgun Gothic" pitchFamily="34" charset="-120"/>
              </a:rPr>
              <a:t>음(−)의 부호를 이렇게 읽는다</a:t>
            </a:r>
            <a:endParaRPr lang="en-US" sz="1200" dirty="0"/>
          </a:p>
        </p:txBody>
      </p:sp>
      <p:sp>
        <p:nvSpPr>
          <p:cNvPr id="15" name="Text 11"/>
          <p:cNvSpPr txBox="1"/>
          <p:nvPr/>
        </p:nvSpPr>
        <p:spPr>
          <a:xfrm>
            <a:off x="6263640" y="4753502"/>
            <a:ext cx="5148072" cy="1234440"/>
          </a:xfrm>
          <a:prstGeom prst="rect">
            <a:avLst/>
          </a:prstGeom>
          <a:noFill/>
          <a:ln/>
        </p:spPr>
        <p:txBody>
          <a:bodyPr wrap="square" lIns="0" tIns="0" rIns="0" bIns="0" rtlCol="0" anchor="t"/>
          <a:lstStyle/>
          <a:p>
            <a:pPr marL="0" indent="0">
              <a:lnSpc>
                <a:spcPct val="110000"/>
              </a:lnSpc>
              <a:spcAft>
                <a:spcPts val="400"/>
              </a:spcAft>
              <a:buNone/>
            </a:pPr>
            <a:r>
              <a:rPr lang="en-US" sz="1000" dirty="0">
                <a:solidFill>
                  <a:srgbClr val="3A475C"/>
                </a:solidFill>
                <a:latin typeface="Malgun Gothic" pitchFamily="34" charset="0"/>
                <a:ea typeface="Malgun Gothic" pitchFamily="34" charset="-122"/>
                <a:cs typeface="Malgun Gothic" pitchFamily="34" charset="-120"/>
              </a:rPr>
              <a:t>두 곡선이 모두 급등 후 하락하는 단봉형이고 방문자 정점이 카드 정점보다 앞서 있어 생긴 부호다. ‘카드가 늘면 방문자가 준다’는 뜻이 아니며, ‘카드가 방문자를 예측한다’가 아니라 ‘방문자 증가 주기가 카드보다 먼저 온다’는 뜻이다.</a:t>
            </a:r>
            <a:endParaRPr lang="en-US" sz="1000" dirty="0"/>
          </a:p>
          <a:p>
            <a:pPr marL="0" indent="0">
              <a:lnSpc>
                <a:spcPct val="110000"/>
              </a:lnSpc>
              <a:buNone/>
            </a:pPr>
            <a:r>
              <a:rPr lang="en-US" sz="950" dirty="0">
                <a:solidFill>
                  <a:srgbClr val="64748B"/>
                </a:solidFill>
                <a:latin typeface="Malgun Gothic" pitchFamily="34" charset="0"/>
                <a:ea typeface="Malgun Gothic" pitchFamily="34" charset="-122"/>
                <a:cs typeface="Malgun Gothic" pitchFamily="34" charset="-120"/>
              </a:rPr>
              <a:t>한계: n=32는 8곳×4개월의 반복측정이라 독립 표본이 아니고 시계열도 6개월로 짧다. 패널 회귀는 범위 밖이라 지역 평균 제거로 최소한의 강건성만 확인했다.</a:t>
            </a:r>
            <a:endParaRPr lang="en-US" sz="1000" dirty="0"/>
          </a:p>
        </p:txBody>
      </p:sp>
      <p:sp>
        <p:nvSpPr>
          <p:cNvPr id="16" name="Text 1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7" name="Text 1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23 / 42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H1 ④</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옹진군은 카드가 먼저, 보령시는 뉴스가 먼저 </a:t>
            </a:r>
            <a:r>
              <a:rPr lang="en-US" sz="1600" b="1" dirty="0">
                <a:solidFill>
                  <a:srgbClr val="14213D"/>
                </a:solidFill>
                <a:latin typeface="Malgun Gothic" pitchFamily="34" charset="0"/>
                <a:ea typeface="Malgun Gothic" pitchFamily="34" charset="-122"/>
                <a:cs typeface="Malgun Gothic" pitchFamily="34" charset="-120"/>
              </a:rPr>
              <a:t>— 안 알려진 곳과 알려진 곳의 대조</a:t>
            </a:r>
            <a:endParaRPr lang="en-US" sz="1600" dirty="0"/>
          </a:p>
        </p:txBody>
      </p:sp>
      <p:sp>
        <p:nvSpPr>
          <p:cNvPr id="6" name="Shape 4"/>
          <p:cNvSpPr/>
          <p:nvPr/>
        </p:nvSpPr>
        <p:spPr>
          <a:xfrm>
            <a:off x="548640" y="1737360"/>
            <a:ext cx="5852160" cy="3703320"/>
          </a:xfrm>
          <a:prstGeom prst="roundRect">
            <a:avLst>
              <a:gd name="adj" fmla="val 2963"/>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10512"/>
            <a:ext cx="5394960" cy="292608"/>
          </a:xfrm>
          <a:prstGeom prst="rect">
            <a:avLst/>
          </a:prstGeom>
          <a:noFill/>
          <a:ln/>
        </p:spPr>
        <p:txBody>
          <a:bodyPr wrap="square" lIns="0" tIns="0" rIns="0" bIns="0" rtlCol="0" anchor="t"/>
          <a:lstStyle/>
          <a:p>
            <a:pPr marL="0" indent="0">
              <a:buNone/>
            </a:pPr>
            <a:r>
              <a:rPr lang="en-US" sz="1500" b="1" dirty="0">
                <a:solidFill>
                  <a:srgbClr val="0B7A6D"/>
                </a:solidFill>
                <a:latin typeface="Malgun Gothic" pitchFamily="34" charset="0"/>
                <a:ea typeface="Malgun Gothic" pitchFamily="34" charset="-122"/>
                <a:cs typeface="Malgun Gothic" pitchFamily="34" charset="-120"/>
              </a:rPr>
              <a:t>옹진군</a:t>
            </a:r>
            <a:r>
              <a:rPr lang="en-US" sz="1300" b="1" dirty="0">
                <a:solidFill>
                  <a:srgbClr val="14213D"/>
                </a:solidFill>
                <a:latin typeface="Malgun Gothic" pitchFamily="34" charset="0"/>
                <a:ea typeface="Malgun Gothic" pitchFamily="34" charset="-122"/>
                <a:cs typeface="Malgun Gothic" pitchFamily="34" charset="-120"/>
              </a:rPr>
              <a:t>  히어로 사례 · Track A(관광 유입형)</a:t>
            </a:r>
            <a:endParaRPr lang="en-US" sz="1300" dirty="0"/>
          </a:p>
        </p:txBody>
      </p:sp>
      <p:sp>
        <p:nvSpPr>
          <p:cNvPr id="8" name="Text 6"/>
          <p:cNvSpPr txBox="1"/>
          <p:nvPr/>
        </p:nvSpPr>
        <p:spPr>
          <a:xfrm>
            <a:off x="777240" y="2103120"/>
            <a:ext cx="5486400" cy="219456"/>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전월 대비 · 카드는 전국 동종업종 대비 초과성장률(%p), 방문자는 증가율(%)</a:t>
            </a:r>
            <a:endParaRPr lang="en-US" sz="950" dirty="0"/>
          </a:p>
        </p:txBody>
      </p:sp>
      <p:graphicFrame>
        <p:nvGraphicFramePr>
          <p:cNvPr id="9" name="Chart 0"/>
          <p:cNvGraphicFramePr/>
          <p:nvPr/>
        </p:nvGraphicFramePr>
        <p:xfrm>
          <a:off x="640080" y="2331720"/>
          <a:ext cx="56692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7240" y="4434840"/>
            <a:ext cx="2148840" cy="27432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11" name="Text 8"/>
          <p:cNvSpPr txBox="1"/>
          <p:nvPr/>
        </p:nvSpPr>
        <p:spPr>
          <a:xfrm>
            <a:off x="777240" y="4434840"/>
            <a:ext cx="2148840" cy="274320"/>
          </a:xfrm>
          <a:prstGeom prst="rect">
            <a:avLst/>
          </a:prstGeom>
          <a:noFill/>
          <a:ln/>
        </p:spPr>
        <p:txBody>
          <a:bodyPr wrap="square" lIns="0" tIns="0" rIns="0" bIns="0" rtlCol="0" anchor="ctr"/>
          <a:lstStyle/>
          <a:p>
            <a:pPr marL="0" indent="0" algn="ctr">
              <a:buNone/>
            </a:pPr>
            <a:r>
              <a:rPr lang="en-US" sz="1000" b="1" dirty="0">
                <a:solidFill>
                  <a:srgbClr val="B7232B"/>
                </a:solidFill>
                <a:latin typeface="Malgun Gothic" pitchFamily="34" charset="0"/>
                <a:ea typeface="Malgun Gothic" pitchFamily="34" charset="-122"/>
                <a:cs typeface="Malgun Gothic" pitchFamily="34" charset="-120"/>
              </a:rPr>
              <a:t>카드 정점 · 3월 (+30.0%p)</a:t>
            </a:r>
            <a:endParaRPr lang="en-US" sz="1000" dirty="0"/>
          </a:p>
        </p:txBody>
      </p:sp>
      <p:pic>
        <p:nvPicPr>
          <p:cNvPr id="12" name="Image 0" descr="preencoded.png"/>
          <p:cNvPicPr>
            <a:picLocks noChangeAspect="1"/>
          </p:cNvPicPr>
          <p:nvPr/>
        </p:nvPicPr>
        <p:blipFill>
          <a:blip r:embed="rId4"/>
          <a:stretch>
            <a:fillRect/>
          </a:stretch>
        </p:blipFill>
        <p:spPr>
          <a:xfrm>
            <a:off x="2999232" y="4480560"/>
            <a:ext cx="182880" cy="182880"/>
          </a:xfrm>
          <a:prstGeom prst="rect">
            <a:avLst/>
          </a:prstGeom>
        </p:spPr>
      </p:pic>
      <p:sp>
        <p:nvSpPr>
          <p:cNvPr id="13" name="Shape 9"/>
          <p:cNvSpPr/>
          <p:nvPr/>
        </p:nvSpPr>
        <p:spPr>
          <a:xfrm>
            <a:off x="3273552" y="4434840"/>
            <a:ext cx="2194560" cy="274320"/>
          </a:xfrm>
          <a:prstGeom prst="roundRect">
            <a:avLst>
              <a:gd name="adj" fmla="val 50000"/>
            </a:avLst>
          </a:prstGeom>
          <a:solidFill>
            <a:srgbClr val="E8EFFC"/>
          </a:solidFill>
          <a:ln w="12700">
            <a:solidFill>
              <a:srgbClr val="E8EFFC"/>
            </a:solidFill>
            <a:prstDash val="solid"/>
          </a:ln>
        </p:spPr>
        <p:txBody>
          <a:bodyPr/>
          <a:lstStyle/>
          <a:p>
            <a:endParaRPr lang="ko-KR" altLang="en-US"/>
          </a:p>
        </p:txBody>
      </p:sp>
      <p:sp>
        <p:nvSpPr>
          <p:cNvPr id="14" name="Text 10"/>
          <p:cNvSpPr txBox="1"/>
          <p:nvPr/>
        </p:nvSpPr>
        <p:spPr>
          <a:xfrm>
            <a:off x="3273552" y="4434840"/>
            <a:ext cx="2194560" cy="274320"/>
          </a:xfrm>
          <a:prstGeom prst="rect">
            <a:avLst/>
          </a:prstGeom>
          <a:noFill/>
          <a:ln/>
        </p:spPr>
        <p:txBody>
          <a:bodyPr wrap="square" lIns="0" tIns="0" rIns="0" bIns="0" rtlCol="0" anchor="ctr"/>
          <a:lstStyle/>
          <a:p>
            <a:pPr marL="0" indent="0" algn="ctr">
              <a:buNone/>
            </a:pPr>
            <a:r>
              <a:rPr lang="en-US" sz="1000" b="1" dirty="0">
                <a:solidFill>
                  <a:srgbClr val="2F55B3"/>
                </a:solidFill>
                <a:latin typeface="Malgun Gothic" pitchFamily="34" charset="0"/>
                <a:ea typeface="Malgun Gothic" pitchFamily="34" charset="-122"/>
                <a:cs typeface="Malgun Gothic" pitchFamily="34" charset="-120"/>
              </a:rPr>
              <a:t>방문자 정점 · 4월 (+64.6%)</a:t>
            </a:r>
            <a:endParaRPr lang="en-US" sz="1000" dirty="0"/>
          </a:p>
        </p:txBody>
      </p:sp>
      <p:sp>
        <p:nvSpPr>
          <p:cNvPr id="15" name="Text 11"/>
          <p:cNvSpPr txBox="1"/>
          <p:nvPr/>
        </p:nvSpPr>
        <p:spPr>
          <a:xfrm>
            <a:off x="5532120" y="4416552"/>
            <a:ext cx="731520" cy="310896"/>
          </a:xfrm>
          <a:prstGeom prst="rect">
            <a:avLst/>
          </a:prstGeom>
          <a:noFill/>
          <a:ln/>
        </p:spPr>
        <p:txBody>
          <a:bodyPr wrap="square" lIns="0" tIns="0" rIns="0" bIns="0" rtlCol="0" anchor="ctr"/>
          <a:lstStyle/>
          <a:p>
            <a:pPr marL="0" indent="0">
              <a:buNone/>
            </a:pPr>
            <a:r>
              <a:rPr lang="en-US" sz="1300" b="1" dirty="0">
                <a:solidFill>
                  <a:srgbClr val="E8383D"/>
                </a:solidFill>
                <a:latin typeface="Malgun Gothic" pitchFamily="34" charset="0"/>
                <a:ea typeface="Malgun Gothic" pitchFamily="34" charset="-122"/>
                <a:cs typeface="Malgun Gothic" pitchFamily="34" charset="-120"/>
              </a:rPr>
              <a:t>1개월</a:t>
            </a:r>
            <a:endParaRPr lang="en-US" sz="1300" dirty="0"/>
          </a:p>
        </p:txBody>
      </p:sp>
      <p:sp>
        <p:nvSpPr>
          <p:cNvPr id="16" name="Text 12"/>
          <p:cNvSpPr txBox="1"/>
          <p:nvPr/>
        </p:nvSpPr>
        <p:spPr>
          <a:xfrm>
            <a:off x="777240" y="4818888"/>
            <a:ext cx="5486400" cy="566928"/>
          </a:xfrm>
          <a:prstGeom prst="rect">
            <a:avLst/>
          </a:prstGeom>
          <a:noFill/>
          <a:ln/>
        </p:spPr>
        <p:txBody>
          <a:bodyPr wrap="square" lIns="0" tIns="0" rIns="0" bIns="0" rtlCol="0" anchor="t"/>
          <a:lstStyle/>
          <a:p>
            <a:pPr marL="0" indent="0">
              <a:lnSpc>
                <a:spcPct val="110000"/>
              </a:lnSpc>
              <a:buNone/>
            </a:pPr>
            <a:r>
              <a:rPr lang="en-US" sz="950" dirty="0">
                <a:solidFill>
                  <a:srgbClr val="3A475C"/>
                </a:solidFill>
                <a:latin typeface="Malgun Gothic" pitchFamily="34" charset="0"/>
                <a:ea typeface="Malgun Gothic" pitchFamily="34" charset="-122"/>
                <a:cs typeface="Malgun Gothic" pitchFamily="34" charset="-120"/>
              </a:rPr>
              <a:t>‘확인된 반증이 없다’ — 어선원(E-9-4) 657명이 상주(2026.6)하지만 3월 급증에 맞는 입국 보도는 찾지 못했고, 농업 계절근로자(E-8)는 8/31에야 도입 준비에 착수해 분석 기간 이후다. ‘완전히 깨끗하다’고는 쓰지 않는다.</a:t>
            </a:r>
            <a:endParaRPr lang="en-US" sz="950" dirty="0"/>
          </a:p>
        </p:txBody>
      </p:sp>
      <p:sp>
        <p:nvSpPr>
          <p:cNvPr id="17" name="Shape 13"/>
          <p:cNvSpPr/>
          <p:nvPr/>
        </p:nvSpPr>
        <p:spPr>
          <a:xfrm>
            <a:off x="6629400" y="1737360"/>
            <a:ext cx="5010912" cy="3703320"/>
          </a:xfrm>
          <a:prstGeom prst="roundRect">
            <a:avLst>
              <a:gd name="adj" fmla="val 2963"/>
            </a:avLst>
          </a:prstGeom>
          <a:solidFill>
            <a:srgbClr val="F3F6FB"/>
          </a:solidFill>
          <a:ln w="12700">
            <a:solidFill>
              <a:srgbClr val="F3F6FB"/>
            </a:solidFill>
            <a:prstDash val="solid"/>
          </a:ln>
        </p:spPr>
        <p:txBody>
          <a:bodyPr/>
          <a:lstStyle/>
          <a:p>
            <a:endParaRPr lang="ko-KR" altLang="en-US"/>
          </a:p>
        </p:txBody>
      </p:sp>
      <p:sp>
        <p:nvSpPr>
          <p:cNvPr id="18" name="Text 14"/>
          <p:cNvSpPr txBox="1"/>
          <p:nvPr/>
        </p:nvSpPr>
        <p:spPr>
          <a:xfrm>
            <a:off x="6858000" y="1810512"/>
            <a:ext cx="4572000" cy="292608"/>
          </a:xfrm>
          <a:prstGeom prst="rect">
            <a:avLst/>
          </a:prstGeom>
          <a:noFill/>
          <a:ln/>
        </p:spPr>
        <p:txBody>
          <a:bodyPr wrap="square" lIns="0" tIns="0" rIns="0" bIns="0" rtlCol="0" anchor="t"/>
          <a:lstStyle/>
          <a:p>
            <a:pPr marL="0" indent="0">
              <a:buNone/>
            </a:pPr>
            <a:r>
              <a:rPr lang="en-US" sz="1500" b="1" dirty="0">
                <a:solidFill>
                  <a:srgbClr val="2F55B3"/>
                </a:solidFill>
                <a:latin typeface="Malgun Gothic" pitchFamily="34" charset="0"/>
                <a:ea typeface="Malgun Gothic" pitchFamily="34" charset="-122"/>
                <a:cs typeface="Malgun Gothic" pitchFamily="34" charset="-120"/>
              </a:rPr>
              <a:t>보령시</a:t>
            </a:r>
            <a:r>
              <a:rPr lang="en-US" sz="1300" b="1" dirty="0">
                <a:solidFill>
                  <a:srgbClr val="14213D"/>
                </a:solidFill>
                <a:latin typeface="Malgun Gothic" pitchFamily="34" charset="0"/>
                <a:ea typeface="Malgun Gothic" pitchFamily="34" charset="-122"/>
                <a:cs typeface="Malgun Gothic" pitchFamily="34" charset="-120"/>
              </a:rPr>
              <a:t>  대조군 · 이미 알려진 곳</a:t>
            </a:r>
            <a:endParaRPr lang="en-US" sz="1300" dirty="0"/>
          </a:p>
        </p:txBody>
      </p:sp>
      <p:sp>
        <p:nvSpPr>
          <p:cNvPr id="19" name="Shape 15"/>
          <p:cNvSpPr/>
          <p:nvPr/>
        </p:nvSpPr>
        <p:spPr>
          <a:xfrm>
            <a:off x="7498080" y="2587752"/>
            <a:ext cx="3273552" cy="0"/>
          </a:xfrm>
          <a:prstGeom prst="line">
            <a:avLst/>
          </a:prstGeom>
          <a:noFill/>
          <a:ln w="25400">
            <a:solidFill>
              <a:srgbClr val="C4CEDC"/>
            </a:solidFill>
            <a:prstDash val="solid"/>
          </a:ln>
        </p:spPr>
        <p:txBody>
          <a:bodyPr/>
          <a:lstStyle/>
          <a:p>
            <a:endParaRPr lang="ko-KR" altLang="en-US"/>
          </a:p>
        </p:txBody>
      </p:sp>
      <p:sp>
        <p:nvSpPr>
          <p:cNvPr id="20" name="Text 16"/>
          <p:cNvSpPr txBox="1"/>
          <p:nvPr/>
        </p:nvSpPr>
        <p:spPr>
          <a:xfrm>
            <a:off x="6766560" y="2194560"/>
            <a:ext cx="1463040" cy="274320"/>
          </a:xfrm>
          <a:prstGeom prst="rect">
            <a:avLst/>
          </a:prstGeom>
          <a:noFill/>
          <a:ln/>
        </p:spPr>
        <p:txBody>
          <a:bodyPr wrap="square" lIns="0" tIns="0" rIns="0" bIns="0" rtlCol="0" anchor="ctr"/>
          <a:lstStyle/>
          <a:p>
            <a:pPr marL="0" indent="0" algn="ctr">
              <a:buNone/>
            </a:pPr>
            <a:r>
              <a:rPr lang="en-US" sz="1200" b="1" dirty="0">
                <a:solidFill>
                  <a:srgbClr val="0B1B33"/>
                </a:solidFill>
                <a:latin typeface="Malgun Gothic" pitchFamily="34" charset="0"/>
                <a:ea typeface="Malgun Gothic" pitchFamily="34" charset="-122"/>
                <a:cs typeface="Malgun Gothic" pitchFamily="34" charset="-120"/>
              </a:rPr>
              <a:t>4/24</a:t>
            </a:r>
            <a:endParaRPr lang="en-US" sz="1200" dirty="0"/>
          </a:p>
        </p:txBody>
      </p:sp>
      <p:sp>
        <p:nvSpPr>
          <p:cNvPr id="21" name="Shape 17"/>
          <p:cNvSpPr/>
          <p:nvPr/>
        </p:nvSpPr>
        <p:spPr>
          <a:xfrm>
            <a:off x="7379208" y="2468880"/>
            <a:ext cx="237744" cy="237744"/>
          </a:xfrm>
          <a:prstGeom prst="ellipse">
            <a:avLst/>
          </a:prstGeom>
          <a:solidFill>
            <a:srgbClr val="0B1B33"/>
          </a:solidFill>
          <a:ln w="19050">
            <a:solidFill>
              <a:srgbClr val="FFFFFF"/>
            </a:solidFill>
            <a:prstDash val="solid"/>
          </a:ln>
        </p:spPr>
        <p:txBody>
          <a:bodyPr/>
          <a:lstStyle/>
          <a:p>
            <a:endParaRPr lang="ko-KR" altLang="en-US"/>
          </a:p>
        </p:txBody>
      </p:sp>
      <p:sp>
        <p:nvSpPr>
          <p:cNvPr id="22" name="Text 18"/>
          <p:cNvSpPr txBox="1"/>
          <p:nvPr/>
        </p:nvSpPr>
        <p:spPr>
          <a:xfrm>
            <a:off x="6735746" y="2788920"/>
            <a:ext cx="1517904" cy="502920"/>
          </a:xfrm>
          <a:prstGeom prst="rect">
            <a:avLst/>
          </a:prstGeom>
          <a:noFill/>
          <a:ln/>
        </p:spPr>
        <p:txBody>
          <a:bodyPr wrap="square" lIns="0" tIns="0" rIns="0" bIns="0" rtlCol="0" anchor="t"/>
          <a:lstStyle/>
          <a:p>
            <a:pPr marL="0" indent="0" algn="ctr">
              <a:lnSpc>
                <a:spcPct val="105000"/>
              </a:lnSpc>
              <a:buNone/>
            </a:pPr>
            <a:r>
              <a:rPr lang="en-US" sz="900" dirty="0">
                <a:solidFill>
                  <a:srgbClr val="3A475C"/>
                </a:solidFill>
                <a:latin typeface="Malgun Gothic" pitchFamily="34" charset="0"/>
                <a:ea typeface="Malgun Gothic" pitchFamily="34" charset="-122"/>
                <a:cs typeface="Malgun Gothic" pitchFamily="34" charset="-120"/>
              </a:rPr>
              <a:t>YTN, 모터페스티벌 사전 보도</a:t>
            </a:r>
            <a:endParaRPr lang="en-US" sz="900" dirty="0"/>
          </a:p>
        </p:txBody>
      </p:sp>
      <p:sp>
        <p:nvSpPr>
          <p:cNvPr id="23" name="Text 19"/>
          <p:cNvSpPr txBox="1"/>
          <p:nvPr/>
        </p:nvSpPr>
        <p:spPr>
          <a:xfrm>
            <a:off x="8403336" y="2194560"/>
            <a:ext cx="1463040" cy="274320"/>
          </a:xfrm>
          <a:prstGeom prst="rect">
            <a:avLst/>
          </a:prstGeom>
          <a:noFill/>
          <a:ln/>
        </p:spPr>
        <p:txBody>
          <a:bodyPr wrap="square" lIns="0" tIns="0" rIns="0" bIns="0" rtlCol="0" anchor="ctr"/>
          <a:lstStyle/>
          <a:p>
            <a:pPr marL="0" indent="0" algn="ctr">
              <a:buNone/>
            </a:pPr>
            <a:r>
              <a:rPr lang="en-US" sz="1200" b="1" dirty="0">
                <a:solidFill>
                  <a:srgbClr val="0B1B33"/>
                </a:solidFill>
                <a:latin typeface="Malgun Gothic" pitchFamily="34" charset="0"/>
                <a:ea typeface="Malgun Gothic" pitchFamily="34" charset="-122"/>
                <a:cs typeface="Malgun Gothic" pitchFamily="34" charset="-120"/>
              </a:rPr>
              <a:t>5/2~3</a:t>
            </a:r>
            <a:endParaRPr lang="en-US" sz="1200" dirty="0"/>
          </a:p>
        </p:txBody>
      </p:sp>
      <p:sp>
        <p:nvSpPr>
          <p:cNvPr id="24" name="Shape 20"/>
          <p:cNvSpPr/>
          <p:nvPr/>
        </p:nvSpPr>
        <p:spPr>
          <a:xfrm>
            <a:off x="9015984" y="2468880"/>
            <a:ext cx="237744" cy="237744"/>
          </a:xfrm>
          <a:prstGeom prst="ellipse">
            <a:avLst/>
          </a:prstGeom>
          <a:solidFill>
            <a:srgbClr val="0B1B33"/>
          </a:solidFill>
          <a:ln w="19050">
            <a:solidFill>
              <a:srgbClr val="FFFFFF"/>
            </a:solidFill>
            <a:prstDash val="solid"/>
          </a:ln>
        </p:spPr>
        <p:txBody>
          <a:bodyPr/>
          <a:lstStyle/>
          <a:p>
            <a:endParaRPr lang="ko-KR" altLang="en-US"/>
          </a:p>
        </p:txBody>
      </p:sp>
      <p:sp>
        <p:nvSpPr>
          <p:cNvPr id="25" name="Text 21"/>
          <p:cNvSpPr txBox="1"/>
          <p:nvPr/>
        </p:nvSpPr>
        <p:spPr>
          <a:xfrm>
            <a:off x="8397574" y="2788920"/>
            <a:ext cx="1517904" cy="502920"/>
          </a:xfrm>
          <a:prstGeom prst="rect">
            <a:avLst/>
          </a:prstGeom>
          <a:noFill/>
          <a:ln/>
        </p:spPr>
        <p:txBody>
          <a:bodyPr wrap="square" lIns="0" tIns="0" rIns="0" bIns="0" rtlCol="0" anchor="t"/>
          <a:lstStyle/>
          <a:p>
            <a:pPr marL="0" indent="0" algn="ctr">
              <a:lnSpc>
                <a:spcPct val="105000"/>
              </a:lnSpc>
              <a:buNone/>
            </a:pPr>
            <a:r>
              <a:rPr lang="en-US" sz="900" dirty="0">
                <a:solidFill>
                  <a:srgbClr val="3A475C"/>
                </a:solidFill>
                <a:latin typeface="Malgun Gothic" pitchFamily="34" charset="0"/>
                <a:ea typeface="Malgun Gothic" pitchFamily="34" charset="-122"/>
                <a:cs typeface="Malgun Gothic" pitchFamily="34" charset="-120"/>
              </a:rPr>
              <a:t>보령·AMC 국제 </a:t>
            </a:r>
            <a:r>
              <a:rPr lang="en-US" sz="900" dirty="0" err="1">
                <a:solidFill>
                  <a:srgbClr val="3A475C"/>
                </a:solidFill>
                <a:latin typeface="Malgun Gothic" pitchFamily="34" charset="0"/>
                <a:ea typeface="Malgun Gothic" pitchFamily="34" charset="-122"/>
                <a:cs typeface="Malgun Gothic" pitchFamily="34" charset="-120"/>
              </a:rPr>
              <a:t>모터페스티벌</a:t>
            </a:r>
            <a:r>
              <a:rPr lang="en-US" sz="900" dirty="0">
                <a:solidFill>
                  <a:srgbClr val="3A475C"/>
                </a:solidFill>
                <a:latin typeface="Malgun Gothic" pitchFamily="34" charset="0"/>
                <a:ea typeface="Malgun Gothic" pitchFamily="34" charset="-122"/>
                <a:cs typeface="Malgun Gothic" pitchFamily="34" charset="-120"/>
              </a:rPr>
              <a:t> </a:t>
            </a:r>
          </a:p>
          <a:p>
            <a:pPr marL="0" indent="0" algn="ctr">
              <a:lnSpc>
                <a:spcPct val="105000"/>
              </a:lnSpc>
              <a:buNone/>
            </a:pPr>
            <a:r>
              <a:rPr lang="en-US" sz="900" dirty="0">
                <a:solidFill>
                  <a:srgbClr val="3A475C"/>
                </a:solidFill>
                <a:latin typeface="Malgun Gothic" pitchFamily="34" charset="0"/>
                <a:ea typeface="Malgun Gothic" pitchFamily="34" charset="-122"/>
                <a:cs typeface="Malgun Gothic" pitchFamily="34" charset="-120"/>
              </a:rPr>
              <a:t>(대천해수욕장)</a:t>
            </a:r>
            <a:endParaRPr lang="en-US" sz="900" dirty="0"/>
          </a:p>
        </p:txBody>
      </p:sp>
      <p:sp>
        <p:nvSpPr>
          <p:cNvPr id="26" name="Text 22"/>
          <p:cNvSpPr txBox="1"/>
          <p:nvPr/>
        </p:nvSpPr>
        <p:spPr>
          <a:xfrm>
            <a:off x="10040112" y="2194560"/>
            <a:ext cx="1463040" cy="274320"/>
          </a:xfrm>
          <a:prstGeom prst="rect">
            <a:avLst/>
          </a:prstGeom>
          <a:noFill/>
          <a:ln/>
        </p:spPr>
        <p:txBody>
          <a:bodyPr wrap="square" lIns="0" tIns="0" rIns="0" bIns="0" rtlCol="0" anchor="ctr"/>
          <a:lstStyle/>
          <a:p>
            <a:pPr marL="0" indent="0" algn="ctr">
              <a:buNone/>
            </a:pPr>
            <a:r>
              <a:rPr lang="en-US" sz="1200" b="1" dirty="0">
                <a:solidFill>
                  <a:srgbClr val="E8383D"/>
                </a:solidFill>
                <a:latin typeface="Malgun Gothic" pitchFamily="34" charset="0"/>
                <a:ea typeface="Malgun Gothic" pitchFamily="34" charset="-122"/>
                <a:cs typeface="Malgun Gothic" pitchFamily="34" charset="-120"/>
              </a:rPr>
              <a:t>5월</a:t>
            </a:r>
            <a:endParaRPr lang="en-US" sz="1200" dirty="0"/>
          </a:p>
        </p:txBody>
      </p:sp>
      <p:sp>
        <p:nvSpPr>
          <p:cNvPr id="27" name="Shape 23"/>
          <p:cNvSpPr/>
          <p:nvPr/>
        </p:nvSpPr>
        <p:spPr>
          <a:xfrm>
            <a:off x="10652760" y="2468880"/>
            <a:ext cx="237744" cy="237744"/>
          </a:xfrm>
          <a:prstGeom prst="ellipse">
            <a:avLst/>
          </a:prstGeom>
          <a:solidFill>
            <a:srgbClr val="E8383D"/>
          </a:solidFill>
          <a:ln w="19050">
            <a:solidFill>
              <a:srgbClr val="FFFFFF"/>
            </a:solidFill>
            <a:prstDash val="solid"/>
          </a:ln>
        </p:spPr>
        <p:txBody>
          <a:bodyPr/>
          <a:lstStyle/>
          <a:p>
            <a:endParaRPr lang="ko-KR" altLang="en-US"/>
          </a:p>
        </p:txBody>
      </p:sp>
      <p:sp>
        <p:nvSpPr>
          <p:cNvPr id="28" name="Text 24"/>
          <p:cNvSpPr txBox="1"/>
          <p:nvPr/>
        </p:nvSpPr>
        <p:spPr>
          <a:xfrm>
            <a:off x="10021824" y="2788920"/>
            <a:ext cx="1499616" cy="502920"/>
          </a:xfrm>
          <a:prstGeom prst="rect">
            <a:avLst/>
          </a:prstGeom>
          <a:noFill/>
          <a:ln/>
        </p:spPr>
        <p:txBody>
          <a:bodyPr wrap="square" lIns="0" tIns="0" rIns="0" bIns="0" rtlCol="0" anchor="t"/>
          <a:lstStyle/>
          <a:p>
            <a:pPr marL="0" indent="0" algn="ctr">
              <a:lnSpc>
                <a:spcPct val="105000"/>
              </a:lnSpc>
              <a:buNone/>
            </a:pPr>
            <a:r>
              <a:rPr lang="en-US" sz="900" dirty="0">
                <a:solidFill>
                  <a:srgbClr val="3A475C"/>
                </a:solidFill>
                <a:latin typeface="Malgun Gothic" pitchFamily="34" charset="0"/>
                <a:ea typeface="Malgun Gothic" pitchFamily="34" charset="-122"/>
                <a:cs typeface="Malgun Gothic" pitchFamily="34" charset="-120"/>
              </a:rPr>
              <a:t>외국인 카드 이용 +26.8%</a:t>
            </a:r>
          </a:p>
          <a:p>
            <a:pPr marL="0" indent="0" algn="ctr">
              <a:lnSpc>
                <a:spcPct val="105000"/>
              </a:lnSpc>
              <a:buNone/>
            </a:pPr>
            <a:r>
              <a:rPr lang="en-US" sz="900" dirty="0">
                <a:solidFill>
                  <a:srgbClr val="3A475C"/>
                </a:solidFill>
                <a:latin typeface="Malgun Gothic" pitchFamily="34" charset="0"/>
                <a:ea typeface="Malgun Gothic" pitchFamily="34" charset="-122"/>
                <a:cs typeface="Malgun Gothic" pitchFamily="34" charset="-120"/>
              </a:rPr>
              <a:t> (전국 +7.9%)</a:t>
            </a:r>
            <a:endParaRPr lang="en-US" sz="900" dirty="0"/>
          </a:p>
        </p:txBody>
      </p:sp>
      <p:sp>
        <p:nvSpPr>
          <p:cNvPr id="29" name="Text 25"/>
          <p:cNvSpPr txBox="1"/>
          <p:nvPr/>
        </p:nvSpPr>
        <p:spPr>
          <a:xfrm>
            <a:off x="6858000" y="3364992"/>
            <a:ext cx="4389120" cy="219456"/>
          </a:xfrm>
          <a:prstGeom prst="rect">
            <a:avLst/>
          </a:prstGeom>
          <a:noFill/>
          <a:ln/>
        </p:spPr>
        <p:txBody>
          <a:bodyPr wrap="square" lIns="0" tIns="0" rIns="0" bIns="0" rtlCol="0" anchor="t"/>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보령시 외국인 이용 건수 (월, 전 업종 합계)</a:t>
            </a:r>
            <a:endParaRPr lang="en-US" sz="1000" dirty="0"/>
          </a:p>
        </p:txBody>
      </p:sp>
      <p:graphicFrame>
        <p:nvGraphicFramePr>
          <p:cNvPr id="30" name="Chart 1"/>
          <p:cNvGraphicFramePr/>
          <p:nvPr/>
        </p:nvGraphicFramePr>
        <p:xfrm>
          <a:off x="6766560" y="3566160"/>
          <a:ext cx="4736592" cy="1810512"/>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548640" y="5532120"/>
            <a:ext cx="11091672" cy="502920"/>
          </a:xfrm>
          <a:prstGeom prst="roundRect">
            <a:avLst>
              <a:gd name="adj" fmla="val 18182"/>
            </a:avLst>
          </a:prstGeom>
          <a:solidFill>
            <a:srgbClr val="0B1B33"/>
          </a:solidFill>
          <a:ln w="12700">
            <a:solidFill>
              <a:srgbClr val="0B1B33"/>
            </a:solidFill>
            <a:prstDash val="solid"/>
          </a:ln>
        </p:spPr>
        <p:txBody>
          <a:bodyPr/>
          <a:lstStyle/>
          <a:p>
            <a:endParaRPr lang="ko-KR" altLang="en-US"/>
          </a:p>
        </p:txBody>
      </p:sp>
      <p:sp>
        <p:nvSpPr>
          <p:cNvPr id="32" name="Text 27"/>
          <p:cNvSpPr txBox="1"/>
          <p:nvPr/>
        </p:nvSpPr>
        <p:spPr>
          <a:xfrm>
            <a:off x="777240" y="5532120"/>
            <a:ext cx="10698480" cy="502920"/>
          </a:xfrm>
          <a:prstGeom prst="rect">
            <a:avLst/>
          </a:prstGeom>
          <a:noFill/>
          <a:ln/>
        </p:spPr>
        <p:txBody>
          <a:bodyPr wrap="square" lIns="0" tIns="0" rIns="0" bIns="0" rtlCol="0" anchor="ctr"/>
          <a:lstStyle/>
          <a:p>
            <a:pPr marL="0" indent="0">
              <a:buNone/>
            </a:pPr>
            <a:r>
              <a:rPr lang="en-US" sz="1150" b="1" dirty="0">
                <a:solidFill>
                  <a:srgbClr val="FFFFFF"/>
                </a:solidFill>
                <a:latin typeface="Malgun Gothic" pitchFamily="34" charset="0"/>
                <a:ea typeface="Malgun Gothic" pitchFamily="34" charset="-122"/>
                <a:cs typeface="Malgun Gothic" pitchFamily="34" charset="-120"/>
              </a:rPr>
              <a:t>아직 안 알려진 곳은 카드(또는 실제 유입)가 먼저, 이미 알려진 곳은 버즈가 먼저</a:t>
            </a:r>
            <a:r>
              <a:rPr lang="en-US" sz="1150" dirty="0">
                <a:solidFill>
                  <a:srgbClr val="A9B8D0"/>
                </a:solidFill>
                <a:latin typeface="Malgun Gothic" pitchFamily="34" charset="0"/>
                <a:ea typeface="Malgun Gothic" pitchFamily="34" charset="-122"/>
                <a:cs typeface="Malgun Gothic" pitchFamily="34" charset="-120"/>
              </a:rPr>
              <a:t>  — 두 사례(각 n=1)의 정성적 대조이며 통계적 검정은 아니다</a:t>
            </a:r>
            <a:endParaRPr lang="en-US" sz="1150" dirty="0"/>
          </a:p>
        </p:txBody>
      </p:sp>
      <p:sp>
        <p:nvSpPr>
          <p:cNvPr id="33" name="Text 28"/>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4" name="Text 29"/>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24 / 42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H2</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후보 8곳은 소비 규모가 유명 관광지의 약 1/48인데 초과성장률은 약 19배 </a:t>
            </a:r>
          </a:p>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 규모가 비슷한 지역과 비교해도 약 4배</a:t>
            </a:r>
            <a:endParaRPr lang="en-US" sz="2400" dirty="0"/>
          </a:p>
        </p:txBody>
      </p:sp>
      <p:pic>
        <p:nvPicPr>
          <p:cNvPr id="6" name="Image 0" descr="figs/h2_scatter.png"/>
          <p:cNvPicPr>
            <a:picLocks noChangeAspect="1"/>
          </p:cNvPicPr>
          <p:nvPr/>
        </p:nvPicPr>
        <p:blipFill>
          <a:blip r:embed="rId3"/>
          <a:stretch>
            <a:fillRect/>
          </a:stretch>
        </p:blipFill>
        <p:spPr>
          <a:xfrm>
            <a:off x="548640" y="1691640"/>
            <a:ext cx="5806939" cy="4315968"/>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29899" y="1737360"/>
          <a:ext cx="5010413" cy="1965960"/>
        </p:xfrm>
        <a:graphic>
          <a:graphicData uri="http://schemas.openxmlformats.org/drawingml/2006/table">
            <a:tbl>
              <a:tblPr/>
              <a:tblGrid>
                <a:gridCol w="1600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78493">
                  <a:extLst>
                    <a:ext uri="{9D8B030D-6E8A-4147-A177-3AD203B41FA5}">
                      <a16:colId xmlns:a16="http://schemas.microsoft.com/office/drawing/2014/main" val="20003"/>
                    </a:ext>
                  </a:extLst>
                </a:gridCol>
              </a:tblGrid>
              <a:tr h="457200">
                <a:tc>
                  <a:txBody>
                    <a:bodyPr/>
                    <a:lstStyle/>
                    <a:p>
                      <a:pPr marL="0" indent="0" algn="l">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기존 소비 규모</a:t>
                      </a:r>
                      <a:endParaRPr lang="en-US" sz="900" dirty="0">
                        <a:latin typeface="Malgun Gothic" charset="0"/>
                        <a:ea typeface="Malgun Gothic" charset="0"/>
                        <a:cs typeface="Malgun Gothic" charset="0"/>
                      </a:endParaRPr>
                    </a:p>
                    <a:p>
                      <a:pPr marL="0" indent="0" algn="ctr">
                        <a:buNone/>
                      </a:pPr>
                      <a:r>
                        <a:rPr lang="en-US" sz="850" b="1" dirty="0">
                          <a:solidFill>
                            <a:srgbClr val="FFFFFF"/>
                          </a:solidFill>
                          <a:latin typeface="Malgun Gothic" pitchFamily="34" charset="0"/>
                          <a:ea typeface="Malgun Gothic" pitchFamily="34" charset="-122"/>
                          <a:cs typeface="Malgun Gothic" pitchFamily="34" charset="-120"/>
                        </a:rPr>
                        <a:t>(6개월 누적 건)</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평균 초과성장률</a:t>
                      </a:r>
                      <a:endParaRPr lang="en-US" sz="900" dirty="0">
                        <a:latin typeface="Malgun Gothic" charset="0"/>
                        <a:ea typeface="Malgun Gothic" charset="0"/>
                        <a:cs typeface="Malgun Gothic" charset="0"/>
                      </a:endParaRPr>
                    </a:p>
                    <a:p>
                      <a:pPr marL="0" indent="0" algn="ctr">
                        <a:buNone/>
                      </a:pPr>
                      <a:r>
                        <a:rPr lang="en-US" sz="850" b="1" dirty="0">
                          <a:solidFill>
                            <a:srgbClr val="FFFFFF"/>
                          </a:solidFill>
                          <a:latin typeface="Malgun Gothic" pitchFamily="34" charset="0"/>
                          <a:ea typeface="Malgun Gothic" pitchFamily="34" charset="-122"/>
                          <a:cs typeface="Malgun Gothic" pitchFamily="34" charset="-120"/>
                        </a:rPr>
                        <a:t>(4셀 제외)</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원 산출값</a:t>
                      </a:r>
                      <a:endParaRPr lang="en-US" sz="900" dirty="0">
                        <a:latin typeface="Malgun Gothic" charset="0"/>
                        <a:ea typeface="Malgun Gothic" charset="0"/>
                        <a:cs typeface="Malgun Gothic" charset="0"/>
                      </a:endParaRPr>
                    </a:p>
                    <a:p>
                      <a:pPr marL="0" indent="0" algn="ctr">
                        <a:buNone/>
                      </a:pPr>
                      <a:r>
                        <a:rPr lang="en-US" sz="850" b="1" dirty="0">
                          <a:solidFill>
                            <a:srgbClr val="FFFFFF"/>
                          </a:solidFill>
                          <a:latin typeface="Malgun Gothic" pitchFamily="34" charset="0"/>
                          <a:ea typeface="Malgun Gothic" pitchFamily="34" charset="-122"/>
                          <a:cs typeface="Malgun Gothic" pitchFamily="34" charset="-120"/>
                        </a:rPr>
                        <a:t>(4셀 포함)</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301752">
                <a:tc>
                  <a:txBody>
                    <a:bodyPr/>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후보 8곳</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tc>
                  <a:txBody>
                    <a:bodyPr/>
                    <a:lstStyle/>
                    <a:p>
                      <a:pPr marL="0" indent="0" algn="ctr">
                        <a:buNone/>
                      </a:pPr>
                      <a:r>
                        <a:rPr lang="en-US" sz="1000" b="1" dirty="0">
                          <a:solidFill>
                            <a:srgbClr val="14213D"/>
                          </a:solidFill>
                          <a:latin typeface="Malgun Gothic" pitchFamily="34" charset="0"/>
                          <a:ea typeface="Malgun Gothic" pitchFamily="34" charset="-122"/>
                          <a:cs typeface="Malgun Gothic" pitchFamily="34" charset="-120"/>
                        </a:rPr>
                        <a:t>24,145</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tc>
                  <a:txBody>
                    <a:bodyPr/>
                    <a:lstStyle/>
                    <a:p>
                      <a:pPr marL="0" indent="0" algn="ctr">
                        <a:buNone/>
                      </a:pPr>
                      <a:r>
                        <a:rPr lang="en-US" sz="1050" b="1" dirty="0">
                          <a:solidFill>
                            <a:srgbClr val="B7232B"/>
                          </a:solidFill>
                          <a:latin typeface="Malgun Gothic" pitchFamily="34" charset="0"/>
                          <a:ea typeface="Malgun Gothic" pitchFamily="34" charset="-122"/>
                          <a:cs typeface="Malgun Gothic" pitchFamily="34" charset="-120"/>
                        </a:rPr>
                        <a:t>+17.5%p</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tc>
                  <a:txBody>
                    <a:bodyPr/>
                    <a:lstStyle/>
                    <a:p>
                      <a:pPr marL="0" indent="0" algn="ctr">
                        <a:buNone/>
                      </a:pPr>
                      <a:r>
                        <a:rPr lang="en-US" sz="1000" dirty="0">
                          <a:solidFill>
                            <a:srgbClr val="64748B"/>
                          </a:solidFill>
                          <a:latin typeface="Malgun Gothic" pitchFamily="34" charset="0"/>
                          <a:ea typeface="Malgun Gothic" pitchFamily="34" charset="-122"/>
                          <a:cs typeface="Malgun Gothic" pitchFamily="34" charset="-120"/>
                        </a:rPr>
                        <a:t>+21.0%p</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extLst>
                  <a:ext uri="{0D108BD9-81ED-4DB2-BD59-A6C34878D82A}">
                    <a16:rowId xmlns:a16="http://schemas.microsoft.com/office/drawing/2014/main" val="10001"/>
                  </a:ext>
                </a:extLst>
              </a:tr>
              <a:tr h="301752">
                <a:tc>
                  <a:txBody>
                    <a:bodyP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유명 관광지 10곳</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4213D"/>
                          </a:solidFill>
                          <a:latin typeface="Malgun Gothic" pitchFamily="34" charset="0"/>
                          <a:ea typeface="Malgun Gothic" pitchFamily="34" charset="-122"/>
                          <a:cs typeface="Malgun Gothic" pitchFamily="34" charset="-120"/>
                        </a:rPr>
                        <a:t>1,153,373</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4213D"/>
                          </a:solidFill>
                          <a:latin typeface="Malgun Gothic" pitchFamily="34" charset="0"/>
                          <a:ea typeface="Malgun Gothic" pitchFamily="34" charset="-122"/>
                          <a:cs typeface="Malgun Gothic" pitchFamily="34" charset="-120"/>
                        </a:rPr>
                        <a:t>+0.9%p</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4748B"/>
                          </a:solidFill>
                          <a:latin typeface="Malgun Gothic" pitchFamily="34" charset="0"/>
                          <a:ea typeface="Malgun Gothic" pitchFamily="34" charset="-122"/>
                          <a:cs typeface="Malgun Gothic" pitchFamily="34" charset="-120"/>
                        </a:rPr>
                        <a:t>+0.9%p</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산업단지형 10곳</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4213D"/>
                          </a:solidFill>
                          <a:latin typeface="Malgun Gothic" pitchFamily="34" charset="0"/>
                          <a:ea typeface="Malgun Gothic" pitchFamily="34" charset="-122"/>
                          <a:cs typeface="Malgun Gothic" pitchFamily="34" charset="-120"/>
                        </a:rPr>
                        <a:t>1,280,025</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4213D"/>
                          </a:solidFill>
                          <a:latin typeface="Malgun Gothic" pitchFamily="34" charset="0"/>
                          <a:ea typeface="Malgun Gothic" pitchFamily="34" charset="-122"/>
                          <a:cs typeface="Malgun Gothic" pitchFamily="34" charset="-120"/>
                        </a:rPr>
                        <a:t>+0.7%p</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4748B"/>
                          </a:solidFill>
                          <a:latin typeface="Malgun Gothic" pitchFamily="34" charset="0"/>
                          <a:ea typeface="Malgun Gothic" pitchFamily="34" charset="-122"/>
                          <a:cs typeface="Malgun Gothic" pitchFamily="34" charset="-120"/>
                        </a:rPr>
                        <a:t>+0.7%p</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기타 226곳</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4213D"/>
                          </a:solidFill>
                          <a:latin typeface="Malgun Gothic" pitchFamily="34" charset="0"/>
                          <a:ea typeface="Malgun Gothic" pitchFamily="34" charset="-122"/>
                          <a:cs typeface="Malgun Gothic" pitchFamily="34" charset="-120"/>
                        </a:rPr>
                        <a:t>225,082</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14213D"/>
                          </a:solidFill>
                          <a:latin typeface="Malgun Gothic" pitchFamily="34" charset="0"/>
                          <a:ea typeface="Malgun Gothic" pitchFamily="34" charset="-122"/>
                          <a:cs typeface="Malgun Gothic" pitchFamily="34" charset="-120"/>
                        </a:rPr>
                        <a:t>+1.5%p</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64748B"/>
                          </a:solidFill>
                          <a:latin typeface="Malgun Gothic" pitchFamily="34" charset="0"/>
                          <a:ea typeface="Malgun Gothic" pitchFamily="34" charset="-122"/>
                          <a:cs typeface="Malgun Gothic" pitchFamily="34" charset="-120"/>
                        </a:rPr>
                        <a:t>+1.5%p</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 규모 7만 건 미만 63곳</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1000" b="1" dirty="0">
                          <a:solidFill>
                            <a:srgbClr val="14213D"/>
                          </a:solidFill>
                          <a:latin typeface="Malgun Gothic" pitchFamily="34" charset="0"/>
                          <a:ea typeface="Malgun Gothic" pitchFamily="34" charset="-122"/>
                          <a:cs typeface="Malgun Gothic" pitchFamily="34" charset="-120"/>
                        </a:rPr>
                        <a:t>34,630</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1050" b="1" dirty="0">
                          <a:solidFill>
                            <a:srgbClr val="14213D"/>
                          </a:solidFill>
                          <a:latin typeface="Malgun Gothic" pitchFamily="34" charset="0"/>
                          <a:ea typeface="Malgun Gothic" pitchFamily="34" charset="-122"/>
                          <a:cs typeface="Malgun Gothic" pitchFamily="34" charset="-120"/>
                        </a:rPr>
                        <a:t>+4.6%p</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1000" dirty="0">
                          <a:solidFill>
                            <a:srgbClr val="64748B"/>
                          </a:solidFill>
                          <a:latin typeface="Malgun Gothic" pitchFamily="34" charset="0"/>
                          <a:ea typeface="Malgun Gothic" pitchFamily="34" charset="-122"/>
                          <a:cs typeface="Malgun Gothic" pitchFamily="34" charset="-120"/>
                        </a:rPr>
                        <a:t>+4.8%p</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6629899" y="3749040"/>
            <a:ext cx="1325880" cy="457200"/>
          </a:xfrm>
          <a:prstGeom prst="rect">
            <a:avLst/>
          </a:prstGeom>
          <a:noFill/>
          <a:ln/>
        </p:spPr>
        <p:txBody>
          <a:bodyPr wrap="square" lIns="0" tIns="0" rIns="0" bIns="0" rtlCol="0" anchor="b"/>
          <a:lstStyle/>
          <a:p>
            <a:pPr marL="0" indent="0">
              <a:buNone/>
            </a:pPr>
            <a:r>
              <a:rPr lang="en-US" sz="2200" b="1" dirty="0">
                <a:solidFill>
                  <a:srgbClr val="E8383D"/>
                </a:solidFill>
                <a:latin typeface="Malgun Gothic" pitchFamily="34" charset="0"/>
                <a:ea typeface="Malgun Gothic" pitchFamily="34" charset="-122"/>
                <a:cs typeface="Malgun Gothic" pitchFamily="34" charset="-120"/>
              </a:rPr>
              <a:t>1/48</a:t>
            </a:r>
            <a:endParaRPr lang="en-US" sz="2200" dirty="0"/>
          </a:p>
        </p:txBody>
      </p:sp>
      <p:sp>
        <p:nvSpPr>
          <p:cNvPr id="9" name="Text 5"/>
          <p:cNvSpPr txBox="1"/>
          <p:nvPr/>
        </p:nvSpPr>
        <p:spPr>
          <a:xfrm>
            <a:off x="6629899" y="4224528"/>
            <a:ext cx="1325880" cy="384048"/>
          </a:xfrm>
          <a:prstGeom prst="rect">
            <a:avLst/>
          </a:prstGeom>
          <a:noFill/>
          <a:ln/>
        </p:spPr>
        <p:txBody>
          <a:bodyPr wrap="square" lIns="0" tIns="0" rIns="0" bIns="0" rtlCol="0" anchor="t"/>
          <a:lstStyle/>
          <a:p>
            <a:pPr marL="0" indent="0">
              <a:lnSpc>
                <a:spcPct val="100000"/>
              </a:lnSpc>
              <a:buNone/>
            </a:pPr>
            <a:r>
              <a:rPr lang="en-US" sz="950" b="1" dirty="0">
                <a:solidFill>
                  <a:srgbClr val="14213D"/>
                </a:solidFill>
                <a:latin typeface="Malgun Gothic" pitchFamily="34" charset="0"/>
                <a:ea typeface="Malgun Gothic" pitchFamily="34" charset="-122"/>
                <a:cs typeface="Malgun Gothic" pitchFamily="34" charset="-120"/>
              </a:rPr>
              <a:t>소비 규모</a:t>
            </a:r>
            <a:endParaRPr lang="en-US" sz="950" dirty="0"/>
          </a:p>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유명 관광지 대비</a:t>
            </a:r>
            <a:endParaRPr lang="en-US" sz="950" dirty="0"/>
          </a:p>
        </p:txBody>
      </p:sp>
      <p:sp>
        <p:nvSpPr>
          <p:cNvPr id="10" name="Text 6"/>
          <p:cNvSpPr txBox="1"/>
          <p:nvPr/>
        </p:nvSpPr>
        <p:spPr>
          <a:xfrm>
            <a:off x="8047219" y="3749040"/>
            <a:ext cx="1691640" cy="457200"/>
          </a:xfrm>
          <a:prstGeom prst="rect">
            <a:avLst/>
          </a:prstGeom>
          <a:noFill/>
          <a:ln/>
        </p:spPr>
        <p:txBody>
          <a:bodyPr wrap="square" lIns="0" tIns="0" rIns="0" bIns="0" rtlCol="0" anchor="b"/>
          <a:lstStyle/>
          <a:p>
            <a:pPr marL="0" indent="0">
              <a:buNone/>
            </a:pPr>
            <a:r>
              <a:rPr lang="en-US" sz="1900" b="1" dirty="0">
                <a:solidFill>
                  <a:srgbClr val="E8383D"/>
                </a:solidFill>
                <a:latin typeface="Malgun Gothic" pitchFamily="34" charset="0"/>
                <a:ea typeface="Malgun Gothic" pitchFamily="34" charset="-122"/>
                <a:cs typeface="Malgun Gothic" pitchFamily="34" charset="-120"/>
              </a:rPr>
              <a:t>19배 · 26배</a:t>
            </a:r>
            <a:endParaRPr lang="en-US" sz="1900" dirty="0"/>
          </a:p>
        </p:txBody>
      </p:sp>
      <p:sp>
        <p:nvSpPr>
          <p:cNvPr id="11" name="Text 7"/>
          <p:cNvSpPr txBox="1"/>
          <p:nvPr/>
        </p:nvSpPr>
        <p:spPr>
          <a:xfrm>
            <a:off x="8047219" y="4224528"/>
            <a:ext cx="1691640" cy="384048"/>
          </a:xfrm>
          <a:prstGeom prst="rect">
            <a:avLst/>
          </a:prstGeom>
          <a:noFill/>
          <a:ln/>
        </p:spPr>
        <p:txBody>
          <a:bodyPr wrap="square" lIns="0" tIns="0" rIns="0" bIns="0" rtlCol="0" anchor="t"/>
          <a:lstStyle/>
          <a:p>
            <a:pPr marL="0" indent="0">
              <a:lnSpc>
                <a:spcPct val="100000"/>
              </a:lnSpc>
              <a:buNone/>
            </a:pPr>
            <a:r>
              <a:rPr lang="en-US" sz="950" b="1" dirty="0">
                <a:solidFill>
                  <a:srgbClr val="14213D"/>
                </a:solidFill>
                <a:latin typeface="Malgun Gothic" pitchFamily="34" charset="0"/>
                <a:ea typeface="Malgun Gothic" pitchFamily="34" charset="-122"/>
                <a:cs typeface="Malgun Gothic" pitchFamily="34" charset="-120"/>
              </a:rPr>
              <a:t>초과성장률</a:t>
            </a:r>
            <a:endParaRPr lang="en-US" sz="950" dirty="0"/>
          </a:p>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관광지 · 산업단지형 대비</a:t>
            </a:r>
            <a:endParaRPr lang="en-US" sz="950" dirty="0"/>
          </a:p>
        </p:txBody>
      </p:sp>
      <p:sp>
        <p:nvSpPr>
          <p:cNvPr id="12" name="Text 8"/>
          <p:cNvSpPr txBox="1"/>
          <p:nvPr/>
        </p:nvSpPr>
        <p:spPr>
          <a:xfrm>
            <a:off x="9830299" y="3749040"/>
            <a:ext cx="1810013" cy="457200"/>
          </a:xfrm>
          <a:prstGeom prst="rect">
            <a:avLst/>
          </a:prstGeom>
          <a:noFill/>
          <a:ln/>
        </p:spPr>
        <p:txBody>
          <a:bodyPr wrap="square" lIns="0" tIns="0" rIns="0" bIns="0" rtlCol="0" anchor="b"/>
          <a:lstStyle/>
          <a:p>
            <a:pPr marL="0" indent="0">
              <a:buNone/>
            </a:pPr>
            <a:r>
              <a:rPr lang="en-US" sz="2200" b="1" dirty="0">
                <a:solidFill>
                  <a:srgbClr val="E8383D"/>
                </a:solidFill>
                <a:latin typeface="Malgun Gothic" pitchFamily="34" charset="0"/>
                <a:ea typeface="Malgun Gothic" pitchFamily="34" charset="-122"/>
                <a:cs typeface="Malgun Gothic" pitchFamily="34" charset="-120"/>
              </a:rPr>
              <a:t>3.8배</a:t>
            </a:r>
            <a:endParaRPr lang="en-US" sz="2200" dirty="0"/>
          </a:p>
        </p:txBody>
      </p:sp>
      <p:sp>
        <p:nvSpPr>
          <p:cNvPr id="13" name="Text 9"/>
          <p:cNvSpPr txBox="1"/>
          <p:nvPr/>
        </p:nvSpPr>
        <p:spPr>
          <a:xfrm>
            <a:off x="9830299" y="4224528"/>
            <a:ext cx="1810013" cy="384048"/>
          </a:xfrm>
          <a:prstGeom prst="rect">
            <a:avLst/>
          </a:prstGeom>
          <a:noFill/>
          <a:ln/>
        </p:spPr>
        <p:txBody>
          <a:bodyPr wrap="square" lIns="0" tIns="0" rIns="0" bIns="0" rtlCol="0" anchor="t"/>
          <a:lstStyle/>
          <a:p>
            <a:pPr marL="0" indent="0">
              <a:lnSpc>
                <a:spcPct val="100000"/>
              </a:lnSpc>
              <a:buNone/>
            </a:pPr>
            <a:r>
              <a:rPr lang="en-US" sz="950" b="1" dirty="0">
                <a:solidFill>
                  <a:srgbClr val="14213D"/>
                </a:solidFill>
                <a:latin typeface="Malgun Gothic" pitchFamily="34" charset="0"/>
                <a:ea typeface="Malgun Gothic" pitchFamily="34" charset="-122"/>
                <a:cs typeface="Malgun Gothic" pitchFamily="34" charset="-120"/>
              </a:rPr>
              <a:t>규모 비슷한 63곳 대비</a:t>
            </a:r>
            <a:endParaRPr lang="en-US" sz="950" dirty="0"/>
          </a:p>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선정 효과 포함</a:t>
            </a:r>
            <a:endParaRPr lang="en-US" sz="950" dirty="0"/>
          </a:p>
        </p:txBody>
      </p:sp>
      <p:sp>
        <p:nvSpPr>
          <p:cNvPr id="14" name="Shape 10"/>
          <p:cNvSpPr/>
          <p:nvPr/>
        </p:nvSpPr>
        <p:spPr>
          <a:xfrm>
            <a:off x="6629899" y="4664442"/>
            <a:ext cx="5010413" cy="660372"/>
          </a:xfrm>
          <a:prstGeom prst="roundRect">
            <a:avLst>
              <a:gd name="adj" fmla="val 16129"/>
            </a:avLst>
          </a:prstGeom>
          <a:solidFill>
            <a:srgbClr val="F3F6FB"/>
          </a:solidFill>
          <a:ln w="12700">
            <a:solidFill>
              <a:srgbClr val="F3F6FB"/>
            </a:solidFill>
            <a:prstDash val="solid"/>
          </a:ln>
        </p:spPr>
        <p:txBody>
          <a:bodyPr/>
          <a:lstStyle/>
          <a:p>
            <a:endParaRPr lang="ko-KR" altLang="en-US"/>
          </a:p>
        </p:txBody>
      </p:sp>
      <p:sp>
        <p:nvSpPr>
          <p:cNvPr id="15" name="Text 11"/>
          <p:cNvSpPr txBox="1"/>
          <p:nvPr/>
        </p:nvSpPr>
        <p:spPr>
          <a:xfrm>
            <a:off x="6767059" y="4720308"/>
            <a:ext cx="4736093" cy="566928"/>
          </a:xfrm>
          <a:prstGeom prst="rect">
            <a:avLst/>
          </a:prstGeom>
          <a:noFill/>
          <a:ln/>
        </p:spPr>
        <p:txBody>
          <a:bodyPr wrap="square" lIns="0" tIns="0" rIns="0" bIns="0" rtlCol="0" anchor="ctr"/>
          <a:lstStyle/>
          <a:p>
            <a:pPr marL="0" indent="0">
              <a:lnSpc>
                <a:spcPct val="108000"/>
              </a:lnSpc>
              <a:buNone/>
            </a:pPr>
            <a:r>
              <a:rPr lang="en-US" sz="1200" b="1" dirty="0">
                <a:solidFill>
                  <a:srgbClr val="B7232B"/>
                </a:solidFill>
                <a:latin typeface="Malgun Gothic" pitchFamily="34" charset="0"/>
                <a:ea typeface="Malgun Gothic" pitchFamily="34" charset="-122"/>
                <a:cs typeface="Malgun Gothic" pitchFamily="34" charset="-120"/>
              </a:rPr>
              <a:t>규모를 맞춰 </a:t>
            </a:r>
            <a:r>
              <a:rPr lang="en-US" sz="1200" b="1" dirty="0" err="1">
                <a:solidFill>
                  <a:srgbClr val="B7232B"/>
                </a:solidFill>
                <a:latin typeface="Malgun Gothic" pitchFamily="34" charset="0"/>
                <a:ea typeface="Malgun Gothic" pitchFamily="34" charset="-122"/>
                <a:cs typeface="Malgun Gothic" pitchFamily="34" charset="-120"/>
              </a:rPr>
              <a:t>비교</a:t>
            </a:r>
            <a:r>
              <a:rPr lang="en-US" sz="1200" b="1" dirty="0">
                <a:solidFill>
                  <a:srgbClr val="B7232B"/>
                </a:solidFill>
                <a:latin typeface="Malgun Gothic" pitchFamily="34" charset="0"/>
                <a:ea typeface="Malgun Gothic" pitchFamily="34" charset="-122"/>
                <a:cs typeface="Malgun Gothic" pitchFamily="34" charset="-120"/>
              </a:rPr>
              <a:t>  </a:t>
            </a:r>
            <a:endParaRPr lang="en-US" sz="1150" b="1" dirty="0">
              <a:solidFill>
                <a:srgbClr val="B7232B"/>
              </a:solidFill>
              <a:latin typeface="Malgun Gothic" pitchFamily="34" charset="0"/>
              <a:ea typeface="Malgun Gothic" pitchFamily="34" charset="-122"/>
              <a:cs typeface="Malgun Gothic" pitchFamily="34" charset="-120"/>
            </a:endParaRPr>
          </a:p>
          <a:p>
            <a:pPr marL="0" indent="0">
              <a:lnSpc>
                <a:spcPct val="108000"/>
              </a:lnSpc>
              <a:buNone/>
            </a:pPr>
            <a:r>
              <a:rPr lang="en-US" sz="1150" dirty="0" err="1">
                <a:solidFill>
                  <a:srgbClr val="14213D"/>
                </a:solidFill>
                <a:latin typeface="Malgun Gothic" pitchFamily="34" charset="0"/>
                <a:ea typeface="Malgun Gothic" pitchFamily="34" charset="-122"/>
                <a:cs typeface="Malgun Gothic" pitchFamily="34" charset="-120"/>
              </a:rPr>
              <a:t>후보와</a:t>
            </a:r>
            <a:r>
              <a:rPr lang="en-US" sz="1150" dirty="0">
                <a:solidFill>
                  <a:srgbClr val="14213D"/>
                </a:solidFill>
                <a:latin typeface="Malgun Gothic" pitchFamily="34" charset="0"/>
                <a:ea typeface="Malgun Gothic" pitchFamily="34" charset="-122"/>
                <a:cs typeface="Malgun Gothic" pitchFamily="34" charset="-120"/>
              </a:rPr>
              <a:t> 규모가 비슷한(6개월 누적 7만 건 미만) 비후보 63곳은 평균 +4.6%p — 후보가 약 3.8배 높다 (Mann–Whitney U, p=1.5×10⁻⁵).</a:t>
            </a:r>
            <a:endParaRPr lang="en-US" sz="1150" dirty="0"/>
          </a:p>
        </p:txBody>
      </p:sp>
      <p:sp>
        <p:nvSpPr>
          <p:cNvPr id="16" name="Shape 12"/>
          <p:cNvSpPr/>
          <p:nvPr/>
        </p:nvSpPr>
        <p:spPr>
          <a:xfrm>
            <a:off x="6629899" y="5413248"/>
            <a:ext cx="5010413" cy="1042416"/>
          </a:xfrm>
          <a:prstGeom prst="roundRect">
            <a:avLst>
              <a:gd name="adj" fmla="val 11905"/>
            </a:avLst>
          </a:prstGeom>
          <a:solidFill>
            <a:srgbClr val="FFF4DC"/>
          </a:solidFill>
          <a:ln w="12700">
            <a:solidFill>
              <a:srgbClr val="FFF4DC"/>
            </a:solidFill>
            <a:prstDash val="solid"/>
          </a:ln>
        </p:spPr>
        <p:txBody>
          <a:bodyPr/>
          <a:lstStyle/>
          <a:p>
            <a:endParaRPr lang="ko-KR" altLang="en-US"/>
          </a:p>
        </p:txBody>
      </p:sp>
      <p:sp>
        <p:nvSpPr>
          <p:cNvPr id="17" name="Text 13"/>
          <p:cNvSpPr txBox="1"/>
          <p:nvPr/>
        </p:nvSpPr>
        <p:spPr>
          <a:xfrm>
            <a:off x="6767059" y="5535752"/>
            <a:ext cx="4736093" cy="768096"/>
          </a:xfrm>
          <a:prstGeom prst="rect">
            <a:avLst/>
          </a:prstGeom>
          <a:noFill/>
          <a:ln/>
        </p:spPr>
        <p:txBody>
          <a:bodyPr wrap="square" lIns="0" tIns="0" rIns="0" bIns="0" rtlCol="0" anchor="ctr"/>
          <a:lstStyle/>
          <a:p>
            <a:r>
              <a:rPr lang="en-US" sz="1200" b="1" dirty="0">
                <a:solidFill>
                  <a:srgbClr val="9A6B00"/>
                </a:solidFill>
                <a:latin typeface="Malgun Gothic" pitchFamily="34" charset="0"/>
                <a:ea typeface="Malgun Gothic" pitchFamily="34" charset="-122"/>
                <a:cs typeface="Malgun Gothic" pitchFamily="34" charset="-120"/>
              </a:rPr>
              <a:t>읽을 때 </a:t>
            </a:r>
            <a:r>
              <a:rPr lang="en-US" sz="1200" b="1" dirty="0" err="1">
                <a:solidFill>
                  <a:srgbClr val="9A6B00"/>
                </a:solidFill>
                <a:latin typeface="Malgun Gothic" pitchFamily="34" charset="0"/>
                <a:ea typeface="Malgun Gothic" pitchFamily="34" charset="-122"/>
                <a:cs typeface="Malgun Gothic" pitchFamily="34" charset="-120"/>
              </a:rPr>
              <a:t>주의</a:t>
            </a:r>
            <a:r>
              <a:rPr lang="en-US" sz="1200" b="1" dirty="0">
                <a:solidFill>
                  <a:srgbClr val="9A6B00"/>
                </a:solidFill>
                <a:latin typeface="Malgun Gothic" pitchFamily="34" charset="0"/>
                <a:ea typeface="Malgun Gothic" pitchFamily="34" charset="-122"/>
                <a:cs typeface="Malgun Gothic" pitchFamily="34" charset="-120"/>
              </a:rPr>
              <a:t>  </a:t>
            </a:r>
          </a:p>
          <a:p>
            <a:r>
              <a:rPr lang="en-US" sz="1150" dirty="0" err="1">
                <a:solidFill>
                  <a:srgbClr val="14213D"/>
                </a:solidFill>
                <a:latin typeface="Malgun Gothic" pitchFamily="34" charset="0"/>
                <a:ea typeface="Malgun Gothic" pitchFamily="34" charset="-122"/>
                <a:cs typeface="Malgun Gothic" pitchFamily="34" charset="-120"/>
              </a:rPr>
              <a:t>후보는</a:t>
            </a:r>
            <a:r>
              <a:rPr lang="en-US" sz="1150" dirty="0">
                <a:solidFill>
                  <a:srgbClr val="14213D"/>
                </a:solidFill>
                <a:latin typeface="Malgun Gothic" pitchFamily="34" charset="0"/>
                <a:ea typeface="Malgun Gothic" pitchFamily="34" charset="-122"/>
                <a:cs typeface="Malgun Gothic" pitchFamily="34" charset="-120"/>
              </a:rPr>
              <a:t> 신호가 높은 곳으로 골랐으므로 격차에 선정 효과가 섞여 있다. 63곳 중에도 +15%p 이상이 5곳(함평·군위·곡성·거창·함양) 있다. </a:t>
            </a:r>
          </a:p>
          <a:p>
            <a:r>
              <a:rPr lang="en-US" sz="1150" dirty="0">
                <a:solidFill>
                  <a:srgbClr val="14213D"/>
                </a:solidFill>
                <a:latin typeface="Malgun Gothic" pitchFamily="34" charset="0"/>
                <a:ea typeface="Malgun Gothic" pitchFamily="34" charset="-122"/>
                <a:cs typeface="Malgun Gothic" pitchFamily="34" charset="-120"/>
              </a:rPr>
              <a:t>H2가 보여주는 것은 고신호 지역이 소규모 지역에 있다는 위치다. (4셀 = </a:t>
            </a:r>
            <a:r>
              <a:rPr lang="ko-KR" altLang="ko-KR" sz="1150" dirty="0" err="1"/>
              <a:t>저베이스</a:t>
            </a:r>
            <a:r>
              <a:rPr lang="ko-KR" altLang="ko-KR" sz="1150" dirty="0"/>
              <a:t> 반등(</a:t>
            </a:r>
            <a:r>
              <a:rPr lang="ko-KR" altLang="ko-KR" sz="1150" dirty="0" err="1"/>
              <a:t>무주·봉화·양양</a:t>
            </a:r>
            <a:r>
              <a:rPr lang="ko-KR" altLang="ko-KR" sz="1150" dirty="0"/>
              <a:t>) + 지역축제 왜곡(곡성)</a:t>
            </a:r>
            <a:r>
              <a:rPr lang="en-US" sz="1150" dirty="0">
                <a:solidFill>
                  <a:srgbClr val="14213D"/>
                </a:solidFill>
                <a:latin typeface="Malgun Gothic" pitchFamily="34" charset="0"/>
                <a:ea typeface="Malgun Gothic" pitchFamily="34" charset="-122"/>
                <a:cs typeface="Malgun Gothic" pitchFamily="34" charset="-120"/>
              </a:rPr>
              <a:t>)</a:t>
            </a:r>
            <a:endParaRPr lang="en-US" sz="1150" dirty="0"/>
          </a:p>
        </p:txBody>
      </p:sp>
      <p:sp>
        <p:nvSpPr>
          <p:cNvPr id="18" name="Text 14"/>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9" name="Text 15"/>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25 / 42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H3 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후보 20개 항목은 5~6월에도 모두 성장했다 — 다만 ‘사후 확인’이다</a:t>
            </a:r>
            <a:endParaRPr lang="en-US" sz="2400" dirty="0"/>
          </a:p>
        </p:txBody>
      </p:sp>
      <p:graphicFrame>
        <p:nvGraphicFramePr>
          <p:cNvPr id="6" name="Chart 0"/>
          <p:cNvGraphicFramePr/>
          <p:nvPr/>
        </p:nvGraphicFramePr>
        <p:xfrm>
          <a:off x="502920" y="169164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726680" y="1737360"/>
            <a:ext cx="3913632" cy="1097280"/>
          </a:xfrm>
          <a:prstGeom prst="roundRect">
            <a:avLst>
              <a:gd name="adj" fmla="val 10000"/>
            </a:avLst>
          </a:prstGeom>
          <a:solidFill>
            <a:srgbClr val="FDECEC"/>
          </a:solidFill>
          <a:ln w="12700">
            <a:solidFill>
              <a:srgbClr val="FDECEC"/>
            </a:solidFill>
            <a:prstDash val="solid"/>
          </a:ln>
        </p:spPr>
        <p:txBody>
          <a:bodyPr/>
          <a:lstStyle/>
          <a:p>
            <a:endParaRPr lang="ko-KR" altLang="en-US"/>
          </a:p>
        </p:txBody>
      </p:sp>
      <p:sp>
        <p:nvSpPr>
          <p:cNvPr id="8" name="Text 5"/>
          <p:cNvSpPr txBox="1"/>
          <p:nvPr/>
        </p:nvSpPr>
        <p:spPr>
          <a:xfrm>
            <a:off x="7955280" y="1783080"/>
            <a:ext cx="1828800" cy="731520"/>
          </a:xfrm>
          <a:prstGeom prst="rect">
            <a:avLst/>
          </a:prstGeom>
          <a:noFill/>
          <a:ln/>
        </p:spPr>
        <p:txBody>
          <a:bodyPr wrap="square" lIns="0" tIns="0" rIns="0" bIns="0" rtlCol="0" anchor="ctr"/>
          <a:lstStyle/>
          <a:p>
            <a:pPr marL="0" indent="0">
              <a:buNone/>
            </a:pPr>
            <a:r>
              <a:rPr lang="en-US" sz="3400" b="1" dirty="0">
                <a:solidFill>
                  <a:srgbClr val="E8383D"/>
                </a:solidFill>
                <a:latin typeface="Malgun Gothic" pitchFamily="34" charset="0"/>
                <a:ea typeface="Malgun Gothic" pitchFamily="34" charset="-122"/>
                <a:cs typeface="Malgun Gothic" pitchFamily="34" charset="-120"/>
              </a:rPr>
              <a:t>20 / 20</a:t>
            </a:r>
            <a:endParaRPr lang="en-US" sz="3400" dirty="0"/>
          </a:p>
        </p:txBody>
      </p:sp>
      <p:sp>
        <p:nvSpPr>
          <p:cNvPr id="9" name="Text 6"/>
          <p:cNvSpPr txBox="1"/>
          <p:nvPr/>
        </p:nvSpPr>
        <p:spPr>
          <a:xfrm>
            <a:off x="7955280" y="2468880"/>
            <a:ext cx="3547872" cy="274320"/>
          </a:xfrm>
          <a:prstGeom prst="rect">
            <a:avLst/>
          </a:prstGeom>
          <a:noFill/>
          <a:ln/>
        </p:spPr>
        <p:txBody>
          <a:bodyPr wrap="square" lIns="0" tIns="0" rIns="0" bIns="0" rtlCol="0" anchor="t"/>
          <a:lstStyle/>
          <a:p>
            <a:pPr marL="0" indent="0">
              <a:buNone/>
            </a:pPr>
            <a:r>
              <a:rPr lang="en-US" sz="1150" b="1" dirty="0">
                <a:solidFill>
                  <a:srgbClr val="B7232B"/>
                </a:solidFill>
                <a:latin typeface="Malgun Gothic" pitchFamily="34" charset="0"/>
                <a:ea typeface="Malgun Gothic" pitchFamily="34" charset="-122"/>
                <a:cs typeface="Malgun Gothic" pitchFamily="34" charset="-120"/>
              </a:rPr>
              <a:t>4→6월 실측 초과성장이 모두 양(+)</a:t>
            </a:r>
            <a:endParaRPr lang="en-US" sz="1150" dirty="0"/>
          </a:p>
        </p:txBody>
      </p:sp>
      <p:sp>
        <p:nvSpPr>
          <p:cNvPr id="10" name="Shape 7"/>
          <p:cNvSpPr/>
          <p:nvPr/>
        </p:nvSpPr>
        <p:spPr>
          <a:xfrm>
            <a:off x="7726680" y="2926080"/>
            <a:ext cx="3913632" cy="1417320"/>
          </a:xfrm>
          <a:prstGeom prst="roundRect">
            <a:avLst>
              <a:gd name="adj" fmla="val 7742"/>
            </a:avLst>
          </a:prstGeom>
          <a:solidFill>
            <a:srgbClr val="F3F6FB"/>
          </a:solidFill>
          <a:ln w="12700">
            <a:solidFill>
              <a:srgbClr val="F3F6FB"/>
            </a:solidFill>
            <a:prstDash val="solid"/>
          </a:ln>
        </p:spPr>
        <p:txBody>
          <a:bodyPr/>
          <a:lstStyle/>
          <a:p>
            <a:endParaRPr lang="ko-KR" altLang="en-US"/>
          </a:p>
        </p:txBody>
      </p:sp>
      <p:sp>
        <p:nvSpPr>
          <p:cNvPr id="11" name="Text 8"/>
          <p:cNvSpPr txBox="1"/>
          <p:nvPr/>
        </p:nvSpPr>
        <p:spPr>
          <a:xfrm>
            <a:off x="7955280" y="2971800"/>
            <a:ext cx="1828800" cy="548640"/>
          </a:xfrm>
          <a:prstGeom prst="rect">
            <a:avLst/>
          </a:prstGeom>
          <a:noFill/>
          <a:ln/>
        </p:spPr>
        <p:txBody>
          <a:bodyPr wrap="square" lIns="0" tIns="0" rIns="0" bIns="0" rtlCol="0" anchor="ctr"/>
          <a:lstStyle/>
          <a:p>
            <a:pPr marL="0" indent="0">
              <a:buNone/>
            </a:pPr>
            <a:r>
              <a:rPr lang="en-US" sz="2800" b="1" dirty="0">
                <a:solidFill>
                  <a:srgbClr val="0B1B33"/>
                </a:solidFill>
                <a:latin typeface="Malgun Gothic" pitchFamily="34" charset="0"/>
                <a:ea typeface="Malgun Gothic" pitchFamily="34" charset="-122"/>
                <a:cs typeface="Malgun Gothic" pitchFamily="34" charset="-120"/>
              </a:rPr>
              <a:t>16 / 20</a:t>
            </a:r>
            <a:endParaRPr lang="en-US" sz="2800" dirty="0"/>
          </a:p>
        </p:txBody>
      </p:sp>
      <p:sp>
        <p:nvSpPr>
          <p:cNvPr id="12" name="Text 9"/>
          <p:cNvSpPr txBox="1"/>
          <p:nvPr/>
        </p:nvSpPr>
        <p:spPr>
          <a:xfrm>
            <a:off x="7955280" y="3495388"/>
            <a:ext cx="3502152" cy="777240"/>
          </a:xfrm>
          <a:prstGeom prst="rect">
            <a:avLst/>
          </a:prstGeom>
          <a:noFill/>
          <a:ln/>
        </p:spPr>
        <p:txBody>
          <a:bodyPr wrap="square" lIns="0" tIns="0" rIns="0" bIns="0" rtlCol="0" anchor="t"/>
          <a:lstStyle/>
          <a:p>
            <a:pPr marL="0" indent="0">
              <a:lnSpc>
                <a:spcPct val="110000"/>
              </a:lnSpc>
              <a:buNone/>
            </a:pPr>
            <a:r>
              <a:rPr lang="en-US" sz="1200" dirty="0">
                <a:solidFill>
                  <a:srgbClr val="3A475C"/>
                </a:solidFill>
                <a:latin typeface="Malgun Gothic" pitchFamily="34" charset="0"/>
                <a:ea typeface="Malgun Gothic" pitchFamily="34" charset="-122"/>
                <a:cs typeface="Malgun Gothic" pitchFamily="34" charset="-120"/>
              </a:rPr>
              <a:t>1~4월 점수도 이미 양(+). 나머지 4개(청송군 편의점·서양음식, 의성군 서양음식, 양양군 편의점)는 1~4월만 보면 음(−)이어서 조기 포착에는 시간이 걸렸다.</a:t>
            </a:r>
            <a:endParaRPr lang="en-US" sz="1200" dirty="0"/>
          </a:p>
        </p:txBody>
      </p:sp>
      <p:sp>
        <p:nvSpPr>
          <p:cNvPr id="13" name="Shape 10"/>
          <p:cNvSpPr/>
          <p:nvPr/>
        </p:nvSpPr>
        <p:spPr>
          <a:xfrm>
            <a:off x="7726680" y="4434840"/>
            <a:ext cx="3913632" cy="1590680"/>
          </a:xfrm>
          <a:prstGeom prst="roundRect">
            <a:avLst>
              <a:gd name="adj" fmla="val 7059"/>
            </a:avLst>
          </a:prstGeom>
          <a:solidFill>
            <a:srgbClr val="FFF4DC"/>
          </a:solidFill>
          <a:ln w="12700">
            <a:solidFill>
              <a:srgbClr val="FFF4DC"/>
            </a:solidFill>
            <a:prstDash val="solid"/>
          </a:ln>
        </p:spPr>
        <p:txBody>
          <a:bodyPr/>
          <a:lstStyle/>
          <a:p>
            <a:endParaRPr lang="ko-KR" altLang="en-US"/>
          </a:p>
        </p:txBody>
      </p:sp>
      <p:sp>
        <p:nvSpPr>
          <p:cNvPr id="14" name="Text 11"/>
          <p:cNvSpPr txBox="1"/>
          <p:nvPr/>
        </p:nvSpPr>
        <p:spPr>
          <a:xfrm>
            <a:off x="7942754" y="4633252"/>
            <a:ext cx="3547872" cy="256032"/>
          </a:xfrm>
          <a:prstGeom prst="rect">
            <a:avLst/>
          </a:prstGeom>
          <a:noFill/>
          <a:ln/>
        </p:spPr>
        <p:txBody>
          <a:bodyPr wrap="square" lIns="0" tIns="0" rIns="0" bIns="0" rtlCol="0" anchor="t"/>
          <a:lstStyle/>
          <a:p>
            <a:pPr marL="0" indent="0">
              <a:buNone/>
            </a:pPr>
            <a:r>
              <a:rPr lang="en-US" sz="1200" b="1" dirty="0">
                <a:solidFill>
                  <a:srgbClr val="9A6B00"/>
                </a:solidFill>
                <a:latin typeface="Malgun Gothic" pitchFamily="34" charset="0"/>
                <a:ea typeface="Malgun Gothic" pitchFamily="34" charset="-122"/>
                <a:cs typeface="Malgun Gothic" pitchFamily="34" charset="-120"/>
              </a:rPr>
              <a:t>‘사후 확인’이라는 점</a:t>
            </a:r>
            <a:endParaRPr lang="en-US" sz="1200" dirty="0"/>
          </a:p>
        </p:txBody>
      </p:sp>
      <p:sp>
        <p:nvSpPr>
          <p:cNvPr id="15" name="Text 12"/>
          <p:cNvSpPr txBox="1"/>
          <p:nvPr/>
        </p:nvSpPr>
        <p:spPr>
          <a:xfrm>
            <a:off x="7955280" y="4882520"/>
            <a:ext cx="3502152" cy="1143000"/>
          </a:xfrm>
          <a:prstGeom prst="rect">
            <a:avLst/>
          </a:prstGeom>
          <a:noFill/>
          <a:ln/>
        </p:spPr>
        <p:txBody>
          <a:bodyPr wrap="square" lIns="0" tIns="0" rIns="0" bIns="0" rtlCol="0" anchor="t"/>
          <a:lstStyle/>
          <a:p>
            <a:pPr marL="0" indent="0">
              <a:lnSpc>
                <a:spcPct val="112000"/>
              </a:lnSpc>
              <a:buNone/>
            </a:pPr>
            <a:r>
              <a:rPr lang="en-US" sz="1200" dirty="0">
                <a:solidFill>
                  <a:srgbClr val="5C4300"/>
                </a:solidFill>
                <a:latin typeface="Malgun Gothic" pitchFamily="34" charset="0"/>
                <a:ea typeface="Malgun Gothic" pitchFamily="34" charset="-122"/>
                <a:cs typeface="Malgun Gothic" pitchFamily="34" charset="-120"/>
              </a:rPr>
              <a:t>이 20개는 6개월 전체 신호가 강한 항목으로 골랐다(옹진군 항목은 포함되지 않는다). 1~4월 데이터만으로 뽑아 5~6월을 맞힌 예측 검증(홀드아웃)이 아니다. </a:t>
            </a:r>
          </a:p>
          <a:p>
            <a:pPr marL="0" indent="0">
              <a:lnSpc>
                <a:spcPct val="112000"/>
              </a:lnSpc>
              <a:buNone/>
            </a:pPr>
            <a:r>
              <a:rPr lang="en-US" sz="1200" dirty="0">
                <a:solidFill>
                  <a:srgbClr val="5C4300"/>
                </a:solidFill>
                <a:latin typeface="Malgun Gothic" pitchFamily="34" charset="0"/>
                <a:ea typeface="Malgun Gothic" pitchFamily="34" charset="-122"/>
                <a:cs typeface="Malgun Gothic" pitchFamily="34" charset="-120"/>
              </a:rPr>
              <a:t>&gt; 다음 장에서 전국 전체 </a:t>
            </a:r>
            <a:r>
              <a:rPr lang="en-US" sz="1200" dirty="0" err="1">
                <a:solidFill>
                  <a:srgbClr val="5C4300"/>
                </a:solidFill>
                <a:latin typeface="Malgun Gothic" pitchFamily="34" charset="0"/>
                <a:ea typeface="Malgun Gothic" pitchFamily="34" charset="-122"/>
                <a:cs typeface="Malgun Gothic" pitchFamily="34" charset="-120"/>
              </a:rPr>
              <a:t>조합으로</a:t>
            </a:r>
            <a:r>
              <a:rPr lang="en-US" sz="1200" dirty="0">
                <a:solidFill>
                  <a:srgbClr val="5C4300"/>
                </a:solidFill>
                <a:latin typeface="Malgun Gothic" pitchFamily="34" charset="0"/>
                <a:ea typeface="Malgun Gothic" pitchFamily="34" charset="-122"/>
                <a:cs typeface="Malgun Gothic" pitchFamily="34" charset="-120"/>
              </a:rPr>
              <a:t> </a:t>
            </a:r>
            <a:r>
              <a:rPr lang="ko-KR" altLang="en-US" sz="1200" dirty="0">
                <a:solidFill>
                  <a:srgbClr val="5C4300"/>
                </a:solidFill>
                <a:latin typeface="Malgun Gothic" pitchFamily="34" charset="0"/>
                <a:ea typeface="Malgun Gothic" pitchFamily="34" charset="-122"/>
                <a:cs typeface="Malgun Gothic" pitchFamily="34" charset="-120"/>
              </a:rPr>
              <a:t>재확인</a:t>
            </a:r>
            <a:endParaRPr lang="en-US" sz="1200" dirty="0"/>
          </a:p>
        </p:txBody>
      </p:sp>
      <p:sp>
        <p:nvSpPr>
          <p:cNvPr id="16" name="Text 13"/>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7" name="Text 14"/>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26 / 42</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05  </a:t>
            </a:r>
            <a:r>
              <a:rPr lang="en-US" sz="1150" b="1" dirty="0">
                <a:solidFill>
                  <a:srgbClr val="64748B"/>
                </a:solidFill>
                <a:latin typeface="Malgun Gothic" pitchFamily="34" charset="0"/>
                <a:ea typeface="Malgun Gothic" pitchFamily="34" charset="-122"/>
                <a:cs typeface="Malgun Gothic" pitchFamily="34" charset="-120"/>
              </a:rPr>
              <a:t>가설 검증 결과 · H3 ②</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전국 재검증 — 성장률은 평균으로 돌아오지만 올라간 ‘수준’은 유지된다</a:t>
            </a:r>
            <a:endParaRPr lang="en-US" sz="2400" dirty="0"/>
          </a:p>
        </p:txBody>
      </p:sp>
      <p:sp>
        <p:nvSpPr>
          <p:cNvPr id="6" name="Shape 4"/>
          <p:cNvSpPr/>
          <p:nvPr/>
        </p:nvSpPr>
        <p:spPr>
          <a:xfrm>
            <a:off x="548640" y="1737360"/>
            <a:ext cx="5440680" cy="3383280"/>
          </a:xfrm>
          <a:prstGeom prst="roundRect">
            <a:avLst>
              <a:gd name="adj" fmla="val 3243"/>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28800"/>
            <a:ext cx="3657600" cy="292608"/>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① 성장률은 이어지는가</a:t>
            </a:r>
            <a:endParaRPr lang="en-US" sz="1300" dirty="0"/>
          </a:p>
        </p:txBody>
      </p:sp>
      <p:sp>
        <p:nvSpPr>
          <p:cNvPr id="8" name="Shape 6"/>
          <p:cNvSpPr/>
          <p:nvPr/>
        </p:nvSpPr>
        <p:spPr>
          <a:xfrm>
            <a:off x="4892040" y="1847088"/>
            <a:ext cx="868680" cy="27432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9" name="Text 7"/>
          <p:cNvSpPr txBox="1"/>
          <p:nvPr/>
        </p:nvSpPr>
        <p:spPr>
          <a:xfrm>
            <a:off x="4892040" y="1847088"/>
            <a:ext cx="868680" cy="274320"/>
          </a:xfrm>
          <a:prstGeom prst="rect">
            <a:avLst/>
          </a:prstGeom>
          <a:noFill/>
          <a:ln/>
        </p:spPr>
        <p:txBody>
          <a:bodyPr wrap="square" lIns="0" tIns="0" rIns="0" bIns="0" rtlCol="0" anchor="ctr"/>
          <a:lstStyle/>
          <a:p>
            <a:pPr marL="0" indent="0" algn="ctr">
              <a:buNone/>
            </a:pPr>
            <a:r>
              <a:rPr lang="en-US" sz="1100" b="1" dirty="0">
                <a:solidFill>
                  <a:srgbClr val="B7232B"/>
                </a:solidFill>
                <a:latin typeface="Malgun Gothic" pitchFamily="34" charset="0"/>
                <a:ea typeface="Malgun Gothic" pitchFamily="34" charset="-122"/>
                <a:cs typeface="Malgun Gothic" pitchFamily="34" charset="-120"/>
              </a:rPr>
              <a:t>아니오</a:t>
            </a:r>
            <a:endParaRPr lang="en-US" sz="1100" dirty="0"/>
          </a:p>
        </p:txBody>
      </p:sp>
      <p:sp>
        <p:nvSpPr>
          <p:cNvPr id="10" name="Text 8"/>
          <p:cNvSpPr txBox="1"/>
          <p:nvPr/>
        </p:nvSpPr>
        <p:spPr>
          <a:xfrm>
            <a:off x="777240" y="2148840"/>
            <a:ext cx="4937760" cy="219456"/>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4→6월에도 초과성장이 양(+)인 비율</a:t>
            </a:r>
            <a:endParaRPr lang="en-US" sz="950" dirty="0"/>
          </a:p>
        </p:txBody>
      </p:sp>
      <p:graphicFrame>
        <p:nvGraphicFramePr>
          <p:cNvPr id="11" name="Chart 0"/>
          <p:cNvGraphicFramePr/>
          <p:nvPr/>
        </p:nvGraphicFramePr>
        <p:xfrm>
          <a:off x="685800" y="2377440"/>
          <a:ext cx="516636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777240" y="4224528"/>
            <a:ext cx="4983480" cy="868680"/>
          </a:xfrm>
          <a:prstGeom prst="rect">
            <a:avLst/>
          </a:prstGeom>
          <a:noFill/>
          <a:ln/>
        </p:spPr>
        <p:txBody>
          <a:bodyPr wrap="square" lIns="0" tIns="0" rIns="0" bIns="0" rtlCol="0" anchor="t"/>
          <a:lstStyle/>
          <a:p>
            <a:pPr marL="0" indent="0">
              <a:lnSpc>
                <a:spcPct val="115000"/>
              </a:lnSpc>
              <a:buNone/>
            </a:pPr>
            <a:r>
              <a:rPr lang="en-US" sz="1050" dirty="0">
                <a:solidFill>
                  <a:srgbClr val="3A475C"/>
                </a:solidFill>
                <a:latin typeface="Malgun Gothic" pitchFamily="34" charset="0"/>
                <a:ea typeface="Malgun Gothic" pitchFamily="34" charset="-122"/>
                <a:cs typeface="Malgun Gothic" pitchFamily="34" charset="-120"/>
              </a:rPr>
              <a:t>단기간 크게 뛴 항목일수록 다음 구간에서는 오히려 꺾이는 경향이 있다 (1~4월 점수와 4→6월 실측의 Spearman ρ=−0.28, 지역 단위 ρ=−0.36). 우리 후보 중 청송군·양양군은 1~4월 점수만으로는 255개 지역 중 250위·248위였다.</a:t>
            </a:r>
            <a:endParaRPr lang="en-US" sz="1050" dirty="0"/>
          </a:p>
        </p:txBody>
      </p:sp>
      <p:sp>
        <p:nvSpPr>
          <p:cNvPr id="13" name="Shape 10"/>
          <p:cNvSpPr/>
          <p:nvPr/>
        </p:nvSpPr>
        <p:spPr>
          <a:xfrm>
            <a:off x="6199632" y="1737360"/>
            <a:ext cx="5440680" cy="3383280"/>
          </a:xfrm>
          <a:prstGeom prst="roundRect">
            <a:avLst>
              <a:gd name="adj" fmla="val 3243"/>
            </a:avLst>
          </a:prstGeom>
          <a:solidFill>
            <a:srgbClr val="F3F6FB"/>
          </a:solidFill>
          <a:ln w="12700">
            <a:solidFill>
              <a:srgbClr val="F3F6FB"/>
            </a:solidFill>
            <a:prstDash val="solid"/>
          </a:ln>
        </p:spPr>
        <p:txBody>
          <a:bodyPr/>
          <a:lstStyle/>
          <a:p>
            <a:endParaRPr lang="ko-KR" altLang="en-US"/>
          </a:p>
        </p:txBody>
      </p:sp>
      <p:sp>
        <p:nvSpPr>
          <p:cNvPr id="14" name="Text 11"/>
          <p:cNvSpPr txBox="1"/>
          <p:nvPr/>
        </p:nvSpPr>
        <p:spPr>
          <a:xfrm>
            <a:off x="6428232" y="1828800"/>
            <a:ext cx="3657600" cy="292608"/>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② 올라간 수준은 이어지는가</a:t>
            </a:r>
            <a:endParaRPr lang="en-US" sz="1300" dirty="0"/>
          </a:p>
        </p:txBody>
      </p:sp>
      <p:sp>
        <p:nvSpPr>
          <p:cNvPr id="15" name="Shape 12"/>
          <p:cNvSpPr/>
          <p:nvPr/>
        </p:nvSpPr>
        <p:spPr>
          <a:xfrm>
            <a:off x="10543032" y="1847088"/>
            <a:ext cx="868680" cy="274320"/>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16" name="Text 13"/>
          <p:cNvSpPr txBox="1"/>
          <p:nvPr/>
        </p:nvSpPr>
        <p:spPr>
          <a:xfrm>
            <a:off x="10543032" y="1847088"/>
            <a:ext cx="868680" cy="274320"/>
          </a:xfrm>
          <a:prstGeom prst="rect">
            <a:avLst/>
          </a:prstGeom>
          <a:noFill/>
          <a:ln/>
        </p:spPr>
        <p:txBody>
          <a:bodyPr wrap="square" lIns="0" tIns="0" rIns="0" bIns="0" rtlCol="0" anchor="ctr"/>
          <a:lstStyle/>
          <a:p>
            <a:pPr marL="0" indent="0" algn="ctr">
              <a:buNone/>
            </a:pPr>
            <a:r>
              <a:rPr lang="en-US" sz="1100" b="1" dirty="0">
                <a:solidFill>
                  <a:srgbClr val="0B7A6D"/>
                </a:solidFill>
                <a:latin typeface="Malgun Gothic" pitchFamily="34" charset="0"/>
                <a:ea typeface="Malgun Gothic" pitchFamily="34" charset="-122"/>
                <a:cs typeface="Malgun Gothic" pitchFamily="34" charset="-120"/>
              </a:rPr>
              <a:t>예</a:t>
            </a:r>
            <a:endParaRPr lang="en-US" sz="1100" dirty="0"/>
          </a:p>
        </p:txBody>
      </p:sp>
      <p:sp>
        <p:nvSpPr>
          <p:cNvPr id="17" name="Text 14"/>
          <p:cNvSpPr txBox="1"/>
          <p:nvPr/>
        </p:nvSpPr>
        <p:spPr>
          <a:xfrm>
            <a:off x="6428232" y="2148840"/>
            <a:ext cx="4937760" cy="219456"/>
          </a:xfrm>
          <a:prstGeom prst="rect">
            <a:avLst/>
          </a:prstGeom>
          <a:noFill/>
          <a:ln/>
        </p:spPr>
        <p:txBody>
          <a:bodyPr wrap="square" lIns="0" tIns="0" rIns="0" bIns="0" rtlCol="0" anchor="t"/>
          <a:lstStyle/>
          <a:p>
            <a:pPr marL="0" indent="0">
              <a:buNone/>
            </a:pPr>
            <a:r>
              <a:rPr lang="en-US" sz="950" dirty="0">
                <a:solidFill>
                  <a:srgbClr val="64748B"/>
                </a:solidFill>
                <a:latin typeface="Malgun Gothic" pitchFamily="34" charset="0"/>
                <a:ea typeface="Malgun Gothic" pitchFamily="34" charset="-122"/>
                <a:cs typeface="Malgun Gothic" pitchFamily="34" charset="-120"/>
              </a:rPr>
              <a:t>5~6월에도 상대 수준이 1배 초과인 비율</a:t>
            </a:r>
            <a:endParaRPr lang="en-US" sz="950" dirty="0"/>
          </a:p>
        </p:txBody>
      </p:sp>
      <p:graphicFrame>
        <p:nvGraphicFramePr>
          <p:cNvPr id="18" name="Chart 1"/>
          <p:cNvGraphicFramePr/>
          <p:nvPr/>
        </p:nvGraphicFramePr>
        <p:xfrm>
          <a:off x="6336792" y="2377440"/>
          <a:ext cx="5166360" cy="1737360"/>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5"/>
          <p:cNvSpPr txBox="1"/>
          <p:nvPr/>
        </p:nvSpPr>
        <p:spPr>
          <a:xfrm>
            <a:off x="6428232" y="4224528"/>
            <a:ext cx="4983480" cy="868680"/>
          </a:xfrm>
          <a:prstGeom prst="rect">
            <a:avLst/>
          </a:prstGeom>
          <a:noFill/>
          <a:ln/>
        </p:spPr>
        <p:txBody>
          <a:bodyPr wrap="square" lIns="0" tIns="0" rIns="0" bIns="0" rtlCol="0" anchor="t"/>
          <a:lstStyle/>
          <a:p>
            <a:pPr marL="0" indent="0">
              <a:lnSpc>
                <a:spcPct val="115000"/>
              </a:lnSpc>
              <a:buNone/>
            </a:pPr>
            <a:r>
              <a:rPr lang="en-US" sz="1050" dirty="0">
                <a:solidFill>
                  <a:srgbClr val="3A475C"/>
                </a:solidFill>
                <a:latin typeface="Malgun Gothic" pitchFamily="34" charset="0"/>
                <a:ea typeface="Malgun Gothic" pitchFamily="34" charset="-122"/>
                <a:cs typeface="Malgun Gothic" pitchFamily="34" charset="-120"/>
              </a:rPr>
              <a:t>전국 동종업종 대비 상대 수준이 1~2월의 1.3배 이상으로 올라선 106개 조합은 5~6월에도 모두 1배를 넘었다. 월 순서를 무작위로 섞은 기준선(평균 83.5%, 상위 5% 경계 91.5%)보다 높아, 한 달 튄 노이즈가 아니라 이어지는 ‘수준 상승’은 실재한다.</a:t>
            </a:r>
            <a:endParaRPr lang="en-US" sz="1050" dirty="0"/>
          </a:p>
        </p:txBody>
      </p:sp>
      <p:sp>
        <p:nvSpPr>
          <p:cNvPr id="20" name="Shape 16"/>
          <p:cNvSpPr/>
          <p:nvPr/>
        </p:nvSpPr>
        <p:spPr>
          <a:xfrm>
            <a:off x="548640" y="5230368"/>
            <a:ext cx="11091672" cy="804672"/>
          </a:xfrm>
          <a:prstGeom prst="roundRect">
            <a:avLst>
              <a:gd name="adj" fmla="val 11364"/>
            </a:avLst>
          </a:prstGeom>
          <a:solidFill>
            <a:srgbClr val="0B1B33"/>
          </a:solidFill>
          <a:ln w="12700">
            <a:solidFill>
              <a:srgbClr val="0B1B33"/>
            </a:solidFill>
            <a:prstDash val="solid"/>
          </a:ln>
        </p:spPr>
        <p:txBody>
          <a:bodyPr/>
          <a:lstStyle/>
          <a:p>
            <a:endParaRPr lang="ko-KR" altLang="en-US"/>
          </a:p>
        </p:txBody>
      </p:sp>
      <p:sp>
        <p:nvSpPr>
          <p:cNvPr id="21" name="Text 17"/>
          <p:cNvSpPr txBox="1"/>
          <p:nvPr/>
        </p:nvSpPr>
        <p:spPr>
          <a:xfrm>
            <a:off x="785382" y="5230368"/>
            <a:ext cx="10817352" cy="804672"/>
          </a:xfrm>
          <a:prstGeom prst="rect">
            <a:avLst/>
          </a:prstGeom>
          <a:noFill/>
          <a:ln/>
        </p:spPr>
        <p:txBody>
          <a:bodyPr wrap="square" lIns="0" tIns="0" rIns="0" bIns="0" rtlCol="0" anchor="ctr"/>
          <a:lstStyle/>
          <a:p>
            <a:pPr marL="0" indent="0">
              <a:lnSpc>
                <a:spcPct val="112000"/>
              </a:lnSpc>
              <a:buNone/>
            </a:pPr>
            <a:r>
              <a:rPr lang="en-US" sz="1200" b="1" dirty="0">
                <a:solidFill>
                  <a:srgbClr val="FF7A7E"/>
                </a:solidFill>
                <a:latin typeface="Malgun Gothic" pitchFamily="34" charset="0"/>
                <a:ea typeface="Malgun Gothic" pitchFamily="34" charset="-122"/>
                <a:cs typeface="Malgun Gothic" pitchFamily="34" charset="-120"/>
              </a:rPr>
              <a:t>서비스 설계에 </a:t>
            </a:r>
            <a:r>
              <a:rPr lang="en-US" sz="1200" b="1" dirty="0" err="1">
                <a:solidFill>
                  <a:srgbClr val="FF7A7E"/>
                </a:solidFill>
                <a:latin typeface="Malgun Gothic" pitchFamily="34" charset="0"/>
                <a:ea typeface="Malgun Gothic" pitchFamily="34" charset="-122"/>
                <a:cs typeface="Malgun Gothic" pitchFamily="34" charset="-120"/>
              </a:rPr>
              <a:t>반영</a:t>
            </a:r>
            <a:r>
              <a:rPr lang="en-US" sz="1200" b="1" dirty="0">
                <a:solidFill>
                  <a:srgbClr val="FF7A7E"/>
                </a:solidFill>
                <a:latin typeface="Malgun Gothic" pitchFamily="34" charset="0"/>
                <a:ea typeface="Malgun Gothic" pitchFamily="34" charset="-122"/>
                <a:cs typeface="Malgun Gothic" pitchFamily="34" charset="-120"/>
              </a:rPr>
              <a:t>  </a:t>
            </a:r>
          </a:p>
          <a:p>
            <a:pPr marL="0" indent="0">
              <a:lnSpc>
                <a:spcPct val="112000"/>
              </a:lnSpc>
              <a:buNone/>
            </a:pPr>
            <a:r>
              <a:rPr lang="en-US" sz="1200" b="1" dirty="0">
                <a:solidFill>
                  <a:srgbClr val="FFFFFF"/>
                </a:solidFill>
                <a:latin typeface="Malgun Gothic" pitchFamily="34" charset="0"/>
                <a:ea typeface="Malgun Gothic" pitchFamily="34" charset="-122"/>
                <a:cs typeface="Malgun Gothic" pitchFamily="34" charset="-120"/>
              </a:rPr>
              <a:t>한 달의 급등이 아니라 여러 달·여러 업종에서 이어지는 ‘수준 상승’을 주시 목록(watch list)으로 관리하고, 방문자 통계·뉴스로 원인까지 확인한 뒤에 알린다.</a:t>
            </a:r>
            <a:endParaRPr lang="en-US" sz="1200" dirty="0"/>
          </a:p>
        </p:txBody>
      </p:sp>
      <p:sp>
        <p:nvSpPr>
          <p:cNvPr id="22" name="Text 18"/>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23" name="Text 19"/>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27 / 42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06  </a:t>
            </a:r>
            <a:r>
              <a:rPr lang="en-US" sz="1150" b="1" dirty="0">
                <a:solidFill>
                  <a:srgbClr val="64748B"/>
                </a:solidFill>
                <a:latin typeface="Malgun Gothic" pitchFamily="34" charset="0"/>
                <a:ea typeface="Malgun Gothic" pitchFamily="34" charset="-122"/>
                <a:cs typeface="Malgun Gothic" pitchFamily="34" charset="-120"/>
              </a:rPr>
              <a:t>서비스 아이디어 제안</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카드 신호를 ‘주시 목록’으로 관리하고, 원인을 확인한 뒤 알린다</a:t>
            </a:r>
            <a:endParaRPr lang="en-US" sz="2400" dirty="0"/>
          </a:p>
        </p:txBody>
      </p:sp>
      <p:sp>
        <p:nvSpPr>
          <p:cNvPr id="6" name="Shape 4"/>
          <p:cNvSpPr/>
          <p:nvPr/>
        </p:nvSpPr>
        <p:spPr>
          <a:xfrm>
            <a:off x="548640" y="1612100"/>
            <a:ext cx="3520440" cy="2560320"/>
          </a:xfrm>
          <a:prstGeom prst="roundRect">
            <a:avLst>
              <a:gd name="adj" fmla="val 4286"/>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77240" y="1813268"/>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880110" y="1916138"/>
            <a:ext cx="251460" cy="251460"/>
          </a:xfrm>
          <a:prstGeom prst="rect">
            <a:avLst/>
          </a:prstGeom>
        </p:spPr>
      </p:pic>
      <p:sp>
        <p:nvSpPr>
          <p:cNvPr id="9" name="Text 6"/>
          <p:cNvSpPr txBox="1"/>
          <p:nvPr/>
        </p:nvSpPr>
        <p:spPr>
          <a:xfrm>
            <a:off x="1371600" y="1813268"/>
            <a:ext cx="1828800" cy="457200"/>
          </a:xfrm>
          <a:prstGeom prst="rect">
            <a:avLst/>
          </a:prstGeom>
          <a:noFill/>
          <a:ln/>
        </p:spPr>
        <p:txBody>
          <a:bodyPr wrap="square" lIns="0" tIns="0" rIns="0" bIns="0" rtlCol="0" anchor="ctr"/>
          <a:lstStyle/>
          <a:p>
            <a:pPr marL="0" indent="0">
              <a:buNone/>
            </a:pPr>
            <a:r>
              <a:rPr lang="en-US" sz="1600" b="1" dirty="0">
                <a:solidFill>
                  <a:srgbClr val="E8383D"/>
                </a:solidFill>
                <a:latin typeface="Malgun Gothic" pitchFamily="34" charset="0"/>
                <a:ea typeface="Malgun Gothic" pitchFamily="34" charset="-122"/>
                <a:cs typeface="Malgun Gothic" pitchFamily="34" charset="-120"/>
              </a:rPr>
              <a:t>1  </a:t>
            </a:r>
            <a:r>
              <a:rPr lang="en-US" sz="1600" b="1" dirty="0">
                <a:solidFill>
                  <a:srgbClr val="14213D"/>
                </a:solidFill>
                <a:latin typeface="Malgun Gothic" pitchFamily="34" charset="0"/>
                <a:ea typeface="Malgun Gothic" pitchFamily="34" charset="-122"/>
                <a:cs typeface="Malgun Gothic" pitchFamily="34" charset="-120"/>
              </a:rPr>
              <a:t>포착</a:t>
            </a:r>
            <a:endParaRPr lang="en-US" sz="1600" dirty="0"/>
          </a:p>
        </p:txBody>
      </p:sp>
      <p:sp>
        <p:nvSpPr>
          <p:cNvPr id="10" name="Text 7"/>
          <p:cNvSpPr txBox="1"/>
          <p:nvPr/>
        </p:nvSpPr>
        <p:spPr>
          <a:xfrm>
            <a:off x="777240" y="2398484"/>
            <a:ext cx="306324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카드 신호를 주시 목록으로</a:t>
            </a:r>
            <a:endParaRPr lang="en-US" sz="1250" dirty="0"/>
          </a:p>
        </p:txBody>
      </p:sp>
      <p:sp>
        <p:nvSpPr>
          <p:cNvPr id="11" name="Text 8"/>
          <p:cNvSpPr txBox="1"/>
          <p:nvPr/>
        </p:nvSpPr>
        <p:spPr>
          <a:xfrm>
            <a:off x="777240" y="2727668"/>
            <a:ext cx="3063240" cy="1051560"/>
          </a:xfrm>
          <a:prstGeom prst="rect">
            <a:avLst/>
          </a:prstGeom>
          <a:noFill/>
          <a:ln/>
        </p:spPr>
        <p:txBody>
          <a:bodyPr wrap="square" lIns="0" tIns="0" rIns="0" bIns="0" rtlCol="0" anchor="t"/>
          <a:lstStyle/>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외국인 카드 소비를 시군구×업종×월로 집계</a:t>
            </a:r>
            <a:endParaRPr lang="en-US" sz="1000" dirty="0"/>
          </a:p>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전국 동종업종 대비 상대 수준·초과성장률로 점수화</a:t>
            </a:r>
            <a:endParaRPr lang="en-US" sz="1000" dirty="0"/>
          </a:p>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방문자 통계·뉴스로 원인 태그 (관광·계절근로·미확인)</a:t>
            </a:r>
            <a:endParaRPr lang="en-US" sz="1000" dirty="0"/>
          </a:p>
        </p:txBody>
      </p:sp>
      <p:sp>
        <p:nvSpPr>
          <p:cNvPr id="12" name="Shape 9"/>
          <p:cNvSpPr/>
          <p:nvPr/>
        </p:nvSpPr>
        <p:spPr>
          <a:xfrm>
            <a:off x="777240" y="3806660"/>
            <a:ext cx="3063240" cy="246888"/>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3" name="Text 10"/>
          <p:cNvSpPr txBox="1"/>
          <p:nvPr/>
        </p:nvSpPr>
        <p:spPr>
          <a:xfrm>
            <a:off x="777240" y="3806660"/>
            <a:ext cx="3063240" cy="246888"/>
          </a:xfrm>
          <a:prstGeom prst="rect">
            <a:avLst/>
          </a:prstGeom>
          <a:noFill/>
          <a:ln/>
        </p:spPr>
        <p:txBody>
          <a:bodyPr wrap="square" lIns="0" tIns="0" rIns="0" bIns="0" rtlCol="0" anchor="ctr"/>
          <a:lstStyle/>
          <a:p>
            <a:pPr marL="0" indent="0" algn="ctr">
              <a:buNone/>
            </a:pPr>
            <a:r>
              <a:rPr lang="en-US" sz="950" b="1" dirty="0">
                <a:solidFill>
                  <a:srgbClr val="14213D"/>
                </a:solidFill>
                <a:latin typeface="Malgun Gothic" pitchFamily="34" charset="0"/>
                <a:ea typeface="Malgun Gothic" pitchFamily="34" charset="-122"/>
                <a:cs typeface="Malgun Gothic" pitchFamily="34" charset="-120"/>
              </a:rPr>
              <a:t>BC카드 내부 · 월 단위 리포트</a:t>
            </a:r>
            <a:endParaRPr lang="en-US" sz="950" dirty="0"/>
          </a:p>
        </p:txBody>
      </p:sp>
      <p:sp>
        <p:nvSpPr>
          <p:cNvPr id="14" name="Shape 11"/>
          <p:cNvSpPr/>
          <p:nvPr/>
        </p:nvSpPr>
        <p:spPr>
          <a:xfrm>
            <a:off x="4334256" y="1612100"/>
            <a:ext cx="3520440" cy="2560320"/>
          </a:xfrm>
          <a:prstGeom prst="roundRect">
            <a:avLst>
              <a:gd name="adj" fmla="val 4286"/>
            </a:avLst>
          </a:prstGeom>
          <a:solidFill>
            <a:srgbClr val="F3F6FB"/>
          </a:solidFill>
          <a:ln w="12700">
            <a:solidFill>
              <a:srgbClr val="F3F6FB"/>
            </a:solidFill>
            <a:prstDash val="solid"/>
          </a:ln>
        </p:spPr>
        <p:txBody>
          <a:bodyPr/>
          <a:lstStyle/>
          <a:p>
            <a:endParaRPr lang="ko-KR" altLang="en-US"/>
          </a:p>
        </p:txBody>
      </p:sp>
      <p:sp>
        <p:nvSpPr>
          <p:cNvPr id="15" name="Shape 12"/>
          <p:cNvSpPr/>
          <p:nvPr/>
        </p:nvSpPr>
        <p:spPr>
          <a:xfrm>
            <a:off x="4562856" y="1813268"/>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4665726" y="1916138"/>
            <a:ext cx="251460" cy="251460"/>
          </a:xfrm>
          <a:prstGeom prst="rect">
            <a:avLst/>
          </a:prstGeom>
        </p:spPr>
      </p:pic>
      <p:sp>
        <p:nvSpPr>
          <p:cNvPr id="17" name="Text 13"/>
          <p:cNvSpPr txBox="1"/>
          <p:nvPr/>
        </p:nvSpPr>
        <p:spPr>
          <a:xfrm>
            <a:off x="5157216" y="1813268"/>
            <a:ext cx="1828800" cy="457200"/>
          </a:xfrm>
          <a:prstGeom prst="rect">
            <a:avLst/>
          </a:prstGeom>
          <a:noFill/>
          <a:ln/>
        </p:spPr>
        <p:txBody>
          <a:bodyPr wrap="square" lIns="0" tIns="0" rIns="0" bIns="0" rtlCol="0" anchor="ctr"/>
          <a:lstStyle/>
          <a:p>
            <a:pPr marL="0" indent="0">
              <a:buNone/>
            </a:pPr>
            <a:r>
              <a:rPr lang="en-US" sz="1600" b="1" dirty="0">
                <a:solidFill>
                  <a:srgbClr val="E8383D"/>
                </a:solidFill>
                <a:latin typeface="Malgun Gothic" pitchFamily="34" charset="0"/>
                <a:ea typeface="Malgun Gothic" pitchFamily="34" charset="-122"/>
                <a:cs typeface="Malgun Gothic" pitchFamily="34" charset="-120"/>
              </a:rPr>
              <a:t>2  </a:t>
            </a:r>
            <a:r>
              <a:rPr lang="en-US" sz="1600" b="1" dirty="0">
                <a:solidFill>
                  <a:srgbClr val="14213D"/>
                </a:solidFill>
                <a:latin typeface="Malgun Gothic" pitchFamily="34" charset="0"/>
                <a:ea typeface="Malgun Gothic" pitchFamily="34" charset="-122"/>
                <a:cs typeface="Malgun Gothic" pitchFamily="34" charset="-120"/>
              </a:rPr>
              <a:t>전달</a:t>
            </a:r>
            <a:endParaRPr lang="en-US" sz="1600" dirty="0"/>
          </a:p>
        </p:txBody>
      </p:sp>
      <p:sp>
        <p:nvSpPr>
          <p:cNvPr id="18" name="Text 14"/>
          <p:cNvSpPr txBox="1"/>
          <p:nvPr/>
        </p:nvSpPr>
        <p:spPr>
          <a:xfrm>
            <a:off x="4562856" y="2398484"/>
            <a:ext cx="306324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조기 알림 + 로컬 얼리버드 큐레이션</a:t>
            </a:r>
            <a:endParaRPr lang="en-US" sz="1250" dirty="0"/>
          </a:p>
        </p:txBody>
      </p:sp>
      <p:sp>
        <p:nvSpPr>
          <p:cNvPr id="19" name="Text 15"/>
          <p:cNvSpPr txBox="1"/>
          <p:nvPr/>
        </p:nvSpPr>
        <p:spPr>
          <a:xfrm>
            <a:off x="4562856" y="2727668"/>
            <a:ext cx="3063240" cy="1051560"/>
          </a:xfrm>
          <a:prstGeom prst="rect">
            <a:avLst/>
          </a:prstGeom>
          <a:noFill/>
          <a:ln/>
        </p:spPr>
        <p:txBody>
          <a:bodyPr wrap="square" lIns="0" tIns="0" rIns="0" bIns="0" rtlCol="0" anchor="t"/>
          <a:lstStyle/>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지자체·소상공인에게: 다국어 메뉴판·안내문 준비를 앞당기도록 알림</a:t>
            </a:r>
            <a:endParaRPr lang="en-US" sz="1000" dirty="0"/>
          </a:p>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외국인 이용자에게: 아직 리뷰가 쌓이지 않은 스팟을 먼저 소개</a:t>
            </a:r>
            <a:endParaRPr lang="en-US" sz="1000" dirty="0"/>
          </a:p>
        </p:txBody>
      </p:sp>
      <p:sp>
        <p:nvSpPr>
          <p:cNvPr id="20" name="Shape 16"/>
          <p:cNvSpPr/>
          <p:nvPr/>
        </p:nvSpPr>
        <p:spPr>
          <a:xfrm>
            <a:off x="4562856" y="3806660"/>
            <a:ext cx="3063240" cy="246888"/>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1" name="Text 17"/>
          <p:cNvSpPr txBox="1"/>
          <p:nvPr/>
        </p:nvSpPr>
        <p:spPr>
          <a:xfrm>
            <a:off x="4562856" y="3806660"/>
            <a:ext cx="3063240" cy="246888"/>
          </a:xfrm>
          <a:prstGeom prst="rect">
            <a:avLst/>
          </a:prstGeom>
          <a:noFill/>
          <a:ln/>
        </p:spPr>
        <p:txBody>
          <a:bodyPr wrap="square" lIns="0" tIns="0" rIns="0" bIns="0" rtlCol="0" anchor="ctr"/>
          <a:lstStyle/>
          <a:p>
            <a:pPr marL="0" indent="0" algn="ctr">
              <a:buNone/>
            </a:pPr>
            <a:r>
              <a:rPr lang="en-US" sz="950" b="1" dirty="0">
                <a:solidFill>
                  <a:srgbClr val="14213D"/>
                </a:solidFill>
                <a:latin typeface="Malgun Gothic" pitchFamily="34" charset="0"/>
                <a:ea typeface="Malgun Gothic" pitchFamily="34" charset="-122"/>
                <a:cs typeface="Malgun Gothic" pitchFamily="34" charset="-120"/>
              </a:rPr>
              <a:t>지자체 · 소상공인 · 외국인 이용자</a:t>
            </a:r>
            <a:endParaRPr lang="en-US" sz="950" dirty="0"/>
          </a:p>
        </p:txBody>
      </p:sp>
      <p:sp>
        <p:nvSpPr>
          <p:cNvPr id="22" name="Shape 18"/>
          <p:cNvSpPr/>
          <p:nvPr/>
        </p:nvSpPr>
        <p:spPr>
          <a:xfrm>
            <a:off x="8119872" y="1612100"/>
            <a:ext cx="3520440" cy="2560320"/>
          </a:xfrm>
          <a:prstGeom prst="roundRect">
            <a:avLst>
              <a:gd name="adj" fmla="val 4286"/>
            </a:avLst>
          </a:prstGeom>
          <a:solidFill>
            <a:srgbClr val="F3F6FB"/>
          </a:solidFill>
          <a:ln w="12700">
            <a:solidFill>
              <a:srgbClr val="F3F6FB"/>
            </a:solidFill>
            <a:prstDash val="solid"/>
          </a:ln>
        </p:spPr>
        <p:txBody>
          <a:bodyPr/>
          <a:lstStyle/>
          <a:p>
            <a:endParaRPr lang="ko-KR" altLang="en-US"/>
          </a:p>
        </p:txBody>
      </p:sp>
      <p:sp>
        <p:nvSpPr>
          <p:cNvPr id="23" name="Shape 19"/>
          <p:cNvSpPr/>
          <p:nvPr/>
        </p:nvSpPr>
        <p:spPr>
          <a:xfrm>
            <a:off x="8348472" y="1813268"/>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24" name="Image 2" descr="preencoded.png"/>
          <p:cNvPicPr>
            <a:picLocks noChangeAspect="1"/>
          </p:cNvPicPr>
          <p:nvPr/>
        </p:nvPicPr>
        <p:blipFill>
          <a:blip r:embed="rId5"/>
          <a:stretch>
            <a:fillRect/>
          </a:stretch>
        </p:blipFill>
        <p:spPr>
          <a:xfrm>
            <a:off x="8451342" y="1916138"/>
            <a:ext cx="251460" cy="251460"/>
          </a:xfrm>
          <a:prstGeom prst="rect">
            <a:avLst/>
          </a:prstGeom>
        </p:spPr>
      </p:pic>
      <p:sp>
        <p:nvSpPr>
          <p:cNvPr id="25" name="Text 20"/>
          <p:cNvSpPr txBox="1"/>
          <p:nvPr/>
        </p:nvSpPr>
        <p:spPr>
          <a:xfrm>
            <a:off x="8942832" y="1813268"/>
            <a:ext cx="1828800" cy="457200"/>
          </a:xfrm>
          <a:prstGeom prst="rect">
            <a:avLst/>
          </a:prstGeom>
          <a:noFill/>
          <a:ln/>
        </p:spPr>
        <p:txBody>
          <a:bodyPr wrap="square" lIns="0" tIns="0" rIns="0" bIns="0" rtlCol="0" anchor="ctr"/>
          <a:lstStyle/>
          <a:p>
            <a:pPr marL="0" indent="0">
              <a:buNone/>
            </a:pPr>
            <a:r>
              <a:rPr lang="en-US" sz="1600" b="1" dirty="0">
                <a:solidFill>
                  <a:srgbClr val="E8383D"/>
                </a:solidFill>
                <a:latin typeface="Malgun Gothic" pitchFamily="34" charset="0"/>
                <a:ea typeface="Malgun Gothic" pitchFamily="34" charset="-122"/>
                <a:cs typeface="Malgun Gothic" pitchFamily="34" charset="-120"/>
              </a:rPr>
              <a:t>3  </a:t>
            </a:r>
            <a:r>
              <a:rPr lang="en-US" sz="1600" b="1" dirty="0">
                <a:solidFill>
                  <a:srgbClr val="14213D"/>
                </a:solidFill>
                <a:latin typeface="Malgun Gothic" pitchFamily="34" charset="0"/>
                <a:ea typeface="Malgun Gothic" pitchFamily="34" charset="-122"/>
                <a:cs typeface="Malgun Gothic" pitchFamily="34" charset="-120"/>
              </a:rPr>
              <a:t>행동</a:t>
            </a:r>
            <a:endParaRPr lang="en-US" sz="1600" dirty="0"/>
          </a:p>
        </p:txBody>
      </p:sp>
      <p:sp>
        <p:nvSpPr>
          <p:cNvPr id="26" name="Text 21"/>
          <p:cNvSpPr txBox="1"/>
          <p:nvPr/>
        </p:nvSpPr>
        <p:spPr>
          <a:xfrm>
            <a:off x="8348472" y="2398484"/>
            <a:ext cx="306324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크로스보더 QR 첫 결제 리워드</a:t>
            </a:r>
            <a:endParaRPr lang="en-US" sz="1250" dirty="0"/>
          </a:p>
        </p:txBody>
      </p:sp>
      <p:sp>
        <p:nvSpPr>
          <p:cNvPr id="27" name="Text 22"/>
          <p:cNvSpPr txBox="1"/>
          <p:nvPr/>
        </p:nvSpPr>
        <p:spPr>
          <a:xfrm>
            <a:off x="8348472" y="2727668"/>
            <a:ext cx="3063240" cy="1051560"/>
          </a:xfrm>
          <a:prstGeom prst="rect">
            <a:avLst/>
          </a:prstGeom>
          <a:noFill/>
          <a:ln/>
        </p:spPr>
        <p:txBody>
          <a:bodyPr wrap="square" lIns="0" tIns="0" rIns="0" bIns="0" rtlCol="0" anchor="t"/>
          <a:lstStyle/>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얼리버드 스팟에서 첫 결제 시 포인트·할인과 얼리버드 배지</a:t>
            </a:r>
            <a:endParaRPr lang="en-US" sz="1000" dirty="0"/>
          </a:p>
          <a:p>
            <a:pPr marL="127000" indent="-127000">
              <a:lnSpc>
                <a:spcPct val="110000"/>
              </a:lnSpc>
              <a:spcAft>
                <a:spcPts val="300"/>
              </a:spcAft>
              <a:buSzPct val="100000"/>
              <a:buChar char="•"/>
            </a:pPr>
            <a:r>
              <a:rPr lang="en-US" sz="1000" dirty="0">
                <a:solidFill>
                  <a:srgbClr val="3A475C"/>
                </a:solidFill>
                <a:latin typeface="Malgun Gothic" pitchFamily="34" charset="0"/>
                <a:ea typeface="Malgun Gothic" pitchFamily="34" charset="-122"/>
                <a:cs typeface="Malgun Gothic" pitchFamily="34" charset="-120"/>
              </a:rPr>
              <a:t>신규 카드 발급 없이, 8/24 협약이 여는 결제 인프라 위에서 동작</a:t>
            </a:r>
            <a:endParaRPr lang="en-US" sz="1000" dirty="0"/>
          </a:p>
        </p:txBody>
      </p:sp>
      <p:sp>
        <p:nvSpPr>
          <p:cNvPr id="28" name="Shape 23"/>
          <p:cNvSpPr/>
          <p:nvPr/>
        </p:nvSpPr>
        <p:spPr>
          <a:xfrm>
            <a:off x="8348472" y="3806660"/>
            <a:ext cx="3063240" cy="246888"/>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9" name="Text 24"/>
          <p:cNvSpPr txBox="1"/>
          <p:nvPr/>
        </p:nvSpPr>
        <p:spPr>
          <a:xfrm>
            <a:off x="8348472" y="3806660"/>
            <a:ext cx="3063240" cy="246888"/>
          </a:xfrm>
          <a:prstGeom prst="rect">
            <a:avLst/>
          </a:prstGeom>
          <a:noFill/>
          <a:ln/>
        </p:spPr>
        <p:txBody>
          <a:bodyPr wrap="square" lIns="0" tIns="0" rIns="0" bIns="0" rtlCol="0" anchor="ctr"/>
          <a:lstStyle/>
          <a:p>
            <a:pPr marL="0" indent="0" algn="ctr">
              <a:buNone/>
            </a:pPr>
            <a:r>
              <a:rPr lang="en-US" sz="950" b="1" dirty="0">
                <a:solidFill>
                  <a:srgbClr val="14213D"/>
                </a:solidFill>
                <a:latin typeface="Malgun Gothic" pitchFamily="34" charset="0"/>
                <a:ea typeface="Malgun Gothic" pitchFamily="34" charset="-122"/>
                <a:cs typeface="Malgun Gothic" pitchFamily="34" charset="-120"/>
              </a:rPr>
              <a:t>협약 인프라 위 · 2027 출시 목표</a:t>
            </a:r>
            <a:endParaRPr lang="en-US" sz="950" dirty="0"/>
          </a:p>
        </p:txBody>
      </p:sp>
      <p:sp>
        <p:nvSpPr>
          <p:cNvPr id="30" name="Shape 25"/>
          <p:cNvSpPr/>
          <p:nvPr/>
        </p:nvSpPr>
        <p:spPr>
          <a:xfrm>
            <a:off x="4037076" y="1941284"/>
            <a:ext cx="329184" cy="329184"/>
          </a:xfrm>
          <a:prstGeom prst="ellipse">
            <a:avLst/>
          </a:prstGeom>
          <a:solidFill>
            <a:srgbClr val="FFFFFF"/>
          </a:solidFill>
          <a:ln w="12700">
            <a:solidFill>
              <a:srgbClr val="D9E0EA"/>
            </a:solidFill>
            <a:prstDash val="solid"/>
          </a:ln>
        </p:spPr>
        <p:txBody>
          <a:bodyPr/>
          <a:lstStyle/>
          <a:p>
            <a:endParaRPr lang="ko-KR" altLang="en-US"/>
          </a:p>
        </p:txBody>
      </p:sp>
      <p:pic>
        <p:nvPicPr>
          <p:cNvPr id="31" name="Image 3" descr="preencoded.png"/>
          <p:cNvPicPr>
            <a:picLocks noChangeAspect="1"/>
          </p:cNvPicPr>
          <p:nvPr/>
        </p:nvPicPr>
        <p:blipFill>
          <a:blip r:embed="rId6"/>
          <a:stretch>
            <a:fillRect/>
          </a:stretch>
        </p:blipFill>
        <p:spPr>
          <a:xfrm>
            <a:off x="4110228" y="2014436"/>
            <a:ext cx="182880" cy="182880"/>
          </a:xfrm>
          <a:prstGeom prst="rect">
            <a:avLst/>
          </a:prstGeom>
        </p:spPr>
      </p:pic>
      <p:sp>
        <p:nvSpPr>
          <p:cNvPr id="32" name="Shape 26"/>
          <p:cNvSpPr/>
          <p:nvPr/>
        </p:nvSpPr>
        <p:spPr>
          <a:xfrm>
            <a:off x="7822692" y="1941284"/>
            <a:ext cx="329184" cy="329184"/>
          </a:xfrm>
          <a:prstGeom prst="ellipse">
            <a:avLst/>
          </a:prstGeom>
          <a:solidFill>
            <a:srgbClr val="FFFFFF"/>
          </a:solidFill>
          <a:ln w="12700">
            <a:solidFill>
              <a:srgbClr val="D9E0EA"/>
            </a:solidFill>
            <a:prstDash val="solid"/>
          </a:ln>
        </p:spPr>
        <p:txBody>
          <a:bodyPr/>
          <a:lstStyle/>
          <a:p>
            <a:endParaRPr lang="ko-KR" altLang="en-US"/>
          </a:p>
        </p:txBody>
      </p:sp>
      <p:pic>
        <p:nvPicPr>
          <p:cNvPr id="33" name="Image 4" descr="preencoded.png"/>
          <p:cNvPicPr>
            <a:picLocks noChangeAspect="1"/>
          </p:cNvPicPr>
          <p:nvPr/>
        </p:nvPicPr>
        <p:blipFill>
          <a:blip r:embed="rId6"/>
          <a:stretch>
            <a:fillRect/>
          </a:stretch>
        </p:blipFill>
        <p:spPr>
          <a:xfrm>
            <a:off x="7895844" y="2014436"/>
            <a:ext cx="182880" cy="182880"/>
          </a:xfrm>
          <a:prstGeom prst="rect">
            <a:avLst/>
          </a:prstGeom>
        </p:spPr>
      </p:pic>
      <p:sp>
        <p:nvSpPr>
          <p:cNvPr id="34" name="Shape 27"/>
          <p:cNvSpPr/>
          <p:nvPr/>
        </p:nvSpPr>
        <p:spPr>
          <a:xfrm>
            <a:off x="548640" y="4434840"/>
            <a:ext cx="5943600" cy="1600200"/>
          </a:xfrm>
          <a:prstGeom prst="roundRect">
            <a:avLst>
              <a:gd name="adj" fmla="val 6857"/>
            </a:avLst>
          </a:prstGeom>
          <a:solidFill>
            <a:srgbClr val="FFFFFF"/>
          </a:solidFill>
          <a:ln w="9525">
            <a:solidFill>
              <a:srgbClr val="D9E0EA"/>
            </a:solidFill>
            <a:prstDash val="solid"/>
          </a:ln>
        </p:spPr>
        <p:txBody>
          <a:bodyPr/>
          <a:lstStyle/>
          <a:p>
            <a:endParaRPr lang="ko-KR" altLang="en-US"/>
          </a:p>
        </p:txBody>
      </p:sp>
      <p:sp>
        <p:nvSpPr>
          <p:cNvPr id="35" name="Text 28"/>
          <p:cNvSpPr txBox="1"/>
          <p:nvPr/>
        </p:nvSpPr>
        <p:spPr>
          <a:xfrm>
            <a:off x="777240" y="4526280"/>
            <a:ext cx="411480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주시 목록에 올리는 기준 (제안)</a:t>
            </a:r>
            <a:endParaRPr lang="en-US" sz="1250" dirty="0"/>
          </a:p>
        </p:txBody>
      </p:sp>
      <p:sp>
        <p:nvSpPr>
          <p:cNvPr id="36" name="Shape 29"/>
          <p:cNvSpPr/>
          <p:nvPr/>
        </p:nvSpPr>
        <p:spPr>
          <a:xfrm>
            <a:off x="5029200" y="4544568"/>
            <a:ext cx="1234440" cy="237744"/>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37" name="Text 30"/>
          <p:cNvSpPr txBox="1"/>
          <p:nvPr/>
        </p:nvSpPr>
        <p:spPr>
          <a:xfrm>
            <a:off x="5029200" y="4544568"/>
            <a:ext cx="1234440" cy="237744"/>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전국 재검증 근거</a:t>
            </a:r>
            <a:endParaRPr lang="en-US" sz="900" dirty="0"/>
          </a:p>
        </p:txBody>
      </p:sp>
      <p:sp>
        <p:nvSpPr>
          <p:cNvPr id="38" name="Shape 31"/>
          <p:cNvSpPr/>
          <p:nvPr/>
        </p:nvSpPr>
        <p:spPr>
          <a:xfrm>
            <a:off x="777240" y="4921852"/>
            <a:ext cx="201168" cy="201168"/>
          </a:xfrm>
          <a:prstGeom prst="ellipse">
            <a:avLst/>
          </a:prstGeom>
          <a:solidFill>
            <a:srgbClr val="E8383D"/>
          </a:solidFill>
          <a:ln w="12700">
            <a:solidFill>
              <a:srgbClr val="E8383D"/>
            </a:solidFill>
            <a:prstDash val="solid"/>
          </a:ln>
        </p:spPr>
        <p:txBody>
          <a:bodyPr/>
          <a:lstStyle/>
          <a:p>
            <a:endParaRPr lang="ko-KR" altLang="en-US"/>
          </a:p>
        </p:txBody>
      </p:sp>
      <p:sp>
        <p:nvSpPr>
          <p:cNvPr id="39" name="Text 32"/>
          <p:cNvSpPr txBox="1"/>
          <p:nvPr/>
        </p:nvSpPr>
        <p:spPr>
          <a:xfrm>
            <a:off x="777240" y="492185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40" name="Text 33"/>
          <p:cNvSpPr txBox="1"/>
          <p:nvPr/>
        </p:nvSpPr>
        <p:spPr>
          <a:xfrm>
            <a:off x="1097280" y="4841936"/>
            <a:ext cx="5212080" cy="347472"/>
          </a:xfrm>
          <a:prstGeom prst="rect">
            <a:avLst/>
          </a:prstGeom>
          <a:noFill/>
          <a:ln/>
        </p:spPr>
        <p:txBody>
          <a:bodyPr wrap="square" lIns="0" tIns="0" rIns="0" bIns="0" rtlCol="0" anchor="ctr"/>
          <a:lstStyle/>
          <a:p>
            <a:pPr marL="0" indent="0">
              <a:lnSpc>
                <a:spcPct val="105000"/>
              </a:lnSpc>
              <a:buNone/>
            </a:pPr>
            <a:r>
              <a:rPr lang="en-US" sz="900" b="1" dirty="0">
                <a:solidFill>
                  <a:srgbClr val="B7232B"/>
                </a:solidFill>
                <a:latin typeface="Malgun Gothic" pitchFamily="34" charset="0"/>
                <a:ea typeface="Malgun Gothic" pitchFamily="34" charset="-122"/>
                <a:cs typeface="Malgun Gothic" pitchFamily="34" charset="-120"/>
              </a:rPr>
              <a:t>최소 건수  </a:t>
            </a:r>
            <a:r>
              <a:rPr lang="en-US" sz="900" dirty="0">
                <a:solidFill>
                  <a:srgbClr val="3A475C"/>
                </a:solidFill>
                <a:latin typeface="Malgun Gothic" pitchFamily="34" charset="0"/>
                <a:ea typeface="Malgun Gothic" pitchFamily="34" charset="-122"/>
                <a:cs typeface="Malgun Gothic" pitchFamily="34" charset="-120"/>
              </a:rPr>
              <a:t>6개월 누적 200건 이상, 최근월 30건 이상 — 소규모 셀의 노이즈를 거른다</a:t>
            </a:r>
            <a:endParaRPr lang="en-US" sz="900" dirty="0"/>
          </a:p>
        </p:txBody>
      </p:sp>
      <p:sp>
        <p:nvSpPr>
          <p:cNvPr id="41" name="Shape 34"/>
          <p:cNvSpPr/>
          <p:nvPr/>
        </p:nvSpPr>
        <p:spPr>
          <a:xfrm>
            <a:off x="777240" y="5287612"/>
            <a:ext cx="201168" cy="201168"/>
          </a:xfrm>
          <a:prstGeom prst="ellipse">
            <a:avLst/>
          </a:prstGeom>
          <a:solidFill>
            <a:srgbClr val="E8383D"/>
          </a:solidFill>
          <a:ln w="12700">
            <a:solidFill>
              <a:srgbClr val="E8383D"/>
            </a:solidFill>
            <a:prstDash val="solid"/>
          </a:ln>
        </p:spPr>
        <p:txBody>
          <a:bodyPr/>
          <a:lstStyle/>
          <a:p>
            <a:endParaRPr lang="ko-KR" altLang="en-US"/>
          </a:p>
        </p:txBody>
      </p:sp>
      <p:sp>
        <p:nvSpPr>
          <p:cNvPr id="42" name="Text 35"/>
          <p:cNvSpPr txBox="1"/>
          <p:nvPr/>
        </p:nvSpPr>
        <p:spPr>
          <a:xfrm>
            <a:off x="777240" y="5287612"/>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43" name="Text 36"/>
          <p:cNvSpPr txBox="1"/>
          <p:nvPr/>
        </p:nvSpPr>
        <p:spPr>
          <a:xfrm>
            <a:off x="1097280" y="5245274"/>
            <a:ext cx="5212080" cy="347472"/>
          </a:xfrm>
          <a:prstGeom prst="rect">
            <a:avLst/>
          </a:prstGeom>
          <a:noFill/>
          <a:ln/>
        </p:spPr>
        <p:txBody>
          <a:bodyPr wrap="square" lIns="0" tIns="0" rIns="0" bIns="0" rtlCol="0" anchor="ctr"/>
          <a:lstStyle/>
          <a:p>
            <a:pPr marL="0" indent="0">
              <a:lnSpc>
                <a:spcPct val="105000"/>
              </a:lnSpc>
              <a:buNone/>
            </a:pPr>
            <a:r>
              <a:rPr lang="en-US" sz="900" b="1" dirty="0">
                <a:solidFill>
                  <a:srgbClr val="B7232B"/>
                </a:solidFill>
                <a:latin typeface="Malgun Gothic" pitchFamily="34" charset="0"/>
                <a:ea typeface="Malgun Gothic" pitchFamily="34" charset="-122"/>
                <a:cs typeface="Malgun Gothic" pitchFamily="34" charset="-120"/>
              </a:rPr>
              <a:t>수준 상승  </a:t>
            </a:r>
            <a:r>
              <a:rPr lang="en-US" sz="900" dirty="0">
                <a:solidFill>
                  <a:srgbClr val="3A475C"/>
                </a:solidFill>
                <a:latin typeface="Malgun Gothic" pitchFamily="34" charset="0"/>
                <a:ea typeface="Malgun Gothic" pitchFamily="34" charset="-122"/>
                <a:cs typeface="Malgun Gothic" pitchFamily="34" charset="-120"/>
              </a:rPr>
              <a:t>전국 동종업종 대비 상대 수준이 1~2월의 1.3배 이상 — 이 기준을 넘은 106개 조합은 5~6월에도 모두 기준 구간보다 높게 유지됐다</a:t>
            </a:r>
            <a:endParaRPr lang="en-US" sz="900" dirty="0"/>
          </a:p>
        </p:txBody>
      </p:sp>
      <p:sp>
        <p:nvSpPr>
          <p:cNvPr id="44" name="Shape 37"/>
          <p:cNvSpPr/>
          <p:nvPr/>
        </p:nvSpPr>
        <p:spPr>
          <a:xfrm>
            <a:off x="777240" y="5678424"/>
            <a:ext cx="201168" cy="201168"/>
          </a:xfrm>
          <a:prstGeom prst="ellipse">
            <a:avLst/>
          </a:prstGeom>
          <a:solidFill>
            <a:srgbClr val="E8383D"/>
          </a:solidFill>
          <a:ln w="12700">
            <a:solidFill>
              <a:srgbClr val="E8383D"/>
            </a:solidFill>
            <a:prstDash val="solid"/>
          </a:ln>
        </p:spPr>
        <p:txBody>
          <a:bodyPr/>
          <a:lstStyle/>
          <a:p>
            <a:endParaRPr lang="ko-KR" altLang="en-US"/>
          </a:p>
        </p:txBody>
      </p:sp>
      <p:sp>
        <p:nvSpPr>
          <p:cNvPr id="45" name="Text 38"/>
          <p:cNvSpPr txBox="1"/>
          <p:nvPr/>
        </p:nvSpPr>
        <p:spPr>
          <a:xfrm>
            <a:off x="777240" y="5678424"/>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46" name="Text 39"/>
          <p:cNvSpPr txBox="1"/>
          <p:nvPr/>
        </p:nvSpPr>
        <p:spPr>
          <a:xfrm>
            <a:off x="1097280" y="5623560"/>
            <a:ext cx="5212080" cy="347472"/>
          </a:xfrm>
          <a:prstGeom prst="rect">
            <a:avLst/>
          </a:prstGeom>
          <a:noFill/>
          <a:ln/>
        </p:spPr>
        <p:txBody>
          <a:bodyPr wrap="square" lIns="0" tIns="0" rIns="0" bIns="0" rtlCol="0" anchor="ctr"/>
          <a:lstStyle/>
          <a:p>
            <a:pPr marL="0" indent="0">
              <a:lnSpc>
                <a:spcPct val="105000"/>
              </a:lnSpc>
              <a:buNone/>
            </a:pPr>
            <a:r>
              <a:rPr lang="en-US" sz="900" b="1" dirty="0">
                <a:solidFill>
                  <a:srgbClr val="B7232B"/>
                </a:solidFill>
                <a:latin typeface="Malgun Gothic" pitchFamily="34" charset="0"/>
                <a:ea typeface="Malgun Gothic" pitchFamily="34" charset="-122"/>
                <a:cs typeface="Malgun Gothic" pitchFamily="34" charset="-120"/>
              </a:rPr>
              <a:t>폭넓은 확산  </a:t>
            </a:r>
            <a:r>
              <a:rPr lang="en-US" sz="900" dirty="0">
                <a:solidFill>
                  <a:srgbClr val="3A475C"/>
                </a:solidFill>
                <a:latin typeface="Malgun Gothic" pitchFamily="34" charset="0"/>
                <a:ea typeface="Malgun Gothic" pitchFamily="34" charset="-122"/>
                <a:cs typeface="Malgun Gothic" pitchFamily="34" charset="-120"/>
              </a:rPr>
              <a:t>여러 업종·여러 달에서 함께 오를수록 우선 — 청송군은 3개 업종이 동시에 올랐다 (설계 원칙, 별도 검증은 하지 못함)</a:t>
            </a:r>
            <a:endParaRPr lang="en-US" sz="900" dirty="0"/>
          </a:p>
        </p:txBody>
      </p:sp>
      <p:sp>
        <p:nvSpPr>
          <p:cNvPr id="47" name="Shape 40"/>
          <p:cNvSpPr/>
          <p:nvPr/>
        </p:nvSpPr>
        <p:spPr>
          <a:xfrm>
            <a:off x="6675120" y="4434840"/>
            <a:ext cx="2391156" cy="1600200"/>
          </a:xfrm>
          <a:prstGeom prst="roundRect">
            <a:avLst>
              <a:gd name="adj" fmla="val 6857"/>
            </a:avLst>
          </a:prstGeom>
          <a:solidFill>
            <a:srgbClr val="E3F6F3"/>
          </a:solidFill>
          <a:ln w="12700">
            <a:solidFill>
              <a:srgbClr val="E3F6F3"/>
            </a:solidFill>
            <a:prstDash val="solid"/>
          </a:ln>
        </p:spPr>
        <p:txBody>
          <a:bodyPr/>
          <a:lstStyle/>
          <a:p>
            <a:endParaRPr lang="ko-KR" altLang="en-US"/>
          </a:p>
        </p:txBody>
      </p:sp>
      <p:sp>
        <p:nvSpPr>
          <p:cNvPr id="48" name="Shape 41"/>
          <p:cNvSpPr/>
          <p:nvPr/>
        </p:nvSpPr>
        <p:spPr>
          <a:xfrm>
            <a:off x="6812280" y="4544568"/>
            <a:ext cx="1188720" cy="228600"/>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9" name="Text 42"/>
          <p:cNvSpPr txBox="1"/>
          <p:nvPr/>
        </p:nvSpPr>
        <p:spPr>
          <a:xfrm>
            <a:off x="6812280" y="4544568"/>
            <a:ext cx="1188720" cy="228600"/>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Track A · 메인</a:t>
            </a:r>
            <a:endParaRPr lang="en-US" sz="900" dirty="0"/>
          </a:p>
        </p:txBody>
      </p:sp>
      <p:sp>
        <p:nvSpPr>
          <p:cNvPr id="50" name="Text 43"/>
          <p:cNvSpPr txBox="1"/>
          <p:nvPr/>
        </p:nvSpPr>
        <p:spPr>
          <a:xfrm>
            <a:off x="6812280" y="4837176"/>
            <a:ext cx="2116836" cy="237744"/>
          </a:xfrm>
          <a:prstGeom prst="rect">
            <a:avLst/>
          </a:prstGeom>
          <a:noFill/>
          <a:ln/>
        </p:spPr>
        <p:txBody>
          <a:bodyPr wrap="square" lIns="0" tIns="0" rIns="0" bIns="0" rtlCol="0" anchor="ctr"/>
          <a:lstStyle/>
          <a:p>
            <a:pPr marL="0" indent="0">
              <a:buNone/>
            </a:pPr>
            <a:r>
              <a:rPr lang="en-US" sz="1100" b="1" dirty="0">
                <a:solidFill>
                  <a:srgbClr val="0B7A6D"/>
                </a:solidFill>
                <a:latin typeface="Malgun Gothic" pitchFamily="34" charset="0"/>
                <a:ea typeface="Malgun Gothic" pitchFamily="34" charset="-122"/>
                <a:cs typeface="Malgun Gothic" pitchFamily="34" charset="-120"/>
              </a:rPr>
              <a:t>관광 유입형</a:t>
            </a:r>
            <a:endParaRPr lang="en-US" sz="1100" dirty="0"/>
          </a:p>
        </p:txBody>
      </p:sp>
      <p:sp>
        <p:nvSpPr>
          <p:cNvPr id="51" name="Text 44"/>
          <p:cNvSpPr txBox="1"/>
          <p:nvPr/>
        </p:nvSpPr>
        <p:spPr>
          <a:xfrm>
            <a:off x="6812280" y="5129784"/>
            <a:ext cx="2116836" cy="420624"/>
          </a:xfrm>
          <a:prstGeom prst="rect">
            <a:avLst/>
          </a:prstGeom>
          <a:noFill/>
          <a:ln/>
        </p:spPr>
        <p:txBody>
          <a:bodyPr wrap="square" lIns="0" tIns="0" rIns="0" bIns="0" rtlCol="0" anchor="t"/>
          <a:lstStyle/>
          <a:p>
            <a:pPr marL="0" indent="0">
              <a:lnSpc>
                <a:spcPct val="108000"/>
              </a:lnSpc>
              <a:buNone/>
            </a:pPr>
            <a:r>
              <a:rPr lang="en-US" sz="950" dirty="0">
                <a:solidFill>
                  <a:srgbClr val="14213D"/>
                </a:solidFill>
                <a:latin typeface="Malgun Gothic" pitchFamily="34" charset="0"/>
                <a:ea typeface="Malgun Gothic" pitchFamily="34" charset="-122"/>
                <a:cs typeface="Malgun Gothic" pitchFamily="34" charset="-120"/>
              </a:rPr>
              <a:t>옹진·양양처럼 확인된 반증이 없는 지역</a:t>
            </a:r>
            <a:endParaRPr lang="en-US" sz="950" dirty="0"/>
          </a:p>
        </p:txBody>
      </p:sp>
      <p:sp>
        <p:nvSpPr>
          <p:cNvPr id="52" name="Text 45"/>
          <p:cNvSpPr txBox="1"/>
          <p:nvPr/>
        </p:nvSpPr>
        <p:spPr>
          <a:xfrm>
            <a:off x="6812280" y="5568696"/>
            <a:ext cx="2116836" cy="402336"/>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조기 알림 → 얼리버드 큐레이션 → 첫 결제 리워드</a:t>
            </a:r>
            <a:endParaRPr lang="en-US" sz="900" dirty="0"/>
          </a:p>
        </p:txBody>
      </p:sp>
      <p:sp>
        <p:nvSpPr>
          <p:cNvPr id="53" name="Shape 46"/>
          <p:cNvSpPr/>
          <p:nvPr/>
        </p:nvSpPr>
        <p:spPr>
          <a:xfrm>
            <a:off x="9249156" y="4434840"/>
            <a:ext cx="2391156" cy="1600200"/>
          </a:xfrm>
          <a:prstGeom prst="roundRect">
            <a:avLst>
              <a:gd name="adj" fmla="val 6857"/>
            </a:avLst>
          </a:prstGeom>
          <a:solidFill>
            <a:srgbClr val="FDECEC"/>
          </a:solidFill>
          <a:ln w="12700">
            <a:solidFill>
              <a:srgbClr val="FDECEC"/>
            </a:solidFill>
            <a:prstDash val="solid"/>
          </a:ln>
        </p:spPr>
        <p:txBody>
          <a:bodyPr/>
          <a:lstStyle/>
          <a:p>
            <a:endParaRPr lang="ko-KR" altLang="en-US"/>
          </a:p>
        </p:txBody>
      </p:sp>
      <p:sp>
        <p:nvSpPr>
          <p:cNvPr id="54" name="Shape 47"/>
          <p:cNvSpPr/>
          <p:nvPr/>
        </p:nvSpPr>
        <p:spPr>
          <a:xfrm>
            <a:off x="9386316" y="4544568"/>
            <a:ext cx="1188720" cy="228600"/>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55" name="Text 48"/>
          <p:cNvSpPr txBox="1"/>
          <p:nvPr/>
        </p:nvSpPr>
        <p:spPr>
          <a:xfrm>
            <a:off x="9386316" y="4544568"/>
            <a:ext cx="1188720" cy="228600"/>
          </a:xfrm>
          <a:prstGeom prst="rect">
            <a:avLst/>
          </a:prstGeom>
          <a:noFill/>
          <a:ln/>
        </p:spPr>
        <p:txBody>
          <a:bodyPr wrap="square" lIns="0" tIns="0" rIns="0" bIns="0" rtlCol="0" anchor="ctr"/>
          <a:lstStyle/>
          <a:p>
            <a:pPr marL="0" indent="0" algn="ctr">
              <a:buNone/>
            </a:pPr>
            <a:r>
              <a:rPr lang="en-US" sz="900" b="1" dirty="0">
                <a:solidFill>
                  <a:srgbClr val="B7232B"/>
                </a:solidFill>
                <a:latin typeface="Malgun Gothic" pitchFamily="34" charset="0"/>
                <a:ea typeface="Malgun Gothic" pitchFamily="34" charset="-122"/>
                <a:cs typeface="Malgun Gothic" pitchFamily="34" charset="-120"/>
              </a:rPr>
              <a:t>Track B · 확장</a:t>
            </a:r>
            <a:endParaRPr lang="en-US" sz="900" dirty="0"/>
          </a:p>
        </p:txBody>
      </p:sp>
      <p:sp>
        <p:nvSpPr>
          <p:cNvPr id="56" name="Text 49"/>
          <p:cNvSpPr txBox="1"/>
          <p:nvPr/>
        </p:nvSpPr>
        <p:spPr>
          <a:xfrm>
            <a:off x="9386316" y="4837176"/>
            <a:ext cx="2116836" cy="237744"/>
          </a:xfrm>
          <a:prstGeom prst="rect">
            <a:avLst/>
          </a:prstGeom>
          <a:noFill/>
          <a:ln/>
        </p:spPr>
        <p:txBody>
          <a:bodyPr wrap="square" lIns="0" tIns="0" rIns="0" bIns="0" rtlCol="0" anchor="ctr"/>
          <a:lstStyle/>
          <a:p>
            <a:pPr marL="0" indent="0">
              <a:buNone/>
            </a:pPr>
            <a:r>
              <a:rPr lang="en-US" sz="1100" b="1" dirty="0">
                <a:solidFill>
                  <a:srgbClr val="B7232B"/>
                </a:solidFill>
                <a:latin typeface="Malgun Gothic" pitchFamily="34" charset="0"/>
                <a:ea typeface="Malgun Gothic" pitchFamily="34" charset="-122"/>
                <a:cs typeface="Malgun Gothic" pitchFamily="34" charset="-120"/>
              </a:rPr>
              <a:t>이주정착지원 (아이디어 수준)</a:t>
            </a:r>
            <a:endParaRPr lang="en-US" sz="1100" dirty="0"/>
          </a:p>
        </p:txBody>
      </p:sp>
      <p:sp>
        <p:nvSpPr>
          <p:cNvPr id="57" name="Text 50"/>
          <p:cNvSpPr txBox="1"/>
          <p:nvPr/>
        </p:nvSpPr>
        <p:spPr>
          <a:xfrm>
            <a:off x="9386316" y="5129784"/>
            <a:ext cx="2116836" cy="420624"/>
          </a:xfrm>
          <a:prstGeom prst="rect">
            <a:avLst/>
          </a:prstGeom>
          <a:noFill/>
          <a:ln/>
        </p:spPr>
        <p:txBody>
          <a:bodyPr wrap="square" lIns="0" tIns="0" rIns="0" bIns="0" rtlCol="0" anchor="t"/>
          <a:lstStyle/>
          <a:p>
            <a:pPr marL="0" indent="0">
              <a:lnSpc>
                <a:spcPct val="108000"/>
              </a:lnSpc>
              <a:buNone/>
            </a:pPr>
            <a:r>
              <a:rPr lang="en-US" sz="950" dirty="0">
                <a:solidFill>
                  <a:srgbClr val="14213D"/>
                </a:solidFill>
                <a:latin typeface="Malgun Gothic" pitchFamily="34" charset="0"/>
                <a:ea typeface="Malgun Gothic" pitchFamily="34" charset="-122"/>
                <a:cs typeface="Malgun Gothic" pitchFamily="34" charset="-120"/>
              </a:rPr>
              <a:t>청송·영양·봉화·고성처럼 계절근로자 입국이 확인된 지역</a:t>
            </a:r>
            <a:endParaRPr lang="en-US" sz="950" dirty="0"/>
          </a:p>
        </p:txBody>
      </p:sp>
      <p:sp>
        <p:nvSpPr>
          <p:cNvPr id="58" name="Text 51"/>
          <p:cNvSpPr txBox="1"/>
          <p:nvPr/>
        </p:nvSpPr>
        <p:spPr>
          <a:xfrm>
            <a:off x="9386316" y="5568696"/>
            <a:ext cx="2116836" cy="402336"/>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다국어 결제 안내·생활정보 (지자체·BC카드 협업)</a:t>
            </a:r>
            <a:endParaRPr lang="en-US" sz="900" dirty="0"/>
          </a:p>
        </p:txBody>
      </p:sp>
      <p:sp>
        <p:nvSpPr>
          <p:cNvPr id="59" name="Text 52"/>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구체화는 Track A에 집중하고 Track B는 아이디어 수준으로만 제시한다. 트랙 분류는 뉴스 근거에 따른 정성적 판단이다 (분류 기준 16쪽 · 근거 20쪽).</a:t>
            </a:r>
            <a:endParaRPr lang="en-US" sz="900" dirty="0"/>
          </a:p>
        </p:txBody>
      </p:sp>
      <p:sp>
        <p:nvSpPr>
          <p:cNvPr id="60" name="Text 53"/>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61" name="Text 54"/>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28 / 42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06  </a:t>
            </a:r>
            <a:r>
              <a:rPr lang="en-US" sz="1150" b="1" dirty="0">
                <a:solidFill>
                  <a:srgbClr val="64748B"/>
                </a:solidFill>
                <a:latin typeface="Malgun Gothic" pitchFamily="34" charset="0"/>
                <a:ea typeface="Malgun Gothic" pitchFamily="34" charset="-122"/>
                <a:cs typeface="Malgun Gothic" pitchFamily="34" charset="-120"/>
              </a:rPr>
              <a:t>서비스 아이디어 제안 · 화면 구상</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서비스는 세 장면으로 이어진다 — 알림, 발견, 첫 결제</a:t>
            </a:r>
            <a:endParaRPr lang="en-US" sz="2400" dirty="0"/>
          </a:p>
        </p:txBody>
      </p:sp>
      <p:sp>
        <p:nvSpPr>
          <p:cNvPr id="6" name="Text 4"/>
          <p:cNvSpPr txBox="1"/>
          <p:nvPr/>
        </p:nvSpPr>
        <p:spPr>
          <a:xfrm>
            <a:off x="548640" y="1613102"/>
            <a:ext cx="3520440" cy="292608"/>
          </a:xfrm>
          <a:prstGeom prst="rect">
            <a:avLst/>
          </a:prstGeom>
          <a:noFill/>
          <a:ln/>
        </p:spPr>
        <p:txBody>
          <a:bodyPr wrap="square" lIns="0" tIns="0" rIns="0" bIns="0" rtlCol="0" anchor="ctr"/>
          <a:lstStyle/>
          <a:p>
            <a:pPr marL="0" indent="0">
              <a:buNone/>
            </a:pPr>
            <a:r>
              <a:rPr lang="en-US" sz="1250" b="1" dirty="0">
                <a:solidFill>
                  <a:srgbClr val="E8383D"/>
                </a:solidFill>
                <a:latin typeface="Malgun Gothic" pitchFamily="34" charset="0"/>
                <a:ea typeface="Malgun Gothic" pitchFamily="34" charset="-122"/>
                <a:cs typeface="Malgun Gothic" pitchFamily="34" charset="-120"/>
              </a:rPr>
              <a:t>① </a:t>
            </a:r>
            <a:r>
              <a:rPr lang="en-US" sz="1250" b="1" dirty="0">
                <a:solidFill>
                  <a:srgbClr val="14213D"/>
                </a:solidFill>
                <a:latin typeface="Malgun Gothic" pitchFamily="34" charset="0"/>
                <a:ea typeface="Malgun Gothic" pitchFamily="34" charset="-122"/>
                <a:cs typeface="Malgun Gothic" pitchFamily="34" charset="-120"/>
              </a:rPr>
              <a:t>지자체·소상공인 조기 알림</a:t>
            </a:r>
            <a:endParaRPr lang="en-US" sz="1250" dirty="0"/>
          </a:p>
        </p:txBody>
      </p:sp>
      <p:sp>
        <p:nvSpPr>
          <p:cNvPr id="7" name="Text 5"/>
          <p:cNvSpPr txBox="1"/>
          <p:nvPr/>
        </p:nvSpPr>
        <p:spPr>
          <a:xfrm>
            <a:off x="4334256" y="1613102"/>
            <a:ext cx="3520440" cy="292608"/>
          </a:xfrm>
          <a:prstGeom prst="rect">
            <a:avLst/>
          </a:prstGeom>
          <a:noFill/>
          <a:ln/>
        </p:spPr>
        <p:txBody>
          <a:bodyPr wrap="square" lIns="0" tIns="0" rIns="0" bIns="0" rtlCol="0" anchor="ctr"/>
          <a:lstStyle/>
          <a:p>
            <a:pPr marL="0" indent="0">
              <a:buNone/>
            </a:pPr>
            <a:r>
              <a:rPr lang="en-US" sz="1250" b="1" dirty="0">
                <a:solidFill>
                  <a:srgbClr val="E8383D"/>
                </a:solidFill>
                <a:latin typeface="Malgun Gothic" pitchFamily="34" charset="0"/>
                <a:ea typeface="Malgun Gothic" pitchFamily="34" charset="-122"/>
                <a:cs typeface="Malgun Gothic" pitchFamily="34" charset="-120"/>
              </a:rPr>
              <a:t>② </a:t>
            </a:r>
            <a:r>
              <a:rPr lang="en-US" sz="1250" b="1" dirty="0">
                <a:solidFill>
                  <a:srgbClr val="14213D"/>
                </a:solidFill>
                <a:latin typeface="Malgun Gothic" pitchFamily="34" charset="0"/>
                <a:ea typeface="Malgun Gothic" pitchFamily="34" charset="-122"/>
                <a:cs typeface="Malgun Gothic" pitchFamily="34" charset="-120"/>
              </a:rPr>
              <a:t>외국인 이용자 · 로컬 얼리버드</a:t>
            </a:r>
            <a:endParaRPr lang="en-US" sz="1250" dirty="0"/>
          </a:p>
        </p:txBody>
      </p:sp>
      <p:sp>
        <p:nvSpPr>
          <p:cNvPr id="8" name="Text 6"/>
          <p:cNvSpPr txBox="1"/>
          <p:nvPr/>
        </p:nvSpPr>
        <p:spPr>
          <a:xfrm>
            <a:off x="8119872" y="1613102"/>
            <a:ext cx="3520440" cy="292608"/>
          </a:xfrm>
          <a:prstGeom prst="rect">
            <a:avLst/>
          </a:prstGeom>
          <a:noFill/>
          <a:ln/>
        </p:spPr>
        <p:txBody>
          <a:bodyPr wrap="square" lIns="0" tIns="0" rIns="0" bIns="0" rtlCol="0" anchor="ctr"/>
          <a:lstStyle/>
          <a:p>
            <a:pPr marL="0" indent="0">
              <a:buNone/>
            </a:pPr>
            <a:r>
              <a:rPr lang="en-US" sz="1250" b="1" dirty="0">
                <a:solidFill>
                  <a:srgbClr val="E8383D"/>
                </a:solidFill>
                <a:latin typeface="Malgun Gothic" pitchFamily="34" charset="0"/>
                <a:ea typeface="Malgun Gothic" pitchFamily="34" charset="-122"/>
                <a:cs typeface="Malgun Gothic" pitchFamily="34" charset="-120"/>
              </a:rPr>
              <a:t>③ </a:t>
            </a:r>
            <a:r>
              <a:rPr lang="en-US" sz="1250" b="1" dirty="0">
                <a:solidFill>
                  <a:srgbClr val="14213D"/>
                </a:solidFill>
                <a:latin typeface="Malgun Gothic" pitchFamily="34" charset="0"/>
                <a:ea typeface="Malgun Gothic" pitchFamily="34" charset="-122"/>
                <a:cs typeface="Malgun Gothic" pitchFamily="34" charset="-120"/>
              </a:rPr>
              <a:t>QR 첫 결제 리워드</a:t>
            </a:r>
            <a:endParaRPr lang="en-US" sz="1250" dirty="0"/>
          </a:p>
        </p:txBody>
      </p:sp>
      <p:sp>
        <p:nvSpPr>
          <p:cNvPr id="9" name="Shape 7"/>
          <p:cNvSpPr/>
          <p:nvPr/>
        </p:nvSpPr>
        <p:spPr>
          <a:xfrm>
            <a:off x="548640" y="2015438"/>
            <a:ext cx="3520440" cy="2971800"/>
          </a:xfrm>
          <a:prstGeom prst="roundRect">
            <a:avLst>
              <a:gd name="adj" fmla="val 4308"/>
            </a:avLst>
          </a:prstGeom>
          <a:solidFill>
            <a:srgbClr val="FFFFFF"/>
          </a:solidFill>
          <a:ln w="9525">
            <a:solidFill>
              <a:srgbClr val="C9D3E2"/>
            </a:solidFill>
            <a:prstDash val="solid"/>
          </a:ln>
          <a:effectLst>
            <a:outerShdw blurRad="101600" dist="25400" dir="5400000" algn="bl" rotWithShape="0">
              <a:srgbClr val="0B1B33">
                <a:alpha val="10000"/>
              </a:srgbClr>
            </a:outerShdw>
          </a:effectLst>
        </p:spPr>
        <p:txBody>
          <a:bodyPr/>
          <a:lstStyle/>
          <a:p>
            <a:endParaRPr lang="ko-KR" altLang="en-US"/>
          </a:p>
        </p:txBody>
      </p:sp>
      <p:sp>
        <p:nvSpPr>
          <p:cNvPr id="10" name="Shape 8"/>
          <p:cNvSpPr/>
          <p:nvPr/>
        </p:nvSpPr>
        <p:spPr>
          <a:xfrm>
            <a:off x="731520" y="2143454"/>
            <a:ext cx="310896" cy="310896"/>
          </a:xfrm>
          <a:prstGeom prst="ellipse">
            <a:avLst/>
          </a:prstGeom>
          <a:solidFill>
            <a:srgbClr val="0B1B33"/>
          </a:solidFill>
          <a:ln w="12700">
            <a:solidFill>
              <a:srgbClr val="0B1B33"/>
            </a:solidFill>
            <a:prstDash val="solid"/>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801472" y="2213406"/>
            <a:ext cx="170993" cy="170993"/>
          </a:xfrm>
          <a:prstGeom prst="rect">
            <a:avLst/>
          </a:prstGeom>
        </p:spPr>
      </p:pic>
      <p:sp>
        <p:nvSpPr>
          <p:cNvPr id="12" name="Text 9"/>
          <p:cNvSpPr txBox="1"/>
          <p:nvPr/>
        </p:nvSpPr>
        <p:spPr>
          <a:xfrm>
            <a:off x="1133856" y="2143454"/>
            <a:ext cx="1645920" cy="310896"/>
          </a:xfrm>
          <a:prstGeom prst="rect">
            <a:avLst/>
          </a:prstGeom>
          <a:noFill/>
          <a:ln/>
        </p:spPr>
        <p:txBody>
          <a:bodyPr wrap="square" lIns="0" tIns="0" rIns="0" bIns="0" rtlCol="0" anchor="ct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주시 목록 알림</a:t>
            </a:r>
            <a:endParaRPr lang="en-US" sz="1100" dirty="0"/>
          </a:p>
        </p:txBody>
      </p:sp>
      <p:sp>
        <p:nvSpPr>
          <p:cNvPr id="13" name="Shape 10"/>
          <p:cNvSpPr/>
          <p:nvPr/>
        </p:nvSpPr>
        <p:spPr>
          <a:xfrm>
            <a:off x="2834640" y="2189174"/>
            <a:ext cx="1051560" cy="219456"/>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14" name="Text 11"/>
          <p:cNvSpPr txBox="1"/>
          <p:nvPr/>
        </p:nvSpPr>
        <p:spPr>
          <a:xfrm>
            <a:off x="2834640" y="2189174"/>
            <a:ext cx="1051560" cy="219456"/>
          </a:xfrm>
          <a:prstGeom prst="rect">
            <a:avLst/>
          </a:prstGeom>
          <a:noFill/>
          <a:ln/>
        </p:spPr>
        <p:txBody>
          <a:bodyPr wrap="square" lIns="0" tIns="0" rIns="0" bIns="0" rtlCol="0" anchor="ctr"/>
          <a:lstStyle/>
          <a:p>
            <a:pPr marL="0" indent="0" algn="ctr">
              <a:buNone/>
            </a:pPr>
            <a:r>
              <a:rPr lang="en-US" sz="850" b="1" dirty="0">
                <a:solidFill>
                  <a:srgbClr val="9A6B00"/>
                </a:solidFill>
                <a:latin typeface="Malgun Gothic" pitchFamily="34" charset="0"/>
                <a:ea typeface="Malgun Gothic" pitchFamily="34" charset="-122"/>
                <a:cs typeface="Malgun Gothic" pitchFamily="34" charset="-120"/>
              </a:rPr>
              <a:t>가상 예시</a:t>
            </a:r>
            <a:endParaRPr lang="en-US" sz="850" dirty="0"/>
          </a:p>
        </p:txBody>
      </p:sp>
      <p:sp>
        <p:nvSpPr>
          <p:cNvPr id="15" name="Shape 12"/>
          <p:cNvSpPr/>
          <p:nvPr/>
        </p:nvSpPr>
        <p:spPr>
          <a:xfrm>
            <a:off x="731520" y="2582366"/>
            <a:ext cx="3154680" cy="0"/>
          </a:xfrm>
          <a:prstGeom prst="line">
            <a:avLst/>
          </a:prstGeom>
          <a:noFill/>
          <a:ln w="9525">
            <a:solidFill>
              <a:srgbClr val="D9E0EA"/>
            </a:solidFill>
            <a:prstDash val="solid"/>
          </a:ln>
        </p:spPr>
        <p:txBody>
          <a:bodyPr/>
          <a:lstStyle/>
          <a:p>
            <a:endParaRPr lang="ko-KR" altLang="en-US"/>
          </a:p>
        </p:txBody>
      </p:sp>
      <p:sp>
        <p:nvSpPr>
          <p:cNvPr id="16" name="Text 13"/>
          <p:cNvSpPr txBox="1"/>
          <p:nvPr/>
        </p:nvSpPr>
        <p:spPr>
          <a:xfrm>
            <a:off x="731520" y="2655518"/>
            <a:ext cx="2011680" cy="329184"/>
          </a:xfrm>
          <a:prstGeom prst="rect">
            <a:avLst/>
          </a:prstGeom>
          <a:noFill/>
          <a:ln/>
        </p:spPr>
        <p:txBody>
          <a:bodyPr wrap="square" lIns="0" tIns="0" rIns="0" bIns="0" rtlCol="0" anchor="ctr"/>
          <a:lstStyle/>
          <a:p>
            <a:pPr marL="0" indent="0">
              <a:buNone/>
            </a:pPr>
            <a:r>
              <a:rPr lang="en-US" sz="1500" b="1" dirty="0">
                <a:solidFill>
                  <a:srgbClr val="14213D"/>
                </a:solidFill>
                <a:latin typeface="Malgun Gothic" pitchFamily="34" charset="0"/>
                <a:ea typeface="Malgun Gothic" pitchFamily="34" charset="-122"/>
                <a:cs typeface="Malgun Gothic" pitchFamily="34" charset="-120"/>
              </a:rPr>
              <a:t>인천 옹진군</a:t>
            </a:r>
            <a:endParaRPr lang="en-US" sz="1500" dirty="0"/>
          </a:p>
        </p:txBody>
      </p:sp>
      <p:sp>
        <p:nvSpPr>
          <p:cNvPr id="17" name="Shape 14"/>
          <p:cNvSpPr/>
          <p:nvPr/>
        </p:nvSpPr>
        <p:spPr>
          <a:xfrm>
            <a:off x="2834640" y="2701238"/>
            <a:ext cx="1051560" cy="237744"/>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18" name="Text 15"/>
          <p:cNvSpPr txBox="1"/>
          <p:nvPr/>
        </p:nvSpPr>
        <p:spPr>
          <a:xfrm>
            <a:off x="2834640" y="2701238"/>
            <a:ext cx="1051560" cy="237744"/>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Track A · 관광</a:t>
            </a:r>
            <a:endParaRPr lang="en-US" sz="900" dirty="0"/>
          </a:p>
        </p:txBody>
      </p:sp>
      <p:sp>
        <p:nvSpPr>
          <p:cNvPr id="19" name="Shape 16"/>
          <p:cNvSpPr/>
          <p:nvPr/>
        </p:nvSpPr>
        <p:spPr>
          <a:xfrm>
            <a:off x="731520" y="3112718"/>
            <a:ext cx="990600" cy="786384"/>
          </a:xfrm>
          <a:prstGeom prst="roundRect">
            <a:avLst>
              <a:gd name="adj" fmla="val 9302"/>
            </a:avLst>
          </a:prstGeom>
          <a:solidFill>
            <a:srgbClr val="F3F6FB"/>
          </a:solidFill>
          <a:ln w="12700">
            <a:solidFill>
              <a:srgbClr val="F3F6FB"/>
            </a:solidFill>
            <a:prstDash val="solid"/>
          </a:ln>
        </p:spPr>
        <p:txBody>
          <a:bodyPr/>
          <a:lstStyle/>
          <a:p>
            <a:endParaRPr lang="ko-KR" altLang="en-US"/>
          </a:p>
        </p:txBody>
      </p:sp>
      <p:sp>
        <p:nvSpPr>
          <p:cNvPr id="20" name="Text 17"/>
          <p:cNvSpPr txBox="1"/>
          <p:nvPr/>
        </p:nvSpPr>
        <p:spPr>
          <a:xfrm>
            <a:off x="731520" y="3158438"/>
            <a:ext cx="990600" cy="329184"/>
          </a:xfrm>
          <a:prstGeom prst="rect">
            <a:avLst/>
          </a:prstGeom>
          <a:noFill/>
          <a:ln/>
        </p:spPr>
        <p:txBody>
          <a:bodyPr wrap="square" lIns="0" tIns="0" rIns="0" bIns="0" rtlCol="0" anchor="ctr"/>
          <a:lstStyle/>
          <a:p>
            <a:pPr marL="0" indent="0" algn="ctr">
              <a:buNone/>
            </a:pPr>
            <a:r>
              <a:rPr lang="en-US" sz="1500" b="1" dirty="0">
                <a:solidFill>
                  <a:srgbClr val="E8383D"/>
                </a:solidFill>
                <a:latin typeface="Malgun Gothic" pitchFamily="34" charset="0"/>
                <a:ea typeface="Malgun Gothic" pitchFamily="34" charset="-122"/>
                <a:cs typeface="Malgun Gothic" pitchFamily="34" charset="-120"/>
              </a:rPr>
              <a:t>+30.0%p</a:t>
            </a:r>
            <a:endParaRPr lang="en-US" sz="1500" dirty="0"/>
          </a:p>
        </p:txBody>
      </p:sp>
      <p:sp>
        <p:nvSpPr>
          <p:cNvPr id="21" name="Text 18"/>
          <p:cNvSpPr txBox="1"/>
          <p:nvPr/>
        </p:nvSpPr>
        <p:spPr>
          <a:xfrm>
            <a:off x="731520" y="3496766"/>
            <a:ext cx="990600" cy="365760"/>
          </a:xfrm>
          <a:prstGeom prst="rect">
            <a:avLst/>
          </a:prstGeom>
          <a:noFill/>
          <a:ln/>
        </p:spPr>
        <p:txBody>
          <a:bodyPr wrap="square" lIns="0" tIns="0" rIns="0" bIns="0" rtlCol="0" anchor="t"/>
          <a:lstStyle/>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카드 신호 · 3월</a:t>
            </a:r>
            <a:endParaRPr lang="en-US" sz="800" dirty="0"/>
          </a:p>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전국 동종업종 대비</a:t>
            </a:r>
            <a:endParaRPr lang="en-US" sz="800" dirty="0"/>
          </a:p>
        </p:txBody>
      </p:sp>
      <p:sp>
        <p:nvSpPr>
          <p:cNvPr id="22" name="Shape 19"/>
          <p:cNvSpPr/>
          <p:nvPr/>
        </p:nvSpPr>
        <p:spPr>
          <a:xfrm>
            <a:off x="1813560" y="3112718"/>
            <a:ext cx="990600" cy="786384"/>
          </a:xfrm>
          <a:prstGeom prst="roundRect">
            <a:avLst>
              <a:gd name="adj" fmla="val 9302"/>
            </a:avLst>
          </a:prstGeom>
          <a:solidFill>
            <a:srgbClr val="F3F6FB"/>
          </a:solidFill>
          <a:ln w="12700">
            <a:solidFill>
              <a:srgbClr val="F3F6FB"/>
            </a:solidFill>
            <a:prstDash val="solid"/>
          </a:ln>
        </p:spPr>
        <p:txBody>
          <a:bodyPr/>
          <a:lstStyle/>
          <a:p>
            <a:endParaRPr lang="ko-KR" altLang="en-US"/>
          </a:p>
        </p:txBody>
      </p:sp>
      <p:sp>
        <p:nvSpPr>
          <p:cNvPr id="23" name="Text 20"/>
          <p:cNvSpPr txBox="1"/>
          <p:nvPr/>
        </p:nvSpPr>
        <p:spPr>
          <a:xfrm>
            <a:off x="1813560" y="3158438"/>
            <a:ext cx="990600" cy="329184"/>
          </a:xfrm>
          <a:prstGeom prst="rect">
            <a:avLst/>
          </a:prstGeom>
          <a:noFill/>
          <a:ln/>
        </p:spPr>
        <p:txBody>
          <a:bodyPr wrap="square" lIns="0" tIns="0" rIns="0" bIns="0" rtlCol="0" anchor="ctr"/>
          <a:lstStyle/>
          <a:p>
            <a:pPr marL="0" indent="0" algn="ctr">
              <a:buNone/>
            </a:pPr>
            <a:r>
              <a:rPr lang="en-US" sz="1500" b="1" dirty="0">
                <a:solidFill>
                  <a:srgbClr val="0B1B33"/>
                </a:solidFill>
                <a:latin typeface="Malgun Gothic" pitchFamily="34" charset="0"/>
                <a:ea typeface="Malgun Gothic" pitchFamily="34" charset="-122"/>
                <a:cs typeface="Malgun Gothic" pitchFamily="34" charset="-120"/>
              </a:rPr>
              <a:t>3개월</a:t>
            </a:r>
            <a:endParaRPr lang="en-US" sz="1500" dirty="0"/>
          </a:p>
        </p:txBody>
      </p:sp>
      <p:sp>
        <p:nvSpPr>
          <p:cNvPr id="24" name="Text 21"/>
          <p:cNvSpPr txBox="1"/>
          <p:nvPr/>
        </p:nvSpPr>
        <p:spPr>
          <a:xfrm>
            <a:off x="1813560" y="3496766"/>
            <a:ext cx="990600" cy="365760"/>
          </a:xfrm>
          <a:prstGeom prst="rect">
            <a:avLst/>
          </a:prstGeom>
          <a:noFill/>
          <a:ln/>
        </p:spPr>
        <p:txBody>
          <a:bodyPr wrap="square" lIns="0" tIns="0" rIns="0" bIns="0" rtlCol="0" anchor="t"/>
          <a:lstStyle/>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연속 초과성장</a:t>
            </a:r>
            <a:endParaRPr lang="en-US" sz="800" dirty="0"/>
          </a:p>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(3~5월)</a:t>
            </a:r>
            <a:endParaRPr lang="en-US" sz="800" dirty="0"/>
          </a:p>
        </p:txBody>
      </p:sp>
      <p:sp>
        <p:nvSpPr>
          <p:cNvPr id="25" name="Shape 22"/>
          <p:cNvSpPr/>
          <p:nvPr/>
        </p:nvSpPr>
        <p:spPr>
          <a:xfrm>
            <a:off x="2895600" y="3112718"/>
            <a:ext cx="990600" cy="786384"/>
          </a:xfrm>
          <a:prstGeom prst="roundRect">
            <a:avLst>
              <a:gd name="adj" fmla="val 9302"/>
            </a:avLst>
          </a:prstGeom>
          <a:solidFill>
            <a:srgbClr val="F3F6FB"/>
          </a:solidFill>
          <a:ln w="12700">
            <a:solidFill>
              <a:srgbClr val="F3F6FB"/>
            </a:solidFill>
            <a:prstDash val="solid"/>
          </a:ln>
        </p:spPr>
        <p:txBody>
          <a:bodyPr/>
          <a:lstStyle/>
          <a:p>
            <a:endParaRPr lang="ko-KR" altLang="en-US"/>
          </a:p>
        </p:txBody>
      </p:sp>
      <p:sp>
        <p:nvSpPr>
          <p:cNvPr id="26" name="Text 23"/>
          <p:cNvSpPr txBox="1"/>
          <p:nvPr/>
        </p:nvSpPr>
        <p:spPr>
          <a:xfrm>
            <a:off x="2895600" y="3158438"/>
            <a:ext cx="990600" cy="329184"/>
          </a:xfrm>
          <a:prstGeom prst="rect">
            <a:avLst/>
          </a:prstGeom>
          <a:noFill/>
          <a:ln/>
        </p:spPr>
        <p:txBody>
          <a:bodyPr wrap="square" lIns="0" tIns="0" rIns="0" bIns="0" rtlCol="0" anchor="ctr"/>
          <a:lstStyle/>
          <a:p>
            <a:pPr marL="0" indent="0" algn="ctr">
              <a:buNone/>
            </a:pPr>
            <a:r>
              <a:rPr lang="en-US" sz="1500" b="1" dirty="0">
                <a:solidFill>
                  <a:srgbClr val="0B1B33"/>
                </a:solidFill>
                <a:latin typeface="Malgun Gothic" pitchFamily="34" charset="0"/>
                <a:ea typeface="Malgun Gothic" pitchFamily="34" charset="-122"/>
                <a:cs typeface="Malgun Gothic" pitchFamily="34" charset="-120"/>
              </a:rPr>
              <a:t>+64.6%</a:t>
            </a:r>
            <a:endParaRPr lang="en-US" sz="1500" dirty="0"/>
          </a:p>
        </p:txBody>
      </p:sp>
      <p:sp>
        <p:nvSpPr>
          <p:cNvPr id="27" name="Text 24"/>
          <p:cNvSpPr txBox="1"/>
          <p:nvPr/>
        </p:nvSpPr>
        <p:spPr>
          <a:xfrm>
            <a:off x="2895600" y="3496766"/>
            <a:ext cx="990600" cy="365760"/>
          </a:xfrm>
          <a:prstGeom prst="rect">
            <a:avLst/>
          </a:prstGeom>
          <a:noFill/>
          <a:ln/>
        </p:spPr>
        <p:txBody>
          <a:bodyPr wrap="square" lIns="0" tIns="0" rIns="0" bIns="0" rtlCol="0" anchor="t"/>
          <a:lstStyle/>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방문자 증가 · 4월</a:t>
            </a:r>
            <a:endParaRPr lang="en-US" sz="800" dirty="0"/>
          </a:p>
          <a:p>
            <a:pPr marL="0" indent="0" algn="ctr">
              <a:lnSpc>
                <a:spcPct val="100000"/>
              </a:lnSpc>
              <a:buNone/>
            </a:pPr>
            <a:r>
              <a:rPr lang="en-US" sz="800" dirty="0">
                <a:solidFill>
                  <a:srgbClr val="64748B"/>
                </a:solidFill>
                <a:latin typeface="Malgun Gothic" pitchFamily="34" charset="0"/>
                <a:ea typeface="Malgun Gothic" pitchFamily="34" charset="-122"/>
                <a:cs typeface="Malgun Gothic" pitchFamily="34" charset="-120"/>
              </a:rPr>
              <a:t>전월 대비</a:t>
            </a:r>
            <a:endParaRPr lang="en-US" sz="800" dirty="0"/>
          </a:p>
        </p:txBody>
      </p:sp>
      <p:sp>
        <p:nvSpPr>
          <p:cNvPr id="28" name="Text 25"/>
          <p:cNvSpPr txBox="1"/>
          <p:nvPr/>
        </p:nvSpPr>
        <p:spPr>
          <a:xfrm>
            <a:off x="731520" y="4027118"/>
            <a:ext cx="685800" cy="237744"/>
          </a:xfrm>
          <a:prstGeom prst="rect">
            <a:avLst/>
          </a:prstGeom>
          <a:noFill/>
          <a:ln/>
        </p:spPr>
        <p:txBody>
          <a:bodyPr wrap="square" lIns="0" tIns="0" rIns="0" bIns="0" rtlCol="0" anchor="ctr"/>
          <a:lstStyle/>
          <a:p>
            <a:pPr marL="0" indent="0">
              <a:buNone/>
            </a:pPr>
            <a:r>
              <a:rPr lang="en-US" sz="900" b="1" dirty="0">
                <a:solidFill>
                  <a:srgbClr val="64748B"/>
                </a:solidFill>
                <a:latin typeface="Malgun Gothic" pitchFamily="34" charset="0"/>
                <a:ea typeface="Malgun Gothic" pitchFamily="34" charset="-122"/>
                <a:cs typeface="Malgun Gothic" pitchFamily="34" charset="-120"/>
              </a:rPr>
              <a:t>원인 확인</a:t>
            </a:r>
            <a:endParaRPr lang="en-US" sz="900" dirty="0"/>
          </a:p>
        </p:txBody>
      </p:sp>
      <p:sp>
        <p:nvSpPr>
          <p:cNvPr id="29" name="Shape 26"/>
          <p:cNvSpPr/>
          <p:nvPr/>
        </p:nvSpPr>
        <p:spPr>
          <a:xfrm>
            <a:off x="1417320" y="4027118"/>
            <a:ext cx="1143000" cy="237744"/>
          </a:xfrm>
          <a:prstGeom prst="roundRect">
            <a:avLst>
              <a:gd name="adj" fmla="val 50000"/>
            </a:avLst>
          </a:prstGeom>
          <a:solidFill>
            <a:srgbClr val="E8EFFC"/>
          </a:solidFill>
          <a:ln w="12700">
            <a:solidFill>
              <a:srgbClr val="E8EFFC"/>
            </a:solidFill>
            <a:prstDash val="solid"/>
          </a:ln>
        </p:spPr>
        <p:txBody>
          <a:bodyPr/>
          <a:lstStyle/>
          <a:p>
            <a:endParaRPr lang="ko-KR" altLang="en-US"/>
          </a:p>
        </p:txBody>
      </p:sp>
      <p:sp>
        <p:nvSpPr>
          <p:cNvPr id="30" name="Text 27"/>
          <p:cNvSpPr txBox="1"/>
          <p:nvPr/>
        </p:nvSpPr>
        <p:spPr>
          <a:xfrm>
            <a:off x="1417320" y="4027118"/>
            <a:ext cx="1143000" cy="237744"/>
          </a:xfrm>
          <a:prstGeom prst="rect">
            <a:avLst/>
          </a:prstGeom>
          <a:noFill/>
          <a:ln/>
        </p:spPr>
        <p:txBody>
          <a:bodyPr wrap="square" lIns="0" tIns="0" rIns="0" bIns="0" rtlCol="0" anchor="ctr"/>
          <a:lstStyle/>
          <a:p>
            <a:pPr marL="0" indent="0" algn="ctr">
              <a:buNone/>
            </a:pPr>
            <a:r>
              <a:rPr lang="en-US" sz="850" b="1" dirty="0">
                <a:solidFill>
                  <a:srgbClr val="2F55B3"/>
                </a:solidFill>
                <a:latin typeface="Malgun Gothic" pitchFamily="34" charset="0"/>
                <a:ea typeface="Malgun Gothic" pitchFamily="34" charset="-122"/>
                <a:cs typeface="Malgun Gothic" pitchFamily="34" charset="-120"/>
              </a:rPr>
              <a:t>방문자 통계 ↑</a:t>
            </a:r>
            <a:endParaRPr lang="en-US" sz="850" dirty="0"/>
          </a:p>
        </p:txBody>
      </p:sp>
      <p:sp>
        <p:nvSpPr>
          <p:cNvPr id="31" name="Shape 28"/>
          <p:cNvSpPr/>
          <p:nvPr/>
        </p:nvSpPr>
        <p:spPr>
          <a:xfrm>
            <a:off x="2633472" y="4027118"/>
            <a:ext cx="1252728" cy="237744"/>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32" name="Text 29"/>
          <p:cNvSpPr txBox="1"/>
          <p:nvPr/>
        </p:nvSpPr>
        <p:spPr>
          <a:xfrm>
            <a:off x="2633472" y="4027118"/>
            <a:ext cx="1252728" cy="237744"/>
          </a:xfrm>
          <a:prstGeom prst="rect">
            <a:avLst/>
          </a:prstGeom>
          <a:noFill/>
          <a:ln/>
        </p:spPr>
        <p:txBody>
          <a:bodyPr wrap="square" lIns="0" tIns="0" rIns="0" bIns="0" rtlCol="0" anchor="ctr"/>
          <a:lstStyle/>
          <a:p>
            <a:pPr marL="0" indent="0" algn="ctr">
              <a:buNone/>
            </a:pPr>
            <a:r>
              <a:rPr lang="en-US" sz="850" b="1" dirty="0">
                <a:solidFill>
                  <a:srgbClr val="0B7A6D"/>
                </a:solidFill>
                <a:latin typeface="Malgun Gothic" pitchFamily="34" charset="0"/>
                <a:ea typeface="Malgun Gothic" pitchFamily="34" charset="-122"/>
                <a:cs typeface="Malgun Gothic" pitchFamily="34" charset="-120"/>
              </a:rPr>
              <a:t>계절근로 뉴스 없음</a:t>
            </a:r>
            <a:endParaRPr lang="en-US" sz="850" dirty="0"/>
          </a:p>
        </p:txBody>
      </p:sp>
      <p:sp>
        <p:nvSpPr>
          <p:cNvPr id="33" name="Text 30"/>
          <p:cNvSpPr txBox="1"/>
          <p:nvPr/>
        </p:nvSpPr>
        <p:spPr>
          <a:xfrm>
            <a:off x="731520" y="4392878"/>
            <a:ext cx="914400" cy="201168"/>
          </a:xfrm>
          <a:prstGeom prst="rect">
            <a:avLst/>
          </a:prstGeom>
          <a:noFill/>
          <a:ln/>
        </p:spPr>
        <p:txBody>
          <a:bodyPr wrap="square" lIns="0" tIns="0" rIns="0" bIns="0" rtlCol="0" anchor="ctr"/>
          <a:lstStyle/>
          <a:p>
            <a:pPr marL="0" indent="0">
              <a:buNone/>
            </a:pPr>
            <a:r>
              <a:rPr lang="en-US" sz="900" b="1" dirty="0">
                <a:solidFill>
                  <a:srgbClr val="64748B"/>
                </a:solidFill>
                <a:latin typeface="Malgun Gothic" pitchFamily="34" charset="0"/>
                <a:ea typeface="Malgun Gothic" pitchFamily="34" charset="-122"/>
                <a:cs typeface="Malgun Gothic" pitchFamily="34" charset="-120"/>
              </a:rPr>
              <a:t>권장 준비</a:t>
            </a:r>
            <a:endParaRPr lang="en-US" sz="900" dirty="0"/>
          </a:p>
        </p:txBody>
      </p:sp>
      <p:sp>
        <p:nvSpPr>
          <p:cNvPr id="34" name="Shape 31"/>
          <p:cNvSpPr/>
          <p:nvPr/>
        </p:nvSpPr>
        <p:spPr>
          <a:xfrm>
            <a:off x="731520" y="4667198"/>
            <a:ext cx="118872" cy="118872"/>
          </a:xfrm>
          <a:prstGeom prst="rect">
            <a:avLst/>
          </a:prstGeom>
          <a:ln w="12700">
            <a:solidFill>
              <a:srgbClr val="7A8BA6"/>
            </a:solidFill>
            <a:prstDash val="solid"/>
          </a:ln>
        </p:spPr>
        <p:txBody>
          <a:bodyPr/>
          <a:lstStyle/>
          <a:p>
            <a:endParaRPr lang="ko-KR" altLang="en-US"/>
          </a:p>
        </p:txBody>
      </p:sp>
      <p:sp>
        <p:nvSpPr>
          <p:cNvPr id="35" name="Text 32"/>
          <p:cNvSpPr txBox="1"/>
          <p:nvPr/>
        </p:nvSpPr>
        <p:spPr>
          <a:xfrm>
            <a:off x="914400" y="4621478"/>
            <a:ext cx="914400" cy="210312"/>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영·중 메뉴판</a:t>
            </a:r>
            <a:endParaRPr lang="en-US" sz="850" dirty="0"/>
          </a:p>
        </p:txBody>
      </p:sp>
      <p:sp>
        <p:nvSpPr>
          <p:cNvPr id="36" name="Shape 33"/>
          <p:cNvSpPr/>
          <p:nvPr/>
        </p:nvSpPr>
        <p:spPr>
          <a:xfrm>
            <a:off x="1737360" y="4667198"/>
            <a:ext cx="118872" cy="118872"/>
          </a:xfrm>
          <a:prstGeom prst="rect">
            <a:avLst/>
          </a:prstGeom>
          <a:ln w="12700">
            <a:solidFill>
              <a:srgbClr val="7A8BA6"/>
            </a:solidFill>
            <a:prstDash val="solid"/>
          </a:ln>
        </p:spPr>
        <p:txBody>
          <a:bodyPr/>
          <a:lstStyle/>
          <a:p>
            <a:endParaRPr lang="ko-KR" altLang="en-US"/>
          </a:p>
        </p:txBody>
      </p:sp>
      <p:sp>
        <p:nvSpPr>
          <p:cNvPr id="37" name="Text 34"/>
          <p:cNvSpPr txBox="1"/>
          <p:nvPr/>
        </p:nvSpPr>
        <p:spPr>
          <a:xfrm>
            <a:off x="1920240" y="4621478"/>
            <a:ext cx="914400" cy="210312"/>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QR 결제 안내문</a:t>
            </a:r>
            <a:endParaRPr lang="en-US" sz="850" dirty="0"/>
          </a:p>
        </p:txBody>
      </p:sp>
      <p:sp>
        <p:nvSpPr>
          <p:cNvPr id="38" name="Shape 35"/>
          <p:cNvSpPr/>
          <p:nvPr/>
        </p:nvSpPr>
        <p:spPr>
          <a:xfrm>
            <a:off x="2761488" y="4667198"/>
            <a:ext cx="118872" cy="118872"/>
          </a:xfrm>
          <a:prstGeom prst="rect">
            <a:avLst/>
          </a:prstGeom>
          <a:ln w="12700">
            <a:solidFill>
              <a:srgbClr val="7A8BA6"/>
            </a:solidFill>
            <a:prstDash val="solid"/>
          </a:ln>
        </p:spPr>
        <p:txBody>
          <a:bodyPr/>
          <a:lstStyle/>
          <a:p>
            <a:endParaRPr lang="ko-KR" altLang="en-US"/>
          </a:p>
        </p:txBody>
      </p:sp>
      <p:sp>
        <p:nvSpPr>
          <p:cNvPr id="39" name="Text 36"/>
          <p:cNvSpPr txBox="1"/>
          <p:nvPr/>
        </p:nvSpPr>
        <p:spPr>
          <a:xfrm>
            <a:off x="2944368" y="4621478"/>
            <a:ext cx="914400" cy="210312"/>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스팟 다국어 표기</a:t>
            </a:r>
            <a:endParaRPr lang="en-US" sz="850" dirty="0"/>
          </a:p>
        </p:txBody>
      </p:sp>
      <p:sp>
        <p:nvSpPr>
          <p:cNvPr id="40" name="Shape 37"/>
          <p:cNvSpPr/>
          <p:nvPr/>
        </p:nvSpPr>
        <p:spPr>
          <a:xfrm>
            <a:off x="5042916" y="2015438"/>
            <a:ext cx="2103120" cy="2971800"/>
          </a:xfrm>
          <a:prstGeom prst="roundRect">
            <a:avLst>
              <a:gd name="adj" fmla="val 11304"/>
            </a:avLst>
          </a:prstGeom>
          <a:solidFill>
            <a:srgbClr val="FFFFFF"/>
          </a:solidFill>
          <a:ln w="19050">
            <a:solidFill>
              <a:srgbClr val="9AA9C0"/>
            </a:solidFill>
            <a:prstDash val="solid"/>
          </a:ln>
          <a:effectLst>
            <a:outerShdw blurRad="101600" dist="25400" dir="5400000" algn="bl" rotWithShape="0">
              <a:srgbClr val="0B1B33">
                <a:alpha val="10000"/>
              </a:srgbClr>
            </a:outerShdw>
          </a:effectLst>
        </p:spPr>
        <p:txBody>
          <a:bodyPr/>
          <a:lstStyle/>
          <a:p>
            <a:endParaRPr lang="ko-KR" altLang="en-US"/>
          </a:p>
        </p:txBody>
      </p:sp>
      <p:sp>
        <p:nvSpPr>
          <p:cNvPr id="41" name="Shape 38"/>
          <p:cNvSpPr/>
          <p:nvPr/>
        </p:nvSpPr>
        <p:spPr>
          <a:xfrm>
            <a:off x="5820156" y="2106878"/>
            <a:ext cx="548640" cy="5486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42" name="Text 39"/>
          <p:cNvSpPr txBox="1"/>
          <p:nvPr/>
        </p:nvSpPr>
        <p:spPr>
          <a:xfrm>
            <a:off x="5225796" y="2271470"/>
            <a:ext cx="1737360" cy="201168"/>
          </a:xfrm>
          <a:prstGeom prst="rect">
            <a:avLst/>
          </a:prstGeom>
          <a:noFill/>
          <a:ln/>
        </p:spPr>
        <p:txBody>
          <a:bodyPr wrap="square" lIns="0" tIns="0" rIns="0" bIns="0" rtlCol="0" anchor="ctr"/>
          <a:lstStyle/>
          <a:p>
            <a:pPr marL="0" indent="0">
              <a:buNone/>
            </a:pPr>
            <a:r>
              <a:rPr lang="en-US" sz="850" b="1" dirty="0">
                <a:solidFill>
                  <a:srgbClr val="64748B"/>
                </a:solidFill>
                <a:latin typeface="Malgun Gothic" pitchFamily="34" charset="0"/>
                <a:ea typeface="Malgun Gothic" pitchFamily="34" charset="-122"/>
                <a:cs typeface="Malgun Gothic" pitchFamily="34" charset="-120"/>
              </a:rPr>
              <a:t>Discover · Ongjin-gun</a:t>
            </a:r>
            <a:endParaRPr lang="en-US" sz="850" dirty="0"/>
          </a:p>
        </p:txBody>
      </p:sp>
      <p:sp>
        <p:nvSpPr>
          <p:cNvPr id="43" name="Text 40"/>
          <p:cNvSpPr txBox="1"/>
          <p:nvPr/>
        </p:nvSpPr>
        <p:spPr>
          <a:xfrm>
            <a:off x="5225796" y="2490926"/>
            <a:ext cx="1737360" cy="274320"/>
          </a:xfrm>
          <a:prstGeom prst="rect">
            <a:avLst/>
          </a:prstGeom>
          <a:noFill/>
          <a:ln/>
        </p:spPr>
        <p:txBody>
          <a:bodyPr wrap="square" lIns="0" tIns="0" rIns="0" bIns="0" rtlCol="0" anchor="ctr"/>
          <a:lstStyle/>
          <a:p>
            <a:pPr marL="0" indent="0">
              <a:buNone/>
            </a:pPr>
            <a:r>
              <a:rPr lang="en-US" sz="1300" b="1" dirty="0">
                <a:solidFill>
                  <a:srgbClr val="14213D"/>
                </a:solidFill>
                <a:latin typeface="Malgun Gothic" pitchFamily="34" charset="0"/>
                <a:ea typeface="Malgun Gothic" pitchFamily="34" charset="-122"/>
                <a:cs typeface="Malgun Gothic" pitchFamily="34" charset="-120"/>
              </a:rPr>
              <a:t>Early-bird spots</a:t>
            </a:r>
            <a:endParaRPr lang="en-US" sz="1300" dirty="0"/>
          </a:p>
        </p:txBody>
      </p:sp>
      <p:sp>
        <p:nvSpPr>
          <p:cNvPr id="44" name="Text 41"/>
          <p:cNvSpPr txBox="1"/>
          <p:nvPr/>
        </p:nvSpPr>
        <p:spPr>
          <a:xfrm>
            <a:off x="5225796" y="2774390"/>
            <a:ext cx="1783080" cy="182880"/>
          </a:xfrm>
          <a:prstGeom prst="rect">
            <a:avLst/>
          </a:prstGeom>
          <a:noFill/>
          <a:ln/>
        </p:spPr>
        <p:txBody>
          <a:bodyPr wrap="square" lIns="0" tIns="0" rIns="0" bIns="0" rtlCol="0" anchor="ctr"/>
          <a:lstStyle/>
          <a:p>
            <a:pPr marL="0" indent="0">
              <a:buNone/>
            </a:pPr>
            <a:r>
              <a:rPr lang="en-US" sz="800" dirty="0">
                <a:solidFill>
                  <a:srgbClr val="64748B"/>
                </a:solidFill>
                <a:latin typeface="Malgun Gothic" pitchFamily="34" charset="0"/>
                <a:ea typeface="Malgun Gothic" pitchFamily="34" charset="-122"/>
                <a:cs typeface="Malgun Gothic" pitchFamily="34" charset="-120"/>
              </a:rPr>
              <a:t>Few reviews yet · Rising fast</a:t>
            </a:r>
            <a:endParaRPr lang="en-US" sz="800" dirty="0"/>
          </a:p>
        </p:txBody>
      </p:sp>
      <p:sp>
        <p:nvSpPr>
          <p:cNvPr id="45" name="Shape 42"/>
          <p:cNvSpPr/>
          <p:nvPr/>
        </p:nvSpPr>
        <p:spPr>
          <a:xfrm>
            <a:off x="5180076" y="3066998"/>
            <a:ext cx="1828800" cy="457200"/>
          </a:xfrm>
          <a:prstGeom prst="roundRect">
            <a:avLst>
              <a:gd name="adj" fmla="val 16000"/>
            </a:avLst>
          </a:prstGeom>
          <a:solidFill>
            <a:srgbClr val="F3F6FB"/>
          </a:solidFill>
          <a:ln w="12700">
            <a:solidFill>
              <a:srgbClr val="F3F6FB"/>
            </a:solidFill>
            <a:prstDash val="solid"/>
          </a:ln>
        </p:spPr>
        <p:txBody>
          <a:bodyPr/>
          <a:lstStyle/>
          <a:p>
            <a:endParaRPr lang="ko-KR" altLang="en-US"/>
          </a:p>
        </p:txBody>
      </p:sp>
      <p:sp>
        <p:nvSpPr>
          <p:cNvPr id="46" name="Shape 43"/>
          <p:cNvSpPr/>
          <p:nvPr/>
        </p:nvSpPr>
        <p:spPr>
          <a:xfrm>
            <a:off x="5244084" y="3131006"/>
            <a:ext cx="329184" cy="329184"/>
          </a:xfrm>
          <a:prstGeom prst="roundRect">
            <a:avLst>
              <a:gd name="adj" fmla="val 16667"/>
            </a:avLst>
          </a:prstGeom>
          <a:solidFill>
            <a:srgbClr val="C4CEDC"/>
          </a:solidFill>
          <a:ln w="12700">
            <a:solidFill>
              <a:srgbClr val="C4CEDC"/>
            </a:solidFill>
            <a:prstDash val="solid"/>
          </a:ln>
        </p:spPr>
        <p:txBody>
          <a:bodyPr/>
          <a:lstStyle/>
          <a:p>
            <a:endParaRPr lang="ko-KR" altLang="en-US"/>
          </a:p>
        </p:txBody>
      </p:sp>
      <p:sp>
        <p:nvSpPr>
          <p:cNvPr id="47" name="Text 44"/>
          <p:cNvSpPr txBox="1"/>
          <p:nvPr/>
        </p:nvSpPr>
        <p:spPr>
          <a:xfrm>
            <a:off x="5664708" y="3121862"/>
            <a:ext cx="1097280" cy="182880"/>
          </a:xfrm>
          <a:prstGeom prst="rect">
            <a:avLst/>
          </a:prstGeom>
          <a:noFill/>
          <a:ln/>
        </p:spPr>
        <p:txBody>
          <a:bodyPr wrap="square" lIns="0" tIns="0" rIns="0" bIns="0" rtlCol="0" anchor="ctr"/>
          <a:lstStyle/>
          <a:p>
            <a:pPr marL="0" indent="0">
              <a:buNone/>
            </a:pPr>
            <a:r>
              <a:rPr lang="en-US" sz="800" b="1" dirty="0">
                <a:solidFill>
                  <a:srgbClr val="14213D"/>
                </a:solidFill>
                <a:latin typeface="Malgun Gothic" pitchFamily="34" charset="0"/>
                <a:ea typeface="Malgun Gothic" pitchFamily="34" charset="-122"/>
                <a:cs typeface="Malgun Gothic" pitchFamily="34" charset="-120"/>
              </a:rPr>
              <a:t>Convenience store</a:t>
            </a:r>
            <a:endParaRPr lang="en-US" sz="800" dirty="0"/>
          </a:p>
        </p:txBody>
      </p:sp>
      <p:sp>
        <p:nvSpPr>
          <p:cNvPr id="48" name="Shape 45"/>
          <p:cNvSpPr/>
          <p:nvPr/>
        </p:nvSpPr>
        <p:spPr>
          <a:xfrm>
            <a:off x="5664708" y="3341318"/>
            <a:ext cx="777240" cy="5486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49" name="Shape 46"/>
          <p:cNvSpPr/>
          <p:nvPr/>
        </p:nvSpPr>
        <p:spPr>
          <a:xfrm>
            <a:off x="5664708" y="3432758"/>
            <a:ext cx="502920" cy="45720"/>
          </a:xfrm>
          <a:prstGeom prst="roundRect">
            <a:avLst>
              <a:gd name="adj" fmla="val 50000"/>
            </a:avLst>
          </a:prstGeom>
          <a:solidFill>
            <a:srgbClr val="D9E0EA"/>
          </a:solidFill>
          <a:ln w="12700">
            <a:solidFill>
              <a:srgbClr val="D9E0EA"/>
            </a:solidFill>
            <a:prstDash val="solid"/>
          </a:ln>
        </p:spPr>
        <p:txBody>
          <a:bodyPr/>
          <a:lstStyle/>
          <a:p>
            <a:endParaRPr lang="ko-KR" altLang="en-US"/>
          </a:p>
        </p:txBody>
      </p:sp>
      <p:pic>
        <p:nvPicPr>
          <p:cNvPr id="50" name="Image 1" descr="preencoded.png"/>
          <p:cNvPicPr>
            <a:picLocks noChangeAspect="1"/>
          </p:cNvPicPr>
          <p:nvPr/>
        </p:nvPicPr>
        <p:blipFill>
          <a:blip r:embed="rId4"/>
          <a:stretch>
            <a:fillRect/>
          </a:stretch>
        </p:blipFill>
        <p:spPr>
          <a:xfrm>
            <a:off x="6761988" y="3213302"/>
            <a:ext cx="164592" cy="164592"/>
          </a:xfrm>
          <a:prstGeom prst="rect">
            <a:avLst/>
          </a:prstGeom>
        </p:spPr>
      </p:pic>
      <p:sp>
        <p:nvSpPr>
          <p:cNvPr id="51" name="Shape 47"/>
          <p:cNvSpPr/>
          <p:nvPr/>
        </p:nvSpPr>
        <p:spPr>
          <a:xfrm>
            <a:off x="5180076" y="3597350"/>
            <a:ext cx="1828800" cy="457200"/>
          </a:xfrm>
          <a:prstGeom prst="roundRect">
            <a:avLst>
              <a:gd name="adj" fmla="val 16000"/>
            </a:avLst>
          </a:prstGeom>
          <a:solidFill>
            <a:srgbClr val="F3F6FB"/>
          </a:solidFill>
          <a:ln w="12700">
            <a:solidFill>
              <a:srgbClr val="F3F6FB"/>
            </a:solidFill>
            <a:prstDash val="solid"/>
          </a:ln>
        </p:spPr>
        <p:txBody>
          <a:bodyPr/>
          <a:lstStyle/>
          <a:p>
            <a:endParaRPr lang="ko-KR" altLang="en-US"/>
          </a:p>
        </p:txBody>
      </p:sp>
      <p:sp>
        <p:nvSpPr>
          <p:cNvPr id="52" name="Shape 48"/>
          <p:cNvSpPr/>
          <p:nvPr/>
        </p:nvSpPr>
        <p:spPr>
          <a:xfrm>
            <a:off x="5244084" y="3661358"/>
            <a:ext cx="329184" cy="329184"/>
          </a:xfrm>
          <a:prstGeom prst="roundRect">
            <a:avLst>
              <a:gd name="adj" fmla="val 16667"/>
            </a:avLst>
          </a:prstGeom>
          <a:solidFill>
            <a:srgbClr val="C4CEDC"/>
          </a:solidFill>
          <a:ln w="12700">
            <a:solidFill>
              <a:srgbClr val="C4CEDC"/>
            </a:solidFill>
            <a:prstDash val="solid"/>
          </a:ln>
        </p:spPr>
        <p:txBody>
          <a:bodyPr/>
          <a:lstStyle/>
          <a:p>
            <a:endParaRPr lang="ko-KR" altLang="en-US"/>
          </a:p>
        </p:txBody>
      </p:sp>
      <p:sp>
        <p:nvSpPr>
          <p:cNvPr id="53" name="Text 49"/>
          <p:cNvSpPr txBox="1"/>
          <p:nvPr/>
        </p:nvSpPr>
        <p:spPr>
          <a:xfrm>
            <a:off x="5664708" y="3652214"/>
            <a:ext cx="1097280" cy="182880"/>
          </a:xfrm>
          <a:prstGeom prst="rect">
            <a:avLst/>
          </a:prstGeom>
          <a:noFill/>
          <a:ln/>
        </p:spPr>
        <p:txBody>
          <a:bodyPr wrap="square" lIns="0" tIns="0" rIns="0" bIns="0" rtlCol="0" anchor="ctr"/>
          <a:lstStyle/>
          <a:p>
            <a:pPr marL="0" indent="0">
              <a:buNone/>
            </a:pPr>
            <a:r>
              <a:rPr lang="en-US" sz="800" b="1" dirty="0">
                <a:solidFill>
                  <a:srgbClr val="14213D"/>
                </a:solidFill>
                <a:latin typeface="Malgun Gothic" pitchFamily="34" charset="0"/>
                <a:ea typeface="Malgun Gothic" pitchFamily="34" charset="-122"/>
                <a:cs typeface="Malgun Gothic" pitchFamily="34" charset="-120"/>
              </a:rPr>
              <a:t>Western restaurant</a:t>
            </a:r>
            <a:endParaRPr lang="en-US" sz="800" dirty="0"/>
          </a:p>
        </p:txBody>
      </p:sp>
      <p:sp>
        <p:nvSpPr>
          <p:cNvPr id="54" name="Shape 50"/>
          <p:cNvSpPr/>
          <p:nvPr/>
        </p:nvSpPr>
        <p:spPr>
          <a:xfrm>
            <a:off x="5664708" y="3871670"/>
            <a:ext cx="777240" cy="5486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55" name="Shape 51"/>
          <p:cNvSpPr/>
          <p:nvPr/>
        </p:nvSpPr>
        <p:spPr>
          <a:xfrm>
            <a:off x="5664708" y="3963110"/>
            <a:ext cx="502920" cy="45720"/>
          </a:xfrm>
          <a:prstGeom prst="roundRect">
            <a:avLst>
              <a:gd name="adj" fmla="val 50000"/>
            </a:avLst>
          </a:prstGeom>
          <a:solidFill>
            <a:srgbClr val="D9E0EA"/>
          </a:solidFill>
          <a:ln w="12700">
            <a:solidFill>
              <a:srgbClr val="D9E0EA"/>
            </a:solidFill>
            <a:prstDash val="solid"/>
          </a:ln>
        </p:spPr>
        <p:txBody>
          <a:bodyPr/>
          <a:lstStyle/>
          <a:p>
            <a:endParaRPr lang="ko-KR" altLang="en-US"/>
          </a:p>
        </p:txBody>
      </p:sp>
      <p:pic>
        <p:nvPicPr>
          <p:cNvPr id="56" name="Image 2" descr="preencoded.png"/>
          <p:cNvPicPr>
            <a:picLocks noChangeAspect="1"/>
          </p:cNvPicPr>
          <p:nvPr/>
        </p:nvPicPr>
        <p:blipFill>
          <a:blip r:embed="rId4"/>
          <a:stretch>
            <a:fillRect/>
          </a:stretch>
        </p:blipFill>
        <p:spPr>
          <a:xfrm>
            <a:off x="6761988" y="3743654"/>
            <a:ext cx="164592" cy="164592"/>
          </a:xfrm>
          <a:prstGeom prst="rect">
            <a:avLst/>
          </a:prstGeom>
        </p:spPr>
      </p:pic>
      <p:sp>
        <p:nvSpPr>
          <p:cNvPr id="57" name="Shape 52"/>
          <p:cNvSpPr/>
          <p:nvPr/>
        </p:nvSpPr>
        <p:spPr>
          <a:xfrm>
            <a:off x="5180076" y="4127702"/>
            <a:ext cx="1828800" cy="457200"/>
          </a:xfrm>
          <a:prstGeom prst="roundRect">
            <a:avLst>
              <a:gd name="adj" fmla="val 16000"/>
            </a:avLst>
          </a:prstGeom>
          <a:solidFill>
            <a:srgbClr val="F3F6FB"/>
          </a:solidFill>
          <a:ln w="12700">
            <a:solidFill>
              <a:srgbClr val="F3F6FB"/>
            </a:solidFill>
            <a:prstDash val="solid"/>
          </a:ln>
        </p:spPr>
        <p:txBody>
          <a:bodyPr/>
          <a:lstStyle/>
          <a:p>
            <a:endParaRPr lang="ko-KR" altLang="en-US"/>
          </a:p>
        </p:txBody>
      </p:sp>
      <p:sp>
        <p:nvSpPr>
          <p:cNvPr id="58" name="Shape 53"/>
          <p:cNvSpPr/>
          <p:nvPr/>
        </p:nvSpPr>
        <p:spPr>
          <a:xfrm>
            <a:off x="5244084" y="4191710"/>
            <a:ext cx="329184" cy="329184"/>
          </a:xfrm>
          <a:prstGeom prst="roundRect">
            <a:avLst>
              <a:gd name="adj" fmla="val 16667"/>
            </a:avLst>
          </a:prstGeom>
          <a:solidFill>
            <a:srgbClr val="C4CEDC"/>
          </a:solidFill>
          <a:ln w="12700">
            <a:solidFill>
              <a:srgbClr val="C4CEDC"/>
            </a:solidFill>
            <a:prstDash val="solid"/>
          </a:ln>
        </p:spPr>
        <p:txBody>
          <a:bodyPr/>
          <a:lstStyle/>
          <a:p>
            <a:endParaRPr lang="ko-KR" altLang="en-US"/>
          </a:p>
        </p:txBody>
      </p:sp>
      <p:sp>
        <p:nvSpPr>
          <p:cNvPr id="59" name="Text 54"/>
          <p:cNvSpPr txBox="1"/>
          <p:nvPr/>
        </p:nvSpPr>
        <p:spPr>
          <a:xfrm>
            <a:off x="5664708" y="4182566"/>
            <a:ext cx="1097280" cy="182880"/>
          </a:xfrm>
          <a:prstGeom prst="rect">
            <a:avLst/>
          </a:prstGeom>
          <a:noFill/>
          <a:ln/>
        </p:spPr>
        <p:txBody>
          <a:bodyPr wrap="square" lIns="0" tIns="0" rIns="0" bIns="0" rtlCol="0" anchor="ctr"/>
          <a:lstStyle/>
          <a:p>
            <a:pPr marL="0" indent="0">
              <a:buNone/>
            </a:pPr>
            <a:r>
              <a:rPr lang="en-US" sz="800" b="1" dirty="0">
                <a:solidFill>
                  <a:srgbClr val="14213D"/>
                </a:solidFill>
                <a:latin typeface="Malgun Gothic" pitchFamily="34" charset="0"/>
                <a:ea typeface="Malgun Gothic" pitchFamily="34" charset="-122"/>
                <a:cs typeface="Malgun Gothic" pitchFamily="34" charset="-120"/>
              </a:rPr>
              <a:t>Supermarket</a:t>
            </a:r>
            <a:endParaRPr lang="en-US" sz="800" dirty="0"/>
          </a:p>
        </p:txBody>
      </p:sp>
      <p:sp>
        <p:nvSpPr>
          <p:cNvPr id="60" name="Shape 55"/>
          <p:cNvSpPr/>
          <p:nvPr/>
        </p:nvSpPr>
        <p:spPr>
          <a:xfrm>
            <a:off x="5664708" y="4402022"/>
            <a:ext cx="777240" cy="5486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61" name="Shape 56"/>
          <p:cNvSpPr/>
          <p:nvPr/>
        </p:nvSpPr>
        <p:spPr>
          <a:xfrm>
            <a:off x="5664708" y="4493462"/>
            <a:ext cx="502920" cy="45720"/>
          </a:xfrm>
          <a:prstGeom prst="roundRect">
            <a:avLst>
              <a:gd name="adj" fmla="val 50000"/>
            </a:avLst>
          </a:prstGeom>
          <a:solidFill>
            <a:srgbClr val="D9E0EA"/>
          </a:solidFill>
          <a:ln w="12700">
            <a:solidFill>
              <a:srgbClr val="D9E0EA"/>
            </a:solidFill>
            <a:prstDash val="solid"/>
          </a:ln>
        </p:spPr>
        <p:txBody>
          <a:bodyPr/>
          <a:lstStyle/>
          <a:p>
            <a:endParaRPr lang="ko-KR" altLang="en-US"/>
          </a:p>
        </p:txBody>
      </p:sp>
      <p:pic>
        <p:nvPicPr>
          <p:cNvPr id="62" name="Image 3" descr="preencoded.png"/>
          <p:cNvPicPr>
            <a:picLocks noChangeAspect="1"/>
          </p:cNvPicPr>
          <p:nvPr/>
        </p:nvPicPr>
        <p:blipFill>
          <a:blip r:embed="rId4"/>
          <a:stretch>
            <a:fillRect/>
          </a:stretch>
        </p:blipFill>
        <p:spPr>
          <a:xfrm>
            <a:off x="6761988" y="4274006"/>
            <a:ext cx="164592" cy="164592"/>
          </a:xfrm>
          <a:prstGeom prst="rect">
            <a:avLst/>
          </a:prstGeom>
        </p:spPr>
      </p:pic>
      <p:sp>
        <p:nvSpPr>
          <p:cNvPr id="63" name="Shape 57"/>
          <p:cNvSpPr/>
          <p:nvPr/>
        </p:nvSpPr>
        <p:spPr>
          <a:xfrm>
            <a:off x="5884164" y="4740350"/>
            <a:ext cx="118872" cy="118872"/>
          </a:xfrm>
          <a:prstGeom prst="ellipse">
            <a:avLst/>
          </a:prstGeom>
          <a:solidFill>
            <a:srgbClr val="C4CEDC"/>
          </a:solidFill>
          <a:ln w="12700">
            <a:solidFill>
              <a:srgbClr val="E8383D"/>
            </a:solidFill>
            <a:prstDash val="solid"/>
          </a:ln>
        </p:spPr>
        <p:txBody>
          <a:bodyPr/>
          <a:lstStyle/>
          <a:p>
            <a:endParaRPr lang="ko-KR" altLang="en-US"/>
          </a:p>
        </p:txBody>
      </p:sp>
      <p:sp>
        <p:nvSpPr>
          <p:cNvPr id="64" name="Shape 58"/>
          <p:cNvSpPr/>
          <p:nvPr/>
        </p:nvSpPr>
        <p:spPr>
          <a:xfrm>
            <a:off x="6085332" y="4740350"/>
            <a:ext cx="118872" cy="118872"/>
          </a:xfrm>
          <a:prstGeom prst="ellipse">
            <a:avLst/>
          </a:prstGeom>
          <a:solidFill>
            <a:srgbClr val="E8383D"/>
          </a:solidFill>
          <a:ln w="12700">
            <a:solidFill>
              <a:srgbClr val="E8383D"/>
            </a:solidFill>
            <a:prstDash val="solid"/>
          </a:ln>
        </p:spPr>
        <p:txBody>
          <a:bodyPr/>
          <a:lstStyle/>
          <a:p>
            <a:endParaRPr lang="ko-KR" altLang="en-US"/>
          </a:p>
        </p:txBody>
      </p:sp>
      <p:sp>
        <p:nvSpPr>
          <p:cNvPr id="65" name="Shape 59"/>
          <p:cNvSpPr/>
          <p:nvPr/>
        </p:nvSpPr>
        <p:spPr>
          <a:xfrm>
            <a:off x="6286500" y="4740350"/>
            <a:ext cx="118872" cy="118872"/>
          </a:xfrm>
          <a:prstGeom prst="ellipse">
            <a:avLst/>
          </a:prstGeom>
          <a:solidFill>
            <a:srgbClr val="C4CEDC"/>
          </a:solidFill>
          <a:ln w="12700">
            <a:solidFill>
              <a:srgbClr val="E8383D"/>
            </a:solidFill>
            <a:prstDash val="solid"/>
          </a:ln>
        </p:spPr>
        <p:txBody>
          <a:bodyPr/>
          <a:lstStyle/>
          <a:p>
            <a:endParaRPr lang="ko-KR" altLang="en-US"/>
          </a:p>
        </p:txBody>
      </p:sp>
      <p:sp>
        <p:nvSpPr>
          <p:cNvPr id="66" name="Shape 60"/>
          <p:cNvSpPr/>
          <p:nvPr/>
        </p:nvSpPr>
        <p:spPr>
          <a:xfrm>
            <a:off x="8828532" y="2015438"/>
            <a:ext cx="2103120" cy="2971800"/>
          </a:xfrm>
          <a:prstGeom prst="roundRect">
            <a:avLst>
              <a:gd name="adj" fmla="val 11304"/>
            </a:avLst>
          </a:prstGeom>
          <a:solidFill>
            <a:srgbClr val="FFFFFF"/>
          </a:solidFill>
          <a:ln w="19050">
            <a:solidFill>
              <a:srgbClr val="9AA9C0"/>
            </a:solidFill>
            <a:prstDash val="solid"/>
          </a:ln>
          <a:effectLst>
            <a:outerShdw blurRad="101600" dist="25400" dir="5400000" algn="bl" rotWithShape="0">
              <a:srgbClr val="0B1B33">
                <a:alpha val="10000"/>
              </a:srgbClr>
            </a:outerShdw>
          </a:effectLst>
        </p:spPr>
        <p:txBody>
          <a:bodyPr/>
          <a:lstStyle/>
          <a:p>
            <a:endParaRPr lang="ko-KR" altLang="en-US"/>
          </a:p>
        </p:txBody>
      </p:sp>
      <p:sp>
        <p:nvSpPr>
          <p:cNvPr id="67" name="Shape 61"/>
          <p:cNvSpPr/>
          <p:nvPr/>
        </p:nvSpPr>
        <p:spPr>
          <a:xfrm>
            <a:off x="9605772" y="2106878"/>
            <a:ext cx="548640" cy="5486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68" name="Text 62"/>
          <p:cNvSpPr txBox="1"/>
          <p:nvPr/>
        </p:nvSpPr>
        <p:spPr>
          <a:xfrm>
            <a:off x="9011412" y="2271470"/>
            <a:ext cx="1737360" cy="201168"/>
          </a:xfrm>
          <a:prstGeom prst="rect">
            <a:avLst/>
          </a:prstGeom>
          <a:noFill/>
          <a:ln/>
        </p:spPr>
        <p:txBody>
          <a:bodyPr wrap="square" lIns="0" tIns="0" rIns="0" bIns="0" rtlCol="0" anchor="ctr"/>
          <a:lstStyle/>
          <a:p>
            <a:pPr marL="0" indent="0">
              <a:buNone/>
            </a:pPr>
            <a:r>
              <a:rPr lang="en-US" sz="850" b="1" dirty="0">
                <a:solidFill>
                  <a:srgbClr val="64748B"/>
                </a:solidFill>
                <a:latin typeface="Malgun Gothic" pitchFamily="34" charset="0"/>
                <a:ea typeface="Malgun Gothic" pitchFamily="34" charset="-122"/>
                <a:cs typeface="Malgun Gothic" pitchFamily="34" charset="-120"/>
              </a:rPr>
              <a:t>Pay with QR</a:t>
            </a:r>
            <a:endParaRPr lang="en-US" sz="850" dirty="0"/>
          </a:p>
        </p:txBody>
      </p:sp>
      <p:sp>
        <p:nvSpPr>
          <p:cNvPr id="69" name="Shape 63"/>
          <p:cNvSpPr/>
          <p:nvPr/>
        </p:nvSpPr>
        <p:spPr>
          <a:xfrm>
            <a:off x="9285732" y="2564078"/>
            <a:ext cx="1188720" cy="1188720"/>
          </a:xfrm>
          <a:prstGeom prst="roundRect">
            <a:avLst>
              <a:gd name="adj" fmla="val 9231"/>
            </a:avLst>
          </a:prstGeom>
          <a:solidFill>
            <a:srgbClr val="F3F6FB"/>
          </a:solidFill>
          <a:ln w="12700">
            <a:solidFill>
              <a:srgbClr val="F3F6FB"/>
            </a:solidFill>
            <a:prstDash val="solid"/>
          </a:ln>
        </p:spPr>
        <p:txBody>
          <a:bodyPr/>
          <a:lstStyle/>
          <a:p>
            <a:endParaRPr lang="ko-KR" altLang="en-US"/>
          </a:p>
        </p:txBody>
      </p:sp>
      <p:pic>
        <p:nvPicPr>
          <p:cNvPr id="70" name="Image 4" descr="preencoded.png"/>
          <p:cNvPicPr>
            <a:picLocks noChangeAspect="1"/>
          </p:cNvPicPr>
          <p:nvPr/>
        </p:nvPicPr>
        <p:blipFill>
          <a:blip r:embed="rId5"/>
          <a:stretch>
            <a:fillRect/>
          </a:stretch>
        </p:blipFill>
        <p:spPr>
          <a:xfrm>
            <a:off x="9450324" y="2728670"/>
            <a:ext cx="859536" cy="859536"/>
          </a:xfrm>
          <a:prstGeom prst="rect">
            <a:avLst/>
          </a:prstGeom>
        </p:spPr>
      </p:pic>
      <p:sp>
        <p:nvSpPr>
          <p:cNvPr id="71" name="Text 64"/>
          <p:cNvSpPr txBox="1"/>
          <p:nvPr/>
        </p:nvSpPr>
        <p:spPr>
          <a:xfrm>
            <a:off x="9011412" y="3844238"/>
            <a:ext cx="1737360" cy="365760"/>
          </a:xfrm>
          <a:prstGeom prst="rect">
            <a:avLst/>
          </a:prstGeom>
          <a:noFill/>
          <a:ln/>
        </p:spPr>
        <p:txBody>
          <a:bodyPr wrap="square" lIns="0" tIns="0" rIns="0" bIns="0" rtlCol="0" anchor="ctr"/>
          <a:lstStyle/>
          <a:p>
            <a:pPr marL="0" indent="0" algn="ctr">
              <a:lnSpc>
                <a:spcPct val="100000"/>
              </a:lnSpc>
              <a:buNone/>
            </a:pPr>
            <a:r>
              <a:rPr lang="en-US" sz="950" b="1" dirty="0">
                <a:solidFill>
                  <a:srgbClr val="14213D"/>
                </a:solidFill>
                <a:latin typeface="Malgun Gothic" pitchFamily="34" charset="0"/>
                <a:ea typeface="Malgun Gothic" pitchFamily="34" charset="-122"/>
                <a:cs typeface="Malgun Gothic" pitchFamily="34" charset="-120"/>
              </a:rPr>
              <a:t>First payment at an early-bird spot</a:t>
            </a:r>
            <a:endParaRPr lang="en-US" sz="950" dirty="0"/>
          </a:p>
        </p:txBody>
      </p:sp>
      <p:sp>
        <p:nvSpPr>
          <p:cNvPr id="72" name="Shape 65"/>
          <p:cNvSpPr/>
          <p:nvPr/>
        </p:nvSpPr>
        <p:spPr>
          <a:xfrm>
            <a:off x="9057132" y="4392878"/>
            <a:ext cx="402336" cy="402336"/>
          </a:xfrm>
          <a:prstGeom prst="ellipse">
            <a:avLst/>
          </a:prstGeom>
          <a:solidFill>
            <a:srgbClr val="FF7A7E"/>
          </a:solidFill>
          <a:ln w="12700">
            <a:solidFill>
              <a:srgbClr val="FF7A7E"/>
            </a:solidFill>
            <a:prstDash val="solid"/>
          </a:ln>
        </p:spPr>
        <p:txBody>
          <a:bodyPr/>
          <a:lstStyle/>
          <a:p>
            <a:endParaRPr lang="ko-KR" altLang="en-US"/>
          </a:p>
        </p:txBody>
      </p:sp>
      <p:pic>
        <p:nvPicPr>
          <p:cNvPr id="73" name="Image 5" descr="preencoded.png"/>
          <p:cNvPicPr>
            <a:picLocks noChangeAspect="1"/>
          </p:cNvPicPr>
          <p:nvPr/>
        </p:nvPicPr>
        <p:blipFill>
          <a:blip r:embed="rId6"/>
          <a:stretch>
            <a:fillRect/>
          </a:stretch>
        </p:blipFill>
        <p:spPr>
          <a:xfrm>
            <a:off x="9147658" y="4483404"/>
            <a:ext cx="221285" cy="221285"/>
          </a:xfrm>
          <a:prstGeom prst="rect">
            <a:avLst/>
          </a:prstGeom>
        </p:spPr>
      </p:pic>
      <p:sp>
        <p:nvSpPr>
          <p:cNvPr id="74" name="Text 66"/>
          <p:cNvSpPr txBox="1"/>
          <p:nvPr/>
        </p:nvSpPr>
        <p:spPr>
          <a:xfrm>
            <a:off x="9560052" y="4374590"/>
            <a:ext cx="1280160" cy="438912"/>
          </a:xfrm>
          <a:prstGeom prst="rect">
            <a:avLst/>
          </a:prstGeom>
          <a:noFill/>
          <a:ln/>
        </p:spPr>
        <p:txBody>
          <a:bodyPr wrap="square" lIns="0" tIns="0" rIns="0" bIns="0" rtlCol="0" anchor="ctr"/>
          <a:lstStyle/>
          <a:p>
            <a:pPr marL="0" indent="0">
              <a:lnSpc>
                <a:spcPct val="105000"/>
              </a:lnSpc>
              <a:buNone/>
            </a:pPr>
            <a:r>
              <a:rPr lang="en-US" sz="900" b="1" dirty="0">
                <a:solidFill>
                  <a:srgbClr val="14213D"/>
                </a:solidFill>
                <a:latin typeface="Malgun Gothic" pitchFamily="34" charset="0"/>
                <a:ea typeface="Malgun Gothic" pitchFamily="34" charset="-122"/>
                <a:cs typeface="Malgun Gothic" pitchFamily="34" charset="-120"/>
              </a:rPr>
              <a:t>Early-bird badge</a:t>
            </a:r>
            <a:endParaRPr lang="en-US" sz="1300" dirty="0"/>
          </a:p>
          <a:p>
            <a:pPr marL="0" indent="0">
              <a:lnSpc>
                <a:spcPct val="105000"/>
              </a:lnSpc>
              <a:buNone/>
            </a:pPr>
            <a:r>
              <a:rPr lang="en-US" sz="800" dirty="0">
                <a:solidFill>
                  <a:srgbClr val="64748B"/>
                </a:solidFill>
                <a:latin typeface="Malgun Gothic" pitchFamily="34" charset="0"/>
                <a:ea typeface="Malgun Gothic" pitchFamily="34" charset="-122"/>
                <a:cs typeface="Malgun Gothic" pitchFamily="34" charset="-120"/>
              </a:rPr>
              <a:t>+ Points · Discount (TBD)</a:t>
            </a:r>
            <a:endParaRPr lang="en-US" sz="1300" dirty="0"/>
          </a:p>
        </p:txBody>
      </p:sp>
      <p:sp>
        <p:nvSpPr>
          <p:cNvPr id="75" name="Text 67"/>
          <p:cNvSpPr txBox="1"/>
          <p:nvPr/>
        </p:nvSpPr>
        <p:spPr>
          <a:xfrm>
            <a:off x="548640" y="5193792"/>
            <a:ext cx="3520440" cy="777240"/>
          </a:xfrm>
          <a:prstGeom prst="rect">
            <a:avLst/>
          </a:prstGeom>
          <a:noFill/>
          <a:ln/>
        </p:spPr>
        <p:txBody>
          <a:bodyPr wrap="square" lIns="0" tIns="0" rIns="0" bIns="0" rtlCol="0" anchor="t"/>
          <a:lstStyle/>
          <a:p>
            <a:pPr marL="0" indent="0">
              <a:lnSpc>
                <a:spcPct val="112000"/>
              </a:lnSpc>
              <a:buNone/>
            </a:pPr>
            <a:r>
              <a:rPr lang="en-US" sz="950" dirty="0">
                <a:solidFill>
                  <a:srgbClr val="3A475C"/>
                </a:solidFill>
                <a:latin typeface="Malgun Gothic" pitchFamily="34" charset="0"/>
                <a:ea typeface="Malgun Gothic" pitchFamily="34" charset="-122"/>
                <a:cs typeface="Malgun Gothic" pitchFamily="34" charset="-120"/>
              </a:rPr>
              <a:t>지자체·소상공인이 받는 알림. 신호 수치와 원인 확인 결과, 다국어 준비 체크리스트를 한 장으로 보여준다.</a:t>
            </a:r>
            <a:endParaRPr lang="en-US" sz="950" dirty="0"/>
          </a:p>
        </p:txBody>
      </p:sp>
      <p:sp>
        <p:nvSpPr>
          <p:cNvPr id="76" name="Text 68"/>
          <p:cNvSpPr txBox="1"/>
          <p:nvPr/>
        </p:nvSpPr>
        <p:spPr>
          <a:xfrm>
            <a:off x="4334256" y="5193792"/>
            <a:ext cx="3520440" cy="777240"/>
          </a:xfrm>
          <a:prstGeom prst="rect">
            <a:avLst/>
          </a:prstGeom>
          <a:noFill/>
          <a:ln/>
        </p:spPr>
        <p:txBody>
          <a:bodyPr wrap="square" lIns="0" tIns="0" rIns="0" bIns="0" rtlCol="0" anchor="t"/>
          <a:lstStyle/>
          <a:p>
            <a:pPr marL="0" indent="0">
              <a:lnSpc>
                <a:spcPct val="112000"/>
              </a:lnSpc>
              <a:buNone/>
            </a:pPr>
            <a:r>
              <a:rPr lang="en-US" sz="950" dirty="0">
                <a:solidFill>
                  <a:srgbClr val="3A475C"/>
                </a:solidFill>
                <a:latin typeface="Malgun Gothic" pitchFamily="34" charset="0"/>
                <a:ea typeface="Malgun Gothic" pitchFamily="34" charset="-122"/>
                <a:cs typeface="Malgun Gothic" pitchFamily="34" charset="-120"/>
              </a:rPr>
              <a:t>외국인 이용자가 보는 화면. 이번 분석은 시군구×업종 집계라, 서비스 단계에서는 가맹점 단위 정보와 노출 동의가 별도로 필요하다.</a:t>
            </a:r>
            <a:endParaRPr lang="en-US" sz="950" dirty="0"/>
          </a:p>
        </p:txBody>
      </p:sp>
      <p:sp>
        <p:nvSpPr>
          <p:cNvPr id="77" name="Text 69"/>
          <p:cNvSpPr txBox="1"/>
          <p:nvPr/>
        </p:nvSpPr>
        <p:spPr>
          <a:xfrm>
            <a:off x="8119872" y="5193792"/>
            <a:ext cx="3520440" cy="777240"/>
          </a:xfrm>
          <a:prstGeom prst="rect">
            <a:avLst/>
          </a:prstGeom>
          <a:noFill/>
          <a:ln/>
        </p:spPr>
        <p:txBody>
          <a:bodyPr wrap="square" lIns="0" tIns="0" rIns="0" bIns="0" rtlCol="0" anchor="t"/>
          <a:lstStyle/>
          <a:p>
            <a:pPr marL="0" indent="0">
              <a:lnSpc>
                <a:spcPct val="112000"/>
              </a:lnSpc>
              <a:buNone/>
            </a:pPr>
            <a:r>
              <a:rPr lang="en-US" sz="950" dirty="0">
                <a:solidFill>
                  <a:srgbClr val="3A475C"/>
                </a:solidFill>
                <a:latin typeface="Malgun Gothic" pitchFamily="34" charset="0"/>
                <a:ea typeface="Malgun Gothic" pitchFamily="34" charset="-122"/>
                <a:cs typeface="Malgun Gothic" pitchFamily="34" charset="-120"/>
              </a:rPr>
              <a:t>첫 결제 리워드 화면. 리워드의 종류와 규모는 협약 사업의 제휴 조건에 따라 정해진다.</a:t>
            </a:r>
            <a:endParaRPr lang="en-US" sz="950" dirty="0"/>
          </a:p>
        </p:txBody>
      </p:sp>
      <p:sp>
        <p:nvSpPr>
          <p:cNvPr id="78" name="Text 70"/>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화면은 서비스 구상을 보여주기 위한 가상 예시다. 가맹점 이름·리워드 수준은 정해진 바 없고, ① 화면의 수치만 본 분석의 옹진군 결과(2026.3~5월, 외국인 세그먼트)이다.</a:t>
            </a:r>
            <a:endParaRPr lang="en-US" sz="900" dirty="0"/>
          </a:p>
        </p:txBody>
      </p:sp>
      <p:sp>
        <p:nvSpPr>
          <p:cNvPr id="79" name="Text 71"/>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80" name="Text 72"/>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29 / 42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06  </a:t>
            </a:r>
            <a:r>
              <a:rPr lang="en-US" sz="1150" b="1" dirty="0">
                <a:solidFill>
                  <a:srgbClr val="64748B"/>
                </a:solidFill>
                <a:latin typeface="Malgun Gothic" pitchFamily="34" charset="0"/>
                <a:ea typeface="Malgun Gothic" pitchFamily="34" charset="-122"/>
                <a:cs typeface="Malgun Gothic" pitchFamily="34" charset="-120"/>
              </a:rPr>
              <a:t>서비스 아이디어 제안 · 실현 가능성</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협약으로 열리는 결제 인프라 위에 </a:t>
            </a:r>
            <a:r>
              <a:rPr lang="en-US" sz="2400" b="1" dirty="0" err="1">
                <a:solidFill>
                  <a:srgbClr val="14213D"/>
                </a:solidFill>
                <a:latin typeface="Malgun Gothic" pitchFamily="34" charset="0"/>
                <a:ea typeface="Malgun Gothic" pitchFamily="34" charset="-122"/>
                <a:cs typeface="Malgun Gothic" pitchFamily="34" charset="-120"/>
              </a:rPr>
              <a:t>얹는</a:t>
            </a:r>
            <a:r>
              <a:rPr lang="en-US" sz="2400" b="1" dirty="0">
                <a:solidFill>
                  <a:srgbClr val="14213D"/>
                </a:solidFill>
                <a:latin typeface="Malgun Gothic" pitchFamily="34" charset="0"/>
                <a:ea typeface="Malgun Gothic" pitchFamily="34" charset="-122"/>
                <a:cs typeface="Malgun Gothic" pitchFamily="34" charset="-120"/>
              </a:rPr>
              <a:t> </a:t>
            </a:r>
            <a:r>
              <a:rPr lang="en-US" sz="2400" b="1" dirty="0" err="1">
                <a:solidFill>
                  <a:srgbClr val="14213D"/>
                </a:solidFill>
                <a:latin typeface="Malgun Gothic" pitchFamily="34" charset="0"/>
                <a:ea typeface="Malgun Gothic" pitchFamily="34" charset="-122"/>
                <a:cs typeface="Malgun Gothic" pitchFamily="34" charset="-120"/>
              </a:rPr>
              <a:t>서비스</a:t>
            </a:r>
            <a:endParaRPr lang="en-US" sz="2400" dirty="0"/>
          </a:p>
        </p:txBody>
      </p:sp>
      <p:sp>
        <p:nvSpPr>
          <p:cNvPr id="6" name="Shape 4"/>
          <p:cNvSpPr/>
          <p:nvPr/>
        </p:nvSpPr>
        <p:spPr>
          <a:xfrm>
            <a:off x="548640" y="1737360"/>
            <a:ext cx="4526280" cy="4297680"/>
          </a:xfrm>
          <a:prstGeom prst="roundRect">
            <a:avLst>
              <a:gd name="adj" fmla="val 2553"/>
            </a:avLst>
          </a:prstGeom>
          <a:solidFill>
            <a:srgbClr val="0B1B33"/>
          </a:solidFill>
          <a:ln w="12700">
            <a:solidFill>
              <a:srgbClr val="0B1B33"/>
            </a:solidFill>
            <a:prstDash val="solid"/>
          </a:ln>
        </p:spPr>
        <p:txBody>
          <a:bodyPr/>
          <a:lstStyle/>
          <a:p>
            <a:endParaRPr lang="ko-KR" altLang="en-US"/>
          </a:p>
        </p:txBody>
      </p:sp>
      <p:sp>
        <p:nvSpPr>
          <p:cNvPr id="7" name="Shape 5"/>
          <p:cNvSpPr/>
          <p:nvPr/>
        </p:nvSpPr>
        <p:spPr>
          <a:xfrm>
            <a:off x="777240" y="1938528"/>
            <a:ext cx="1920240" cy="237744"/>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8" name="Text 6"/>
          <p:cNvSpPr txBox="1"/>
          <p:nvPr/>
        </p:nvSpPr>
        <p:spPr>
          <a:xfrm>
            <a:off x="777240" y="1938528"/>
            <a:ext cx="1920240"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Malgun Gothic" pitchFamily="34" charset="0"/>
                <a:ea typeface="Malgun Gothic" pitchFamily="34" charset="-122"/>
                <a:cs typeface="Malgun Gothic" pitchFamily="34" charset="-120"/>
              </a:rPr>
              <a:t>협약 체결 · 서비스 미출시</a:t>
            </a:r>
            <a:endParaRPr lang="en-US" sz="950" dirty="0"/>
          </a:p>
        </p:txBody>
      </p:sp>
      <p:sp>
        <p:nvSpPr>
          <p:cNvPr id="9" name="Text 7"/>
          <p:cNvSpPr txBox="1"/>
          <p:nvPr/>
        </p:nvSpPr>
        <p:spPr>
          <a:xfrm>
            <a:off x="764714" y="2286000"/>
            <a:ext cx="4297680" cy="502920"/>
          </a:xfrm>
          <a:prstGeom prst="rect">
            <a:avLst/>
          </a:prstGeom>
          <a:noFill/>
          <a:ln/>
        </p:spPr>
        <p:txBody>
          <a:bodyPr wrap="square" lIns="0" tIns="0" rIns="0" bIns="0" rtlCol="0" anchor="t"/>
          <a:lstStyle/>
          <a:p>
            <a:pPr marL="0" indent="0">
              <a:lnSpc>
                <a:spcPct val="110000"/>
              </a:lnSpc>
              <a:buNone/>
            </a:pPr>
            <a:r>
              <a:rPr lang="en-US" sz="1350" b="1" dirty="0">
                <a:solidFill>
                  <a:srgbClr val="FFFFFF"/>
                </a:solidFill>
                <a:latin typeface="Malgun Gothic" pitchFamily="34" charset="0"/>
                <a:ea typeface="Malgun Gothic" pitchFamily="34" charset="-122"/>
                <a:cs typeface="Malgun Gothic" pitchFamily="34" charset="-120"/>
              </a:rPr>
              <a:t>2026.8.24 BC카드 · 네이버페이 · 유니온페이 업무협약</a:t>
            </a:r>
            <a:endParaRPr lang="en-US" sz="1350" dirty="0"/>
          </a:p>
        </p:txBody>
      </p:sp>
      <p:sp>
        <p:nvSpPr>
          <p:cNvPr id="10" name="Text 8"/>
          <p:cNvSpPr txBox="1"/>
          <p:nvPr/>
        </p:nvSpPr>
        <p:spPr>
          <a:xfrm>
            <a:off x="777240" y="2669422"/>
            <a:ext cx="4069080" cy="219456"/>
          </a:xfrm>
          <a:prstGeom prst="rect">
            <a:avLst/>
          </a:prstGeom>
          <a:noFill/>
          <a:ln/>
        </p:spPr>
        <p:txBody>
          <a:bodyPr wrap="square" lIns="0" tIns="0" rIns="0" bIns="0" rtlCol="0" anchor="t"/>
          <a:lstStyle/>
          <a:p>
            <a:pPr marL="0" indent="0">
              <a:buNone/>
            </a:pPr>
            <a:r>
              <a:rPr lang="en-US" sz="950" dirty="0">
                <a:solidFill>
                  <a:srgbClr val="A9B8D0"/>
                </a:solidFill>
                <a:latin typeface="Malgun Gothic" pitchFamily="34" charset="0"/>
                <a:ea typeface="Malgun Gothic" pitchFamily="34" charset="-122"/>
                <a:cs typeface="Malgun Gothic" pitchFamily="34" charset="-120"/>
              </a:rPr>
              <a:t>2026.8.25 보도 · 방한 외국인 결제 편의 확대</a:t>
            </a:r>
            <a:endParaRPr lang="en-US" sz="950" dirty="0"/>
          </a:p>
        </p:txBody>
      </p:sp>
      <p:sp>
        <p:nvSpPr>
          <p:cNvPr id="11" name="Text 9"/>
          <p:cNvSpPr txBox="1"/>
          <p:nvPr/>
        </p:nvSpPr>
        <p:spPr>
          <a:xfrm>
            <a:off x="777240" y="3246120"/>
            <a:ext cx="868680" cy="548640"/>
          </a:xfrm>
          <a:prstGeom prst="rect">
            <a:avLst/>
          </a:prstGeom>
          <a:noFill/>
          <a:ln/>
        </p:spPr>
        <p:txBody>
          <a:bodyPr wrap="square" lIns="0" tIns="0" rIns="0" bIns="0" rtlCol="0" anchor="t"/>
          <a:lstStyle/>
          <a:p>
            <a:pPr marL="0" indent="0">
              <a:buNone/>
            </a:pPr>
            <a:r>
              <a:rPr lang="en-US" sz="1000" b="1" dirty="0">
                <a:solidFill>
                  <a:srgbClr val="FF7A7E"/>
                </a:solidFill>
                <a:latin typeface="Malgun Gothic" pitchFamily="34" charset="0"/>
                <a:ea typeface="Malgun Gothic" pitchFamily="34" charset="-122"/>
                <a:cs typeface="Malgun Gothic" pitchFamily="34" charset="-120"/>
              </a:rPr>
              <a:t>BC카드</a:t>
            </a:r>
            <a:endParaRPr lang="en-US" sz="1000" dirty="0"/>
          </a:p>
        </p:txBody>
      </p:sp>
      <p:sp>
        <p:nvSpPr>
          <p:cNvPr id="12" name="Text 10"/>
          <p:cNvSpPr txBox="1"/>
          <p:nvPr/>
        </p:nvSpPr>
        <p:spPr>
          <a:xfrm>
            <a:off x="1645920" y="3246120"/>
            <a:ext cx="3200400" cy="685800"/>
          </a:xfrm>
          <a:prstGeom prst="rect">
            <a:avLst/>
          </a:prstGeom>
          <a:noFill/>
          <a:ln/>
        </p:spPr>
        <p:txBody>
          <a:bodyPr wrap="square" lIns="0" tIns="0" rIns="0" bIns="0" rtlCol="0" anchor="t"/>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전국 가맹점 네트워크와 결제 인프라로, 네이버페이가 외국인 결제 서비스를 제공할 수 있도록 시스템 개발·운영을 지원한다</a:t>
            </a:r>
            <a:endParaRPr lang="en-US" sz="1000" dirty="0"/>
          </a:p>
        </p:txBody>
      </p:sp>
      <p:sp>
        <p:nvSpPr>
          <p:cNvPr id="13" name="Text 11"/>
          <p:cNvSpPr txBox="1"/>
          <p:nvPr/>
        </p:nvSpPr>
        <p:spPr>
          <a:xfrm>
            <a:off x="777240" y="4023360"/>
            <a:ext cx="868680" cy="548640"/>
          </a:xfrm>
          <a:prstGeom prst="rect">
            <a:avLst/>
          </a:prstGeom>
          <a:noFill/>
          <a:ln/>
        </p:spPr>
        <p:txBody>
          <a:bodyPr wrap="square" lIns="0" tIns="0" rIns="0" bIns="0" rtlCol="0" anchor="t"/>
          <a:lstStyle/>
          <a:p>
            <a:pPr marL="0" indent="0">
              <a:buNone/>
            </a:pPr>
            <a:r>
              <a:rPr lang="en-US" sz="1000" b="1" dirty="0">
                <a:solidFill>
                  <a:srgbClr val="FF7A7E"/>
                </a:solidFill>
                <a:latin typeface="Malgun Gothic" pitchFamily="34" charset="0"/>
                <a:ea typeface="Malgun Gothic" pitchFamily="34" charset="-122"/>
                <a:cs typeface="Malgun Gothic" pitchFamily="34" charset="-120"/>
              </a:rPr>
              <a:t>유니온페이</a:t>
            </a:r>
            <a:endParaRPr lang="en-US" sz="1000" dirty="0"/>
          </a:p>
        </p:txBody>
      </p:sp>
      <p:sp>
        <p:nvSpPr>
          <p:cNvPr id="14" name="Text 12"/>
          <p:cNvSpPr txBox="1"/>
          <p:nvPr/>
        </p:nvSpPr>
        <p:spPr>
          <a:xfrm>
            <a:off x="1645920" y="4023360"/>
            <a:ext cx="3200400" cy="685800"/>
          </a:xfrm>
          <a:prstGeom prst="rect">
            <a:avLst/>
          </a:prstGeom>
          <a:noFill/>
          <a:ln/>
        </p:spPr>
        <p:txBody>
          <a:bodyPr wrap="square" lIns="0" tIns="0" rIns="0" bIns="0" rtlCol="0" anchor="t"/>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해외 결제 서비스와 국내 결제 인프라를 잇는 연동 기반을 제공한다</a:t>
            </a:r>
            <a:endParaRPr lang="en-US" sz="1000" dirty="0"/>
          </a:p>
        </p:txBody>
      </p:sp>
      <p:sp>
        <p:nvSpPr>
          <p:cNvPr id="15" name="Text 13"/>
          <p:cNvSpPr txBox="1"/>
          <p:nvPr/>
        </p:nvSpPr>
        <p:spPr>
          <a:xfrm>
            <a:off x="777240" y="4800600"/>
            <a:ext cx="868680" cy="548640"/>
          </a:xfrm>
          <a:prstGeom prst="rect">
            <a:avLst/>
          </a:prstGeom>
          <a:noFill/>
          <a:ln/>
        </p:spPr>
        <p:txBody>
          <a:bodyPr wrap="square" lIns="0" tIns="0" rIns="0" bIns="0" rtlCol="0" anchor="t"/>
          <a:lstStyle/>
          <a:p>
            <a:pPr marL="0" indent="0">
              <a:buNone/>
            </a:pPr>
            <a:r>
              <a:rPr lang="en-US" sz="1000" b="1" dirty="0">
                <a:solidFill>
                  <a:srgbClr val="FF7A7E"/>
                </a:solidFill>
                <a:latin typeface="Malgun Gothic" pitchFamily="34" charset="0"/>
                <a:ea typeface="Malgun Gothic" pitchFamily="34" charset="-122"/>
                <a:cs typeface="Malgun Gothic" pitchFamily="34" charset="-120"/>
              </a:rPr>
              <a:t>QR · 일정</a:t>
            </a:r>
            <a:endParaRPr lang="en-US" sz="1000" dirty="0"/>
          </a:p>
        </p:txBody>
      </p:sp>
      <p:sp>
        <p:nvSpPr>
          <p:cNvPr id="16" name="Text 14"/>
          <p:cNvSpPr txBox="1"/>
          <p:nvPr/>
        </p:nvSpPr>
        <p:spPr>
          <a:xfrm>
            <a:off x="1645920" y="4800600"/>
            <a:ext cx="3200400" cy="685800"/>
          </a:xfrm>
          <a:prstGeom prst="rect">
            <a:avLst/>
          </a:prstGeom>
          <a:noFill/>
          <a:ln/>
        </p:spPr>
        <p:txBody>
          <a:bodyPr wrap="square" lIns="0" tIns="0" rIns="0" bIns="0" rtlCol="0" anchor="t"/>
          <a:lstStyle/>
          <a:p>
            <a:pPr marL="0" indent="0">
              <a:lnSpc>
                <a:spcPct val="112000"/>
              </a:lnSpc>
              <a:buNone/>
            </a:pPr>
            <a:r>
              <a:rPr lang="en-US" sz="1000" dirty="0">
                <a:solidFill>
                  <a:srgbClr val="FFFFFF"/>
                </a:solidFill>
                <a:latin typeface="Malgun Gothic" pitchFamily="34" charset="0"/>
                <a:ea typeface="Malgun Gothic" pitchFamily="34" charset="-122"/>
                <a:cs typeface="Malgun Gothic" pitchFamily="34" charset="-120"/>
              </a:rPr>
              <a:t>크로스보더 QR 결제 활성화 협력은 ‘이어갈 예정’ — 아직 출시된 서비스가 아니며, 출시 목표는 2027년이고 세부 사업 조건은 공개되지 않았다</a:t>
            </a:r>
            <a:endParaRPr lang="en-US" sz="1000" dirty="0"/>
          </a:p>
        </p:txBody>
      </p:sp>
      <p:sp>
        <p:nvSpPr>
          <p:cNvPr id="17" name="Text 15"/>
          <p:cNvSpPr txBox="1"/>
          <p:nvPr/>
        </p:nvSpPr>
        <p:spPr>
          <a:xfrm>
            <a:off x="777240" y="5577840"/>
            <a:ext cx="4069080" cy="292608"/>
          </a:xfrm>
          <a:prstGeom prst="rect">
            <a:avLst/>
          </a:prstGeom>
          <a:noFill/>
          <a:ln/>
        </p:spPr>
        <p:txBody>
          <a:bodyPr wrap="square" lIns="0" tIns="0" rIns="0" bIns="0" rtlCol="0" anchor="ctr"/>
          <a:lstStyle/>
          <a:p>
            <a:pPr marL="0" indent="0">
              <a:buNone/>
            </a:pPr>
            <a:r>
              <a:rPr lang="en-US" sz="1050" b="1" dirty="0">
                <a:solidFill>
                  <a:srgbClr val="FF7A7E"/>
                </a:solidFill>
                <a:latin typeface="Malgun Gothic" pitchFamily="34" charset="0"/>
                <a:ea typeface="Malgun Gothic" pitchFamily="34" charset="-122"/>
                <a:cs typeface="Malgun Gothic" pitchFamily="34" charset="-120"/>
              </a:rPr>
              <a:t>→ 본 제안은 이 인프라 위에 얹는 데이터·콘텐츠 레이어</a:t>
            </a:r>
            <a:endParaRPr lang="en-US" sz="10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303520" y="1737360"/>
          <a:ext cx="6336792" cy="2157984"/>
        </p:xfrm>
        <a:graphic>
          <a:graphicData uri="http://schemas.openxmlformats.org/drawingml/2006/table">
            <a:tbl>
              <a:tblPr/>
              <a:tblGrid>
                <a:gridCol w="3168396">
                  <a:extLst>
                    <a:ext uri="{9D8B030D-6E8A-4147-A177-3AD203B41FA5}">
                      <a16:colId xmlns:a16="http://schemas.microsoft.com/office/drawing/2014/main" val="20000"/>
                    </a:ext>
                  </a:extLst>
                </a:gridCol>
                <a:gridCol w="3168396">
                  <a:extLst>
                    <a:ext uri="{9D8B030D-6E8A-4147-A177-3AD203B41FA5}">
                      <a16:colId xmlns:a16="http://schemas.microsoft.com/office/drawing/2014/main" val="20001"/>
                    </a:ext>
                  </a:extLst>
                </a:gridCol>
              </a:tblGrid>
              <a:tr h="329184">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이미 있는 것</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7A6D"/>
                    </a:solidFill>
                  </a:tcPr>
                </a:tc>
                <a:tc>
                  <a:txBody>
                    <a:bodyPr/>
                    <a:lstStyle/>
                    <a:p>
                      <a:pPr marL="0" indent="0">
                        <a:buNone/>
                      </a:pPr>
                      <a:r>
                        <a:rPr lang="en-US" sz="1050" b="1" dirty="0">
                          <a:solidFill>
                            <a:srgbClr val="FFFFFF"/>
                          </a:solidFill>
                          <a:latin typeface="Malgun Gothic" pitchFamily="34" charset="0"/>
                          <a:ea typeface="Malgun Gothic" pitchFamily="34" charset="-122"/>
                          <a:cs typeface="Malgun Gothic" pitchFamily="34" charset="-120"/>
                        </a:rPr>
                        <a:t>새로 필요한 것</a:t>
                      </a:r>
                      <a:endParaRPr lang="en-US" sz="10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9A6B00"/>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시군구×업종×월 외국인 카드 집계 (BC카드 보유)</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체류자격(단기방문·계절근로·영주 등) 세분화 필드</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BC카드의 전국 가맹점 네트워크·결제 인프라와 외국인 결제 연동 협약 (8/24)</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지자체 파트너십 — 알림을 받고 다국어 안내를 돕는 창구</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457200">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이번에 만든 분석 파이프라인 (노트북으로 재현 가능)</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외국인 이용자 접점 — 결제 앱 안 노출을 위한 제휴 협의</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집계·익명 데이터만 사용 (개인 식별 불가)</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000" dirty="0">
                          <a:solidFill>
                            <a:srgbClr val="14213D"/>
                          </a:solidFill>
                          <a:latin typeface="Malgun Gothic" pitchFamily="34" charset="0"/>
                          <a:ea typeface="Malgun Gothic" pitchFamily="34" charset="-122"/>
                          <a:cs typeface="Malgun Gothic" pitchFamily="34" charset="-120"/>
                        </a:rPr>
                        <a:t>가맹점 단위 노출의 동의·제휴 절차, 리워드 재원</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bl>
          </a:graphicData>
        </a:graphic>
      </p:graphicFrame>
      <p:sp>
        <p:nvSpPr>
          <p:cNvPr id="19" name="Text 16"/>
          <p:cNvSpPr txBox="1"/>
          <p:nvPr/>
        </p:nvSpPr>
        <p:spPr>
          <a:xfrm>
            <a:off x="5303520" y="4023360"/>
            <a:ext cx="365760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단계별 로드맵 (제안)</a:t>
            </a:r>
            <a:endParaRPr lang="en-US" sz="1250" dirty="0"/>
          </a:p>
        </p:txBody>
      </p:sp>
      <p:sp>
        <p:nvSpPr>
          <p:cNvPr id="20" name="Shape 17"/>
          <p:cNvSpPr/>
          <p:nvPr/>
        </p:nvSpPr>
        <p:spPr>
          <a:xfrm>
            <a:off x="5303520" y="4352544"/>
            <a:ext cx="1990344" cy="1188720"/>
          </a:xfrm>
          <a:prstGeom prst="roundRect">
            <a:avLst>
              <a:gd name="adj" fmla="val 7692"/>
            </a:avLst>
          </a:prstGeom>
          <a:solidFill>
            <a:srgbClr val="F3F6FB"/>
          </a:solidFill>
          <a:ln w="12700">
            <a:solidFill>
              <a:srgbClr val="F3F6FB"/>
            </a:solidFill>
            <a:prstDash val="solid"/>
          </a:ln>
        </p:spPr>
        <p:txBody>
          <a:bodyPr/>
          <a:lstStyle/>
          <a:p>
            <a:endParaRPr lang="ko-KR" altLang="en-US"/>
          </a:p>
        </p:txBody>
      </p:sp>
      <p:sp>
        <p:nvSpPr>
          <p:cNvPr id="21" name="Shape 18"/>
          <p:cNvSpPr/>
          <p:nvPr/>
        </p:nvSpPr>
        <p:spPr>
          <a:xfrm>
            <a:off x="5440680" y="4462272"/>
            <a:ext cx="1716024" cy="219456"/>
          </a:xfrm>
          <a:prstGeom prst="roundRect">
            <a:avLst>
              <a:gd name="adj" fmla="val 50000"/>
            </a:avLst>
          </a:prstGeom>
          <a:solidFill>
            <a:srgbClr val="0B1B33"/>
          </a:solidFill>
          <a:ln w="12700">
            <a:solidFill>
              <a:srgbClr val="0B1B33"/>
            </a:solidFill>
            <a:prstDash val="solid"/>
          </a:ln>
        </p:spPr>
        <p:txBody>
          <a:bodyPr/>
          <a:lstStyle/>
          <a:p>
            <a:endParaRPr lang="ko-KR" altLang="en-US"/>
          </a:p>
        </p:txBody>
      </p:sp>
      <p:sp>
        <p:nvSpPr>
          <p:cNvPr id="22" name="Text 19"/>
          <p:cNvSpPr txBox="1"/>
          <p:nvPr/>
        </p:nvSpPr>
        <p:spPr>
          <a:xfrm>
            <a:off x="5440680" y="4462272"/>
            <a:ext cx="171602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1단계 · 지금 가능</a:t>
            </a:r>
            <a:endParaRPr lang="en-US" sz="850" dirty="0"/>
          </a:p>
        </p:txBody>
      </p:sp>
      <p:sp>
        <p:nvSpPr>
          <p:cNvPr id="23" name="Text 20"/>
          <p:cNvSpPr txBox="1"/>
          <p:nvPr/>
        </p:nvSpPr>
        <p:spPr>
          <a:xfrm>
            <a:off x="5440680" y="4754880"/>
            <a:ext cx="1716024" cy="237744"/>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내부 월간 주시 목록 리포트</a:t>
            </a:r>
            <a:endParaRPr lang="en-US" sz="1050" dirty="0"/>
          </a:p>
        </p:txBody>
      </p:sp>
      <p:sp>
        <p:nvSpPr>
          <p:cNvPr id="24" name="Text 21"/>
          <p:cNvSpPr txBox="1"/>
          <p:nvPr/>
        </p:nvSpPr>
        <p:spPr>
          <a:xfrm>
            <a:off x="5440680" y="5020056"/>
            <a:ext cx="1716024" cy="493776"/>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기존 집계 데이터만으로 시작한다. 추가 인프라가 필요 없다.</a:t>
            </a:r>
            <a:endParaRPr lang="en-US" sz="900" dirty="0"/>
          </a:p>
        </p:txBody>
      </p:sp>
      <p:sp>
        <p:nvSpPr>
          <p:cNvPr id="25" name="Shape 22"/>
          <p:cNvSpPr/>
          <p:nvPr/>
        </p:nvSpPr>
        <p:spPr>
          <a:xfrm>
            <a:off x="7476744" y="4352544"/>
            <a:ext cx="1990344" cy="1188720"/>
          </a:xfrm>
          <a:prstGeom prst="roundRect">
            <a:avLst>
              <a:gd name="adj" fmla="val 7692"/>
            </a:avLst>
          </a:prstGeom>
          <a:solidFill>
            <a:srgbClr val="F3F6FB"/>
          </a:solidFill>
          <a:ln w="12700">
            <a:solidFill>
              <a:srgbClr val="F3F6FB"/>
            </a:solidFill>
            <a:prstDash val="solid"/>
          </a:ln>
        </p:spPr>
        <p:txBody>
          <a:bodyPr/>
          <a:lstStyle/>
          <a:p>
            <a:endParaRPr lang="ko-KR" altLang="en-US"/>
          </a:p>
        </p:txBody>
      </p:sp>
      <p:sp>
        <p:nvSpPr>
          <p:cNvPr id="26" name="Shape 23"/>
          <p:cNvSpPr/>
          <p:nvPr/>
        </p:nvSpPr>
        <p:spPr>
          <a:xfrm>
            <a:off x="7613904" y="4462272"/>
            <a:ext cx="1716024" cy="219456"/>
          </a:xfrm>
          <a:prstGeom prst="roundRect">
            <a:avLst>
              <a:gd name="adj" fmla="val 50000"/>
            </a:avLst>
          </a:prstGeom>
          <a:solidFill>
            <a:srgbClr val="0B1B33"/>
          </a:solidFill>
          <a:ln w="12700">
            <a:solidFill>
              <a:srgbClr val="0B1B33"/>
            </a:solidFill>
            <a:prstDash val="solid"/>
          </a:ln>
        </p:spPr>
        <p:txBody>
          <a:bodyPr/>
          <a:lstStyle/>
          <a:p>
            <a:endParaRPr lang="ko-KR" altLang="en-US"/>
          </a:p>
        </p:txBody>
      </p:sp>
      <p:sp>
        <p:nvSpPr>
          <p:cNvPr id="27" name="Text 24"/>
          <p:cNvSpPr txBox="1"/>
          <p:nvPr/>
        </p:nvSpPr>
        <p:spPr>
          <a:xfrm>
            <a:off x="7613904" y="4462272"/>
            <a:ext cx="171602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2단계 · 지자체 시범</a:t>
            </a:r>
            <a:endParaRPr lang="en-US" sz="850" dirty="0"/>
          </a:p>
        </p:txBody>
      </p:sp>
      <p:sp>
        <p:nvSpPr>
          <p:cNvPr id="28" name="Text 25"/>
          <p:cNvSpPr txBox="1"/>
          <p:nvPr/>
        </p:nvSpPr>
        <p:spPr>
          <a:xfrm>
            <a:off x="7613904" y="4754880"/>
            <a:ext cx="1716024" cy="237744"/>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신호 지역 2~3곳 시범 운영</a:t>
            </a:r>
            <a:endParaRPr lang="en-US" sz="1050" dirty="0"/>
          </a:p>
        </p:txBody>
      </p:sp>
      <p:sp>
        <p:nvSpPr>
          <p:cNvPr id="29" name="Text 26"/>
          <p:cNvSpPr txBox="1"/>
          <p:nvPr/>
        </p:nvSpPr>
        <p:spPr>
          <a:xfrm>
            <a:off x="7613904" y="5020056"/>
            <a:ext cx="1716024" cy="493776"/>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조기 알림과 다국어 안내를 지원하고, 체류자격 필드 제안을 반영한다.</a:t>
            </a:r>
            <a:endParaRPr lang="en-US" sz="900" dirty="0"/>
          </a:p>
        </p:txBody>
      </p:sp>
      <p:sp>
        <p:nvSpPr>
          <p:cNvPr id="30" name="Shape 27"/>
          <p:cNvSpPr/>
          <p:nvPr/>
        </p:nvSpPr>
        <p:spPr>
          <a:xfrm>
            <a:off x="9649968" y="4352544"/>
            <a:ext cx="1990344" cy="1188720"/>
          </a:xfrm>
          <a:prstGeom prst="roundRect">
            <a:avLst>
              <a:gd name="adj" fmla="val 7692"/>
            </a:avLst>
          </a:prstGeom>
          <a:solidFill>
            <a:srgbClr val="FDECEC"/>
          </a:solidFill>
          <a:ln w="12700">
            <a:solidFill>
              <a:srgbClr val="FDECEC"/>
            </a:solidFill>
            <a:prstDash val="solid"/>
          </a:ln>
        </p:spPr>
        <p:txBody>
          <a:bodyPr/>
          <a:lstStyle/>
          <a:p>
            <a:endParaRPr lang="ko-KR" altLang="en-US"/>
          </a:p>
        </p:txBody>
      </p:sp>
      <p:sp>
        <p:nvSpPr>
          <p:cNvPr id="18" name="Shape 28"/>
          <p:cNvSpPr/>
          <p:nvPr/>
        </p:nvSpPr>
        <p:spPr>
          <a:xfrm>
            <a:off x="9787128" y="4462272"/>
            <a:ext cx="1716024" cy="219456"/>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32" name="Text 29"/>
          <p:cNvSpPr txBox="1"/>
          <p:nvPr/>
        </p:nvSpPr>
        <p:spPr>
          <a:xfrm>
            <a:off x="9787128" y="4462272"/>
            <a:ext cx="1716024"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3단계 · 2027 출시 시점</a:t>
            </a:r>
            <a:endParaRPr lang="en-US" sz="850" dirty="0"/>
          </a:p>
        </p:txBody>
      </p:sp>
      <p:sp>
        <p:nvSpPr>
          <p:cNvPr id="33" name="Text 30"/>
          <p:cNvSpPr txBox="1"/>
          <p:nvPr/>
        </p:nvSpPr>
        <p:spPr>
          <a:xfrm>
            <a:off x="9787128" y="4754880"/>
            <a:ext cx="1716024" cy="237744"/>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QR 리워드 연계</a:t>
            </a:r>
            <a:endParaRPr lang="en-US" sz="1050" dirty="0"/>
          </a:p>
        </p:txBody>
      </p:sp>
      <p:sp>
        <p:nvSpPr>
          <p:cNvPr id="34" name="Text 31"/>
          <p:cNvSpPr txBox="1"/>
          <p:nvPr/>
        </p:nvSpPr>
        <p:spPr>
          <a:xfrm>
            <a:off x="9787128" y="5020056"/>
            <a:ext cx="1716024" cy="493776"/>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얼리버드 스팟 큐레이션과 첫 결제 리워드를 협약 인프라에 얹는다.</a:t>
            </a:r>
            <a:endParaRPr lang="en-US" sz="900" dirty="0"/>
          </a:p>
        </p:txBody>
      </p:sp>
      <p:sp>
        <p:nvSpPr>
          <p:cNvPr id="35" name="Shape 32"/>
          <p:cNvSpPr/>
          <p:nvPr/>
        </p:nvSpPr>
        <p:spPr>
          <a:xfrm>
            <a:off x="5303520" y="5632704"/>
            <a:ext cx="6336792" cy="402336"/>
          </a:xfrm>
          <a:prstGeom prst="roundRect">
            <a:avLst>
              <a:gd name="adj" fmla="val 18182"/>
            </a:avLst>
          </a:prstGeom>
          <a:solidFill>
            <a:srgbClr val="FFF4DC"/>
          </a:solidFill>
          <a:ln w="12700">
            <a:solidFill>
              <a:srgbClr val="FFF4DC"/>
            </a:solidFill>
            <a:prstDash val="solid"/>
          </a:ln>
        </p:spPr>
        <p:txBody>
          <a:bodyPr/>
          <a:lstStyle/>
          <a:p>
            <a:endParaRPr lang="ko-KR" altLang="en-US"/>
          </a:p>
        </p:txBody>
      </p:sp>
      <p:sp>
        <p:nvSpPr>
          <p:cNvPr id="36" name="Text 33"/>
          <p:cNvSpPr txBox="1"/>
          <p:nvPr/>
        </p:nvSpPr>
        <p:spPr>
          <a:xfrm>
            <a:off x="5486400" y="5632704"/>
            <a:ext cx="5971032" cy="402336"/>
          </a:xfrm>
          <a:prstGeom prst="rect">
            <a:avLst/>
          </a:prstGeom>
          <a:noFill/>
          <a:ln/>
        </p:spPr>
        <p:txBody>
          <a:bodyPr wrap="square" lIns="0" tIns="0" rIns="0" bIns="0" rtlCol="0" anchor="ctr"/>
          <a:lstStyle/>
          <a:p>
            <a:pPr marL="0" indent="0">
              <a:buNone/>
            </a:pPr>
            <a:r>
              <a:rPr lang="en-US" sz="950" b="1" dirty="0">
                <a:solidFill>
                  <a:srgbClr val="9A6B00"/>
                </a:solidFill>
                <a:latin typeface="Malgun Gothic" pitchFamily="34" charset="0"/>
                <a:ea typeface="Malgun Gothic" pitchFamily="34" charset="-122"/>
                <a:cs typeface="Malgun Gothic" pitchFamily="34" charset="-120"/>
              </a:rPr>
              <a:t>3단계는 협약 사업의 출시 일정(2027년 목표)과 제휴 조건에 좌우된다.  </a:t>
            </a:r>
            <a:r>
              <a:rPr lang="en-US" sz="950" dirty="0">
                <a:solidFill>
                  <a:srgbClr val="9A6B00"/>
                </a:solidFill>
                <a:latin typeface="Malgun Gothic" pitchFamily="34" charset="0"/>
                <a:ea typeface="Malgun Gothic" pitchFamily="34" charset="-122"/>
                <a:cs typeface="Malgun Gothic" pitchFamily="34" charset="-120"/>
              </a:rPr>
              <a:t>1·2단계는 그와 </a:t>
            </a:r>
            <a:r>
              <a:rPr lang="en-US" sz="950" dirty="0" err="1">
                <a:solidFill>
                  <a:srgbClr val="9A6B00"/>
                </a:solidFill>
                <a:latin typeface="Malgun Gothic" pitchFamily="34" charset="0"/>
                <a:ea typeface="Malgun Gothic" pitchFamily="34" charset="-122"/>
                <a:cs typeface="Malgun Gothic" pitchFamily="34" charset="-120"/>
              </a:rPr>
              <a:t>무관하게</a:t>
            </a:r>
            <a:r>
              <a:rPr lang="en-US" sz="950" dirty="0">
                <a:solidFill>
                  <a:srgbClr val="9A6B00"/>
                </a:solidFill>
                <a:latin typeface="Malgun Gothic" pitchFamily="34" charset="0"/>
                <a:ea typeface="Malgun Gothic" pitchFamily="34" charset="-122"/>
                <a:cs typeface="Malgun Gothic" pitchFamily="34" charset="-120"/>
              </a:rPr>
              <a:t> </a:t>
            </a:r>
            <a:r>
              <a:rPr lang="en-US" sz="950" dirty="0" err="1">
                <a:solidFill>
                  <a:srgbClr val="9A6B00"/>
                </a:solidFill>
                <a:latin typeface="Malgun Gothic" pitchFamily="34" charset="0"/>
                <a:ea typeface="Malgun Gothic" pitchFamily="34" charset="-122"/>
                <a:cs typeface="Malgun Gothic" pitchFamily="34" charset="-120"/>
              </a:rPr>
              <a:t>시작</a:t>
            </a:r>
            <a:r>
              <a:rPr lang="en-US" sz="950" dirty="0">
                <a:solidFill>
                  <a:srgbClr val="9A6B00"/>
                </a:solidFill>
                <a:latin typeface="Malgun Gothic" pitchFamily="34" charset="0"/>
                <a:ea typeface="Malgun Gothic" pitchFamily="34" charset="-122"/>
                <a:cs typeface="Malgun Gothic" pitchFamily="34" charset="-120"/>
              </a:rPr>
              <a:t> </a:t>
            </a:r>
            <a:r>
              <a:rPr lang="ko-KR" altLang="en-US" sz="950" dirty="0">
                <a:solidFill>
                  <a:srgbClr val="9A6B00"/>
                </a:solidFill>
                <a:latin typeface="Malgun Gothic" pitchFamily="34" charset="0"/>
                <a:ea typeface="Malgun Gothic" pitchFamily="34" charset="-122"/>
                <a:cs typeface="Malgun Gothic" pitchFamily="34" charset="-120"/>
              </a:rPr>
              <a:t>가능</a:t>
            </a:r>
            <a:endParaRPr lang="en-US" sz="950" dirty="0"/>
          </a:p>
        </p:txBody>
      </p:sp>
      <p:sp>
        <p:nvSpPr>
          <p:cNvPr id="37" name="Text 34"/>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8" name="Text 35"/>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30 / 42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06  </a:t>
            </a:r>
            <a:r>
              <a:rPr lang="en-US" sz="1150" b="1" dirty="0">
                <a:solidFill>
                  <a:srgbClr val="64748B"/>
                </a:solidFill>
                <a:latin typeface="Malgun Gothic" pitchFamily="34" charset="0"/>
                <a:ea typeface="Malgun Gothic" pitchFamily="34" charset="-122"/>
                <a:cs typeface="Malgun Gothic" pitchFamily="34" charset="-120"/>
              </a:rPr>
              <a:t>서비스 아이디어 제안 · 차별점</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결제는 후기보다 먼저 남는다 — 새 카드가 아닌 서비스 </a:t>
            </a:r>
            <a:r>
              <a:rPr lang="en-US" sz="2400" b="1" dirty="0" err="1">
                <a:solidFill>
                  <a:srgbClr val="14213D"/>
                </a:solidFill>
                <a:latin typeface="Malgun Gothic" pitchFamily="34" charset="0"/>
                <a:ea typeface="Malgun Gothic" pitchFamily="34" charset="-122"/>
                <a:cs typeface="Malgun Gothic" pitchFamily="34" charset="-120"/>
              </a:rPr>
              <a:t>레이어로</a:t>
            </a:r>
            <a:r>
              <a:rPr lang="en-US" sz="2400" b="1" dirty="0">
                <a:solidFill>
                  <a:srgbClr val="14213D"/>
                </a:solidFill>
                <a:latin typeface="Malgun Gothic" pitchFamily="34" charset="0"/>
                <a:ea typeface="Malgun Gothic" pitchFamily="34" charset="-122"/>
                <a:cs typeface="Malgun Gothic" pitchFamily="34" charset="-120"/>
              </a:rPr>
              <a:t> </a:t>
            </a:r>
            <a:r>
              <a:rPr lang="ko-KR" altLang="en-US" sz="2400" b="1" dirty="0">
                <a:solidFill>
                  <a:srgbClr val="14213D"/>
                </a:solidFill>
                <a:latin typeface="Malgun Gothic" pitchFamily="34" charset="0"/>
                <a:ea typeface="Malgun Gothic" pitchFamily="34" charset="-122"/>
                <a:cs typeface="Malgun Gothic" pitchFamily="34" charset="-120"/>
              </a:rPr>
              <a:t>겨냥</a:t>
            </a:r>
            <a:endParaRPr lang="en-US" sz="2400" dirty="0"/>
          </a:p>
        </p:txBody>
      </p:sp>
      <p:sp>
        <p:nvSpPr>
          <p:cNvPr id="6" name="Shape 4"/>
          <p:cNvSpPr/>
          <p:nvPr/>
        </p:nvSpPr>
        <p:spPr>
          <a:xfrm>
            <a:off x="548640" y="1649678"/>
            <a:ext cx="6766560" cy="2487168"/>
          </a:xfrm>
          <a:prstGeom prst="roundRect">
            <a:avLst>
              <a:gd name="adj" fmla="val 4412"/>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741118"/>
            <a:ext cx="457200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정보가 생기는 순서</a:t>
            </a:r>
            <a:endParaRPr lang="en-US" sz="1250" dirty="0"/>
          </a:p>
        </p:txBody>
      </p:sp>
      <p:sp>
        <p:nvSpPr>
          <p:cNvPr id="8" name="Shape 6"/>
          <p:cNvSpPr/>
          <p:nvPr/>
        </p:nvSpPr>
        <p:spPr>
          <a:xfrm>
            <a:off x="1563624" y="2399486"/>
            <a:ext cx="4736592" cy="0"/>
          </a:xfrm>
          <a:prstGeom prst="line">
            <a:avLst/>
          </a:prstGeom>
          <a:noFill/>
          <a:ln w="31750">
            <a:solidFill>
              <a:srgbClr val="C4CEDC"/>
            </a:solidFill>
            <a:prstDash val="solid"/>
          </a:ln>
        </p:spPr>
        <p:txBody>
          <a:bodyPr/>
          <a:lstStyle/>
          <a:p>
            <a:endParaRPr lang="ko-KR" altLang="en-US"/>
          </a:p>
        </p:txBody>
      </p:sp>
      <p:sp>
        <p:nvSpPr>
          <p:cNvPr id="9" name="Shape 7"/>
          <p:cNvSpPr/>
          <p:nvPr/>
        </p:nvSpPr>
        <p:spPr>
          <a:xfrm>
            <a:off x="1335024" y="2170886"/>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1437894" y="2273756"/>
            <a:ext cx="251460" cy="251460"/>
          </a:xfrm>
          <a:prstGeom prst="rect">
            <a:avLst/>
          </a:prstGeom>
        </p:spPr>
      </p:pic>
      <p:sp>
        <p:nvSpPr>
          <p:cNvPr id="11" name="Text 8"/>
          <p:cNvSpPr txBox="1"/>
          <p:nvPr/>
        </p:nvSpPr>
        <p:spPr>
          <a:xfrm>
            <a:off x="786384" y="2710382"/>
            <a:ext cx="1554480" cy="237744"/>
          </a:xfrm>
          <a:prstGeom prst="rect">
            <a:avLst/>
          </a:prstGeom>
          <a:noFill/>
          <a:ln/>
        </p:spPr>
        <p:txBody>
          <a:bodyPr wrap="square" lIns="0" tIns="0" rIns="0" bIns="0" rtlCol="0" anchor="ctr"/>
          <a:lstStyle/>
          <a:p>
            <a:pPr marL="0" indent="0" algn="ctr">
              <a:buNone/>
            </a:pPr>
            <a:r>
              <a:rPr lang="en-US" sz="1100" b="1" dirty="0">
                <a:solidFill>
                  <a:srgbClr val="14213D"/>
                </a:solidFill>
                <a:latin typeface="Malgun Gothic" pitchFamily="34" charset="0"/>
                <a:ea typeface="Malgun Gothic" pitchFamily="34" charset="-122"/>
                <a:cs typeface="Malgun Gothic" pitchFamily="34" charset="-120"/>
              </a:rPr>
              <a:t>방문</a:t>
            </a:r>
            <a:endParaRPr lang="en-US" sz="1100" dirty="0"/>
          </a:p>
        </p:txBody>
      </p:sp>
      <p:sp>
        <p:nvSpPr>
          <p:cNvPr id="12" name="Text 9"/>
          <p:cNvSpPr txBox="1"/>
          <p:nvPr/>
        </p:nvSpPr>
        <p:spPr>
          <a:xfrm>
            <a:off x="832104" y="2966414"/>
            <a:ext cx="1463040" cy="402336"/>
          </a:xfrm>
          <a:prstGeom prst="rect">
            <a:avLst/>
          </a:prstGeom>
          <a:noFill/>
          <a:ln/>
        </p:spPr>
        <p:txBody>
          <a:bodyPr wrap="square" lIns="0" tIns="0" rIns="0" bIns="0" rtlCol="0" anchor="t"/>
          <a:lstStyle/>
          <a:p>
            <a:pPr marL="0" indent="0" algn="ctr">
              <a:lnSpc>
                <a:spcPct val="105000"/>
              </a:lnSpc>
              <a:buNone/>
            </a:pPr>
            <a:r>
              <a:rPr lang="en-US" sz="850" dirty="0">
                <a:solidFill>
                  <a:srgbClr val="64748B"/>
                </a:solidFill>
                <a:latin typeface="Malgun Gothic" pitchFamily="34" charset="0"/>
                <a:ea typeface="Malgun Gothic" pitchFamily="34" charset="-122"/>
                <a:cs typeface="Malgun Gothic" pitchFamily="34" charset="-120"/>
              </a:rPr>
              <a:t>외국인이 지역을 찾는다</a:t>
            </a:r>
            <a:endParaRPr lang="en-US" sz="850" dirty="0"/>
          </a:p>
        </p:txBody>
      </p:sp>
      <p:sp>
        <p:nvSpPr>
          <p:cNvPr id="13" name="Shape 10"/>
          <p:cNvSpPr/>
          <p:nvPr/>
        </p:nvSpPr>
        <p:spPr>
          <a:xfrm>
            <a:off x="2916936" y="2170886"/>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14" name="Image 1" descr="preencoded.png"/>
          <p:cNvPicPr>
            <a:picLocks noChangeAspect="1"/>
          </p:cNvPicPr>
          <p:nvPr/>
        </p:nvPicPr>
        <p:blipFill>
          <a:blip r:embed="rId4"/>
          <a:stretch>
            <a:fillRect/>
          </a:stretch>
        </p:blipFill>
        <p:spPr>
          <a:xfrm>
            <a:off x="3019806" y="2273756"/>
            <a:ext cx="251460" cy="251460"/>
          </a:xfrm>
          <a:prstGeom prst="rect">
            <a:avLst/>
          </a:prstGeom>
        </p:spPr>
      </p:pic>
      <p:sp>
        <p:nvSpPr>
          <p:cNvPr id="15" name="Text 11"/>
          <p:cNvSpPr txBox="1"/>
          <p:nvPr/>
        </p:nvSpPr>
        <p:spPr>
          <a:xfrm>
            <a:off x="2368296" y="2710382"/>
            <a:ext cx="1554480" cy="237744"/>
          </a:xfrm>
          <a:prstGeom prst="rect">
            <a:avLst/>
          </a:prstGeom>
          <a:noFill/>
          <a:ln/>
        </p:spPr>
        <p:txBody>
          <a:bodyPr wrap="square" lIns="0" tIns="0" rIns="0" bIns="0" rtlCol="0" anchor="ctr"/>
          <a:lstStyle/>
          <a:p>
            <a:pPr marL="0" indent="0" algn="ctr">
              <a:buNone/>
            </a:pPr>
            <a:r>
              <a:rPr lang="en-US" sz="1100" b="1" dirty="0">
                <a:solidFill>
                  <a:srgbClr val="E8383D"/>
                </a:solidFill>
                <a:latin typeface="Malgun Gothic" pitchFamily="34" charset="0"/>
                <a:ea typeface="Malgun Gothic" pitchFamily="34" charset="-122"/>
                <a:cs typeface="Malgun Gothic" pitchFamily="34" charset="-120"/>
              </a:rPr>
              <a:t>결제</a:t>
            </a:r>
            <a:endParaRPr lang="en-US" sz="1100" dirty="0"/>
          </a:p>
        </p:txBody>
      </p:sp>
      <p:sp>
        <p:nvSpPr>
          <p:cNvPr id="16" name="Text 12"/>
          <p:cNvSpPr txBox="1"/>
          <p:nvPr/>
        </p:nvSpPr>
        <p:spPr>
          <a:xfrm>
            <a:off x="2414016" y="2966414"/>
            <a:ext cx="1463040" cy="402336"/>
          </a:xfrm>
          <a:prstGeom prst="rect">
            <a:avLst/>
          </a:prstGeom>
          <a:noFill/>
          <a:ln/>
        </p:spPr>
        <p:txBody>
          <a:bodyPr wrap="square" lIns="0" tIns="0" rIns="0" bIns="0" rtlCol="0" anchor="t"/>
          <a:lstStyle/>
          <a:p>
            <a:pPr marL="0" indent="0" algn="ctr">
              <a:lnSpc>
                <a:spcPct val="105000"/>
              </a:lnSpc>
              <a:buNone/>
            </a:pPr>
            <a:r>
              <a:rPr lang="en-US" sz="850" dirty="0">
                <a:solidFill>
                  <a:srgbClr val="64748B"/>
                </a:solidFill>
                <a:latin typeface="Malgun Gothic" pitchFamily="34" charset="0"/>
                <a:ea typeface="Malgun Gothic" pitchFamily="34" charset="-122"/>
                <a:cs typeface="Malgun Gothic" pitchFamily="34" charset="-120"/>
              </a:rPr>
              <a:t>그 자리에서 결제가 일어나 카드 데이터가 된다</a:t>
            </a:r>
            <a:endParaRPr lang="en-US" sz="850" dirty="0"/>
          </a:p>
        </p:txBody>
      </p:sp>
      <p:sp>
        <p:nvSpPr>
          <p:cNvPr id="17" name="Shape 13"/>
          <p:cNvSpPr/>
          <p:nvPr/>
        </p:nvSpPr>
        <p:spPr>
          <a:xfrm>
            <a:off x="4498848" y="2170886"/>
            <a:ext cx="457200" cy="457200"/>
          </a:xfrm>
          <a:prstGeom prst="ellipse">
            <a:avLst/>
          </a:prstGeom>
          <a:solidFill>
            <a:srgbClr val="8CA0BE"/>
          </a:solidFill>
          <a:ln w="12700">
            <a:solidFill>
              <a:srgbClr val="8CA0BE"/>
            </a:solidFill>
            <a:prstDash val="solid"/>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4601718" y="2273756"/>
            <a:ext cx="251460" cy="251460"/>
          </a:xfrm>
          <a:prstGeom prst="rect">
            <a:avLst/>
          </a:prstGeom>
        </p:spPr>
      </p:pic>
      <p:sp>
        <p:nvSpPr>
          <p:cNvPr id="19" name="Text 14"/>
          <p:cNvSpPr txBox="1"/>
          <p:nvPr/>
        </p:nvSpPr>
        <p:spPr>
          <a:xfrm>
            <a:off x="3950208" y="2710382"/>
            <a:ext cx="1554480" cy="237744"/>
          </a:xfrm>
          <a:prstGeom prst="rect">
            <a:avLst/>
          </a:prstGeom>
          <a:noFill/>
          <a:ln/>
        </p:spPr>
        <p:txBody>
          <a:bodyPr wrap="square" lIns="0" tIns="0" rIns="0" bIns="0" rtlCol="0" anchor="ctr"/>
          <a:lstStyle/>
          <a:p>
            <a:pPr marL="0" indent="0" algn="ctr">
              <a:buNone/>
            </a:pPr>
            <a:r>
              <a:rPr lang="en-US" sz="1100" b="1" dirty="0">
                <a:solidFill>
                  <a:srgbClr val="14213D"/>
                </a:solidFill>
                <a:latin typeface="Malgun Gothic" pitchFamily="34" charset="0"/>
                <a:ea typeface="Malgun Gothic" pitchFamily="34" charset="-122"/>
                <a:cs typeface="Malgun Gothic" pitchFamily="34" charset="-120"/>
              </a:rPr>
              <a:t>후기 작성</a:t>
            </a:r>
            <a:endParaRPr lang="en-US" sz="1100" dirty="0"/>
          </a:p>
        </p:txBody>
      </p:sp>
      <p:sp>
        <p:nvSpPr>
          <p:cNvPr id="20" name="Text 15"/>
          <p:cNvSpPr txBox="1"/>
          <p:nvPr/>
        </p:nvSpPr>
        <p:spPr>
          <a:xfrm>
            <a:off x="3995928" y="2966414"/>
            <a:ext cx="1463040" cy="402336"/>
          </a:xfrm>
          <a:prstGeom prst="rect">
            <a:avLst/>
          </a:prstGeom>
          <a:noFill/>
          <a:ln/>
        </p:spPr>
        <p:txBody>
          <a:bodyPr wrap="square" lIns="0" tIns="0" rIns="0" bIns="0" rtlCol="0" anchor="t"/>
          <a:lstStyle/>
          <a:p>
            <a:pPr marL="0" indent="0" algn="ctr">
              <a:lnSpc>
                <a:spcPct val="105000"/>
              </a:lnSpc>
              <a:buNone/>
            </a:pPr>
            <a:r>
              <a:rPr lang="en-US" sz="850" dirty="0">
                <a:solidFill>
                  <a:srgbClr val="64748B"/>
                </a:solidFill>
                <a:latin typeface="Malgun Gothic" pitchFamily="34" charset="0"/>
                <a:ea typeface="Malgun Gothic" pitchFamily="34" charset="-122"/>
                <a:cs typeface="Malgun Gothic" pitchFamily="34" charset="-120"/>
              </a:rPr>
              <a:t>일부가 리뷰·게시물을 남긴다</a:t>
            </a:r>
            <a:endParaRPr lang="en-US" sz="850" dirty="0"/>
          </a:p>
        </p:txBody>
      </p:sp>
      <p:sp>
        <p:nvSpPr>
          <p:cNvPr id="21" name="Shape 16"/>
          <p:cNvSpPr/>
          <p:nvPr/>
        </p:nvSpPr>
        <p:spPr>
          <a:xfrm>
            <a:off x="6071616" y="2170886"/>
            <a:ext cx="457200" cy="457200"/>
          </a:xfrm>
          <a:prstGeom prst="ellipse">
            <a:avLst/>
          </a:prstGeom>
          <a:solidFill>
            <a:srgbClr val="8CA0BE"/>
          </a:solidFill>
          <a:ln w="12700">
            <a:solidFill>
              <a:srgbClr val="8CA0BE"/>
            </a:solidFill>
            <a:prstDash val="solid"/>
          </a:ln>
        </p:spPr>
        <p:txBody>
          <a:bodyPr/>
          <a:lstStyle/>
          <a:p>
            <a:endParaRPr lang="ko-KR" altLang="en-US"/>
          </a:p>
        </p:txBody>
      </p:sp>
      <p:pic>
        <p:nvPicPr>
          <p:cNvPr id="22" name="Image 3" descr="preencoded.png"/>
          <p:cNvPicPr>
            <a:picLocks noChangeAspect="1"/>
          </p:cNvPicPr>
          <p:nvPr/>
        </p:nvPicPr>
        <p:blipFill>
          <a:blip r:embed="rId6"/>
          <a:stretch>
            <a:fillRect/>
          </a:stretch>
        </p:blipFill>
        <p:spPr>
          <a:xfrm>
            <a:off x="6174486" y="2273756"/>
            <a:ext cx="251460" cy="251460"/>
          </a:xfrm>
          <a:prstGeom prst="rect">
            <a:avLst/>
          </a:prstGeom>
        </p:spPr>
      </p:pic>
      <p:sp>
        <p:nvSpPr>
          <p:cNvPr id="23" name="Text 17"/>
          <p:cNvSpPr txBox="1"/>
          <p:nvPr/>
        </p:nvSpPr>
        <p:spPr>
          <a:xfrm>
            <a:off x="5522976" y="2710382"/>
            <a:ext cx="1554480" cy="237744"/>
          </a:xfrm>
          <a:prstGeom prst="rect">
            <a:avLst/>
          </a:prstGeom>
          <a:noFill/>
          <a:ln/>
        </p:spPr>
        <p:txBody>
          <a:bodyPr wrap="square" lIns="0" tIns="0" rIns="0" bIns="0" rtlCol="0" anchor="ctr"/>
          <a:lstStyle/>
          <a:p>
            <a:pPr marL="0" indent="0" algn="ctr">
              <a:buNone/>
            </a:pPr>
            <a:r>
              <a:rPr lang="en-US" sz="1100" b="1" dirty="0">
                <a:solidFill>
                  <a:srgbClr val="14213D"/>
                </a:solidFill>
                <a:latin typeface="Malgun Gothic" pitchFamily="34" charset="0"/>
                <a:ea typeface="Malgun Gothic" pitchFamily="34" charset="-122"/>
                <a:cs typeface="Malgun Gothic" pitchFamily="34" charset="-120"/>
              </a:rPr>
              <a:t>검색·SNS 노출</a:t>
            </a:r>
            <a:endParaRPr lang="en-US" sz="1100" dirty="0"/>
          </a:p>
        </p:txBody>
      </p:sp>
      <p:sp>
        <p:nvSpPr>
          <p:cNvPr id="24" name="Text 18"/>
          <p:cNvSpPr txBox="1"/>
          <p:nvPr/>
        </p:nvSpPr>
        <p:spPr>
          <a:xfrm>
            <a:off x="5568696" y="2966414"/>
            <a:ext cx="1463040" cy="402336"/>
          </a:xfrm>
          <a:prstGeom prst="rect">
            <a:avLst/>
          </a:prstGeom>
          <a:noFill/>
          <a:ln/>
        </p:spPr>
        <p:txBody>
          <a:bodyPr wrap="square" lIns="0" tIns="0" rIns="0" bIns="0" rtlCol="0" anchor="t"/>
          <a:lstStyle/>
          <a:p>
            <a:pPr marL="0" indent="0" algn="ctr">
              <a:lnSpc>
                <a:spcPct val="105000"/>
              </a:lnSpc>
              <a:buNone/>
            </a:pPr>
            <a:r>
              <a:rPr lang="en-US" sz="850" dirty="0">
                <a:solidFill>
                  <a:srgbClr val="64748B"/>
                </a:solidFill>
                <a:latin typeface="Malgun Gothic" pitchFamily="34" charset="0"/>
                <a:ea typeface="Malgun Gothic" pitchFamily="34" charset="-122"/>
                <a:cs typeface="Malgun Gothic" pitchFamily="34" charset="-120"/>
              </a:rPr>
              <a:t>검색량·게시물·뉴스에 잡힌다</a:t>
            </a:r>
            <a:endParaRPr lang="en-US" sz="850" dirty="0"/>
          </a:p>
        </p:txBody>
      </p:sp>
      <p:sp>
        <p:nvSpPr>
          <p:cNvPr id="25" name="Shape 19"/>
          <p:cNvSpPr/>
          <p:nvPr/>
        </p:nvSpPr>
        <p:spPr>
          <a:xfrm>
            <a:off x="2414016" y="3460190"/>
            <a:ext cx="1463040" cy="256032"/>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26" name="Text 20"/>
          <p:cNvSpPr txBox="1"/>
          <p:nvPr/>
        </p:nvSpPr>
        <p:spPr>
          <a:xfrm>
            <a:off x="2414016" y="3460190"/>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Malgun Gothic" pitchFamily="34" charset="0"/>
                <a:ea typeface="Malgun Gothic" pitchFamily="34" charset="-122"/>
                <a:cs typeface="Malgun Gothic" pitchFamily="34" charset="-120"/>
              </a:rPr>
              <a:t>카드 신호 · 결제 즉시</a:t>
            </a:r>
            <a:endParaRPr lang="en-US" sz="900" dirty="0"/>
          </a:p>
        </p:txBody>
      </p:sp>
      <p:sp>
        <p:nvSpPr>
          <p:cNvPr id="27" name="Shape 21"/>
          <p:cNvSpPr/>
          <p:nvPr/>
        </p:nvSpPr>
        <p:spPr>
          <a:xfrm>
            <a:off x="3995928" y="3460190"/>
            <a:ext cx="3035808" cy="256032"/>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28" name="Text 22"/>
          <p:cNvSpPr txBox="1"/>
          <p:nvPr/>
        </p:nvSpPr>
        <p:spPr>
          <a:xfrm>
            <a:off x="3995928" y="3460190"/>
            <a:ext cx="3035808" cy="256032"/>
          </a:xfrm>
          <a:prstGeom prst="rect">
            <a:avLst/>
          </a:prstGeom>
          <a:noFill/>
          <a:ln/>
        </p:spPr>
        <p:txBody>
          <a:bodyPr wrap="square" lIns="0" tIns="0" rIns="0" bIns="0" rtlCol="0" anchor="ctr"/>
          <a:lstStyle/>
          <a:p>
            <a:pPr marL="0" indent="0" algn="ctr">
              <a:buNone/>
            </a:pPr>
            <a:r>
              <a:rPr lang="en-US" sz="900" b="1" dirty="0">
                <a:solidFill>
                  <a:srgbClr val="14213D"/>
                </a:solidFill>
                <a:latin typeface="Malgun Gothic" pitchFamily="34" charset="0"/>
                <a:ea typeface="Malgun Gothic" pitchFamily="34" charset="-122"/>
                <a:cs typeface="Malgun Gothic" pitchFamily="34" charset="-120"/>
              </a:rPr>
              <a:t>리뷰·SNS·뉴스 신호 · 후기가 쌓인 뒤</a:t>
            </a:r>
            <a:endParaRPr lang="en-US" sz="900" dirty="0"/>
          </a:p>
        </p:txBody>
      </p:sp>
      <p:sp>
        <p:nvSpPr>
          <p:cNvPr id="29" name="Text 23"/>
          <p:cNvSpPr txBox="1"/>
          <p:nvPr/>
        </p:nvSpPr>
        <p:spPr>
          <a:xfrm>
            <a:off x="777240" y="3789374"/>
            <a:ext cx="6400800" cy="274320"/>
          </a:xfrm>
          <a:prstGeom prst="rect">
            <a:avLst/>
          </a:prstGeom>
          <a:noFill/>
          <a:ln/>
        </p:spPr>
        <p:txBody>
          <a:bodyPr wrap="square" lIns="0" tIns="0" rIns="0" bIns="0" rtlCol="0" anchor="ctr"/>
          <a:lstStyle/>
          <a:p>
            <a:pPr marL="0" indent="0">
              <a:buNone/>
            </a:pPr>
            <a:r>
              <a:rPr lang="en-US" sz="900" dirty="0">
                <a:solidFill>
                  <a:srgbClr val="9A6B00"/>
                </a:solidFill>
                <a:latin typeface="Malgun Gothic" pitchFamily="34" charset="0"/>
                <a:ea typeface="Malgun Gothic" pitchFamily="34" charset="-122"/>
                <a:cs typeface="Malgun Gothic" pitchFamily="34" charset="-120"/>
              </a:rPr>
              <a:t>단, 결제는 방문과 동시에 일어난다 — 카드가 방문보다 앞설 수는 없고, 검증에서도 6곳은 방문자가 먼저였다.</a:t>
            </a:r>
            <a:endParaRPr lang="en-US" sz="900" dirty="0"/>
          </a:p>
        </p:txBody>
      </p:sp>
      <p:sp>
        <p:nvSpPr>
          <p:cNvPr id="30" name="Shape 24"/>
          <p:cNvSpPr/>
          <p:nvPr/>
        </p:nvSpPr>
        <p:spPr>
          <a:xfrm>
            <a:off x="7543800" y="1649678"/>
            <a:ext cx="4096512" cy="2487168"/>
          </a:xfrm>
          <a:prstGeom prst="roundRect">
            <a:avLst>
              <a:gd name="adj" fmla="val 4412"/>
            </a:avLst>
          </a:prstGeom>
          <a:solidFill>
            <a:srgbClr val="0B1B33"/>
          </a:solidFill>
          <a:ln w="12700">
            <a:solidFill>
              <a:srgbClr val="0B1B33"/>
            </a:solidFill>
            <a:prstDash val="solid"/>
          </a:ln>
        </p:spPr>
        <p:txBody>
          <a:bodyPr/>
          <a:lstStyle/>
          <a:p>
            <a:endParaRPr lang="ko-KR" altLang="en-US"/>
          </a:p>
        </p:txBody>
      </p:sp>
      <p:sp>
        <p:nvSpPr>
          <p:cNvPr id="31" name="Text 25"/>
          <p:cNvSpPr txBox="1"/>
          <p:nvPr/>
        </p:nvSpPr>
        <p:spPr>
          <a:xfrm>
            <a:off x="7772400" y="1741118"/>
            <a:ext cx="3730752" cy="274320"/>
          </a:xfrm>
          <a:prstGeom prst="rect">
            <a:avLst/>
          </a:prstGeom>
          <a:noFill/>
          <a:ln/>
        </p:spPr>
        <p:txBody>
          <a:bodyPr wrap="square" lIns="0" tIns="0" rIns="0" bIns="0" rtlCol="0" anchor="ctr"/>
          <a:lstStyle/>
          <a:p>
            <a:pPr marL="0" indent="0">
              <a:buNone/>
            </a:pPr>
            <a:r>
              <a:rPr lang="en-US" sz="1100" b="1" dirty="0">
                <a:solidFill>
                  <a:srgbClr val="FF7A7E"/>
                </a:solidFill>
                <a:latin typeface="Malgun Gothic" pitchFamily="34" charset="0"/>
                <a:ea typeface="Malgun Gothic" pitchFamily="34" charset="-122"/>
                <a:cs typeface="Malgun Gothic" pitchFamily="34" charset="-120"/>
              </a:rPr>
              <a:t>이미 자리 잡은 시장  </a:t>
            </a:r>
            <a:r>
              <a:rPr lang="en-US" sz="1100" b="1" dirty="0">
                <a:solidFill>
                  <a:srgbClr val="FFFFFF"/>
                </a:solidFill>
                <a:latin typeface="Malgun Gothic" pitchFamily="34" charset="0"/>
                <a:ea typeface="Malgun Gothic" pitchFamily="34" charset="-122"/>
                <a:cs typeface="Malgun Gothic" pitchFamily="34" charset="-120"/>
              </a:rPr>
              <a:t>외국인 전용 결제 카드 (WOWPASS)</a:t>
            </a:r>
            <a:endParaRPr lang="en-US" sz="1100" dirty="0"/>
          </a:p>
        </p:txBody>
      </p:sp>
      <p:sp>
        <p:nvSpPr>
          <p:cNvPr id="32" name="Text 26"/>
          <p:cNvSpPr txBox="1"/>
          <p:nvPr/>
        </p:nvSpPr>
        <p:spPr>
          <a:xfrm>
            <a:off x="7772400" y="2152598"/>
            <a:ext cx="1600200" cy="50292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약 300만</a:t>
            </a:r>
            <a:endParaRPr lang="en-US" sz="2200" dirty="0"/>
          </a:p>
        </p:txBody>
      </p:sp>
      <p:sp>
        <p:nvSpPr>
          <p:cNvPr id="33" name="Text 27"/>
          <p:cNvSpPr txBox="1"/>
          <p:nvPr/>
        </p:nvSpPr>
        <p:spPr>
          <a:xfrm>
            <a:off x="9418320" y="2152598"/>
            <a:ext cx="1993392" cy="502920"/>
          </a:xfrm>
          <a:prstGeom prst="rect">
            <a:avLst/>
          </a:prstGeom>
          <a:noFill/>
          <a:ln/>
        </p:spPr>
        <p:txBody>
          <a:bodyPr wrap="square" lIns="0" tIns="0" rIns="0" bIns="0" rtlCol="0" anchor="ctr"/>
          <a:lstStyle/>
          <a:p>
            <a:pPr marL="0" indent="0">
              <a:lnSpc>
                <a:spcPct val="105000"/>
              </a:lnSpc>
              <a:buNone/>
            </a:pPr>
            <a:r>
              <a:rPr lang="en-US" sz="950" dirty="0">
                <a:solidFill>
                  <a:srgbClr val="A9B8D0"/>
                </a:solidFill>
                <a:latin typeface="Malgun Gothic" pitchFamily="34" charset="0"/>
                <a:ea typeface="Malgun Gothic" pitchFamily="34" charset="-122"/>
                <a:cs typeface="Malgun Gothic" pitchFamily="34" charset="-120"/>
              </a:rPr>
              <a:t>가입자 (2026.3 기준)</a:t>
            </a:r>
            <a:endParaRPr lang="en-US" sz="950" dirty="0"/>
          </a:p>
          <a:p>
            <a:pPr marL="0" indent="0">
              <a:lnSpc>
                <a:spcPct val="105000"/>
              </a:lnSpc>
              <a:buNone/>
            </a:pPr>
            <a:r>
              <a:rPr lang="en-US" sz="950" dirty="0">
                <a:solidFill>
                  <a:srgbClr val="A9B8D0"/>
                </a:solidFill>
                <a:latin typeface="Malgun Gothic" pitchFamily="34" charset="0"/>
                <a:ea typeface="Malgun Gothic" pitchFamily="34" charset="-122"/>
                <a:cs typeface="Malgun Gothic" pitchFamily="34" charset="-120"/>
              </a:rPr>
              <a:t>2년 전 약 100만</a:t>
            </a:r>
            <a:endParaRPr lang="en-US" sz="950" dirty="0"/>
          </a:p>
        </p:txBody>
      </p:sp>
      <p:sp>
        <p:nvSpPr>
          <p:cNvPr id="34" name="Text 28"/>
          <p:cNvSpPr txBox="1"/>
          <p:nvPr/>
        </p:nvSpPr>
        <p:spPr>
          <a:xfrm>
            <a:off x="7772400" y="2774390"/>
            <a:ext cx="1600200" cy="50292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397대</a:t>
            </a:r>
            <a:endParaRPr lang="en-US" sz="2200" dirty="0"/>
          </a:p>
        </p:txBody>
      </p:sp>
      <p:sp>
        <p:nvSpPr>
          <p:cNvPr id="35" name="Text 29"/>
          <p:cNvSpPr txBox="1"/>
          <p:nvPr/>
        </p:nvSpPr>
        <p:spPr>
          <a:xfrm>
            <a:off x="9418320" y="2774390"/>
            <a:ext cx="1993392" cy="502920"/>
          </a:xfrm>
          <a:prstGeom prst="rect">
            <a:avLst/>
          </a:prstGeom>
          <a:noFill/>
          <a:ln/>
        </p:spPr>
        <p:txBody>
          <a:bodyPr wrap="square" lIns="0" tIns="0" rIns="0" bIns="0" rtlCol="0" anchor="ctr"/>
          <a:lstStyle/>
          <a:p>
            <a:pPr marL="0" indent="0">
              <a:lnSpc>
                <a:spcPct val="105000"/>
              </a:lnSpc>
              <a:buNone/>
            </a:pPr>
            <a:r>
              <a:rPr lang="en-US" sz="950" dirty="0">
                <a:solidFill>
                  <a:srgbClr val="A9B8D0"/>
                </a:solidFill>
                <a:latin typeface="Malgun Gothic" pitchFamily="34" charset="0"/>
                <a:ea typeface="Malgun Gothic" pitchFamily="34" charset="-122"/>
                <a:cs typeface="Malgun Gothic" pitchFamily="34" charset="-120"/>
              </a:rPr>
              <a:t>키오스크 운영 (올해 500대 목표)</a:t>
            </a:r>
            <a:endParaRPr lang="en-US" sz="950" dirty="0"/>
          </a:p>
        </p:txBody>
      </p:sp>
      <p:sp>
        <p:nvSpPr>
          <p:cNvPr id="36" name="Text 30"/>
          <p:cNvSpPr txBox="1"/>
          <p:nvPr/>
        </p:nvSpPr>
        <p:spPr>
          <a:xfrm>
            <a:off x="7772400" y="3396182"/>
            <a:ext cx="1600200" cy="50292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253억 원</a:t>
            </a:r>
            <a:endParaRPr lang="en-US" sz="2200" dirty="0"/>
          </a:p>
        </p:txBody>
      </p:sp>
      <p:sp>
        <p:nvSpPr>
          <p:cNvPr id="37" name="Text 31"/>
          <p:cNvSpPr txBox="1"/>
          <p:nvPr/>
        </p:nvSpPr>
        <p:spPr>
          <a:xfrm>
            <a:off x="9418320" y="3396182"/>
            <a:ext cx="1993392" cy="502920"/>
          </a:xfrm>
          <a:prstGeom prst="rect">
            <a:avLst/>
          </a:prstGeom>
          <a:noFill/>
          <a:ln/>
        </p:spPr>
        <p:txBody>
          <a:bodyPr wrap="square" lIns="0" tIns="0" rIns="0" bIns="0" rtlCol="0" anchor="ctr"/>
          <a:lstStyle/>
          <a:p>
            <a:pPr marL="0" indent="0">
              <a:lnSpc>
                <a:spcPct val="105000"/>
              </a:lnSpc>
              <a:buNone/>
            </a:pPr>
            <a:r>
              <a:rPr lang="en-US" sz="950" dirty="0">
                <a:solidFill>
                  <a:srgbClr val="A9B8D0"/>
                </a:solidFill>
                <a:latin typeface="Malgun Gothic" pitchFamily="34" charset="0"/>
                <a:ea typeface="Malgun Gothic" pitchFamily="34" charset="-122"/>
                <a:cs typeface="Malgun Gothic" pitchFamily="34" charset="-120"/>
              </a:rPr>
              <a:t>2025년 매출 (2022년 8억 원)</a:t>
            </a:r>
            <a:endParaRPr lang="en-US" sz="950" dirty="0"/>
          </a:p>
        </p:txBody>
      </p:sp>
      <p:sp>
        <p:nvSpPr>
          <p:cNvPr id="38" name="Shape 32"/>
          <p:cNvSpPr/>
          <p:nvPr/>
        </p:nvSpPr>
        <p:spPr>
          <a:xfrm>
            <a:off x="548640" y="4279392"/>
            <a:ext cx="2651760" cy="1755648"/>
          </a:xfrm>
          <a:prstGeom prst="roundRect">
            <a:avLst>
              <a:gd name="adj" fmla="val 6250"/>
            </a:avLst>
          </a:prstGeom>
          <a:solidFill>
            <a:srgbClr val="F3F6FB"/>
          </a:solidFill>
          <a:ln w="12700">
            <a:solidFill>
              <a:srgbClr val="F3F6FB"/>
            </a:solidFill>
            <a:prstDash val="solid"/>
          </a:ln>
        </p:spPr>
        <p:txBody>
          <a:bodyPr/>
          <a:lstStyle/>
          <a:p>
            <a:endParaRPr lang="ko-KR" altLang="en-US"/>
          </a:p>
        </p:txBody>
      </p:sp>
      <p:sp>
        <p:nvSpPr>
          <p:cNvPr id="39" name="Shape 33"/>
          <p:cNvSpPr/>
          <p:nvPr/>
        </p:nvSpPr>
        <p:spPr>
          <a:xfrm>
            <a:off x="685800" y="4398264"/>
            <a:ext cx="2377440" cy="23774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40" name="Text 34"/>
          <p:cNvSpPr txBox="1"/>
          <p:nvPr/>
        </p:nvSpPr>
        <p:spPr>
          <a:xfrm>
            <a:off x="685800" y="4398264"/>
            <a:ext cx="2377440" cy="237744"/>
          </a:xfrm>
          <a:prstGeom prst="rect">
            <a:avLst/>
          </a:prstGeom>
          <a:noFill/>
          <a:ln/>
        </p:spPr>
        <p:txBody>
          <a:bodyPr wrap="square" lIns="0" tIns="0" rIns="0" bIns="0" rtlCol="0" anchor="ctr"/>
          <a:lstStyle/>
          <a:p>
            <a:pPr marL="0" indent="0" algn="ctr">
              <a:buNone/>
            </a:pPr>
            <a:r>
              <a:rPr lang="en-US" sz="850" b="1" dirty="0">
                <a:solidFill>
                  <a:srgbClr val="14213D"/>
                </a:solidFill>
                <a:latin typeface="Malgun Gothic" pitchFamily="34" charset="0"/>
                <a:ea typeface="Malgun Gothic" pitchFamily="34" charset="-122"/>
                <a:cs typeface="Malgun Gothic" pitchFamily="34" charset="-120"/>
              </a:rPr>
              <a:t>리뷰·SNS 기반 여행 정보</a:t>
            </a:r>
            <a:endParaRPr lang="en-US" sz="850" dirty="0"/>
          </a:p>
        </p:txBody>
      </p:sp>
      <p:sp>
        <p:nvSpPr>
          <p:cNvPr id="41" name="Text 35"/>
          <p:cNvSpPr txBox="1"/>
          <p:nvPr/>
        </p:nvSpPr>
        <p:spPr>
          <a:xfrm>
            <a:off x="685800" y="4700016"/>
            <a:ext cx="2377440" cy="256032"/>
          </a:xfrm>
          <a:prstGeom prst="rect">
            <a:avLst/>
          </a:prstGeom>
          <a:noFill/>
          <a:ln/>
        </p:spPr>
        <p:txBody>
          <a:bodyPr wrap="square" lIns="0" tIns="0" rIns="0" bIns="0" rtlCol="0" anchor="ct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후기가 쌓여야 보인다</a:t>
            </a:r>
            <a:endParaRPr lang="en-US" sz="1100" dirty="0"/>
          </a:p>
        </p:txBody>
      </p:sp>
      <p:sp>
        <p:nvSpPr>
          <p:cNvPr id="42" name="Text 36"/>
          <p:cNvSpPr txBox="1"/>
          <p:nvPr/>
        </p:nvSpPr>
        <p:spPr>
          <a:xfrm>
            <a:off x="685800" y="4992624"/>
            <a:ext cx="2377440" cy="969264"/>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방문 → 후기 → 검색·SNS 순으로 생기는 후행 정보다. 소규모 지방은 후기·검색량이 희박한 경우가 많다(부록 A5).</a:t>
            </a:r>
            <a:endParaRPr lang="en-US" sz="900" dirty="0"/>
          </a:p>
        </p:txBody>
      </p:sp>
      <p:sp>
        <p:nvSpPr>
          <p:cNvPr id="43" name="Shape 37"/>
          <p:cNvSpPr/>
          <p:nvPr/>
        </p:nvSpPr>
        <p:spPr>
          <a:xfrm>
            <a:off x="3362249" y="4279392"/>
            <a:ext cx="2651760" cy="1755648"/>
          </a:xfrm>
          <a:prstGeom prst="roundRect">
            <a:avLst>
              <a:gd name="adj" fmla="val 6250"/>
            </a:avLst>
          </a:prstGeom>
          <a:solidFill>
            <a:srgbClr val="F3F6FB"/>
          </a:solidFill>
          <a:ln w="12700">
            <a:solidFill>
              <a:srgbClr val="F3F6FB"/>
            </a:solidFill>
            <a:prstDash val="solid"/>
          </a:ln>
        </p:spPr>
        <p:txBody>
          <a:bodyPr/>
          <a:lstStyle/>
          <a:p>
            <a:endParaRPr lang="ko-KR" altLang="en-US"/>
          </a:p>
        </p:txBody>
      </p:sp>
      <p:sp>
        <p:nvSpPr>
          <p:cNvPr id="44" name="Shape 38"/>
          <p:cNvSpPr/>
          <p:nvPr/>
        </p:nvSpPr>
        <p:spPr>
          <a:xfrm>
            <a:off x="3499409" y="4398264"/>
            <a:ext cx="2377440" cy="23774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45" name="Text 39"/>
          <p:cNvSpPr txBox="1"/>
          <p:nvPr/>
        </p:nvSpPr>
        <p:spPr>
          <a:xfrm>
            <a:off x="3499409" y="4398264"/>
            <a:ext cx="2377440" cy="237744"/>
          </a:xfrm>
          <a:prstGeom prst="rect">
            <a:avLst/>
          </a:prstGeom>
          <a:noFill/>
          <a:ln/>
        </p:spPr>
        <p:txBody>
          <a:bodyPr wrap="square" lIns="0" tIns="0" rIns="0" bIns="0" rtlCol="0" anchor="ctr"/>
          <a:lstStyle/>
          <a:p>
            <a:pPr marL="0" indent="0" algn="ctr">
              <a:buNone/>
            </a:pPr>
            <a:r>
              <a:rPr lang="en-US" sz="850" b="1" dirty="0">
                <a:solidFill>
                  <a:srgbClr val="14213D"/>
                </a:solidFill>
                <a:latin typeface="Malgun Gothic" pitchFamily="34" charset="0"/>
                <a:ea typeface="Malgun Gothic" pitchFamily="34" charset="-122"/>
                <a:cs typeface="Malgun Gothic" pitchFamily="34" charset="-120"/>
              </a:rPr>
              <a:t>외국인 전용 결제 카드</a:t>
            </a:r>
            <a:endParaRPr lang="en-US" sz="850" dirty="0"/>
          </a:p>
        </p:txBody>
      </p:sp>
      <p:sp>
        <p:nvSpPr>
          <p:cNvPr id="46" name="Text 40"/>
          <p:cNvSpPr txBox="1"/>
          <p:nvPr/>
        </p:nvSpPr>
        <p:spPr>
          <a:xfrm>
            <a:off x="3499409" y="4700016"/>
            <a:ext cx="2377440" cy="256032"/>
          </a:xfrm>
          <a:prstGeom prst="rect">
            <a:avLst/>
          </a:prstGeom>
          <a:noFill/>
          <a:ln/>
        </p:spPr>
        <p:txBody>
          <a:bodyPr wrap="square" lIns="0" tIns="0" rIns="0" bIns="0" rtlCol="0" anchor="ct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이미 자리 잡은 결제 수단</a:t>
            </a:r>
            <a:endParaRPr lang="en-US" sz="1100" dirty="0"/>
          </a:p>
        </p:txBody>
      </p:sp>
      <p:sp>
        <p:nvSpPr>
          <p:cNvPr id="47" name="Text 41"/>
          <p:cNvSpPr txBox="1"/>
          <p:nvPr/>
        </p:nvSpPr>
        <p:spPr>
          <a:xfrm>
            <a:off x="3499409" y="4992624"/>
            <a:ext cx="2377440" cy="969264"/>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결제·환전이 본업이다. 새 카드를 발급해 정면으로 경쟁하지 않고, 결제 데이터를 서비스로 바꾸는 자리를 노린다.</a:t>
            </a:r>
            <a:endParaRPr lang="en-US" sz="900" dirty="0"/>
          </a:p>
        </p:txBody>
      </p:sp>
      <p:sp>
        <p:nvSpPr>
          <p:cNvPr id="48" name="Shape 42"/>
          <p:cNvSpPr/>
          <p:nvPr/>
        </p:nvSpPr>
        <p:spPr>
          <a:xfrm>
            <a:off x="6175858" y="4279392"/>
            <a:ext cx="2651760" cy="1755648"/>
          </a:xfrm>
          <a:prstGeom prst="roundRect">
            <a:avLst>
              <a:gd name="adj" fmla="val 6250"/>
            </a:avLst>
          </a:prstGeom>
          <a:solidFill>
            <a:srgbClr val="F3F6FB"/>
          </a:solidFill>
          <a:ln w="12700">
            <a:solidFill>
              <a:srgbClr val="F3F6FB"/>
            </a:solidFill>
            <a:prstDash val="solid"/>
          </a:ln>
        </p:spPr>
        <p:txBody>
          <a:bodyPr/>
          <a:lstStyle/>
          <a:p>
            <a:endParaRPr lang="ko-KR" altLang="en-US"/>
          </a:p>
        </p:txBody>
      </p:sp>
      <p:sp>
        <p:nvSpPr>
          <p:cNvPr id="49" name="Shape 43"/>
          <p:cNvSpPr/>
          <p:nvPr/>
        </p:nvSpPr>
        <p:spPr>
          <a:xfrm>
            <a:off x="6313018" y="4398264"/>
            <a:ext cx="2377440" cy="237744"/>
          </a:xfrm>
          <a:prstGeom prst="roundRect">
            <a:avLst>
              <a:gd name="adj" fmla="val 50000"/>
            </a:avLst>
          </a:prstGeom>
          <a:solidFill>
            <a:srgbClr val="C4CEDC"/>
          </a:solidFill>
          <a:ln w="12700">
            <a:solidFill>
              <a:srgbClr val="C4CEDC"/>
            </a:solidFill>
            <a:prstDash val="solid"/>
          </a:ln>
        </p:spPr>
        <p:txBody>
          <a:bodyPr/>
          <a:lstStyle/>
          <a:p>
            <a:endParaRPr lang="ko-KR" altLang="en-US"/>
          </a:p>
        </p:txBody>
      </p:sp>
      <p:sp>
        <p:nvSpPr>
          <p:cNvPr id="50" name="Text 44"/>
          <p:cNvSpPr txBox="1"/>
          <p:nvPr/>
        </p:nvSpPr>
        <p:spPr>
          <a:xfrm>
            <a:off x="6313018" y="4398264"/>
            <a:ext cx="2377440" cy="237744"/>
          </a:xfrm>
          <a:prstGeom prst="rect">
            <a:avLst/>
          </a:prstGeom>
          <a:noFill/>
          <a:ln/>
        </p:spPr>
        <p:txBody>
          <a:bodyPr wrap="square" lIns="0" tIns="0" rIns="0" bIns="0" rtlCol="0" anchor="ctr"/>
          <a:lstStyle/>
          <a:p>
            <a:pPr marL="0" indent="0" algn="ctr">
              <a:buNone/>
            </a:pPr>
            <a:r>
              <a:rPr lang="en-US" sz="850" b="1" dirty="0">
                <a:solidFill>
                  <a:srgbClr val="14213D"/>
                </a:solidFill>
                <a:latin typeface="Malgun Gothic" pitchFamily="34" charset="0"/>
                <a:ea typeface="Malgun Gothic" pitchFamily="34" charset="-122"/>
                <a:cs typeface="Malgun Gothic" pitchFamily="34" charset="-120"/>
              </a:rPr>
              <a:t>BC카드 자체 · 상권지수</a:t>
            </a:r>
            <a:endParaRPr lang="en-US" sz="850" dirty="0"/>
          </a:p>
        </p:txBody>
      </p:sp>
      <p:sp>
        <p:nvSpPr>
          <p:cNvPr id="51" name="Text 45"/>
          <p:cNvSpPr txBox="1"/>
          <p:nvPr/>
        </p:nvSpPr>
        <p:spPr>
          <a:xfrm>
            <a:off x="6313018" y="4700016"/>
            <a:ext cx="2377440" cy="256032"/>
          </a:xfrm>
          <a:prstGeom prst="rect">
            <a:avLst/>
          </a:prstGeom>
          <a:noFill/>
          <a:ln/>
        </p:spPr>
        <p:txBody>
          <a:bodyPr wrap="square" lIns="0" tIns="0" rIns="0" bIns="0" rtlCol="0" anchor="ct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이미 있는 사내 서비스</a:t>
            </a:r>
            <a:endParaRPr lang="en-US" sz="1100" dirty="0"/>
          </a:p>
        </p:txBody>
      </p:sp>
      <p:sp>
        <p:nvSpPr>
          <p:cNvPr id="52" name="Text 46"/>
          <p:cNvSpPr txBox="1"/>
          <p:nvPr/>
        </p:nvSpPr>
        <p:spPr>
          <a:xfrm>
            <a:off x="6313018" y="4992624"/>
            <a:ext cx="2377440" cy="969264"/>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집객력·성장성 등 5개 지표로 상권을 사후 진단하는 서비스가 이미 있다(창업자·지자체 대상, 5등급 · 2023년 기준 보도). 외국인 세그먼트나 급증 원인(관광·이주노동) 분류는 다루지 않는다.</a:t>
            </a:r>
            <a:endParaRPr lang="en-US" sz="900" dirty="0"/>
          </a:p>
        </p:txBody>
      </p:sp>
      <p:sp>
        <p:nvSpPr>
          <p:cNvPr id="53" name="Shape 47"/>
          <p:cNvSpPr/>
          <p:nvPr/>
        </p:nvSpPr>
        <p:spPr>
          <a:xfrm>
            <a:off x="8989466" y="4279392"/>
            <a:ext cx="2651760" cy="1755648"/>
          </a:xfrm>
          <a:prstGeom prst="roundRect">
            <a:avLst>
              <a:gd name="adj" fmla="val 6250"/>
            </a:avLst>
          </a:prstGeom>
          <a:solidFill>
            <a:srgbClr val="FDECEC"/>
          </a:solidFill>
          <a:ln w="12700">
            <a:solidFill>
              <a:srgbClr val="FDECEC"/>
            </a:solidFill>
            <a:prstDash val="solid"/>
          </a:ln>
        </p:spPr>
        <p:txBody>
          <a:bodyPr/>
          <a:lstStyle/>
          <a:p>
            <a:endParaRPr lang="ko-KR" altLang="en-US"/>
          </a:p>
        </p:txBody>
      </p:sp>
      <p:sp>
        <p:nvSpPr>
          <p:cNvPr id="54" name="Shape 48"/>
          <p:cNvSpPr/>
          <p:nvPr/>
        </p:nvSpPr>
        <p:spPr>
          <a:xfrm>
            <a:off x="9126626" y="4398264"/>
            <a:ext cx="2377440" cy="237744"/>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55" name="Text 49"/>
          <p:cNvSpPr txBox="1"/>
          <p:nvPr/>
        </p:nvSpPr>
        <p:spPr>
          <a:xfrm>
            <a:off x="9126626" y="4398264"/>
            <a:ext cx="23774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Malgun Gothic" pitchFamily="34" charset="0"/>
                <a:ea typeface="Malgun Gothic" pitchFamily="34" charset="-122"/>
                <a:cs typeface="Malgun Gothic" pitchFamily="34" charset="-120"/>
              </a:rPr>
              <a:t>본 제안 · 로컬 디스커버리</a:t>
            </a:r>
            <a:endParaRPr lang="en-US" sz="850" dirty="0"/>
          </a:p>
        </p:txBody>
      </p:sp>
      <p:sp>
        <p:nvSpPr>
          <p:cNvPr id="56" name="Text 50"/>
          <p:cNvSpPr txBox="1"/>
          <p:nvPr/>
        </p:nvSpPr>
        <p:spPr>
          <a:xfrm>
            <a:off x="9126626" y="4700016"/>
            <a:ext cx="2377440" cy="256032"/>
          </a:xfrm>
          <a:prstGeom prst="rect">
            <a:avLst/>
          </a:prstGeom>
          <a:noFill/>
          <a:ln/>
        </p:spPr>
        <p:txBody>
          <a:bodyPr wrap="square" lIns="0" tIns="0" rIns="0" bIns="0" rtlCol="0" anchor="ctr"/>
          <a:lstStyle/>
          <a:p>
            <a:pPr marL="0" indent="0">
              <a:buNone/>
            </a:pPr>
            <a:r>
              <a:rPr lang="en-US" sz="1100" b="1" dirty="0">
                <a:solidFill>
                  <a:srgbClr val="B7232B"/>
                </a:solidFill>
                <a:latin typeface="Malgun Gothic" pitchFamily="34" charset="0"/>
                <a:ea typeface="Malgun Gothic" pitchFamily="34" charset="-122"/>
                <a:cs typeface="Malgun Gothic" pitchFamily="34" charset="-120"/>
              </a:rPr>
              <a:t>원인까지 진단하는 사전 신호</a:t>
            </a:r>
            <a:endParaRPr lang="en-US" sz="1100" dirty="0"/>
          </a:p>
        </p:txBody>
      </p:sp>
      <p:sp>
        <p:nvSpPr>
          <p:cNvPr id="57" name="Text 51"/>
          <p:cNvSpPr txBox="1"/>
          <p:nvPr/>
        </p:nvSpPr>
        <p:spPr>
          <a:xfrm>
            <a:off x="9126626" y="4992624"/>
            <a:ext cx="2377440" cy="969264"/>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리뷰가 없어도 결제는 발생 즉시 데이터가 된다. 신규 카드 없이, 신호가 뜬 원인(관광·이주노동)까지 분류해 지자체 알림·외국인 큐레이션·첫 결제 리워드로 잇는다.</a:t>
            </a:r>
            <a:endParaRPr lang="en-US" sz="900" dirty="0"/>
          </a:p>
        </p:txBody>
      </p:sp>
      <p:sp>
        <p:nvSpPr>
          <p:cNvPr id="58" name="Text 5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59" name="Text 5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31 / 42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07  </a:t>
            </a:r>
            <a:r>
              <a:rPr lang="en-US" sz="1150" b="1" dirty="0">
                <a:solidFill>
                  <a:srgbClr val="64748B"/>
                </a:solidFill>
                <a:latin typeface="Malgun Gothic" pitchFamily="34" charset="0"/>
                <a:ea typeface="Malgun Gothic" pitchFamily="34" charset="-122"/>
                <a:cs typeface="Malgun Gothic" pitchFamily="34" charset="-120"/>
              </a:rPr>
              <a:t>기대효과</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후보 8곳의 외국인 소비는 6개월 만에 +58.2% </a:t>
            </a:r>
            <a:r>
              <a:rPr lang="en-US" sz="1600" b="1" dirty="0">
                <a:solidFill>
                  <a:srgbClr val="14213D"/>
                </a:solidFill>
                <a:latin typeface="Malgun Gothic" pitchFamily="34" charset="0"/>
                <a:ea typeface="Malgun Gothic" pitchFamily="34" charset="-122"/>
                <a:cs typeface="Malgun Gothic" pitchFamily="34" charset="-120"/>
              </a:rPr>
              <a:t>— 고성장 지역을 골랐으므로 매출 예측은 아니다</a:t>
            </a:r>
            <a:endParaRPr lang="en-US" sz="1600" dirty="0"/>
          </a:p>
        </p:txBody>
      </p:sp>
      <p:sp>
        <p:nvSpPr>
          <p:cNvPr id="6" name="Shape 4"/>
          <p:cNvSpPr/>
          <p:nvPr/>
        </p:nvSpPr>
        <p:spPr>
          <a:xfrm>
            <a:off x="548640" y="1737360"/>
            <a:ext cx="6949440" cy="2971800"/>
          </a:xfrm>
          <a:prstGeom prst="roundRect">
            <a:avLst>
              <a:gd name="adj" fmla="val 3692"/>
            </a:avLst>
          </a:prstGeom>
          <a:solidFill>
            <a:srgbClr val="FFFFFF"/>
          </a:solidFill>
          <a:ln w="9525">
            <a:solidFill>
              <a:srgbClr val="D9E0EA"/>
            </a:solidFill>
            <a:prstDash val="solid"/>
          </a:ln>
        </p:spPr>
        <p:txBody>
          <a:bodyPr/>
          <a:lstStyle/>
          <a:p>
            <a:endParaRPr lang="ko-KR" altLang="en-US"/>
          </a:p>
        </p:txBody>
      </p:sp>
      <p:sp>
        <p:nvSpPr>
          <p:cNvPr id="7" name="Text 5"/>
          <p:cNvSpPr txBox="1"/>
          <p:nvPr/>
        </p:nvSpPr>
        <p:spPr>
          <a:xfrm>
            <a:off x="777240" y="1810512"/>
            <a:ext cx="5486400" cy="274320"/>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1→6월 외국인 카드 소비액 성장률 (%)</a:t>
            </a:r>
            <a:endParaRPr lang="en-US" sz="1200" dirty="0"/>
          </a:p>
        </p:txBody>
      </p:sp>
      <p:graphicFrame>
        <p:nvGraphicFramePr>
          <p:cNvPr id="8" name="Chart 0"/>
          <p:cNvGraphicFramePr/>
          <p:nvPr/>
        </p:nvGraphicFramePr>
        <p:xfrm>
          <a:off x="640080" y="2084832"/>
          <a:ext cx="67665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777240" y="4480560"/>
            <a:ext cx="118872" cy="118872"/>
          </a:xfrm>
          <a:prstGeom prst="ellipse">
            <a:avLst/>
          </a:prstGeom>
          <a:solidFill>
            <a:srgbClr val="12A594"/>
          </a:solidFill>
          <a:ln w="12700">
            <a:solidFill>
              <a:srgbClr val="E8383D"/>
            </a:solidFill>
            <a:prstDash val="solid"/>
          </a:ln>
        </p:spPr>
        <p:txBody>
          <a:bodyPr/>
          <a:lstStyle/>
          <a:p>
            <a:endParaRPr lang="ko-KR" altLang="en-US"/>
          </a:p>
        </p:txBody>
      </p:sp>
      <p:sp>
        <p:nvSpPr>
          <p:cNvPr id="10" name="Text 7"/>
          <p:cNvSpPr txBox="1"/>
          <p:nvPr/>
        </p:nvSpPr>
        <p:spPr>
          <a:xfrm>
            <a:off x="941832" y="4416552"/>
            <a:ext cx="1600200" cy="237744"/>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Track A 관광 (반증 없음)</a:t>
            </a:r>
            <a:endParaRPr lang="en-US" sz="850" dirty="0"/>
          </a:p>
        </p:txBody>
      </p:sp>
      <p:sp>
        <p:nvSpPr>
          <p:cNvPr id="11" name="Shape 8"/>
          <p:cNvSpPr/>
          <p:nvPr/>
        </p:nvSpPr>
        <p:spPr>
          <a:xfrm>
            <a:off x="2651760" y="4480560"/>
            <a:ext cx="118872" cy="118872"/>
          </a:xfrm>
          <a:prstGeom prst="ellipse">
            <a:avLst/>
          </a:prstGeom>
          <a:solidFill>
            <a:srgbClr val="F2A20C"/>
          </a:solidFill>
          <a:ln w="12700">
            <a:solidFill>
              <a:srgbClr val="E8383D"/>
            </a:solidFill>
            <a:prstDash val="solid"/>
          </a:ln>
        </p:spPr>
        <p:txBody>
          <a:bodyPr/>
          <a:lstStyle/>
          <a:p>
            <a:endParaRPr lang="ko-KR" altLang="en-US"/>
          </a:p>
        </p:txBody>
      </p:sp>
      <p:sp>
        <p:nvSpPr>
          <p:cNvPr id="12" name="Text 9"/>
          <p:cNvSpPr txBox="1"/>
          <p:nvPr/>
        </p:nvSpPr>
        <p:spPr>
          <a:xfrm>
            <a:off x="2816352" y="4416552"/>
            <a:ext cx="777240" cy="237744"/>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A 혼합 가능</a:t>
            </a:r>
            <a:endParaRPr lang="en-US" sz="850" dirty="0"/>
          </a:p>
        </p:txBody>
      </p:sp>
      <p:sp>
        <p:nvSpPr>
          <p:cNvPr id="13" name="Shape 10"/>
          <p:cNvSpPr/>
          <p:nvPr/>
        </p:nvSpPr>
        <p:spPr>
          <a:xfrm>
            <a:off x="3703320" y="4480560"/>
            <a:ext cx="118872" cy="118872"/>
          </a:xfrm>
          <a:prstGeom prst="ellipse">
            <a:avLst/>
          </a:prstGeom>
          <a:solidFill>
            <a:srgbClr val="FF7A7E"/>
          </a:solidFill>
          <a:ln w="12700">
            <a:solidFill>
              <a:srgbClr val="E8383D"/>
            </a:solidFill>
            <a:prstDash val="solid"/>
          </a:ln>
        </p:spPr>
        <p:txBody>
          <a:bodyPr/>
          <a:lstStyle/>
          <a:p>
            <a:endParaRPr lang="ko-KR" altLang="en-US"/>
          </a:p>
        </p:txBody>
      </p:sp>
      <p:sp>
        <p:nvSpPr>
          <p:cNvPr id="14" name="Text 11"/>
          <p:cNvSpPr txBox="1"/>
          <p:nvPr/>
        </p:nvSpPr>
        <p:spPr>
          <a:xfrm>
            <a:off x="3867912" y="4416552"/>
            <a:ext cx="1463040" cy="237744"/>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Track B 계절근로자 확인</a:t>
            </a:r>
            <a:endParaRPr lang="en-US" sz="850" dirty="0"/>
          </a:p>
        </p:txBody>
      </p:sp>
      <p:sp>
        <p:nvSpPr>
          <p:cNvPr id="15" name="Shape 12"/>
          <p:cNvSpPr/>
          <p:nvPr/>
        </p:nvSpPr>
        <p:spPr>
          <a:xfrm>
            <a:off x="5440680" y="4480560"/>
            <a:ext cx="118872" cy="118872"/>
          </a:xfrm>
          <a:prstGeom prst="ellipse">
            <a:avLst/>
          </a:prstGeom>
          <a:solidFill>
            <a:srgbClr val="E8383D"/>
          </a:solidFill>
          <a:ln w="12700">
            <a:solidFill>
              <a:srgbClr val="E8383D"/>
            </a:solidFill>
            <a:prstDash val="solid"/>
          </a:ln>
        </p:spPr>
        <p:txBody>
          <a:bodyPr/>
          <a:lstStyle/>
          <a:p>
            <a:endParaRPr lang="ko-KR" altLang="en-US"/>
          </a:p>
        </p:txBody>
      </p:sp>
      <p:sp>
        <p:nvSpPr>
          <p:cNvPr id="16" name="Text 13"/>
          <p:cNvSpPr txBox="1"/>
          <p:nvPr/>
        </p:nvSpPr>
        <p:spPr>
          <a:xfrm>
            <a:off x="5605272" y="4416552"/>
            <a:ext cx="640080" cy="237744"/>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8곳 합산</a:t>
            </a:r>
            <a:endParaRPr lang="en-US" sz="850" dirty="0"/>
          </a:p>
        </p:txBody>
      </p:sp>
      <p:sp>
        <p:nvSpPr>
          <p:cNvPr id="17" name="Shape 14"/>
          <p:cNvSpPr/>
          <p:nvPr/>
        </p:nvSpPr>
        <p:spPr>
          <a:xfrm>
            <a:off x="6355080" y="4480560"/>
            <a:ext cx="118872" cy="118872"/>
          </a:xfrm>
          <a:prstGeom prst="ellipse">
            <a:avLst/>
          </a:prstGeom>
          <a:solidFill>
            <a:srgbClr val="0B1B33"/>
          </a:solidFill>
          <a:ln w="12700">
            <a:solidFill>
              <a:srgbClr val="E8383D"/>
            </a:solidFill>
            <a:prstDash val="solid"/>
          </a:ln>
        </p:spPr>
        <p:txBody>
          <a:bodyPr/>
          <a:lstStyle/>
          <a:p>
            <a:endParaRPr lang="ko-KR" altLang="en-US"/>
          </a:p>
        </p:txBody>
      </p:sp>
      <p:sp>
        <p:nvSpPr>
          <p:cNvPr id="18" name="Text 15"/>
          <p:cNvSpPr txBox="1"/>
          <p:nvPr/>
        </p:nvSpPr>
        <p:spPr>
          <a:xfrm>
            <a:off x="6519672" y="4416552"/>
            <a:ext cx="365760" cy="237744"/>
          </a:xfrm>
          <a:prstGeom prst="rect">
            <a:avLst/>
          </a:prstGeom>
          <a:noFill/>
          <a:ln/>
        </p:spPr>
        <p:txBody>
          <a:bodyPr wrap="square" lIns="0" tIns="0" rIns="0" bIns="0" rtlCol="0" anchor="ctr"/>
          <a:lstStyle/>
          <a:p>
            <a:pPr marL="0" indent="0">
              <a:buNone/>
            </a:pPr>
            <a:r>
              <a:rPr lang="en-US" sz="850" dirty="0">
                <a:solidFill>
                  <a:srgbClr val="14213D"/>
                </a:solidFill>
                <a:latin typeface="Malgun Gothic" pitchFamily="34" charset="0"/>
                <a:ea typeface="Malgun Gothic" pitchFamily="34" charset="-122"/>
                <a:cs typeface="Malgun Gothic" pitchFamily="34" charset="-120"/>
              </a:rPr>
              <a:t>전국</a:t>
            </a:r>
            <a:endParaRPr lang="en-US" sz="850" dirty="0"/>
          </a:p>
        </p:txBody>
      </p:sp>
      <p:sp>
        <p:nvSpPr>
          <p:cNvPr id="19" name="Shape 16"/>
          <p:cNvSpPr/>
          <p:nvPr/>
        </p:nvSpPr>
        <p:spPr>
          <a:xfrm>
            <a:off x="7726680" y="1737360"/>
            <a:ext cx="3913632" cy="941832"/>
          </a:xfrm>
          <a:prstGeom prst="roundRect">
            <a:avLst>
              <a:gd name="adj" fmla="val 9709"/>
            </a:avLst>
          </a:prstGeom>
          <a:solidFill>
            <a:srgbClr val="F3F6FB"/>
          </a:solidFill>
          <a:ln w="12700">
            <a:solidFill>
              <a:srgbClr val="F3F6FB"/>
            </a:solidFill>
            <a:prstDash val="solid"/>
          </a:ln>
        </p:spPr>
        <p:txBody>
          <a:bodyPr/>
          <a:lstStyle/>
          <a:p>
            <a:endParaRPr lang="ko-KR" altLang="en-US"/>
          </a:p>
        </p:txBody>
      </p:sp>
      <p:sp>
        <p:nvSpPr>
          <p:cNvPr id="20" name="Text 17"/>
          <p:cNvSpPr txBox="1"/>
          <p:nvPr/>
        </p:nvSpPr>
        <p:spPr>
          <a:xfrm>
            <a:off x="7909560" y="1792224"/>
            <a:ext cx="3547872" cy="502920"/>
          </a:xfrm>
          <a:prstGeom prst="rect">
            <a:avLst/>
          </a:prstGeom>
          <a:noFill/>
          <a:ln/>
        </p:spPr>
        <p:txBody>
          <a:bodyPr wrap="square" lIns="0" tIns="0" rIns="0" bIns="0" rtlCol="0" anchor="ctr"/>
          <a:lstStyle/>
          <a:p>
            <a:pPr marL="0" indent="0">
              <a:buNone/>
            </a:pPr>
            <a:r>
              <a:rPr lang="en-US" sz="2600" b="1" dirty="0">
                <a:solidFill>
                  <a:srgbClr val="E8383D"/>
                </a:solidFill>
                <a:latin typeface="Malgun Gothic" pitchFamily="34" charset="0"/>
                <a:ea typeface="Malgun Gothic" pitchFamily="34" charset="-122"/>
                <a:cs typeface="Malgun Gothic" pitchFamily="34" charset="-120"/>
              </a:rPr>
              <a:t>30.3억 원</a:t>
            </a:r>
            <a:endParaRPr lang="en-US" sz="2600" dirty="0"/>
          </a:p>
        </p:txBody>
      </p:sp>
      <p:sp>
        <p:nvSpPr>
          <p:cNvPr id="21" name="Text 18"/>
          <p:cNvSpPr txBox="1"/>
          <p:nvPr/>
        </p:nvSpPr>
        <p:spPr>
          <a:xfrm>
            <a:off x="7909560" y="2322576"/>
            <a:ext cx="3547872" cy="274320"/>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후보 8곳의 6개월 누적 외국인 카드 소비액</a:t>
            </a:r>
            <a:endParaRPr lang="en-US" sz="950" dirty="0"/>
          </a:p>
        </p:txBody>
      </p:sp>
      <p:sp>
        <p:nvSpPr>
          <p:cNvPr id="22" name="Shape 19"/>
          <p:cNvSpPr/>
          <p:nvPr/>
        </p:nvSpPr>
        <p:spPr>
          <a:xfrm>
            <a:off x="7726680" y="2752344"/>
            <a:ext cx="3913632" cy="941832"/>
          </a:xfrm>
          <a:prstGeom prst="roundRect">
            <a:avLst>
              <a:gd name="adj" fmla="val 9709"/>
            </a:avLst>
          </a:prstGeom>
          <a:solidFill>
            <a:srgbClr val="F3F6FB"/>
          </a:solidFill>
          <a:ln w="12700">
            <a:solidFill>
              <a:srgbClr val="F3F6FB"/>
            </a:solidFill>
            <a:prstDash val="solid"/>
          </a:ln>
        </p:spPr>
        <p:txBody>
          <a:bodyPr/>
          <a:lstStyle/>
          <a:p>
            <a:endParaRPr lang="ko-KR" altLang="en-US"/>
          </a:p>
        </p:txBody>
      </p:sp>
      <p:sp>
        <p:nvSpPr>
          <p:cNvPr id="23" name="Text 20"/>
          <p:cNvSpPr txBox="1"/>
          <p:nvPr/>
        </p:nvSpPr>
        <p:spPr>
          <a:xfrm>
            <a:off x="7909560" y="2807208"/>
            <a:ext cx="3547872" cy="502920"/>
          </a:xfrm>
          <a:prstGeom prst="rect">
            <a:avLst/>
          </a:prstGeom>
          <a:noFill/>
          <a:ln/>
        </p:spPr>
        <p:txBody>
          <a:bodyPr wrap="square" lIns="0" tIns="0" rIns="0" bIns="0" rtlCol="0" anchor="ctr"/>
          <a:lstStyle/>
          <a:p>
            <a:pPr marL="0" indent="0">
              <a:buNone/>
            </a:pPr>
            <a:r>
              <a:rPr lang="en-US" sz="2600" b="1" dirty="0">
                <a:solidFill>
                  <a:srgbClr val="0B1B33"/>
                </a:solidFill>
                <a:latin typeface="Malgun Gothic" pitchFamily="34" charset="0"/>
                <a:ea typeface="Malgun Gothic" pitchFamily="34" charset="-122"/>
                <a:cs typeface="Malgun Gothic" pitchFamily="34" charset="-120"/>
              </a:rPr>
              <a:t>0.24%</a:t>
            </a:r>
            <a:endParaRPr lang="en-US" sz="2600" dirty="0"/>
          </a:p>
        </p:txBody>
      </p:sp>
      <p:sp>
        <p:nvSpPr>
          <p:cNvPr id="24" name="Text 21"/>
          <p:cNvSpPr txBox="1"/>
          <p:nvPr/>
        </p:nvSpPr>
        <p:spPr>
          <a:xfrm>
            <a:off x="7909560" y="3337560"/>
            <a:ext cx="3547872" cy="274320"/>
          </a:xfrm>
          <a:prstGeom prst="rect">
            <a:avLst/>
          </a:prstGeom>
          <a:noFill/>
          <a:ln/>
        </p:spPr>
        <p:txBody>
          <a:bodyPr wrap="square" lIns="0" tIns="0" rIns="0" bIns="0" rtlCol="0" anchor="ctr"/>
          <a:lstStyle/>
          <a:p>
            <a:pPr marL="0" indent="0">
              <a:buNone/>
            </a:pPr>
            <a:r>
              <a:rPr lang="en-US" sz="950" dirty="0">
                <a:solidFill>
                  <a:srgbClr val="64748B"/>
                </a:solidFill>
                <a:latin typeface="Malgun Gothic" pitchFamily="34" charset="0"/>
                <a:ea typeface="Malgun Gothic" pitchFamily="34" charset="-122"/>
                <a:cs typeface="Malgun Gothic" pitchFamily="34" charset="-120"/>
              </a:rPr>
              <a:t>전국 외국인 카드 소비액 대비 비중 — 일반화에 주의</a:t>
            </a:r>
            <a:endParaRPr lang="en-US" sz="950" dirty="0"/>
          </a:p>
        </p:txBody>
      </p:sp>
      <p:sp>
        <p:nvSpPr>
          <p:cNvPr id="25" name="Shape 22"/>
          <p:cNvSpPr/>
          <p:nvPr/>
        </p:nvSpPr>
        <p:spPr>
          <a:xfrm>
            <a:off x="7726680" y="3767328"/>
            <a:ext cx="3913632" cy="941832"/>
          </a:xfrm>
          <a:prstGeom prst="roundRect">
            <a:avLst>
              <a:gd name="adj" fmla="val 9709"/>
            </a:avLst>
          </a:prstGeom>
          <a:solidFill>
            <a:srgbClr val="FFF4DC"/>
          </a:solidFill>
          <a:ln w="12700">
            <a:solidFill>
              <a:srgbClr val="FFF4DC"/>
            </a:solidFill>
            <a:prstDash val="solid"/>
          </a:ln>
        </p:spPr>
        <p:txBody>
          <a:bodyPr/>
          <a:lstStyle/>
          <a:p>
            <a:endParaRPr lang="ko-KR" altLang="en-US"/>
          </a:p>
        </p:txBody>
      </p:sp>
      <p:sp>
        <p:nvSpPr>
          <p:cNvPr id="26" name="Text 23"/>
          <p:cNvSpPr txBox="1"/>
          <p:nvPr/>
        </p:nvSpPr>
        <p:spPr>
          <a:xfrm>
            <a:off x="7909560" y="3803904"/>
            <a:ext cx="1737360" cy="457200"/>
          </a:xfrm>
          <a:prstGeom prst="rect">
            <a:avLst/>
          </a:prstGeom>
          <a:noFill/>
          <a:ln/>
        </p:spPr>
        <p:txBody>
          <a:bodyPr wrap="square" lIns="0" tIns="0" rIns="0" bIns="0" rtlCol="0" anchor="ctr"/>
          <a:lstStyle/>
          <a:p>
            <a:pPr marL="0" indent="0">
              <a:buNone/>
            </a:pPr>
            <a:r>
              <a:rPr lang="en-US" sz="2400" b="1" dirty="0">
                <a:solidFill>
                  <a:srgbClr val="0B7A6D"/>
                </a:solidFill>
                <a:latin typeface="Malgun Gothic" pitchFamily="34" charset="0"/>
                <a:ea typeface="Malgun Gothic" pitchFamily="34" charset="-122"/>
                <a:cs typeface="Malgun Gothic" pitchFamily="34" charset="-120"/>
              </a:rPr>
              <a:t>+40.1%</a:t>
            </a:r>
            <a:endParaRPr lang="en-US" sz="2400" dirty="0"/>
          </a:p>
        </p:txBody>
      </p:sp>
      <p:sp>
        <p:nvSpPr>
          <p:cNvPr id="27" name="Text 24"/>
          <p:cNvSpPr txBox="1"/>
          <p:nvPr/>
        </p:nvSpPr>
        <p:spPr>
          <a:xfrm>
            <a:off x="9784080" y="3803904"/>
            <a:ext cx="1737360" cy="457200"/>
          </a:xfrm>
          <a:prstGeom prst="rect">
            <a:avLst/>
          </a:prstGeom>
          <a:noFill/>
          <a:ln/>
        </p:spPr>
        <p:txBody>
          <a:bodyPr wrap="square" lIns="0" tIns="0" rIns="0" bIns="0" rtlCol="0" anchor="ctr"/>
          <a:lstStyle/>
          <a:p>
            <a:pPr marL="0" indent="0">
              <a:buNone/>
            </a:pPr>
            <a:r>
              <a:rPr lang="en-US" sz="2400" b="1" dirty="0">
                <a:solidFill>
                  <a:srgbClr val="9A6B00"/>
                </a:solidFill>
                <a:latin typeface="Malgun Gothic" pitchFamily="34" charset="0"/>
                <a:ea typeface="Malgun Gothic" pitchFamily="34" charset="-122"/>
                <a:cs typeface="Malgun Gothic" pitchFamily="34" charset="-120"/>
              </a:rPr>
              <a:t>+67.5%</a:t>
            </a:r>
            <a:endParaRPr lang="en-US" sz="2400" dirty="0"/>
          </a:p>
        </p:txBody>
      </p:sp>
      <p:sp>
        <p:nvSpPr>
          <p:cNvPr id="28" name="Text 25"/>
          <p:cNvSpPr txBox="1"/>
          <p:nvPr/>
        </p:nvSpPr>
        <p:spPr>
          <a:xfrm>
            <a:off x="7909560" y="4279392"/>
            <a:ext cx="1828800" cy="182880"/>
          </a:xfrm>
          <a:prstGeom prst="rect">
            <a:avLst/>
          </a:prstGeom>
          <a:noFill/>
          <a:ln/>
        </p:spPr>
        <p:txBody>
          <a:bodyPr wrap="square" lIns="0" tIns="0" rIns="0" bIns="0" rtlCol="0" anchor="ctr"/>
          <a:lstStyle/>
          <a:p>
            <a:pPr marL="0" indent="0">
              <a:buNone/>
            </a:pPr>
            <a:r>
              <a:rPr lang="en-US" sz="850" b="1" dirty="0">
                <a:solidFill>
                  <a:srgbClr val="14213D"/>
                </a:solidFill>
                <a:latin typeface="Malgun Gothic" pitchFamily="34" charset="0"/>
                <a:ea typeface="Malgun Gothic" pitchFamily="34" charset="-122"/>
                <a:cs typeface="Malgun Gothic" pitchFamily="34" charset="-120"/>
              </a:rPr>
              <a:t>A 관광 2곳 (옹진·양양)</a:t>
            </a:r>
            <a:endParaRPr lang="en-US" sz="850" dirty="0"/>
          </a:p>
        </p:txBody>
      </p:sp>
      <p:sp>
        <p:nvSpPr>
          <p:cNvPr id="29" name="Text 26"/>
          <p:cNvSpPr txBox="1"/>
          <p:nvPr/>
        </p:nvSpPr>
        <p:spPr>
          <a:xfrm>
            <a:off x="9784080" y="4279392"/>
            <a:ext cx="1737360" cy="182880"/>
          </a:xfrm>
          <a:prstGeom prst="rect">
            <a:avLst/>
          </a:prstGeom>
          <a:noFill/>
          <a:ln/>
        </p:spPr>
        <p:txBody>
          <a:bodyPr wrap="square" lIns="0" tIns="0" rIns="0" bIns="0" rtlCol="0" anchor="ctr"/>
          <a:lstStyle/>
          <a:p>
            <a:pPr marL="0" indent="0">
              <a:buNone/>
            </a:pPr>
            <a:r>
              <a:rPr lang="en-US" sz="850" b="1" dirty="0">
                <a:solidFill>
                  <a:srgbClr val="14213D"/>
                </a:solidFill>
                <a:latin typeface="Malgun Gothic" pitchFamily="34" charset="0"/>
                <a:ea typeface="Malgun Gothic" pitchFamily="34" charset="-122"/>
                <a:cs typeface="Malgun Gothic" pitchFamily="34" charset="-120"/>
              </a:rPr>
              <a:t>B 계절근로 확인 4곳</a:t>
            </a:r>
            <a:endParaRPr lang="en-US" sz="850" dirty="0"/>
          </a:p>
        </p:txBody>
      </p:sp>
      <p:sp>
        <p:nvSpPr>
          <p:cNvPr id="30" name="Text 27"/>
          <p:cNvSpPr txBox="1"/>
          <p:nvPr/>
        </p:nvSpPr>
        <p:spPr>
          <a:xfrm>
            <a:off x="7909560" y="4480560"/>
            <a:ext cx="3547872" cy="182880"/>
          </a:xfrm>
          <a:prstGeom prst="rect">
            <a:avLst/>
          </a:prstGeom>
          <a:noFill/>
          <a:ln/>
        </p:spPr>
        <p:txBody>
          <a:bodyPr wrap="square" lIns="0" tIns="0" rIns="0" bIns="0" rtlCol="0" anchor="ctr"/>
          <a:lstStyle/>
          <a:p>
            <a:pPr marL="0" indent="0">
              <a:buNone/>
            </a:pPr>
            <a:r>
              <a:rPr lang="en-US" sz="850" dirty="0">
                <a:solidFill>
                  <a:srgbClr val="9A6B00"/>
                </a:solidFill>
                <a:latin typeface="Malgun Gothic" pitchFamily="34" charset="0"/>
                <a:ea typeface="Malgun Gothic" pitchFamily="34" charset="-122"/>
                <a:cs typeface="Malgun Gothic" pitchFamily="34" charset="-120"/>
              </a:rPr>
              <a:t>계절근로자가 확인된 곳이 더 크게 늘었다</a:t>
            </a:r>
            <a:endParaRPr lang="en-US" sz="850" dirty="0"/>
          </a:p>
        </p:txBody>
      </p:sp>
      <p:sp>
        <p:nvSpPr>
          <p:cNvPr id="31" name="Shape 28"/>
          <p:cNvSpPr/>
          <p:nvPr/>
        </p:nvSpPr>
        <p:spPr>
          <a:xfrm>
            <a:off x="548640" y="4846320"/>
            <a:ext cx="3520440" cy="1097280"/>
          </a:xfrm>
          <a:prstGeom prst="roundRect">
            <a:avLst>
              <a:gd name="adj" fmla="val 10000"/>
            </a:avLst>
          </a:prstGeom>
          <a:solidFill>
            <a:srgbClr val="F3F6FB"/>
          </a:solidFill>
          <a:ln w="12700">
            <a:solidFill>
              <a:srgbClr val="F3F6FB"/>
            </a:solidFill>
            <a:prstDash val="solid"/>
          </a:ln>
        </p:spPr>
        <p:txBody>
          <a:bodyPr/>
          <a:lstStyle/>
          <a:p>
            <a:endParaRPr lang="ko-KR" altLang="en-US"/>
          </a:p>
        </p:txBody>
      </p:sp>
      <p:sp>
        <p:nvSpPr>
          <p:cNvPr id="32" name="Shape 29"/>
          <p:cNvSpPr/>
          <p:nvPr/>
        </p:nvSpPr>
        <p:spPr>
          <a:xfrm>
            <a:off x="731520" y="4974336"/>
            <a:ext cx="365760" cy="365760"/>
          </a:xfrm>
          <a:prstGeom prst="ellipse">
            <a:avLst/>
          </a:prstGeom>
          <a:solidFill>
            <a:srgbClr val="0B1B33"/>
          </a:solidFill>
          <a:ln w="12700">
            <a:solidFill>
              <a:srgbClr val="0B1B33"/>
            </a:solidFill>
            <a:prstDash val="solid"/>
          </a:ln>
        </p:spPr>
        <p:txBody>
          <a:bodyPr/>
          <a:lstStyle/>
          <a:p>
            <a:endParaRPr lang="ko-KR" altLang="en-US"/>
          </a:p>
        </p:txBody>
      </p:sp>
      <p:pic>
        <p:nvPicPr>
          <p:cNvPr id="33" name="Image 0" descr="preencoded.png"/>
          <p:cNvPicPr>
            <a:picLocks noChangeAspect="1"/>
          </p:cNvPicPr>
          <p:nvPr/>
        </p:nvPicPr>
        <p:blipFill>
          <a:blip r:embed="rId4"/>
          <a:stretch>
            <a:fillRect/>
          </a:stretch>
        </p:blipFill>
        <p:spPr>
          <a:xfrm>
            <a:off x="813816" y="5056632"/>
            <a:ext cx="201168" cy="201168"/>
          </a:xfrm>
          <a:prstGeom prst="rect">
            <a:avLst/>
          </a:prstGeom>
        </p:spPr>
      </p:pic>
      <p:sp>
        <p:nvSpPr>
          <p:cNvPr id="34" name="Text 30"/>
          <p:cNvSpPr txBox="1"/>
          <p:nvPr/>
        </p:nvSpPr>
        <p:spPr>
          <a:xfrm>
            <a:off x="1207008" y="4974336"/>
            <a:ext cx="2651760" cy="365760"/>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지자체 · 소상공인</a:t>
            </a:r>
            <a:endParaRPr lang="en-US" sz="1200" dirty="0"/>
          </a:p>
        </p:txBody>
      </p:sp>
      <p:sp>
        <p:nvSpPr>
          <p:cNvPr id="35" name="Text 31"/>
          <p:cNvSpPr txBox="1"/>
          <p:nvPr/>
        </p:nvSpPr>
        <p:spPr>
          <a:xfrm>
            <a:off x="731520" y="5413248"/>
            <a:ext cx="3154680" cy="502920"/>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신호가 뜬 지역은 다국어 메뉴판·안내문을 먼저 준비할 시간을 번다 — 옹진군은 카드 정점이 방문자 정점보다 1개월 앞섰다(1곳 사례).</a:t>
            </a:r>
            <a:endParaRPr lang="en-US" sz="900" dirty="0"/>
          </a:p>
        </p:txBody>
      </p:sp>
      <p:sp>
        <p:nvSpPr>
          <p:cNvPr id="36" name="Shape 32"/>
          <p:cNvSpPr/>
          <p:nvPr/>
        </p:nvSpPr>
        <p:spPr>
          <a:xfrm>
            <a:off x="4334256" y="4846320"/>
            <a:ext cx="3520440" cy="1097280"/>
          </a:xfrm>
          <a:prstGeom prst="roundRect">
            <a:avLst>
              <a:gd name="adj" fmla="val 10000"/>
            </a:avLst>
          </a:prstGeom>
          <a:solidFill>
            <a:srgbClr val="F3F6FB"/>
          </a:solidFill>
          <a:ln w="12700">
            <a:solidFill>
              <a:srgbClr val="F3F6FB"/>
            </a:solidFill>
            <a:prstDash val="solid"/>
          </a:ln>
        </p:spPr>
        <p:txBody>
          <a:bodyPr/>
          <a:lstStyle/>
          <a:p>
            <a:endParaRPr lang="ko-KR" altLang="en-US"/>
          </a:p>
        </p:txBody>
      </p:sp>
      <p:sp>
        <p:nvSpPr>
          <p:cNvPr id="37" name="Shape 33"/>
          <p:cNvSpPr/>
          <p:nvPr/>
        </p:nvSpPr>
        <p:spPr>
          <a:xfrm>
            <a:off x="4517136" y="4974336"/>
            <a:ext cx="365760" cy="365760"/>
          </a:xfrm>
          <a:prstGeom prst="ellipse">
            <a:avLst/>
          </a:prstGeom>
          <a:solidFill>
            <a:srgbClr val="0B1B33"/>
          </a:solidFill>
          <a:ln w="12700">
            <a:solidFill>
              <a:srgbClr val="0B1B33"/>
            </a:solidFill>
            <a:prstDash val="solid"/>
          </a:ln>
        </p:spPr>
        <p:txBody>
          <a:bodyPr/>
          <a:lstStyle/>
          <a:p>
            <a:endParaRPr lang="ko-KR" altLang="en-US"/>
          </a:p>
        </p:txBody>
      </p:sp>
      <p:pic>
        <p:nvPicPr>
          <p:cNvPr id="38" name="Image 1" descr="preencoded.png"/>
          <p:cNvPicPr>
            <a:picLocks noChangeAspect="1"/>
          </p:cNvPicPr>
          <p:nvPr/>
        </p:nvPicPr>
        <p:blipFill>
          <a:blip r:embed="rId5"/>
          <a:stretch>
            <a:fillRect/>
          </a:stretch>
        </p:blipFill>
        <p:spPr>
          <a:xfrm>
            <a:off x="4599432" y="5056632"/>
            <a:ext cx="201168" cy="201168"/>
          </a:xfrm>
          <a:prstGeom prst="rect">
            <a:avLst/>
          </a:prstGeom>
        </p:spPr>
      </p:pic>
      <p:sp>
        <p:nvSpPr>
          <p:cNvPr id="39" name="Text 34"/>
          <p:cNvSpPr txBox="1"/>
          <p:nvPr/>
        </p:nvSpPr>
        <p:spPr>
          <a:xfrm>
            <a:off x="4992624" y="4974336"/>
            <a:ext cx="2651760" cy="365760"/>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외국인 이용자</a:t>
            </a:r>
            <a:endParaRPr lang="en-US" sz="1200" dirty="0"/>
          </a:p>
        </p:txBody>
      </p:sp>
      <p:sp>
        <p:nvSpPr>
          <p:cNvPr id="40" name="Text 35"/>
          <p:cNvSpPr txBox="1"/>
          <p:nvPr/>
        </p:nvSpPr>
        <p:spPr>
          <a:xfrm>
            <a:off x="4517136" y="5413248"/>
            <a:ext cx="3154680" cy="502920"/>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리뷰가 쌓이기 전의 로컬 스팟을 먼저 발견하고, 첫 결제에 포인트·배지를 받는다.</a:t>
            </a:r>
            <a:endParaRPr lang="en-US" sz="900" dirty="0"/>
          </a:p>
        </p:txBody>
      </p:sp>
      <p:sp>
        <p:nvSpPr>
          <p:cNvPr id="41" name="Shape 36"/>
          <p:cNvSpPr/>
          <p:nvPr/>
        </p:nvSpPr>
        <p:spPr>
          <a:xfrm>
            <a:off x="8119872" y="4846320"/>
            <a:ext cx="3520440" cy="1097280"/>
          </a:xfrm>
          <a:prstGeom prst="roundRect">
            <a:avLst>
              <a:gd name="adj" fmla="val 10000"/>
            </a:avLst>
          </a:prstGeom>
          <a:solidFill>
            <a:srgbClr val="F3F6FB"/>
          </a:solidFill>
          <a:ln w="12700">
            <a:solidFill>
              <a:srgbClr val="F3F6FB"/>
            </a:solidFill>
            <a:prstDash val="solid"/>
          </a:ln>
        </p:spPr>
        <p:txBody>
          <a:bodyPr/>
          <a:lstStyle/>
          <a:p>
            <a:endParaRPr lang="ko-KR" altLang="en-US"/>
          </a:p>
        </p:txBody>
      </p:sp>
      <p:sp>
        <p:nvSpPr>
          <p:cNvPr id="42" name="Shape 37"/>
          <p:cNvSpPr/>
          <p:nvPr/>
        </p:nvSpPr>
        <p:spPr>
          <a:xfrm>
            <a:off x="8302752" y="4974336"/>
            <a:ext cx="365760" cy="365760"/>
          </a:xfrm>
          <a:prstGeom prst="ellipse">
            <a:avLst/>
          </a:prstGeom>
          <a:solidFill>
            <a:srgbClr val="E8383D"/>
          </a:solidFill>
          <a:ln w="12700">
            <a:solidFill>
              <a:srgbClr val="E8383D"/>
            </a:solidFill>
            <a:prstDash val="solid"/>
          </a:ln>
        </p:spPr>
        <p:txBody>
          <a:bodyPr/>
          <a:lstStyle/>
          <a:p>
            <a:endParaRPr lang="ko-KR" altLang="en-US"/>
          </a:p>
        </p:txBody>
      </p:sp>
      <p:pic>
        <p:nvPicPr>
          <p:cNvPr id="43" name="Image 2" descr="preencoded.png"/>
          <p:cNvPicPr>
            <a:picLocks noChangeAspect="1"/>
          </p:cNvPicPr>
          <p:nvPr/>
        </p:nvPicPr>
        <p:blipFill>
          <a:blip r:embed="rId6"/>
          <a:stretch>
            <a:fillRect/>
          </a:stretch>
        </p:blipFill>
        <p:spPr>
          <a:xfrm>
            <a:off x="8385048" y="5056632"/>
            <a:ext cx="201168" cy="201168"/>
          </a:xfrm>
          <a:prstGeom prst="rect">
            <a:avLst/>
          </a:prstGeom>
        </p:spPr>
      </p:pic>
      <p:sp>
        <p:nvSpPr>
          <p:cNvPr id="44" name="Text 38"/>
          <p:cNvSpPr txBox="1"/>
          <p:nvPr/>
        </p:nvSpPr>
        <p:spPr>
          <a:xfrm>
            <a:off x="8778240" y="4974336"/>
            <a:ext cx="2651760" cy="365760"/>
          </a:xfrm>
          <a:prstGeom prst="rect">
            <a:avLst/>
          </a:prstGeom>
          <a:noFill/>
          <a:ln/>
        </p:spPr>
        <p:txBody>
          <a:bodyPr wrap="square" lIns="0" tIns="0" rIns="0" bIns="0" rtlCol="0" anchor="ctr"/>
          <a:lstStyle/>
          <a:p>
            <a:pPr marL="0" indent="0">
              <a:buNone/>
            </a:pPr>
            <a:r>
              <a:rPr lang="en-US" sz="1200" b="1" dirty="0">
                <a:solidFill>
                  <a:srgbClr val="14213D"/>
                </a:solidFill>
                <a:latin typeface="Malgun Gothic" pitchFamily="34" charset="0"/>
                <a:ea typeface="Malgun Gothic" pitchFamily="34" charset="-122"/>
                <a:cs typeface="Malgun Gothic" pitchFamily="34" charset="-120"/>
              </a:rPr>
              <a:t>BC카드</a:t>
            </a:r>
            <a:endParaRPr lang="en-US" sz="1200" dirty="0"/>
          </a:p>
        </p:txBody>
      </p:sp>
      <p:sp>
        <p:nvSpPr>
          <p:cNvPr id="45" name="Text 39"/>
          <p:cNvSpPr txBox="1"/>
          <p:nvPr/>
        </p:nvSpPr>
        <p:spPr>
          <a:xfrm>
            <a:off x="8302752" y="5413248"/>
            <a:ext cx="3154680" cy="502920"/>
          </a:xfrm>
          <a:prstGeom prst="rect">
            <a:avLst/>
          </a:prstGeom>
          <a:noFill/>
          <a:ln/>
        </p:spPr>
        <p:txBody>
          <a:bodyPr wrap="square" lIns="0" tIns="0" rIns="0" bIns="0" rtlCol="0" anchor="t"/>
          <a:lstStyle/>
          <a:p>
            <a:pPr marL="0" indent="0">
              <a:lnSpc>
                <a:spcPct val="108000"/>
              </a:lnSpc>
              <a:buNone/>
            </a:pPr>
            <a:r>
              <a:rPr lang="en-US" sz="900" dirty="0">
                <a:solidFill>
                  <a:srgbClr val="3A475C"/>
                </a:solidFill>
                <a:latin typeface="Malgun Gothic" pitchFamily="34" charset="0"/>
                <a:ea typeface="Malgun Gothic" pitchFamily="34" charset="-122"/>
                <a:cs typeface="Malgun Gothic" pitchFamily="34" charset="-120"/>
              </a:rPr>
              <a:t>결제 수수료 밖의 부가가치 — 이용 유도와 결제 데이터 자산의 고도화, 체류자격 필드로 데이터 품질 개선.</a:t>
            </a:r>
            <a:endParaRPr lang="en-US" sz="900" dirty="0"/>
          </a:p>
        </p:txBody>
      </p:sp>
      <p:sp>
        <p:nvSpPr>
          <p:cNvPr id="46" name="Text 40"/>
          <p:cNvSpPr txBox="1"/>
          <p:nvPr/>
        </p:nvSpPr>
        <p:spPr>
          <a:xfrm>
            <a:off x="548640" y="5943600"/>
            <a:ext cx="11091672" cy="502920"/>
          </a:xfrm>
          <a:prstGeom prst="rect">
            <a:avLst/>
          </a:prstGeom>
          <a:noFill/>
          <a:ln/>
        </p:spPr>
        <p:txBody>
          <a:bodyPr wrap="square" lIns="0" tIns="0" rIns="0" bIns="0" rtlCol="0" anchor="b"/>
          <a:lstStyle/>
          <a:p>
            <a:pPr marL="0" indent="0">
              <a:buNone/>
            </a:pPr>
            <a:r>
              <a:rPr lang="en-US" sz="900" b="1" dirty="0">
                <a:solidFill>
                  <a:srgbClr val="9A6B00"/>
                </a:solidFill>
                <a:latin typeface="Malgun Gothic" pitchFamily="34" charset="0"/>
                <a:ea typeface="Malgun Gothic" pitchFamily="34" charset="-122"/>
                <a:cs typeface="Malgun Gothic" pitchFamily="34" charset="-120"/>
              </a:rPr>
              <a:t>매출 예측이 아니다 — 성장률이 높은 지역을 골랐으므로 선정 효과가 있고, 계절근로자 소비가 섞일 수 있으며, BC카드 이용실적 기준이라 실제 매출·전체 시장과 다르다. 이 8곳은 최소건수 필터를 통과한 2,111개 조합 중 육안 검수를 거친 파일럿 규모이며, 주시 목록을 넓히면 규모는 달라진다.</a:t>
            </a:r>
            <a:endParaRPr lang="en-US" sz="900" dirty="0"/>
          </a:p>
        </p:txBody>
      </p:sp>
      <p:sp>
        <p:nvSpPr>
          <p:cNvPr id="47" name="Text 41"/>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8" name="Text 42"/>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32 / 42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07  </a:t>
            </a:r>
            <a:r>
              <a:rPr lang="en-US" sz="1150" b="1" dirty="0">
                <a:solidFill>
                  <a:srgbClr val="64748B"/>
                </a:solidFill>
                <a:latin typeface="Malgun Gothic" pitchFamily="34" charset="0"/>
                <a:ea typeface="Malgun Gothic" pitchFamily="34" charset="-122"/>
                <a:cs typeface="Malgun Gothic" pitchFamily="34" charset="-120"/>
              </a:rPr>
              <a:t>한계점과 보완</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ko-KR" altLang="en-US" sz="2400" b="1" dirty="0">
                <a:solidFill>
                  <a:srgbClr val="14213D"/>
                </a:solidFill>
                <a:latin typeface="Malgun Gothic" pitchFamily="34" charset="0"/>
                <a:ea typeface="Malgun Gothic" pitchFamily="34" charset="-122"/>
                <a:cs typeface="Malgun Gothic" pitchFamily="34" charset="-120"/>
              </a:rPr>
              <a:t>한계점과 보완방법</a:t>
            </a:r>
            <a:endParaRPr lang="en-US" sz="2400" dirty="0"/>
          </a:p>
        </p:txBody>
      </p:sp>
      <p:graphicFrame>
        <p:nvGraphicFramePr>
          <p:cNvPr id="34" name="Table 0"/>
          <p:cNvGraphicFramePr>
            <a:graphicFrameLocks noGrp="1"/>
          </p:cNvGraphicFramePr>
          <p:nvPr>
            <p:extLst>
              <p:ext uri="{D42A27DB-BD31-4B8C-83A1-F6EECF244321}">
                <p14:modId xmlns:p14="http://schemas.microsoft.com/office/powerpoint/2010/main" val="3179723303"/>
              </p:ext>
            </p:extLst>
          </p:nvPr>
        </p:nvGraphicFramePr>
        <p:xfrm>
          <a:off x="548640" y="1315233"/>
          <a:ext cx="11091672" cy="4545442"/>
        </p:xfrm>
        <a:graphic>
          <a:graphicData uri="http://schemas.openxmlformats.org/drawingml/2006/table">
            <a:tbl>
              <a:tblPr/>
              <a:tblGrid>
                <a:gridCol w="3429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05072">
                  <a:extLst>
                    <a:ext uri="{9D8B030D-6E8A-4147-A177-3AD203B41FA5}">
                      <a16:colId xmlns:a16="http://schemas.microsoft.com/office/drawing/2014/main" val="20002"/>
                    </a:ext>
                  </a:extLst>
                </a:gridCol>
              </a:tblGrid>
              <a:tr h="331642">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한계</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영향</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보완 · 대응</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468200">
                <a:tc>
                  <a:txBody>
                    <a:bodyPr/>
                    <a:lstStyle/>
                    <a:p>
                      <a:pPr marL="0" indent="0">
                        <a:buNone/>
                      </a:pPr>
                      <a:r>
                        <a:rPr lang="en-US" sz="1100" b="1" dirty="0">
                          <a:solidFill>
                            <a:srgbClr val="B7232B"/>
                          </a:solidFill>
                          <a:latin typeface="Malgun Gothic" pitchFamily="34" charset="0"/>
                          <a:ea typeface="Malgun Gothic" pitchFamily="34" charset="-122"/>
                          <a:cs typeface="Malgun Gothic" pitchFamily="34" charset="-120"/>
                        </a:rPr>
                        <a:t>GENDER_CD=3이 관광객과 체류 노동자를 구분하지 못한다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후보 8곳 중 4곳(청송·영양·봉화·고성)이 계절근로자 입국과 겹쳤다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뉴스로 개별 확인해 트랙을 나눴고, 체류자격 세분화 필드를 BC카드에 제안한다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DECEC"/>
                    </a:solidFill>
                  </a:tcPr>
                </a:tc>
                <a:extLst>
                  <a:ext uri="{0D108BD9-81ED-4DB2-BD59-A6C34878D82A}">
                    <a16:rowId xmlns:a16="http://schemas.microsoft.com/office/drawing/2014/main" val="10001"/>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대중 인지(검색·뉴스)와의 직접 비교와 가맹점 노출도(리뷰 수) 측정을 하지 못했다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H1·H2의 근거가 간접적이다 (방문자수·소비 규모를 대리 지표로 사용)</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뉴스 언급량(빅카인즈 등)과 지도 리뷰 수 수집을 후속 과제로 남긴다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선행성 근거가 얇다 — 카드가 먼저인 곳은 옹진군 1곳(n=1), 시차상관은 n=32이고 독립이 아니다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‘카드가 먼저 안다’고 일반화할 수 없고, p=0.0004는 실제보다 좋게 나왔을 수 있다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사례 관찰로만 제시하고 지역 평균 제거로 강건성을 확인했다. 패널 회귀·장기 재검증은 후속 과제</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H3는 사후 확인이며, 성장률의 지속은 확인되지 않았다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‘초과성장이 이어진다’고는 말할 수 없고, 올라간 ‘수준’만 이어졌다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수준 상승·다업종 확산 기준의 주시 목록으로 설계했고, 재검증 결과를 그대로 공개한다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후보를 신호가 높은 곳으로 골랐고, 트랙(A·B) 분류도 정성적 판단이다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H2 격차와 +58.2%에 선정 효과가 섞이고, 경계 사례는 달리 분류될 수 있다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규모를 맞춘 대조군(약 3.8배)으로 비교하고, 기대효과는 예측이 아닌 근거로만 제시한다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6개월치 데이터, 업종 11개(외식·소매), 연령대(AGE_CD)는 세분하지 않았다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계절성·장기 추세를 가르기 어렵고, 숙박·체험 소비·연령별 차이는 보이지 않는다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전국 동종업종 대비 상대값으로 보정했다. 12개월 이상·업종·연령대 확대 시 재검증한다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소규모 지역×업종 셀의 노이즈, 육안 검수의 재현성</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저베이스 반등·지역축제가 신호처럼 보인다 (무주 스낵·양양 일식회집·보령)</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최소건수 필터 + 육안 검수 + 축제월 제외 재계산. 검수 과정은 기록으로 남겼다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BC카드 이용실적 기준이고, 후보 8곳은 전국의 0.24%</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실제 매출·전체 시장과 다르고, 후보의 성장을 일반화하기 어렵다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기대효과를 매출 예측이 아닌 ‘이미 일어난 변화의 근거’로만 제시한다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8"/>
                  </a:ext>
                </a:extLst>
              </a:tr>
              <a:tr h="468200">
                <a:tc>
                  <a:txBody>
                    <a:bodyPr/>
                    <a:lstStyle/>
                    <a:p>
                      <a:pPr marL="0" indent="0">
                        <a:buNone/>
                      </a:pPr>
                      <a:r>
                        <a:rPr lang="en-US" sz="1100" b="1" dirty="0">
                          <a:solidFill>
                            <a:srgbClr val="14213D"/>
                          </a:solidFill>
                          <a:latin typeface="Malgun Gothic" pitchFamily="34" charset="0"/>
                          <a:ea typeface="Malgun Gothic" pitchFamily="34" charset="-122"/>
                          <a:cs typeface="Malgun Gothic" pitchFamily="34" charset="-120"/>
                        </a:rPr>
                        <a:t>분석 데이터가 시군구×업종 집계라 가맹점 단위 서비스는 불가하다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‘로컬 얼리버드 스팟’ 큐레이션에는 가맹점 정보가 추가로 필요하다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1100" dirty="0">
                          <a:solidFill>
                            <a:srgbClr val="14213D"/>
                          </a:solidFill>
                          <a:latin typeface="Malgun Gothic" pitchFamily="34" charset="0"/>
                          <a:ea typeface="Malgun Gothic" pitchFamily="34" charset="-122"/>
                          <a:cs typeface="Malgun Gothic" pitchFamily="34" charset="-120"/>
                        </a:rPr>
                        <a:t>서비스 단계에서 BC카드 내부 가맹점 데이터와 노출 동의·제휴 절차를 거친다</a:t>
                      </a:r>
                      <a:endParaRPr lang="en-US" sz="11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첫 행이 가장 중요한 한계이자, 이 자료가 BC카드에 제안하는 개선(체류자격 필드)의 출발점이다.</a:t>
            </a:r>
            <a:endParaRPr lang="en-US" sz="900" dirty="0"/>
          </a:p>
        </p:txBody>
      </p:sp>
      <p:sp>
        <p:nvSpPr>
          <p:cNvPr id="8" name="Text 5"/>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9" name="Text 6"/>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33 / 42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08  </a:t>
            </a:r>
            <a:r>
              <a:rPr lang="en-US" sz="1150" b="1" dirty="0">
                <a:solidFill>
                  <a:srgbClr val="64748B"/>
                </a:solidFill>
                <a:latin typeface="Malgun Gothic" pitchFamily="34" charset="0"/>
                <a:ea typeface="Malgun Gothic" pitchFamily="34" charset="-122"/>
                <a:cs typeface="Malgun Gothic" pitchFamily="34" charset="-120"/>
              </a:rPr>
              <a:t>정리 · 사고 흐름</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ko-KR" altLang="en-US" sz="2400" b="1" dirty="0">
                <a:solidFill>
                  <a:srgbClr val="14213D"/>
                </a:solidFill>
                <a:latin typeface="Malgun Gothic" pitchFamily="34" charset="0"/>
                <a:ea typeface="Malgun Gothic" pitchFamily="34" charset="-122"/>
                <a:cs typeface="Malgun Gothic" pitchFamily="34" charset="-120"/>
              </a:rPr>
              <a:t>최종 정리 </a:t>
            </a:r>
            <a:r>
              <a:rPr lang="en-US" altLang="ko-KR" sz="2400" b="1" dirty="0">
                <a:solidFill>
                  <a:srgbClr val="14213D"/>
                </a:solidFill>
                <a:latin typeface="Malgun Gothic" pitchFamily="34" charset="0"/>
                <a:ea typeface="Malgun Gothic" pitchFamily="34" charset="-122"/>
                <a:cs typeface="Malgun Gothic" pitchFamily="34" charset="-120"/>
              </a:rPr>
              <a:t>: </a:t>
            </a:r>
            <a:r>
              <a:rPr lang="en-US" sz="2400" b="1" dirty="0" err="1">
                <a:solidFill>
                  <a:srgbClr val="14213D"/>
                </a:solidFill>
                <a:latin typeface="Malgun Gothic" pitchFamily="34" charset="0"/>
                <a:ea typeface="Malgun Gothic" pitchFamily="34" charset="-122"/>
                <a:cs typeface="Malgun Gothic" pitchFamily="34" charset="-120"/>
              </a:rPr>
              <a:t>문제</a:t>
            </a:r>
            <a:r>
              <a:rPr lang="en-US" sz="2400" b="1" dirty="0">
                <a:solidFill>
                  <a:srgbClr val="14213D"/>
                </a:solidFill>
                <a:latin typeface="Malgun Gothic" pitchFamily="34" charset="0"/>
                <a:ea typeface="Malgun Gothic" pitchFamily="34" charset="-122"/>
                <a:cs typeface="Malgun Gothic" pitchFamily="34" charset="-120"/>
              </a:rPr>
              <a:t> → 가설 → 검증 → </a:t>
            </a:r>
            <a:r>
              <a:rPr lang="en-US" sz="2400" b="1" dirty="0" err="1">
                <a:solidFill>
                  <a:srgbClr val="14213D"/>
                </a:solidFill>
                <a:latin typeface="Malgun Gothic" pitchFamily="34" charset="0"/>
                <a:ea typeface="Malgun Gothic" pitchFamily="34" charset="-122"/>
                <a:cs typeface="Malgun Gothic" pitchFamily="34" charset="-120"/>
              </a:rPr>
              <a:t>개선안</a:t>
            </a:r>
            <a:endParaRPr lang="en-US" sz="2400" dirty="0"/>
          </a:p>
        </p:txBody>
      </p:sp>
      <p:sp>
        <p:nvSpPr>
          <p:cNvPr id="6" name="Shape 4"/>
          <p:cNvSpPr/>
          <p:nvPr/>
        </p:nvSpPr>
        <p:spPr>
          <a:xfrm>
            <a:off x="548640" y="1737360"/>
            <a:ext cx="2615184" cy="4297680"/>
          </a:xfrm>
          <a:prstGeom prst="roundRect">
            <a:avLst>
              <a:gd name="adj" fmla="val 4196"/>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13232" y="1883664"/>
            <a:ext cx="420624" cy="420624"/>
          </a:xfrm>
          <a:prstGeom prst="ellipse">
            <a:avLst/>
          </a:prstGeom>
          <a:solidFill>
            <a:srgbClr val="0B1B33"/>
          </a:solidFill>
          <a:ln w="12700">
            <a:solidFill>
              <a:srgbClr val="0B1B33"/>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807872" y="1978304"/>
            <a:ext cx="231343" cy="231343"/>
          </a:xfrm>
          <a:prstGeom prst="rect">
            <a:avLst/>
          </a:prstGeom>
        </p:spPr>
      </p:pic>
      <p:sp>
        <p:nvSpPr>
          <p:cNvPr id="9" name="Text 6"/>
          <p:cNvSpPr txBox="1"/>
          <p:nvPr/>
        </p:nvSpPr>
        <p:spPr>
          <a:xfrm>
            <a:off x="1225296" y="1865376"/>
            <a:ext cx="1828800" cy="237744"/>
          </a:xfrm>
          <a:prstGeom prst="rect">
            <a:avLst/>
          </a:prstGeom>
          <a:noFill/>
          <a:ln/>
        </p:spPr>
        <p:txBody>
          <a:bodyPr wrap="square" lIns="0" tIns="0" rIns="0" bIns="0" rtlCol="0" anchor="ctr"/>
          <a:lstStyle/>
          <a:p>
            <a:pPr marL="0" indent="0">
              <a:buNone/>
            </a:pPr>
            <a:r>
              <a:rPr lang="en-US" sz="1350" b="1" dirty="0">
                <a:solidFill>
                  <a:srgbClr val="E8383D"/>
                </a:solidFill>
                <a:latin typeface="Malgun Gothic" pitchFamily="34" charset="0"/>
                <a:ea typeface="Malgun Gothic" pitchFamily="34" charset="-122"/>
                <a:cs typeface="Malgun Gothic" pitchFamily="34" charset="-120"/>
              </a:rPr>
              <a:t>1  </a:t>
            </a:r>
            <a:r>
              <a:rPr lang="en-US" sz="1350" b="1" dirty="0">
                <a:solidFill>
                  <a:srgbClr val="14213D"/>
                </a:solidFill>
                <a:latin typeface="Malgun Gothic" pitchFamily="34" charset="0"/>
                <a:ea typeface="Malgun Gothic" pitchFamily="34" charset="-122"/>
                <a:cs typeface="Malgun Gothic" pitchFamily="34" charset="-120"/>
              </a:rPr>
              <a:t>문제 인식</a:t>
            </a:r>
            <a:endParaRPr lang="en-US" sz="1350" dirty="0"/>
          </a:p>
        </p:txBody>
      </p:sp>
      <p:sp>
        <p:nvSpPr>
          <p:cNvPr id="10" name="Text 7"/>
          <p:cNvSpPr txBox="1"/>
          <p:nvPr/>
        </p:nvSpPr>
        <p:spPr>
          <a:xfrm>
            <a:off x="1225296" y="2121408"/>
            <a:ext cx="1874520" cy="274320"/>
          </a:xfrm>
          <a:prstGeom prst="rect">
            <a:avLst/>
          </a:prstGeom>
          <a:noFill/>
          <a:ln/>
        </p:spPr>
        <p:txBody>
          <a:bodyPr wrap="square" lIns="0" tIns="0" rIns="0" bIns="0" rtlCol="0" anchor="t"/>
          <a:lstStyle/>
          <a:p>
            <a:pPr marL="0" indent="0">
              <a:lnSpc>
                <a:spcPct val="100000"/>
              </a:lnSpc>
              <a:buNone/>
            </a:pPr>
            <a:r>
              <a:rPr lang="en-US" sz="800" dirty="0">
                <a:solidFill>
                  <a:srgbClr val="64748B"/>
                </a:solidFill>
                <a:latin typeface="Malgun Gothic" pitchFamily="34" charset="0"/>
                <a:ea typeface="Malgun Gothic" pitchFamily="34" charset="-122"/>
                <a:cs typeface="Malgun Gothic" pitchFamily="34" charset="-120"/>
              </a:rPr>
              <a:t>수수료 압박 · 매입업무 의존</a:t>
            </a:r>
            <a:endParaRPr lang="en-US" sz="800" dirty="0"/>
          </a:p>
        </p:txBody>
      </p:sp>
      <p:sp>
        <p:nvSpPr>
          <p:cNvPr id="11" name="Shape 8"/>
          <p:cNvSpPr/>
          <p:nvPr/>
        </p:nvSpPr>
        <p:spPr>
          <a:xfrm>
            <a:off x="685800" y="2487168"/>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12" name="Shape 9"/>
          <p:cNvSpPr/>
          <p:nvPr/>
        </p:nvSpPr>
        <p:spPr>
          <a:xfrm>
            <a:off x="777240" y="2569464"/>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13" name="Text 10"/>
          <p:cNvSpPr txBox="1"/>
          <p:nvPr/>
        </p:nvSpPr>
        <p:spPr>
          <a:xfrm>
            <a:off x="777240" y="2569464"/>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배경</a:t>
            </a:r>
            <a:endParaRPr lang="en-US" sz="800" dirty="0"/>
          </a:p>
        </p:txBody>
      </p:sp>
      <p:sp>
        <p:nvSpPr>
          <p:cNvPr id="14" name="Text 11"/>
          <p:cNvSpPr txBox="1"/>
          <p:nvPr/>
        </p:nvSpPr>
        <p:spPr>
          <a:xfrm>
            <a:off x="1307592" y="2532888"/>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수수료 인하·플랫폼 수수료 요구로 카드 수익 기반이 얇아진다</a:t>
            </a:r>
            <a:endParaRPr lang="en-US" sz="850" dirty="0"/>
          </a:p>
        </p:txBody>
      </p:sp>
      <p:sp>
        <p:nvSpPr>
          <p:cNvPr id="15" name="Text 12"/>
          <p:cNvSpPr txBox="1"/>
          <p:nvPr/>
        </p:nvSpPr>
        <p:spPr>
          <a:xfrm>
            <a:off x="777240" y="2871216"/>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결제 수수료 밖의 부가가치를 찾는다</a:t>
            </a:r>
            <a:endParaRPr lang="en-US" sz="900" dirty="0"/>
          </a:p>
        </p:txBody>
      </p:sp>
      <p:sp>
        <p:nvSpPr>
          <p:cNvPr id="16" name="Shape 13"/>
          <p:cNvSpPr/>
          <p:nvPr/>
        </p:nvSpPr>
        <p:spPr>
          <a:xfrm>
            <a:off x="685800" y="3364992"/>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17" name="Shape 14"/>
          <p:cNvSpPr/>
          <p:nvPr/>
        </p:nvSpPr>
        <p:spPr>
          <a:xfrm>
            <a:off x="777240" y="3447288"/>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18" name="Text 15"/>
          <p:cNvSpPr txBox="1"/>
          <p:nvPr/>
        </p:nvSpPr>
        <p:spPr>
          <a:xfrm>
            <a:off x="777240" y="3447288"/>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기회</a:t>
            </a:r>
            <a:endParaRPr lang="en-US" sz="800" dirty="0"/>
          </a:p>
        </p:txBody>
      </p:sp>
      <p:sp>
        <p:nvSpPr>
          <p:cNvPr id="19" name="Text 16"/>
          <p:cNvSpPr txBox="1"/>
          <p:nvPr/>
        </p:nvSpPr>
        <p:spPr>
          <a:xfrm>
            <a:off x="1307592" y="3410712"/>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외국인 소비는 지방으로 퍼지는데 정보는 따라가지 못한다</a:t>
            </a:r>
            <a:endParaRPr lang="en-US" sz="850" dirty="0"/>
          </a:p>
        </p:txBody>
      </p:sp>
      <p:sp>
        <p:nvSpPr>
          <p:cNvPr id="20" name="Text 17"/>
          <p:cNvSpPr txBox="1"/>
          <p:nvPr/>
        </p:nvSpPr>
        <p:spPr>
          <a:xfrm>
            <a:off x="777240" y="3749040"/>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외국인 인바운드 소비를 카드로 먼저 포착한다</a:t>
            </a:r>
            <a:endParaRPr lang="en-US" sz="900" dirty="0"/>
          </a:p>
        </p:txBody>
      </p:sp>
      <p:sp>
        <p:nvSpPr>
          <p:cNvPr id="21" name="Text 18"/>
          <p:cNvSpPr txBox="1"/>
          <p:nvPr/>
        </p:nvSpPr>
        <p:spPr>
          <a:xfrm>
            <a:off x="731520" y="4334256"/>
            <a:ext cx="2249424" cy="502920"/>
          </a:xfrm>
          <a:prstGeom prst="rect">
            <a:avLst/>
          </a:prstGeom>
          <a:noFill/>
          <a:ln/>
        </p:spPr>
        <p:txBody>
          <a:bodyPr wrap="square" lIns="0" tIns="0" rIns="0" bIns="0" rtlCol="0" anchor="b"/>
          <a:lstStyle/>
          <a:p>
            <a:pPr marL="0" indent="0">
              <a:buNone/>
            </a:pPr>
            <a:r>
              <a:rPr lang="en-US" sz="2800" b="1" dirty="0">
                <a:solidFill>
                  <a:srgbClr val="0B1B33"/>
                </a:solidFill>
                <a:latin typeface="Malgun Gothic" pitchFamily="34" charset="0"/>
                <a:ea typeface="Malgun Gothic" pitchFamily="34" charset="-122"/>
                <a:cs typeface="Malgun Gothic" pitchFamily="34" charset="-120"/>
              </a:rPr>
              <a:t>약 80%</a:t>
            </a:r>
            <a:endParaRPr lang="en-US" sz="2800" dirty="0"/>
          </a:p>
        </p:txBody>
      </p:sp>
      <p:sp>
        <p:nvSpPr>
          <p:cNvPr id="22" name="Text 19"/>
          <p:cNvSpPr txBox="1"/>
          <p:nvPr/>
        </p:nvSpPr>
        <p:spPr>
          <a:xfrm>
            <a:off x="731520" y="4864608"/>
            <a:ext cx="2249424" cy="365760"/>
          </a:xfrm>
          <a:prstGeom prst="rect">
            <a:avLst/>
          </a:prstGeom>
          <a:noFill/>
          <a:ln/>
        </p:spPr>
        <p:txBody>
          <a:bodyPr wrap="square" lIns="0" tIns="0" rIns="0" bIns="0" rtlCol="0" anchor="t"/>
          <a:lstStyle/>
          <a:p>
            <a:pPr marL="0" indent="0">
              <a:lnSpc>
                <a:spcPct val="105000"/>
              </a:lnSpc>
              <a:buNone/>
            </a:pPr>
            <a:r>
              <a:rPr lang="en-US" sz="900" dirty="0">
                <a:solidFill>
                  <a:srgbClr val="64748B"/>
                </a:solidFill>
                <a:latin typeface="Malgun Gothic" pitchFamily="34" charset="0"/>
                <a:ea typeface="Malgun Gothic" pitchFamily="34" charset="-122"/>
                <a:cs typeface="Malgun Gothic" pitchFamily="34" charset="-120"/>
              </a:rPr>
              <a:t>영업수익 중 매입업무 비중</a:t>
            </a:r>
            <a:endParaRPr lang="en-US" sz="900" dirty="0"/>
          </a:p>
        </p:txBody>
      </p:sp>
      <p:sp>
        <p:nvSpPr>
          <p:cNvPr id="23" name="Shape 20"/>
          <p:cNvSpPr/>
          <p:nvPr/>
        </p:nvSpPr>
        <p:spPr>
          <a:xfrm>
            <a:off x="685800" y="5285232"/>
            <a:ext cx="2340864" cy="640080"/>
          </a:xfrm>
          <a:prstGeom prst="roundRect">
            <a:avLst>
              <a:gd name="adj" fmla="val 11429"/>
            </a:avLst>
          </a:prstGeom>
          <a:solidFill>
            <a:srgbClr val="0B1B33"/>
          </a:solidFill>
          <a:ln w="12700">
            <a:solidFill>
              <a:srgbClr val="0B1B33"/>
            </a:solidFill>
            <a:prstDash val="solid"/>
          </a:ln>
        </p:spPr>
        <p:txBody>
          <a:bodyPr/>
          <a:lstStyle/>
          <a:p>
            <a:endParaRPr lang="ko-KR" altLang="en-US"/>
          </a:p>
        </p:txBody>
      </p:sp>
      <p:sp>
        <p:nvSpPr>
          <p:cNvPr id="24" name="Text 21"/>
          <p:cNvSpPr txBox="1"/>
          <p:nvPr/>
        </p:nvSpPr>
        <p:spPr>
          <a:xfrm>
            <a:off x="795528" y="5285232"/>
            <a:ext cx="2121408" cy="640080"/>
          </a:xfrm>
          <a:prstGeom prst="rect">
            <a:avLst/>
          </a:prstGeom>
          <a:noFill/>
          <a:ln/>
        </p:spPr>
        <p:txBody>
          <a:bodyPr wrap="square" lIns="0" tIns="0" rIns="0" bIns="0" rtlCol="0" anchor="ctr"/>
          <a:lstStyle/>
          <a:p>
            <a:pPr marL="0" indent="0">
              <a:lnSpc>
                <a:spcPct val="105000"/>
              </a:lnSpc>
              <a:buNone/>
            </a:pPr>
            <a:r>
              <a:rPr lang="en-US" sz="900" b="1" dirty="0">
                <a:solidFill>
                  <a:srgbClr val="FF7A7E"/>
                </a:solidFill>
                <a:latin typeface="Malgun Gothic" pitchFamily="34" charset="0"/>
                <a:ea typeface="Malgun Gothic" pitchFamily="34" charset="-122"/>
                <a:cs typeface="Malgun Gothic" pitchFamily="34" charset="-120"/>
              </a:rPr>
              <a:t>→ </a:t>
            </a:r>
            <a:r>
              <a:rPr lang="en-US" sz="900" b="1" dirty="0">
                <a:solidFill>
                  <a:srgbClr val="FFFFFF"/>
                </a:solidFill>
                <a:latin typeface="Malgun Gothic" pitchFamily="34" charset="0"/>
                <a:ea typeface="Malgun Gothic" pitchFamily="34" charset="-122"/>
                <a:cs typeface="Malgun Gothic" pitchFamily="34" charset="-120"/>
              </a:rPr>
              <a:t>외국인 소비 급증을 카드로 먼저 포착한다는 문제 정의</a:t>
            </a:r>
            <a:endParaRPr lang="en-US" sz="900" dirty="0"/>
          </a:p>
        </p:txBody>
      </p:sp>
      <p:sp>
        <p:nvSpPr>
          <p:cNvPr id="25" name="Shape 22"/>
          <p:cNvSpPr/>
          <p:nvPr/>
        </p:nvSpPr>
        <p:spPr>
          <a:xfrm>
            <a:off x="3374136" y="1737360"/>
            <a:ext cx="2615184" cy="4297680"/>
          </a:xfrm>
          <a:prstGeom prst="roundRect">
            <a:avLst>
              <a:gd name="adj" fmla="val 4196"/>
            </a:avLst>
          </a:prstGeom>
          <a:solidFill>
            <a:srgbClr val="F3F6FB"/>
          </a:solidFill>
          <a:ln w="12700">
            <a:solidFill>
              <a:srgbClr val="F3F6FB"/>
            </a:solidFill>
            <a:prstDash val="solid"/>
          </a:ln>
        </p:spPr>
        <p:txBody>
          <a:bodyPr/>
          <a:lstStyle/>
          <a:p>
            <a:endParaRPr lang="ko-KR" altLang="en-US"/>
          </a:p>
        </p:txBody>
      </p:sp>
      <p:sp>
        <p:nvSpPr>
          <p:cNvPr id="26" name="Shape 23"/>
          <p:cNvSpPr/>
          <p:nvPr/>
        </p:nvSpPr>
        <p:spPr>
          <a:xfrm>
            <a:off x="3538728" y="1883664"/>
            <a:ext cx="420624" cy="420624"/>
          </a:xfrm>
          <a:prstGeom prst="ellipse">
            <a:avLst/>
          </a:prstGeom>
          <a:solidFill>
            <a:srgbClr val="0B1B33"/>
          </a:solidFill>
          <a:ln w="12700">
            <a:solidFill>
              <a:srgbClr val="0B1B33"/>
            </a:solidFill>
            <a:prstDash val="solid"/>
          </a:ln>
        </p:spPr>
        <p:txBody>
          <a:bodyPr/>
          <a:lstStyle/>
          <a:p>
            <a:endParaRPr lang="ko-KR" altLang="en-US"/>
          </a:p>
        </p:txBody>
      </p:sp>
      <p:pic>
        <p:nvPicPr>
          <p:cNvPr id="27" name="Image 1" descr="preencoded.png"/>
          <p:cNvPicPr>
            <a:picLocks noChangeAspect="1"/>
          </p:cNvPicPr>
          <p:nvPr/>
        </p:nvPicPr>
        <p:blipFill>
          <a:blip r:embed="rId4"/>
          <a:stretch>
            <a:fillRect/>
          </a:stretch>
        </p:blipFill>
        <p:spPr>
          <a:xfrm>
            <a:off x="3633368" y="1978304"/>
            <a:ext cx="231343" cy="231343"/>
          </a:xfrm>
          <a:prstGeom prst="rect">
            <a:avLst/>
          </a:prstGeom>
        </p:spPr>
      </p:pic>
      <p:sp>
        <p:nvSpPr>
          <p:cNvPr id="28" name="Text 24"/>
          <p:cNvSpPr txBox="1"/>
          <p:nvPr/>
        </p:nvSpPr>
        <p:spPr>
          <a:xfrm>
            <a:off x="4050792" y="1865376"/>
            <a:ext cx="1828800" cy="237744"/>
          </a:xfrm>
          <a:prstGeom prst="rect">
            <a:avLst/>
          </a:prstGeom>
          <a:noFill/>
          <a:ln/>
        </p:spPr>
        <p:txBody>
          <a:bodyPr wrap="square" lIns="0" tIns="0" rIns="0" bIns="0" rtlCol="0" anchor="ctr"/>
          <a:lstStyle/>
          <a:p>
            <a:pPr marL="0" indent="0">
              <a:buNone/>
            </a:pPr>
            <a:r>
              <a:rPr lang="en-US" sz="1350" b="1" dirty="0">
                <a:solidFill>
                  <a:srgbClr val="E8383D"/>
                </a:solidFill>
                <a:latin typeface="Malgun Gothic" pitchFamily="34" charset="0"/>
                <a:ea typeface="Malgun Gothic" pitchFamily="34" charset="-122"/>
                <a:cs typeface="Malgun Gothic" pitchFamily="34" charset="-120"/>
              </a:rPr>
              <a:t>2  </a:t>
            </a:r>
            <a:r>
              <a:rPr lang="en-US" sz="1350" b="1" dirty="0">
                <a:solidFill>
                  <a:srgbClr val="14213D"/>
                </a:solidFill>
                <a:latin typeface="Malgun Gothic" pitchFamily="34" charset="0"/>
                <a:ea typeface="Malgun Gothic" pitchFamily="34" charset="-122"/>
                <a:cs typeface="Malgun Gothic" pitchFamily="34" charset="-120"/>
              </a:rPr>
              <a:t>가설 · 방법</a:t>
            </a:r>
            <a:endParaRPr lang="en-US" sz="1350" dirty="0"/>
          </a:p>
        </p:txBody>
      </p:sp>
      <p:sp>
        <p:nvSpPr>
          <p:cNvPr id="29" name="Text 25"/>
          <p:cNvSpPr txBox="1"/>
          <p:nvPr/>
        </p:nvSpPr>
        <p:spPr>
          <a:xfrm>
            <a:off x="4050792" y="2121408"/>
            <a:ext cx="1874520" cy="274320"/>
          </a:xfrm>
          <a:prstGeom prst="rect">
            <a:avLst/>
          </a:prstGeom>
          <a:noFill/>
          <a:ln/>
        </p:spPr>
        <p:txBody>
          <a:bodyPr wrap="square" lIns="0" tIns="0" rIns="0" bIns="0" rtlCol="0" anchor="t"/>
          <a:lstStyle/>
          <a:p>
            <a:pPr marL="0" indent="0">
              <a:lnSpc>
                <a:spcPct val="100000"/>
              </a:lnSpc>
              <a:buNone/>
            </a:pPr>
            <a:r>
              <a:rPr lang="en-US" sz="800" dirty="0">
                <a:solidFill>
                  <a:srgbClr val="64748B"/>
                </a:solidFill>
                <a:latin typeface="Malgun Gothic" pitchFamily="34" charset="0"/>
                <a:ea typeface="Malgun Gothic" pitchFamily="34" charset="-122"/>
                <a:cs typeface="Malgun Gothic" pitchFamily="34" charset="-120"/>
              </a:rPr>
              <a:t>H1 선행성 · H2 사각지대 · H3 지속성</a:t>
            </a:r>
            <a:endParaRPr lang="en-US" sz="800" dirty="0"/>
          </a:p>
        </p:txBody>
      </p:sp>
      <p:sp>
        <p:nvSpPr>
          <p:cNvPr id="30" name="Shape 26"/>
          <p:cNvSpPr/>
          <p:nvPr/>
        </p:nvSpPr>
        <p:spPr>
          <a:xfrm>
            <a:off x="3511296" y="2487168"/>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31" name="Shape 27"/>
          <p:cNvSpPr/>
          <p:nvPr/>
        </p:nvSpPr>
        <p:spPr>
          <a:xfrm>
            <a:off x="3602736" y="2569464"/>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32" name="Text 28"/>
          <p:cNvSpPr txBox="1"/>
          <p:nvPr/>
        </p:nvSpPr>
        <p:spPr>
          <a:xfrm>
            <a:off x="3602736" y="2569464"/>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지표</a:t>
            </a:r>
            <a:endParaRPr lang="en-US" sz="800" dirty="0"/>
          </a:p>
        </p:txBody>
      </p:sp>
      <p:sp>
        <p:nvSpPr>
          <p:cNvPr id="33" name="Text 29"/>
          <p:cNvSpPr txBox="1"/>
          <p:nvPr/>
        </p:nvSpPr>
        <p:spPr>
          <a:xfrm>
            <a:off x="4133088" y="2532888"/>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금액과 건수 중 무엇으로 신호를 볼 것인가</a:t>
            </a:r>
            <a:endParaRPr lang="en-US" sz="850" dirty="0"/>
          </a:p>
        </p:txBody>
      </p:sp>
      <p:sp>
        <p:nvSpPr>
          <p:cNvPr id="34" name="Text 30"/>
          <p:cNvSpPr txBox="1"/>
          <p:nvPr/>
        </p:nvSpPr>
        <p:spPr>
          <a:xfrm>
            <a:off x="3602736" y="2871216"/>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‘방문객이 늘기 시작한 곳’을 먼저 잡도록 건수(CNT)</a:t>
            </a:r>
            <a:endParaRPr lang="en-US" sz="900" dirty="0"/>
          </a:p>
        </p:txBody>
      </p:sp>
      <p:sp>
        <p:nvSpPr>
          <p:cNvPr id="35" name="Shape 31"/>
          <p:cNvSpPr/>
          <p:nvPr/>
        </p:nvSpPr>
        <p:spPr>
          <a:xfrm>
            <a:off x="3511296" y="3364992"/>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36" name="Shape 32"/>
          <p:cNvSpPr/>
          <p:nvPr/>
        </p:nvSpPr>
        <p:spPr>
          <a:xfrm>
            <a:off x="3602736" y="3447288"/>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37" name="Text 33"/>
          <p:cNvSpPr txBox="1"/>
          <p:nvPr/>
        </p:nvSpPr>
        <p:spPr>
          <a:xfrm>
            <a:off x="3602736" y="3447288"/>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단위</a:t>
            </a:r>
            <a:endParaRPr lang="en-US" sz="800" dirty="0"/>
          </a:p>
        </p:txBody>
      </p:sp>
      <p:sp>
        <p:nvSpPr>
          <p:cNvPr id="38" name="Text 34"/>
          <p:cNvSpPr txBox="1"/>
          <p:nvPr/>
        </p:nvSpPr>
        <p:spPr>
          <a:xfrm>
            <a:off x="4133088" y="3410712"/>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조합 상위 20개만 보면 청송군 하나로 보인다</a:t>
            </a:r>
            <a:endParaRPr lang="en-US" sz="850" dirty="0"/>
          </a:p>
        </p:txBody>
      </p:sp>
      <p:sp>
        <p:nvSpPr>
          <p:cNvPr id="39" name="Text 35"/>
          <p:cNvSpPr txBox="1"/>
          <p:nvPr/>
        </p:nvSpPr>
        <p:spPr>
          <a:xfrm>
            <a:off x="3602736" y="3749040"/>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2,111개 조합을 시군구 단위로 재집계 (동명 시군구는 복합키)</a:t>
            </a:r>
            <a:endParaRPr lang="en-US" sz="900" dirty="0"/>
          </a:p>
        </p:txBody>
      </p:sp>
      <p:sp>
        <p:nvSpPr>
          <p:cNvPr id="40" name="Shape 36"/>
          <p:cNvSpPr/>
          <p:nvPr/>
        </p:nvSpPr>
        <p:spPr>
          <a:xfrm>
            <a:off x="3511296" y="4242816"/>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41" name="Shape 37"/>
          <p:cNvSpPr/>
          <p:nvPr/>
        </p:nvSpPr>
        <p:spPr>
          <a:xfrm>
            <a:off x="3602736" y="4325112"/>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42" name="Text 38"/>
          <p:cNvSpPr txBox="1"/>
          <p:nvPr/>
        </p:nvSpPr>
        <p:spPr>
          <a:xfrm>
            <a:off x="3602736" y="4325112"/>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자료</a:t>
            </a:r>
            <a:endParaRPr lang="en-US" sz="800" dirty="0"/>
          </a:p>
        </p:txBody>
      </p:sp>
      <p:sp>
        <p:nvSpPr>
          <p:cNvPr id="43" name="Text 39"/>
          <p:cNvSpPr txBox="1"/>
          <p:nvPr/>
        </p:nvSpPr>
        <p:spPr>
          <a:xfrm>
            <a:off x="4133088" y="4288536"/>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카드 신호는 카드와 독립된 자료로 확인해야 한다</a:t>
            </a:r>
            <a:endParaRPr lang="en-US" sz="850" dirty="0"/>
          </a:p>
        </p:txBody>
      </p:sp>
      <p:sp>
        <p:nvSpPr>
          <p:cNvPr id="44" name="Text 40"/>
          <p:cNvSpPr txBox="1"/>
          <p:nvPr/>
        </p:nvSpPr>
        <p:spPr>
          <a:xfrm>
            <a:off x="3602736" y="4626864"/>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한국관광 데이터랩 방문자수로 교차검증</a:t>
            </a:r>
            <a:endParaRPr lang="en-US" sz="900" dirty="0"/>
          </a:p>
        </p:txBody>
      </p:sp>
      <p:sp>
        <p:nvSpPr>
          <p:cNvPr id="45" name="Shape 41"/>
          <p:cNvSpPr/>
          <p:nvPr/>
        </p:nvSpPr>
        <p:spPr>
          <a:xfrm>
            <a:off x="3511296" y="5285232"/>
            <a:ext cx="2340864" cy="640080"/>
          </a:xfrm>
          <a:prstGeom prst="roundRect">
            <a:avLst>
              <a:gd name="adj" fmla="val 11429"/>
            </a:avLst>
          </a:prstGeom>
          <a:solidFill>
            <a:srgbClr val="0B1B33"/>
          </a:solidFill>
          <a:ln w="12700">
            <a:solidFill>
              <a:srgbClr val="0B1B33"/>
            </a:solidFill>
            <a:prstDash val="solid"/>
          </a:ln>
        </p:spPr>
        <p:txBody>
          <a:bodyPr/>
          <a:lstStyle/>
          <a:p>
            <a:endParaRPr lang="ko-KR" altLang="en-US"/>
          </a:p>
        </p:txBody>
      </p:sp>
      <p:sp>
        <p:nvSpPr>
          <p:cNvPr id="46" name="Text 42"/>
          <p:cNvSpPr txBox="1"/>
          <p:nvPr/>
        </p:nvSpPr>
        <p:spPr>
          <a:xfrm>
            <a:off x="3621024" y="5285232"/>
            <a:ext cx="2121408" cy="640080"/>
          </a:xfrm>
          <a:prstGeom prst="rect">
            <a:avLst/>
          </a:prstGeom>
          <a:noFill/>
          <a:ln/>
        </p:spPr>
        <p:txBody>
          <a:bodyPr wrap="square" lIns="0" tIns="0" rIns="0" bIns="0" rtlCol="0" anchor="ctr"/>
          <a:lstStyle/>
          <a:p>
            <a:pPr marL="0" indent="0">
              <a:lnSpc>
                <a:spcPct val="105000"/>
              </a:lnSpc>
              <a:buNone/>
            </a:pPr>
            <a:r>
              <a:rPr lang="en-US" sz="900" b="1" dirty="0">
                <a:solidFill>
                  <a:srgbClr val="FF7A7E"/>
                </a:solidFill>
                <a:latin typeface="Malgun Gothic" pitchFamily="34" charset="0"/>
                <a:ea typeface="Malgun Gothic" pitchFamily="34" charset="-122"/>
                <a:cs typeface="Malgun Gothic" pitchFamily="34" charset="-120"/>
              </a:rPr>
              <a:t>→ </a:t>
            </a:r>
            <a:r>
              <a:rPr lang="en-US" sz="900" b="1" dirty="0">
                <a:solidFill>
                  <a:srgbClr val="FFFFFF"/>
                </a:solidFill>
                <a:latin typeface="Malgun Gothic" pitchFamily="34" charset="0"/>
                <a:ea typeface="Malgun Gothic" pitchFamily="34" charset="-122"/>
                <a:cs typeface="Malgun Gothic" pitchFamily="34" charset="-120"/>
              </a:rPr>
              <a:t>건수 기준 · 지역 단위 재집계 · 방문자 통계 교차검증</a:t>
            </a:r>
            <a:endParaRPr lang="en-US" sz="900" dirty="0"/>
          </a:p>
        </p:txBody>
      </p:sp>
      <p:sp>
        <p:nvSpPr>
          <p:cNvPr id="47" name="Shape 43"/>
          <p:cNvSpPr/>
          <p:nvPr/>
        </p:nvSpPr>
        <p:spPr>
          <a:xfrm>
            <a:off x="6199632" y="1737360"/>
            <a:ext cx="2615184" cy="4297680"/>
          </a:xfrm>
          <a:prstGeom prst="roundRect">
            <a:avLst>
              <a:gd name="adj" fmla="val 4196"/>
            </a:avLst>
          </a:prstGeom>
          <a:solidFill>
            <a:srgbClr val="F3F6FB"/>
          </a:solidFill>
          <a:ln w="12700">
            <a:solidFill>
              <a:srgbClr val="F3F6FB"/>
            </a:solidFill>
            <a:prstDash val="solid"/>
          </a:ln>
        </p:spPr>
        <p:txBody>
          <a:bodyPr/>
          <a:lstStyle/>
          <a:p>
            <a:endParaRPr lang="ko-KR" altLang="en-US"/>
          </a:p>
        </p:txBody>
      </p:sp>
      <p:sp>
        <p:nvSpPr>
          <p:cNvPr id="48" name="Shape 44"/>
          <p:cNvSpPr/>
          <p:nvPr/>
        </p:nvSpPr>
        <p:spPr>
          <a:xfrm>
            <a:off x="6364224" y="1883664"/>
            <a:ext cx="420624" cy="420624"/>
          </a:xfrm>
          <a:prstGeom prst="ellipse">
            <a:avLst/>
          </a:prstGeom>
          <a:solidFill>
            <a:srgbClr val="0B1B33"/>
          </a:solidFill>
          <a:ln w="12700">
            <a:solidFill>
              <a:srgbClr val="0B1B33"/>
            </a:solidFill>
            <a:prstDash val="solid"/>
          </a:ln>
        </p:spPr>
        <p:txBody>
          <a:bodyPr/>
          <a:lstStyle/>
          <a:p>
            <a:endParaRPr lang="ko-KR" altLang="en-US"/>
          </a:p>
        </p:txBody>
      </p:sp>
      <p:pic>
        <p:nvPicPr>
          <p:cNvPr id="49" name="Image 2" descr="preencoded.png"/>
          <p:cNvPicPr>
            <a:picLocks noChangeAspect="1"/>
          </p:cNvPicPr>
          <p:nvPr/>
        </p:nvPicPr>
        <p:blipFill>
          <a:blip r:embed="rId5"/>
          <a:stretch>
            <a:fillRect/>
          </a:stretch>
        </p:blipFill>
        <p:spPr>
          <a:xfrm>
            <a:off x="6458864" y="1978304"/>
            <a:ext cx="231343" cy="231343"/>
          </a:xfrm>
          <a:prstGeom prst="rect">
            <a:avLst/>
          </a:prstGeom>
        </p:spPr>
      </p:pic>
      <p:sp>
        <p:nvSpPr>
          <p:cNvPr id="50" name="Text 45"/>
          <p:cNvSpPr txBox="1"/>
          <p:nvPr/>
        </p:nvSpPr>
        <p:spPr>
          <a:xfrm>
            <a:off x="6876288" y="1865376"/>
            <a:ext cx="1828800" cy="237744"/>
          </a:xfrm>
          <a:prstGeom prst="rect">
            <a:avLst/>
          </a:prstGeom>
          <a:noFill/>
          <a:ln/>
        </p:spPr>
        <p:txBody>
          <a:bodyPr wrap="square" lIns="0" tIns="0" rIns="0" bIns="0" rtlCol="0" anchor="ctr"/>
          <a:lstStyle/>
          <a:p>
            <a:pPr marL="0" indent="0">
              <a:buNone/>
            </a:pPr>
            <a:r>
              <a:rPr lang="en-US" sz="1350" b="1" dirty="0">
                <a:solidFill>
                  <a:srgbClr val="E8383D"/>
                </a:solidFill>
                <a:latin typeface="Malgun Gothic" pitchFamily="34" charset="0"/>
                <a:ea typeface="Malgun Gothic" pitchFamily="34" charset="-122"/>
                <a:cs typeface="Malgun Gothic" pitchFamily="34" charset="-120"/>
              </a:rPr>
              <a:t>3  </a:t>
            </a:r>
            <a:r>
              <a:rPr lang="en-US" sz="1350" b="1" dirty="0">
                <a:solidFill>
                  <a:srgbClr val="14213D"/>
                </a:solidFill>
                <a:latin typeface="Malgun Gothic" pitchFamily="34" charset="0"/>
                <a:ea typeface="Malgun Gothic" pitchFamily="34" charset="-122"/>
                <a:cs typeface="Malgun Gothic" pitchFamily="34" charset="-120"/>
              </a:rPr>
              <a:t>검증</a:t>
            </a:r>
            <a:endParaRPr lang="en-US" sz="1350" dirty="0"/>
          </a:p>
        </p:txBody>
      </p:sp>
      <p:sp>
        <p:nvSpPr>
          <p:cNvPr id="51" name="Text 46"/>
          <p:cNvSpPr txBox="1"/>
          <p:nvPr/>
        </p:nvSpPr>
        <p:spPr>
          <a:xfrm>
            <a:off x="6876288" y="2121408"/>
            <a:ext cx="1874520" cy="274320"/>
          </a:xfrm>
          <a:prstGeom prst="rect">
            <a:avLst/>
          </a:prstGeom>
          <a:noFill/>
          <a:ln/>
        </p:spPr>
        <p:txBody>
          <a:bodyPr wrap="square" lIns="0" tIns="0" rIns="0" bIns="0" rtlCol="0" anchor="t"/>
          <a:lstStyle/>
          <a:p>
            <a:pPr marL="0" indent="0">
              <a:lnSpc>
                <a:spcPct val="100000"/>
              </a:lnSpc>
              <a:buNone/>
            </a:pPr>
            <a:r>
              <a:rPr lang="en-US" sz="800" dirty="0">
                <a:solidFill>
                  <a:srgbClr val="64748B"/>
                </a:solidFill>
                <a:latin typeface="Malgun Gothic" pitchFamily="34" charset="0"/>
                <a:ea typeface="Malgun Gothic" pitchFamily="34" charset="-122"/>
                <a:cs typeface="Malgun Gothic" pitchFamily="34" charset="-120"/>
              </a:rPr>
              <a:t>신호 탐지 → 통계 → 외부 데이터</a:t>
            </a:r>
            <a:endParaRPr lang="en-US" sz="800" dirty="0"/>
          </a:p>
        </p:txBody>
      </p:sp>
      <p:sp>
        <p:nvSpPr>
          <p:cNvPr id="52" name="Shape 47"/>
          <p:cNvSpPr/>
          <p:nvPr/>
        </p:nvSpPr>
        <p:spPr>
          <a:xfrm>
            <a:off x="6336792" y="2487168"/>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53" name="Shape 48"/>
          <p:cNvSpPr/>
          <p:nvPr/>
        </p:nvSpPr>
        <p:spPr>
          <a:xfrm>
            <a:off x="6428232" y="2569464"/>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54" name="Text 49"/>
          <p:cNvSpPr txBox="1"/>
          <p:nvPr/>
        </p:nvSpPr>
        <p:spPr>
          <a:xfrm>
            <a:off x="6428232" y="2569464"/>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오탐</a:t>
            </a:r>
            <a:endParaRPr lang="en-US" sz="800" dirty="0"/>
          </a:p>
        </p:txBody>
      </p:sp>
      <p:sp>
        <p:nvSpPr>
          <p:cNvPr id="55" name="Text 50"/>
          <p:cNvSpPr txBox="1"/>
          <p:nvPr/>
        </p:nvSpPr>
        <p:spPr>
          <a:xfrm>
            <a:off x="6958584" y="2532888"/>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저베이스 반등·지역 축제가 신호처럼 보인다</a:t>
            </a:r>
            <a:endParaRPr lang="en-US" sz="850" dirty="0"/>
          </a:p>
        </p:txBody>
      </p:sp>
      <p:sp>
        <p:nvSpPr>
          <p:cNvPr id="56" name="Text 51"/>
          <p:cNvSpPr txBox="1"/>
          <p:nvPr/>
        </p:nvSpPr>
        <p:spPr>
          <a:xfrm>
            <a:off x="6428232" y="2871216"/>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육안 검수 + 축제월 제외 재계산</a:t>
            </a:r>
            <a:endParaRPr lang="en-US" sz="900" dirty="0"/>
          </a:p>
        </p:txBody>
      </p:sp>
      <p:sp>
        <p:nvSpPr>
          <p:cNvPr id="57" name="Shape 52"/>
          <p:cNvSpPr/>
          <p:nvPr/>
        </p:nvSpPr>
        <p:spPr>
          <a:xfrm>
            <a:off x="6336792" y="3364992"/>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58" name="Shape 53"/>
          <p:cNvSpPr/>
          <p:nvPr/>
        </p:nvSpPr>
        <p:spPr>
          <a:xfrm>
            <a:off x="6428232" y="3447288"/>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59" name="Text 54"/>
          <p:cNvSpPr txBox="1"/>
          <p:nvPr/>
        </p:nvSpPr>
        <p:spPr>
          <a:xfrm>
            <a:off x="6428232" y="3447288"/>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원인</a:t>
            </a:r>
            <a:endParaRPr lang="en-US" sz="800" dirty="0"/>
          </a:p>
        </p:txBody>
      </p:sp>
      <p:sp>
        <p:nvSpPr>
          <p:cNvPr id="60" name="Text 55"/>
          <p:cNvSpPr txBox="1"/>
          <p:nvPr/>
        </p:nvSpPr>
        <p:spPr>
          <a:xfrm>
            <a:off x="6958584" y="3410712"/>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급증의 원인이 관광객이 아니라 계절근로자라면?</a:t>
            </a:r>
            <a:endParaRPr lang="en-US" sz="850" dirty="0"/>
          </a:p>
        </p:txBody>
      </p:sp>
      <p:sp>
        <p:nvSpPr>
          <p:cNvPr id="61" name="Text 56"/>
          <p:cNvSpPr txBox="1"/>
          <p:nvPr/>
        </p:nvSpPr>
        <p:spPr>
          <a:xfrm>
            <a:off x="6428232" y="3749040"/>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뉴스로 원인을 확인해 Track A·B로 분류</a:t>
            </a:r>
            <a:endParaRPr lang="en-US" sz="900" dirty="0"/>
          </a:p>
        </p:txBody>
      </p:sp>
      <p:sp>
        <p:nvSpPr>
          <p:cNvPr id="62" name="Shape 57"/>
          <p:cNvSpPr/>
          <p:nvPr/>
        </p:nvSpPr>
        <p:spPr>
          <a:xfrm>
            <a:off x="6336792" y="4242816"/>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63" name="Shape 58"/>
          <p:cNvSpPr/>
          <p:nvPr/>
        </p:nvSpPr>
        <p:spPr>
          <a:xfrm>
            <a:off x="6428232" y="4325112"/>
            <a:ext cx="457200" cy="182880"/>
          </a:xfrm>
          <a:prstGeom prst="roundRect">
            <a:avLst>
              <a:gd name="adj" fmla="val 50000"/>
            </a:avLst>
          </a:prstGeom>
          <a:solidFill>
            <a:srgbClr val="FDECEC"/>
          </a:solidFill>
          <a:ln w="12700">
            <a:solidFill>
              <a:srgbClr val="FDECEC"/>
            </a:solidFill>
            <a:prstDash val="solid"/>
          </a:ln>
        </p:spPr>
        <p:txBody>
          <a:bodyPr/>
          <a:lstStyle/>
          <a:p>
            <a:endParaRPr lang="ko-KR" altLang="en-US"/>
          </a:p>
        </p:txBody>
      </p:sp>
      <p:sp>
        <p:nvSpPr>
          <p:cNvPr id="64" name="Text 59"/>
          <p:cNvSpPr txBox="1"/>
          <p:nvPr/>
        </p:nvSpPr>
        <p:spPr>
          <a:xfrm>
            <a:off x="6428232" y="4325112"/>
            <a:ext cx="457200" cy="182880"/>
          </a:xfrm>
          <a:prstGeom prst="rect">
            <a:avLst/>
          </a:prstGeom>
          <a:noFill/>
          <a:ln/>
        </p:spPr>
        <p:txBody>
          <a:bodyPr wrap="square" lIns="0" tIns="0" rIns="0" bIns="0" rtlCol="0" anchor="ctr"/>
          <a:lstStyle/>
          <a:p>
            <a:pPr marL="0" indent="0" algn="ctr">
              <a:buNone/>
            </a:pPr>
            <a:r>
              <a:rPr lang="en-US" sz="800" b="1" dirty="0">
                <a:solidFill>
                  <a:srgbClr val="B7232B"/>
                </a:solidFill>
                <a:latin typeface="Malgun Gothic" pitchFamily="34" charset="0"/>
                <a:ea typeface="Malgun Gothic" pitchFamily="34" charset="-122"/>
                <a:cs typeface="Malgun Gothic" pitchFamily="34" charset="-120"/>
              </a:rPr>
              <a:t>지속</a:t>
            </a:r>
            <a:endParaRPr lang="en-US" sz="800" dirty="0"/>
          </a:p>
        </p:txBody>
      </p:sp>
      <p:sp>
        <p:nvSpPr>
          <p:cNvPr id="65" name="Text 60"/>
          <p:cNvSpPr txBox="1"/>
          <p:nvPr/>
        </p:nvSpPr>
        <p:spPr>
          <a:xfrm>
            <a:off x="6958584" y="4288536"/>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후보를 전체 기간 신호로 골랐다면?</a:t>
            </a:r>
            <a:endParaRPr lang="en-US" sz="850" dirty="0"/>
          </a:p>
        </p:txBody>
      </p:sp>
      <p:sp>
        <p:nvSpPr>
          <p:cNvPr id="66" name="Text 61"/>
          <p:cNvSpPr txBox="1"/>
          <p:nvPr/>
        </p:nvSpPr>
        <p:spPr>
          <a:xfrm>
            <a:off x="6428232" y="4626864"/>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전국 재검증 — 성장률이 아닌 ‘수준’ 기준</a:t>
            </a:r>
            <a:endParaRPr lang="en-US" sz="900" dirty="0"/>
          </a:p>
        </p:txBody>
      </p:sp>
      <p:sp>
        <p:nvSpPr>
          <p:cNvPr id="67" name="Shape 62"/>
          <p:cNvSpPr/>
          <p:nvPr/>
        </p:nvSpPr>
        <p:spPr>
          <a:xfrm>
            <a:off x="6336792" y="5285232"/>
            <a:ext cx="2340864" cy="640080"/>
          </a:xfrm>
          <a:prstGeom prst="roundRect">
            <a:avLst>
              <a:gd name="adj" fmla="val 11429"/>
            </a:avLst>
          </a:prstGeom>
          <a:solidFill>
            <a:srgbClr val="0B1B33"/>
          </a:solidFill>
          <a:ln w="12700">
            <a:solidFill>
              <a:srgbClr val="0B1B33"/>
            </a:solidFill>
            <a:prstDash val="solid"/>
          </a:ln>
        </p:spPr>
        <p:txBody>
          <a:bodyPr/>
          <a:lstStyle/>
          <a:p>
            <a:endParaRPr lang="ko-KR" altLang="en-US"/>
          </a:p>
        </p:txBody>
      </p:sp>
      <p:sp>
        <p:nvSpPr>
          <p:cNvPr id="68" name="Text 63"/>
          <p:cNvSpPr txBox="1"/>
          <p:nvPr/>
        </p:nvSpPr>
        <p:spPr>
          <a:xfrm>
            <a:off x="6446520" y="5285232"/>
            <a:ext cx="2121408" cy="640080"/>
          </a:xfrm>
          <a:prstGeom prst="rect">
            <a:avLst/>
          </a:prstGeom>
          <a:noFill/>
          <a:ln/>
        </p:spPr>
        <p:txBody>
          <a:bodyPr wrap="square" lIns="0" tIns="0" rIns="0" bIns="0" rtlCol="0" anchor="ctr"/>
          <a:lstStyle/>
          <a:p>
            <a:pPr marL="0" indent="0">
              <a:lnSpc>
                <a:spcPct val="105000"/>
              </a:lnSpc>
              <a:buNone/>
            </a:pPr>
            <a:r>
              <a:rPr lang="en-US" sz="900" b="1" dirty="0">
                <a:solidFill>
                  <a:srgbClr val="FF7A7E"/>
                </a:solidFill>
                <a:latin typeface="Malgun Gothic" pitchFamily="34" charset="0"/>
                <a:ea typeface="Malgun Gothic" pitchFamily="34" charset="-122"/>
                <a:cs typeface="Malgun Gothic" pitchFamily="34" charset="-120"/>
              </a:rPr>
              <a:t>→ </a:t>
            </a:r>
            <a:r>
              <a:rPr lang="en-US" sz="900" b="1" dirty="0">
                <a:solidFill>
                  <a:srgbClr val="FFFFFF"/>
                </a:solidFill>
                <a:latin typeface="Malgun Gothic" pitchFamily="34" charset="0"/>
                <a:ea typeface="Malgun Gothic" pitchFamily="34" charset="-122"/>
                <a:cs typeface="Malgun Gothic" pitchFamily="34" charset="-120"/>
              </a:rPr>
              <a:t>H2 채택 · H1·H3 조건부 채택 · 후보 8곳 원인 분류</a:t>
            </a:r>
            <a:endParaRPr lang="en-US" sz="900" dirty="0"/>
          </a:p>
        </p:txBody>
      </p:sp>
      <p:sp>
        <p:nvSpPr>
          <p:cNvPr id="69" name="Shape 64"/>
          <p:cNvSpPr/>
          <p:nvPr/>
        </p:nvSpPr>
        <p:spPr>
          <a:xfrm>
            <a:off x="9025128" y="1737360"/>
            <a:ext cx="2615184" cy="4297680"/>
          </a:xfrm>
          <a:prstGeom prst="roundRect">
            <a:avLst>
              <a:gd name="adj" fmla="val 4196"/>
            </a:avLst>
          </a:prstGeom>
          <a:solidFill>
            <a:srgbClr val="F3F6FB"/>
          </a:solidFill>
          <a:ln w="12700">
            <a:solidFill>
              <a:srgbClr val="F3F6FB"/>
            </a:solidFill>
            <a:prstDash val="solid"/>
          </a:ln>
        </p:spPr>
        <p:txBody>
          <a:bodyPr/>
          <a:lstStyle/>
          <a:p>
            <a:endParaRPr lang="ko-KR" altLang="en-US"/>
          </a:p>
        </p:txBody>
      </p:sp>
      <p:sp>
        <p:nvSpPr>
          <p:cNvPr id="70" name="Shape 65"/>
          <p:cNvSpPr/>
          <p:nvPr/>
        </p:nvSpPr>
        <p:spPr>
          <a:xfrm>
            <a:off x="9189720" y="1883664"/>
            <a:ext cx="420624" cy="420624"/>
          </a:xfrm>
          <a:prstGeom prst="ellipse">
            <a:avLst/>
          </a:prstGeom>
          <a:solidFill>
            <a:srgbClr val="E8383D"/>
          </a:solidFill>
          <a:ln w="12700">
            <a:solidFill>
              <a:srgbClr val="E8383D"/>
            </a:solidFill>
            <a:prstDash val="solid"/>
          </a:ln>
        </p:spPr>
        <p:txBody>
          <a:bodyPr/>
          <a:lstStyle/>
          <a:p>
            <a:endParaRPr lang="ko-KR" altLang="en-US"/>
          </a:p>
        </p:txBody>
      </p:sp>
      <p:pic>
        <p:nvPicPr>
          <p:cNvPr id="71" name="Image 3" descr="preencoded.png"/>
          <p:cNvPicPr>
            <a:picLocks noChangeAspect="1"/>
          </p:cNvPicPr>
          <p:nvPr/>
        </p:nvPicPr>
        <p:blipFill>
          <a:blip r:embed="rId6"/>
          <a:stretch>
            <a:fillRect/>
          </a:stretch>
        </p:blipFill>
        <p:spPr>
          <a:xfrm>
            <a:off x="9284360" y="1978304"/>
            <a:ext cx="231343" cy="231343"/>
          </a:xfrm>
          <a:prstGeom prst="rect">
            <a:avLst/>
          </a:prstGeom>
        </p:spPr>
      </p:pic>
      <p:sp>
        <p:nvSpPr>
          <p:cNvPr id="72" name="Text 66"/>
          <p:cNvSpPr txBox="1"/>
          <p:nvPr/>
        </p:nvSpPr>
        <p:spPr>
          <a:xfrm>
            <a:off x="9701784" y="1865376"/>
            <a:ext cx="1828800" cy="237744"/>
          </a:xfrm>
          <a:prstGeom prst="rect">
            <a:avLst/>
          </a:prstGeom>
          <a:noFill/>
          <a:ln/>
        </p:spPr>
        <p:txBody>
          <a:bodyPr wrap="square" lIns="0" tIns="0" rIns="0" bIns="0" rtlCol="0" anchor="ctr"/>
          <a:lstStyle/>
          <a:p>
            <a:pPr marL="0" indent="0">
              <a:buNone/>
            </a:pPr>
            <a:r>
              <a:rPr lang="en-US" sz="1350" b="1" dirty="0">
                <a:solidFill>
                  <a:srgbClr val="E8383D"/>
                </a:solidFill>
                <a:latin typeface="Malgun Gothic" pitchFamily="34" charset="0"/>
                <a:ea typeface="Malgun Gothic" pitchFamily="34" charset="-122"/>
                <a:cs typeface="Malgun Gothic" pitchFamily="34" charset="-120"/>
              </a:rPr>
              <a:t>4  </a:t>
            </a:r>
            <a:r>
              <a:rPr lang="en-US" sz="1350" b="1" dirty="0">
                <a:solidFill>
                  <a:srgbClr val="14213D"/>
                </a:solidFill>
                <a:latin typeface="Malgun Gothic" pitchFamily="34" charset="0"/>
                <a:ea typeface="Malgun Gothic" pitchFamily="34" charset="-122"/>
                <a:cs typeface="Malgun Gothic" pitchFamily="34" charset="-120"/>
              </a:rPr>
              <a:t>개선안</a:t>
            </a:r>
            <a:endParaRPr lang="en-US" sz="1350" dirty="0"/>
          </a:p>
        </p:txBody>
      </p:sp>
      <p:sp>
        <p:nvSpPr>
          <p:cNvPr id="73" name="Text 67"/>
          <p:cNvSpPr txBox="1"/>
          <p:nvPr/>
        </p:nvSpPr>
        <p:spPr>
          <a:xfrm>
            <a:off x="9701784" y="2121408"/>
            <a:ext cx="1874520" cy="274320"/>
          </a:xfrm>
          <a:prstGeom prst="rect">
            <a:avLst/>
          </a:prstGeom>
          <a:noFill/>
          <a:ln/>
        </p:spPr>
        <p:txBody>
          <a:bodyPr wrap="square" lIns="0" tIns="0" rIns="0" bIns="0" rtlCol="0" anchor="t"/>
          <a:lstStyle/>
          <a:p>
            <a:pPr marL="0" indent="0">
              <a:lnSpc>
                <a:spcPct val="100000"/>
              </a:lnSpc>
              <a:buNone/>
            </a:pPr>
            <a:r>
              <a:rPr lang="en-US" sz="800" dirty="0">
                <a:solidFill>
                  <a:srgbClr val="64748B"/>
                </a:solidFill>
                <a:latin typeface="Malgun Gothic" pitchFamily="34" charset="0"/>
                <a:ea typeface="Malgun Gothic" pitchFamily="34" charset="-122"/>
                <a:cs typeface="Malgun Gothic" pitchFamily="34" charset="-120"/>
              </a:rPr>
              <a:t>주시 목록 → 알림 · 큐레이션 · 리워드</a:t>
            </a:r>
            <a:endParaRPr lang="en-US" sz="800" dirty="0"/>
          </a:p>
        </p:txBody>
      </p:sp>
      <p:sp>
        <p:nvSpPr>
          <p:cNvPr id="74" name="Shape 68"/>
          <p:cNvSpPr/>
          <p:nvPr/>
        </p:nvSpPr>
        <p:spPr>
          <a:xfrm>
            <a:off x="9162288" y="2487168"/>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75" name="Shape 69"/>
          <p:cNvSpPr/>
          <p:nvPr/>
        </p:nvSpPr>
        <p:spPr>
          <a:xfrm>
            <a:off x="9253728" y="2569464"/>
            <a:ext cx="457200" cy="182880"/>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76" name="Text 70"/>
          <p:cNvSpPr txBox="1"/>
          <p:nvPr/>
        </p:nvSpPr>
        <p:spPr>
          <a:xfrm>
            <a:off x="9253728" y="2569464"/>
            <a:ext cx="45720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한계</a:t>
            </a:r>
            <a:endParaRPr lang="en-US" sz="800" dirty="0"/>
          </a:p>
        </p:txBody>
      </p:sp>
      <p:sp>
        <p:nvSpPr>
          <p:cNvPr id="77" name="Text 71"/>
          <p:cNvSpPr txBox="1"/>
          <p:nvPr/>
        </p:nvSpPr>
        <p:spPr>
          <a:xfrm>
            <a:off x="9784080" y="2532888"/>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GENDER_CD=3이 관광객과 노동자를 가르지 못한다</a:t>
            </a:r>
            <a:endParaRPr lang="en-US" sz="850" dirty="0"/>
          </a:p>
        </p:txBody>
      </p:sp>
      <p:sp>
        <p:nvSpPr>
          <p:cNvPr id="78" name="Text 72"/>
          <p:cNvSpPr txBox="1"/>
          <p:nvPr/>
        </p:nvSpPr>
        <p:spPr>
          <a:xfrm>
            <a:off x="9253728" y="2871216"/>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한계가 아니라 BC카드 데이터 개선 제안으로</a:t>
            </a:r>
            <a:endParaRPr lang="en-US" sz="900" dirty="0"/>
          </a:p>
        </p:txBody>
      </p:sp>
      <p:sp>
        <p:nvSpPr>
          <p:cNvPr id="79" name="Shape 73"/>
          <p:cNvSpPr/>
          <p:nvPr/>
        </p:nvSpPr>
        <p:spPr>
          <a:xfrm>
            <a:off x="9162288" y="3364992"/>
            <a:ext cx="2340864" cy="804672"/>
          </a:xfrm>
          <a:prstGeom prst="roundRect">
            <a:avLst>
              <a:gd name="adj" fmla="val 9091"/>
            </a:avLst>
          </a:prstGeom>
          <a:solidFill>
            <a:srgbClr val="FFFFFF"/>
          </a:solidFill>
          <a:ln w="9525">
            <a:solidFill>
              <a:srgbClr val="D9E0EA"/>
            </a:solidFill>
            <a:prstDash val="solid"/>
          </a:ln>
        </p:spPr>
        <p:txBody>
          <a:bodyPr/>
          <a:lstStyle/>
          <a:p>
            <a:endParaRPr lang="ko-KR" altLang="en-US"/>
          </a:p>
        </p:txBody>
      </p:sp>
      <p:sp>
        <p:nvSpPr>
          <p:cNvPr id="80" name="Shape 74"/>
          <p:cNvSpPr/>
          <p:nvPr/>
        </p:nvSpPr>
        <p:spPr>
          <a:xfrm>
            <a:off x="9253728" y="3447288"/>
            <a:ext cx="457200" cy="182880"/>
          </a:xfrm>
          <a:prstGeom prst="roundRect">
            <a:avLst>
              <a:gd name="adj" fmla="val 50000"/>
            </a:avLst>
          </a:prstGeom>
          <a:solidFill>
            <a:srgbClr val="E8383D"/>
          </a:solidFill>
          <a:ln w="12700">
            <a:solidFill>
              <a:srgbClr val="E8383D"/>
            </a:solidFill>
            <a:prstDash val="solid"/>
          </a:ln>
        </p:spPr>
        <p:txBody>
          <a:bodyPr/>
          <a:lstStyle/>
          <a:p>
            <a:endParaRPr lang="ko-KR" altLang="en-US"/>
          </a:p>
        </p:txBody>
      </p:sp>
      <p:sp>
        <p:nvSpPr>
          <p:cNvPr id="81" name="Text 75"/>
          <p:cNvSpPr txBox="1"/>
          <p:nvPr/>
        </p:nvSpPr>
        <p:spPr>
          <a:xfrm>
            <a:off x="9253728" y="3447288"/>
            <a:ext cx="45720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Malgun Gothic" pitchFamily="34" charset="0"/>
                <a:ea typeface="Malgun Gothic" pitchFamily="34" charset="-122"/>
                <a:cs typeface="Malgun Gothic" pitchFamily="34" charset="-120"/>
              </a:rPr>
              <a:t>차별</a:t>
            </a:r>
            <a:endParaRPr lang="en-US" sz="800" dirty="0"/>
          </a:p>
        </p:txBody>
      </p:sp>
      <p:sp>
        <p:nvSpPr>
          <p:cNvPr id="82" name="Text 76"/>
          <p:cNvSpPr txBox="1"/>
          <p:nvPr/>
        </p:nvSpPr>
        <p:spPr>
          <a:xfrm>
            <a:off x="9784080" y="3410712"/>
            <a:ext cx="1627632" cy="310896"/>
          </a:xfrm>
          <a:prstGeom prst="rect">
            <a:avLst/>
          </a:prstGeom>
          <a:noFill/>
          <a:ln/>
        </p:spPr>
        <p:txBody>
          <a:bodyPr wrap="square" lIns="0" tIns="0" rIns="0" bIns="0" rtlCol="0" anchor="ctr"/>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외국인 전용 결제 카드는 와우패스가 자리 잡았다</a:t>
            </a:r>
            <a:endParaRPr lang="en-US" sz="850" dirty="0"/>
          </a:p>
        </p:txBody>
      </p:sp>
      <p:sp>
        <p:nvSpPr>
          <p:cNvPr id="83" name="Text 77"/>
          <p:cNvSpPr txBox="1"/>
          <p:nvPr/>
        </p:nvSpPr>
        <p:spPr>
          <a:xfrm>
            <a:off x="9253728" y="3749040"/>
            <a:ext cx="2157984" cy="365760"/>
          </a:xfrm>
          <a:prstGeom prst="rect">
            <a:avLst/>
          </a:prstGeom>
          <a:noFill/>
          <a:ln/>
        </p:spPr>
        <p:txBody>
          <a:bodyPr wrap="square" lIns="0" tIns="0" rIns="0" bIns="0" rtlCol="0" anchor="t"/>
          <a:lstStyle/>
          <a:p>
            <a:pPr marL="0" indent="0">
              <a:lnSpc>
                <a:spcPct val="105000"/>
              </a:lnSpc>
              <a:buNone/>
            </a:pPr>
            <a:r>
              <a:rPr lang="en-US" sz="900" b="1" dirty="0">
                <a:solidFill>
                  <a:srgbClr val="E8383D"/>
                </a:solidFill>
                <a:latin typeface="Malgun Gothic" pitchFamily="34" charset="0"/>
                <a:ea typeface="Malgun Gothic" pitchFamily="34" charset="-122"/>
                <a:cs typeface="Malgun Gothic" pitchFamily="34" charset="-120"/>
              </a:rPr>
              <a:t>→ </a:t>
            </a:r>
            <a:r>
              <a:rPr lang="en-US" sz="900" b="1" dirty="0">
                <a:solidFill>
                  <a:srgbClr val="14213D"/>
                </a:solidFill>
                <a:latin typeface="Malgun Gothic" pitchFamily="34" charset="0"/>
                <a:ea typeface="Malgun Gothic" pitchFamily="34" charset="-122"/>
                <a:cs typeface="Malgun Gothic" pitchFamily="34" charset="-120"/>
              </a:rPr>
              <a:t>새 카드 대신 협약 인프라 위 서비스 레이어로</a:t>
            </a:r>
            <a:endParaRPr lang="en-US" sz="900" dirty="0"/>
          </a:p>
        </p:txBody>
      </p:sp>
      <p:sp>
        <p:nvSpPr>
          <p:cNvPr id="84" name="Text 78"/>
          <p:cNvSpPr txBox="1"/>
          <p:nvPr/>
        </p:nvSpPr>
        <p:spPr>
          <a:xfrm>
            <a:off x="9208008" y="4334256"/>
            <a:ext cx="2249424" cy="502920"/>
          </a:xfrm>
          <a:prstGeom prst="rect">
            <a:avLst/>
          </a:prstGeom>
          <a:noFill/>
          <a:ln/>
        </p:spPr>
        <p:txBody>
          <a:bodyPr wrap="square" lIns="0" tIns="0" rIns="0" bIns="0" rtlCol="0" anchor="b"/>
          <a:lstStyle/>
          <a:p>
            <a:pPr marL="0" indent="0">
              <a:buNone/>
            </a:pPr>
            <a:r>
              <a:rPr lang="en-US" sz="2800" b="1" dirty="0">
                <a:solidFill>
                  <a:srgbClr val="E8383D"/>
                </a:solidFill>
                <a:latin typeface="Malgun Gothic" pitchFamily="34" charset="0"/>
                <a:ea typeface="Malgun Gothic" pitchFamily="34" charset="-122"/>
                <a:cs typeface="Malgun Gothic" pitchFamily="34" charset="-120"/>
              </a:rPr>
              <a:t>+58.2%</a:t>
            </a:r>
            <a:endParaRPr lang="en-US" sz="2800" dirty="0"/>
          </a:p>
        </p:txBody>
      </p:sp>
      <p:sp>
        <p:nvSpPr>
          <p:cNvPr id="85" name="Text 79"/>
          <p:cNvSpPr txBox="1"/>
          <p:nvPr/>
        </p:nvSpPr>
        <p:spPr>
          <a:xfrm>
            <a:off x="9208008" y="4864608"/>
            <a:ext cx="2249424" cy="365760"/>
          </a:xfrm>
          <a:prstGeom prst="rect">
            <a:avLst/>
          </a:prstGeom>
          <a:noFill/>
          <a:ln/>
        </p:spPr>
        <p:txBody>
          <a:bodyPr wrap="square" lIns="0" tIns="0" rIns="0" bIns="0" rtlCol="0" anchor="t"/>
          <a:lstStyle/>
          <a:p>
            <a:pPr marL="0" indent="0">
              <a:lnSpc>
                <a:spcPct val="105000"/>
              </a:lnSpc>
              <a:buNone/>
            </a:pPr>
            <a:r>
              <a:rPr lang="en-US" sz="900" dirty="0">
                <a:solidFill>
                  <a:srgbClr val="64748B"/>
                </a:solidFill>
                <a:latin typeface="Malgun Gothic" pitchFamily="34" charset="0"/>
                <a:ea typeface="Malgun Gothic" pitchFamily="34" charset="-122"/>
                <a:cs typeface="Malgun Gothic" pitchFamily="34" charset="-120"/>
              </a:rPr>
              <a:t>후보 8곳 외국인 소비 6개월 성장</a:t>
            </a:r>
            <a:endParaRPr lang="en-US" sz="900" dirty="0"/>
          </a:p>
          <a:p>
            <a:pPr marL="0" indent="0">
              <a:lnSpc>
                <a:spcPct val="105000"/>
              </a:lnSpc>
              <a:buNone/>
            </a:pPr>
            <a:r>
              <a:rPr lang="en-US" sz="900" dirty="0">
                <a:solidFill>
                  <a:srgbClr val="64748B"/>
                </a:solidFill>
                <a:latin typeface="Malgun Gothic" pitchFamily="34" charset="0"/>
                <a:ea typeface="Malgun Gothic" pitchFamily="34" charset="-122"/>
                <a:cs typeface="Malgun Gothic" pitchFamily="34" charset="-120"/>
              </a:rPr>
              <a:t>(전국 +3.3% · 고성장 지역 선별)</a:t>
            </a:r>
            <a:endParaRPr lang="en-US" sz="900" dirty="0"/>
          </a:p>
        </p:txBody>
      </p:sp>
      <p:sp>
        <p:nvSpPr>
          <p:cNvPr id="86" name="Shape 80"/>
          <p:cNvSpPr/>
          <p:nvPr/>
        </p:nvSpPr>
        <p:spPr>
          <a:xfrm>
            <a:off x="9162288" y="5285232"/>
            <a:ext cx="2340864" cy="640080"/>
          </a:xfrm>
          <a:prstGeom prst="roundRect">
            <a:avLst>
              <a:gd name="adj" fmla="val 11429"/>
            </a:avLst>
          </a:prstGeom>
          <a:solidFill>
            <a:srgbClr val="0B1B33"/>
          </a:solidFill>
          <a:ln w="12700">
            <a:solidFill>
              <a:srgbClr val="0B1B33"/>
            </a:solidFill>
            <a:prstDash val="solid"/>
          </a:ln>
        </p:spPr>
        <p:txBody>
          <a:bodyPr/>
          <a:lstStyle/>
          <a:p>
            <a:endParaRPr lang="ko-KR" altLang="en-US"/>
          </a:p>
        </p:txBody>
      </p:sp>
      <p:sp>
        <p:nvSpPr>
          <p:cNvPr id="87" name="Text 81"/>
          <p:cNvSpPr txBox="1"/>
          <p:nvPr/>
        </p:nvSpPr>
        <p:spPr>
          <a:xfrm>
            <a:off x="9272016" y="5285232"/>
            <a:ext cx="2121408" cy="640080"/>
          </a:xfrm>
          <a:prstGeom prst="rect">
            <a:avLst/>
          </a:prstGeom>
          <a:noFill/>
          <a:ln/>
        </p:spPr>
        <p:txBody>
          <a:bodyPr wrap="square" lIns="0" tIns="0" rIns="0" bIns="0" rtlCol="0" anchor="ctr"/>
          <a:lstStyle/>
          <a:p>
            <a:pPr marL="0" indent="0">
              <a:lnSpc>
                <a:spcPct val="105000"/>
              </a:lnSpc>
              <a:buNone/>
            </a:pPr>
            <a:r>
              <a:rPr lang="en-US" sz="900" b="1" dirty="0">
                <a:solidFill>
                  <a:srgbClr val="FF7A7E"/>
                </a:solidFill>
                <a:latin typeface="Malgun Gothic" pitchFamily="34" charset="0"/>
                <a:ea typeface="Malgun Gothic" pitchFamily="34" charset="-122"/>
                <a:cs typeface="Malgun Gothic" pitchFamily="34" charset="-120"/>
              </a:rPr>
              <a:t>→ </a:t>
            </a:r>
            <a:r>
              <a:rPr lang="en-US" sz="900" b="1" dirty="0">
                <a:solidFill>
                  <a:srgbClr val="FFFFFF"/>
                </a:solidFill>
                <a:latin typeface="Malgun Gothic" pitchFamily="34" charset="0"/>
                <a:ea typeface="Malgun Gothic" pitchFamily="34" charset="-122"/>
                <a:cs typeface="Malgun Gothic" pitchFamily="34" charset="-120"/>
              </a:rPr>
              <a:t>주시 목록 + 조기 알림 · 큐레이션 · 첫 결제 리워드</a:t>
            </a:r>
            <a:endParaRPr lang="en-US" sz="900" dirty="0"/>
          </a:p>
        </p:txBody>
      </p:sp>
      <p:sp>
        <p:nvSpPr>
          <p:cNvPr id="88" name="Shape 82"/>
          <p:cNvSpPr/>
          <p:nvPr/>
        </p:nvSpPr>
        <p:spPr>
          <a:xfrm>
            <a:off x="3104388" y="2002536"/>
            <a:ext cx="329184" cy="329184"/>
          </a:xfrm>
          <a:prstGeom prst="ellipse">
            <a:avLst/>
          </a:prstGeom>
          <a:solidFill>
            <a:srgbClr val="FFFFFF"/>
          </a:solidFill>
          <a:ln w="12700">
            <a:solidFill>
              <a:srgbClr val="D9E0EA"/>
            </a:solidFill>
            <a:prstDash val="solid"/>
          </a:ln>
        </p:spPr>
        <p:txBody>
          <a:bodyPr/>
          <a:lstStyle/>
          <a:p>
            <a:endParaRPr lang="ko-KR" altLang="en-US"/>
          </a:p>
        </p:txBody>
      </p:sp>
      <p:pic>
        <p:nvPicPr>
          <p:cNvPr id="89" name="Image 4" descr="preencoded.png"/>
          <p:cNvPicPr>
            <a:picLocks noChangeAspect="1"/>
          </p:cNvPicPr>
          <p:nvPr/>
        </p:nvPicPr>
        <p:blipFill>
          <a:blip r:embed="rId7"/>
          <a:stretch>
            <a:fillRect/>
          </a:stretch>
        </p:blipFill>
        <p:spPr>
          <a:xfrm>
            <a:off x="3177540" y="2075688"/>
            <a:ext cx="182880" cy="182880"/>
          </a:xfrm>
          <a:prstGeom prst="rect">
            <a:avLst/>
          </a:prstGeom>
        </p:spPr>
      </p:pic>
      <p:sp>
        <p:nvSpPr>
          <p:cNvPr id="90" name="Shape 83"/>
          <p:cNvSpPr/>
          <p:nvPr/>
        </p:nvSpPr>
        <p:spPr>
          <a:xfrm>
            <a:off x="5929884" y="2002536"/>
            <a:ext cx="329184" cy="329184"/>
          </a:xfrm>
          <a:prstGeom prst="ellipse">
            <a:avLst/>
          </a:prstGeom>
          <a:solidFill>
            <a:srgbClr val="FFFFFF"/>
          </a:solidFill>
          <a:ln w="12700">
            <a:solidFill>
              <a:srgbClr val="D9E0EA"/>
            </a:solidFill>
            <a:prstDash val="solid"/>
          </a:ln>
        </p:spPr>
        <p:txBody>
          <a:bodyPr/>
          <a:lstStyle/>
          <a:p>
            <a:endParaRPr lang="ko-KR" altLang="en-US"/>
          </a:p>
        </p:txBody>
      </p:sp>
      <p:pic>
        <p:nvPicPr>
          <p:cNvPr id="91" name="Image 5" descr="preencoded.png"/>
          <p:cNvPicPr>
            <a:picLocks noChangeAspect="1"/>
          </p:cNvPicPr>
          <p:nvPr/>
        </p:nvPicPr>
        <p:blipFill>
          <a:blip r:embed="rId7"/>
          <a:stretch>
            <a:fillRect/>
          </a:stretch>
        </p:blipFill>
        <p:spPr>
          <a:xfrm>
            <a:off x="6003036" y="2075688"/>
            <a:ext cx="182880" cy="182880"/>
          </a:xfrm>
          <a:prstGeom prst="rect">
            <a:avLst/>
          </a:prstGeom>
        </p:spPr>
      </p:pic>
      <p:sp>
        <p:nvSpPr>
          <p:cNvPr id="92" name="Shape 84"/>
          <p:cNvSpPr/>
          <p:nvPr/>
        </p:nvSpPr>
        <p:spPr>
          <a:xfrm>
            <a:off x="8755380" y="2002536"/>
            <a:ext cx="329184" cy="329184"/>
          </a:xfrm>
          <a:prstGeom prst="ellipse">
            <a:avLst/>
          </a:prstGeom>
          <a:solidFill>
            <a:srgbClr val="FFFFFF"/>
          </a:solidFill>
          <a:ln w="12700">
            <a:solidFill>
              <a:srgbClr val="D9E0EA"/>
            </a:solidFill>
            <a:prstDash val="solid"/>
          </a:ln>
        </p:spPr>
        <p:txBody>
          <a:bodyPr/>
          <a:lstStyle/>
          <a:p>
            <a:endParaRPr lang="ko-KR" altLang="en-US"/>
          </a:p>
        </p:txBody>
      </p:sp>
      <p:pic>
        <p:nvPicPr>
          <p:cNvPr id="93" name="Image 6" descr="preencoded.png"/>
          <p:cNvPicPr>
            <a:picLocks noChangeAspect="1"/>
          </p:cNvPicPr>
          <p:nvPr/>
        </p:nvPicPr>
        <p:blipFill>
          <a:blip r:embed="rId7"/>
          <a:stretch>
            <a:fillRect/>
          </a:stretch>
        </p:blipFill>
        <p:spPr>
          <a:xfrm>
            <a:off x="8828532" y="2075688"/>
            <a:ext cx="182880" cy="182880"/>
          </a:xfrm>
          <a:prstGeom prst="rect">
            <a:avLst/>
          </a:prstGeom>
        </p:spPr>
      </p:pic>
      <p:sp>
        <p:nvSpPr>
          <p:cNvPr id="94" name="Text 85"/>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각 칸은 “무엇을 묻고(회색) → 어떻게 정했는가(굵게)”의 쌍이다. 시행착오와 방향 전환의 기록은 부록 A3~A5(39~41쪽)에 있다.</a:t>
            </a:r>
            <a:endParaRPr lang="en-US" sz="900" dirty="0"/>
          </a:p>
        </p:txBody>
      </p:sp>
      <p:sp>
        <p:nvSpPr>
          <p:cNvPr id="95" name="Text 8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96" name="Text 8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34 / 42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12274A"/>
          </a:solidFill>
          <a:ln w="12700">
            <a:solidFill>
              <a:srgbClr val="12274A"/>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08  </a:t>
            </a:r>
            <a:r>
              <a:rPr lang="en-US" sz="1150" b="1" dirty="0">
                <a:solidFill>
                  <a:srgbClr val="A9B8D0"/>
                </a:solidFill>
                <a:latin typeface="Malgun Gothic" pitchFamily="34" charset="0"/>
                <a:ea typeface="Malgun Gothic" pitchFamily="34" charset="-122"/>
                <a:cs typeface="Malgun Gothic" pitchFamily="34" charset="-120"/>
              </a:rPr>
              <a:t>결론</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FFFFFF"/>
                </a:solidFill>
                <a:latin typeface="Malgun Gothic" pitchFamily="34" charset="0"/>
                <a:ea typeface="Malgun Gothic" pitchFamily="34" charset="-122"/>
                <a:cs typeface="Malgun Gothic" pitchFamily="34" charset="-120"/>
              </a:rPr>
              <a:t>이 자료가 답한 것, 아직 답하지 못한 것, 그리고 BC카드에 하는 제안</a:t>
            </a:r>
            <a:endParaRPr lang="en-US" sz="2400" dirty="0"/>
          </a:p>
        </p:txBody>
      </p:sp>
      <p:sp>
        <p:nvSpPr>
          <p:cNvPr id="6" name="Shape 4"/>
          <p:cNvSpPr/>
          <p:nvPr/>
        </p:nvSpPr>
        <p:spPr>
          <a:xfrm>
            <a:off x="548640" y="1737360"/>
            <a:ext cx="3520440" cy="3200400"/>
          </a:xfrm>
          <a:prstGeom prst="roundRect">
            <a:avLst>
              <a:gd name="adj" fmla="val 3429"/>
            </a:avLst>
          </a:prstGeom>
          <a:solidFill>
            <a:srgbClr val="12274A"/>
          </a:solidFill>
          <a:ln w="12700">
            <a:solidFill>
              <a:srgbClr val="12274A"/>
            </a:solidFill>
            <a:prstDash val="solid"/>
          </a:ln>
        </p:spPr>
        <p:txBody>
          <a:bodyPr/>
          <a:lstStyle/>
          <a:p>
            <a:endParaRPr lang="ko-KR" altLang="en-US"/>
          </a:p>
        </p:txBody>
      </p:sp>
      <p:sp>
        <p:nvSpPr>
          <p:cNvPr id="7" name="Shape 5"/>
          <p:cNvSpPr/>
          <p:nvPr/>
        </p:nvSpPr>
        <p:spPr>
          <a:xfrm>
            <a:off x="749808" y="1920240"/>
            <a:ext cx="384048" cy="384048"/>
          </a:xfrm>
          <a:prstGeom prst="ellipse">
            <a:avLst/>
          </a:prstGeom>
          <a:solidFill>
            <a:srgbClr val="12A594"/>
          </a:solidFill>
          <a:ln w="12700">
            <a:solidFill>
              <a:srgbClr val="12A594"/>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836219" y="2006651"/>
            <a:ext cx="211226" cy="211226"/>
          </a:xfrm>
          <a:prstGeom prst="rect">
            <a:avLst/>
          </a:prstGeom>
        </p:spPr>
      </p:pic>
      <p:sp>
        <p:nvSpPr>
          <p:cNvPr id="9" name="Text 6"/>
          <p:cNvSpPr txBox="1"/>
          <p:nvPr/>
        </p:nvSpPr>
        <p:spPr>
          <a:xfrm>
            <a:off x="1261872" y="1920240"/>
            <a:ext cx="2651760" cy="38404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조건부로 말할 수 있는 것</a:t>
            </a:r>
            <a:endParaRPr lang="en-US" sz="1300" dirty="0"/>
          </a:p>
        </p:txBody>
      </p:sp>
      <p:sp>
        <p:nvSpPr>
          <p:cNvPr id="10" name="Shape 7"/>
          <p:cNvSpPr/>
          <p:nvPr/>
        </p:nvSpPr>
        <p:spPr>
          <a:xfrm>
            <a:off x="749808" y="2542032"/>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11" name="Text 8"/>
          <p:cNvSpPr txBox="1"/>
          <p:nvPr/>
        </p:nvSpPr>
        <p:spPr>
          <a:xfrm>
            <a:off x="749808" y="2542032"/>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H2</a:t>
            </a:r>
            <a:endParaRPr lang="en-US" sz="850" dirty="0"/>
          </a:p>
        </p:txBody>
      </p:sp>
      <p:sp>
        <p:nvSpPr>
          <p:cNvPr id="12" name="Text 9"/>
          <p:cNvSpPr txBox="1"/>
          <p:nvPr/>
        </p:nvSpPr>
        <p:spPr>
          <a:xfrm>
            <a:off x="1417320" y="2514600"/>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고신호 지역은 소규모 지방에 있다 — 후보 8곳 +17.5%p vs 유명 관광지 +0.9%p, 규모 비슷한 63곳 +4.6%p</a:t>
            </a:r>
            <a:endParaRPr lang="en-US" sz="1050" dirty="0"/>
          </a:p>
        </p:txBody>
      </p:sp>
      <p:sp>
        <p:nvSpPr>
          <p:cNvPr id="13" name="Shape 10"/>
          <p:cNvSpPr/>
          <p:nvPr/>
        </p:nvSpPr>
        <p:spPr>
          <a:xfrm>
            <a:off x="749808" y="3328416"/>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14" name="Text 11"/>
          <p:cNvSpPr txBox="1"/>
          <p:nvPr/>
        </p:nvSpPr>
        <p:spPr>
          <a:xfrm>
            <a:off x="749808" y="3328416"/>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H1</a:t>
            </a:r>
            <a:endParaRPr lang="en-US" sz="850" dirty="0"/>
          </a:p>
        </p:txBody>
      </p:sp>
      <p:sp>
        <p:nvSpPr>
          <p:cNvPr id="15" name="Text 12"/>
          <p:cNvSpPr txBox="1"/>
          <p:nvPr/>
        </p:nvSpPr>
        <p:spPr>
          <a:xfrm>
            <a:off x="1417320" y="3300984"/>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카드 초과성장은 방문자 증가보다 약 1개월 늦게 정점을 찍는 경향이 있다 (8곳 중 6곳)</a:t>
            </a:r>
            <a:endParaRPr lang="en-US" sz="1050" dirty="0"/>
          </a:p>
        </p:txBody>
      </p:sp>
      <p:sp>
        <p:nvSpPr>
          <p:cNvPr id="16" name="Shape 13"/>
          <p:cNvSpPr/>
          <p:nvPr/>
        </p:nvSpPr>
        <p:spPr>
          <a:xfrm>
            <a:off x="749808" y="4114800"/>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17" name="Text 14"/>
          <p:cNvSpPr txBox="1"/>
          <p:nvPr/>
        </p:nvSpPr>
        <p:spPr>
          <a:xfrm>
            <a:off x="749808" y="4114800"/>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H3</a:t>
            </a:r>
            <a:endParaRPr lang="en-US" sz="850" dirty="0"/>
          </a:p>
        </p:txBody>
      </p:sp>
      <p:sp>
        <p:nvSpPr>
          <p:cNvPr id="18" name="Text 15"/>
          <p:cNvSpPr txBox="1"/>
          <p:nvPr/>
        </p:nvSpPr>
        <p:spPr>
          <a:xfrm>
            <a:off x="1417320" y="4087368"/>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전국 재검증 결과, 올라간 ‘수준’은 이어지지만 성장률은 이어지지 않는다</a:t>
            </a:r>
            <a:endParaRPr lang="en-US" sz="1050" dirty="0"/>
          </a:p>
        </p:txBody>
      </p:sp>
      <p:sp>
        <p:nvSpPr>
          <p:cNvPr id="19" name="Shape 16"/>
          <p:cNvSpPr/>
          <p:nvPr/>
        </p:nvSpPr>
        <p:spPr>
          <a:xfrm>
            <a:off x="4334256" y="1737360"/>
            <a:ext cx="3520440" cy="3200400"/>
          </a:xfrm>
          <a:prstGeom prst="roundRect">
            <a:avLst>
              <a:gd name="adj" fmla="val 3429"/>
            </a:avLst>
          </a:prstGeom>
          <a:solidFill>
            <a:srgbClr val="12274A"/>
          </a:solidFill>
          <a:ln w="12700">
            <a:solidFill>
              <a:srgbClr val="12274A"/>
            </a:solidFill>
            <a:prstDash val="solid"/>
          </a:ln>
        </p:spPr>
        <p:txBody>
          <a:bodyPr/>
          <a:lstStyle/>
          <a:p>
            <a:endParaRPr lang="ko-KR" altLang="en-US"/>
          </a:p>
        </p:txBody>
      </p:sp>
      <p:sp>
        <p:nvSpPr>
          <p:cNvPr id="20" name="Shape 17"/>
          <p:cNvSpPr/>
          <p:nvPr/>
        </p:nvSpPr>
        <p:spPr>
          <a:xfrm>
            <a:off x="4535424" y="1920240"/>
            <a:ext cx="384048" cy="384048"/>
          </a:xfrm>
          <a:prstGeom prst="ellipse">
            <a:avLst/>
          </a:prstGeom>
          <a:solidFill>
            <a:srgbClr val="F2A20C"/>
          </a:solidFill>
          <a:ln w="12700">
            <a:solidFill>
              <a:srgbClr val="F2A20C"/>
            </a:solidFill>
            <a:prstDash val="solid"/>
          </a:ln>
        </p:spPr>
        <p:txBody>
          <a:bodyPr/>
          <a:lstStyle/>
          <a:p>
            <a:endParaRPr lang="ko-KR" altLang="en-US"/>
          </a:p>
        </p:txBody>
      </p:sp>
      <p:pic>
        <p:nvPicPr>
          <p:cNvPr id="21" name="Image 1" descr="preencoded.png"/>
          <p:cNvPicPr>
            <a:picLocks noChangeAspect="1"/>
          </p:cNvPicPr>
          <p:nvPr/>
        </p:nvPicPr>
        <p:blipFill>
          <a:blip r:embed="rId4"/>
          <a:stretch>
            <a:fillRect/>
          </a:stretch>
        </p:blipFill>
        <p:spPr>
          <a:xfrm>
            <a:off x="4621835" y="2006651"/>
            <a:ext cx="211226" cy="211226"/>
          </a:xfrm>
          <a:prstGeom prst="rect">
            <a:avLst/>
          </a:prstGeom>
        </p:spPr>
      </p:pic>
      <p:sp>
        <p:nvSpPr>
          <p:cNvPr id="22" name="Text 18"/>
          <p:cNvSpPr txBox="1"/>
          <p:nvPr/>
        </p:nvSpPr>
        <p:spPr>
          <a:xfrm>
            <a:off x="5047488" y="1920240"/>
            <a:ext cx="2651760" cy="38404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아직 답하지 못한 것</a:t>
            </a:r>
            <a:endParaRPr lang="en-US" sz="1300" dirty="0"/>
          </a:p>
        </p:txBody>
      </p:sp>
      <p:sp>
        <p:nvSpPr>
          <p:cNvPr id="23" name="Shape 19"/>
          <p:cNvSpPr/>
          <p:nvPr/>
        </p:nvSpPr>
        <p:spPr>
          <a:xfrm>
            <a:off x="4535424" y="2542032"/>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24" name="Text 20"/>
          <p:cNvSpPr txBox="1"/>
          <p:nvPr/>
        </p:nvSpPr>
        <p:spPr>
          <a:xfrm>
            <a:off x="4535424" y="2542032"/>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H1</a:t>
            </a:r>
            <a:endParaRPr lang="en-US" sz="850" dirty="0"/>
          </a:p>
        </p:txBody>
      </p:sp>
      <p:sp>
        <p:nvSpPr>
          <p:cNvPr id="25" name="Text 21"/>
          <p:cNvSpPr txBox="1"/>
          <p:nvPr/>
        </p:nvSpPr>
        <p:spPr>
          <a:xfrm>
            <a:off x="5202936" y="2514600"/>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카드가 SNS·뉴스보다 먼저인가 — 직접 검증하지 못했고, 옹진군 1곳(n=1)만 카드가 방문자보다 먼저였다</a:t>
            </a:r>
            <a:endParaRPr lang="en-US" sz="1050" dirty="0"/>
          </a:p>
        </p:txBody>
      </p:sp>
      <p:sp>
        <p:nvSpPr>
          <p:cNvPr id="26" name="Shape 22"/>
          <p:cNvSpPr/>
          <p:nvPr/>
        </p:nvSpPr>
        <p:spPr>
          <a:xfrm>
            <a:off x="4535424" y="3328416"/>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27" name="Text 23"/>
          <p:cNvSpPr txBox="1"/>
          <p:nvPr/>
        </p:nvSpPr>
        <p:spPr>
          <a:xfrm>
            <a:off x="4535424" y="3328416"/>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구분</a:t>
            </a:r>
            <a:endParaRPr lang="en-US" sz="850" dirty="0"/>
          </a:p>
        </p:txBody>
      </p:sp>
      <p:sp>
        <p:nvSpPr>
          <p:cNvPr id="28" name="Text 24"/>
          <p:cNvSpPr txBox="1"/>
          <p:nvPr/>
        </p:nvSpPr>
        <p:spPr>
          <a:xfrm>
            <a:off x="5202936" y="3300984"/>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관광객과 체류 노동자를 어떻게 가르는가 — 후보 8곳 중 4곳이 계절근로자와 겹쳤다</a:t>
            </a:r>
            <a:endParaRPr lang="en-US" sz="1050" dirty="0"/>
          </a:p>
        </p:txBody>
      </p:sp>
      <p:sp>
        <p:nvSpPr>
          <p:cNvPr id="29" name="Shape 25"/>
          <p:cNvSpPr/>
          <p:nvPr/>
        </p:nvSpPr>
        <p:spPr>
          <a:xfrm>
            <a:off x="4535424" y="4114800"/>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30" name="Text 26"/>
          <p:cNvSpPr txBox="1"/>
          <p:nvPr/>
        </p:nvSpPr>
        <p:spPr>
          <a:xfrm>
            <a:off x="4535424" y="4114800"/>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서비스</a:t>
            </a:r>
            <a:endParaRPr lang="en-US" sz="850" dirty="0"/>
          </a:p>
        </p:txBody>
      </p:sp>
      <p:sp>
        <p:nvSpPr>
          <p:cNvPr id="31" name="Text 27"/>
          <p:cNvSpPr txBox="1"/>
          <p:nvPr/>
        </p:nvSpPr>
        <p:spPr>
          <a:xfrm>
            <a:off x="5202936" y="4087368"/>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가맹점 단위 큐레이션과 이용자 반응 — 시범 운영으로만 확인할 수 있다</a:t>
            </a:r>
            <a:endParaRPr lang="en-US" sz="1050" dirty="0"/>
          </a:p>
        </p:txBody>
      </p:sp>
      <p:sp>
        <p:nvSpPr>
          <p:cNvPr id="32" name="Shape 28"/>
          <p:cNvSpPr/>
          <p:nvPr/>
        </p:nvSpPr>
        <p:spPr>
          <a:xfrm>
            <a:off x="8119872" y="1737360"/>
            <a:ext cx="3520440" cy="3200400"/>
          </a:xfrm>
          <a:prstGeom prst="roundRect">
            <a:avLst>
              <a:gd name="adj" fmla="val 3429"/>
            </a:avLst>
          </a:prstGeom>
          <a:solidFill>
            <a:srgbClr val="12274A"/>
          </a:solidFill>
          <a:ln w="12700">
            <a:solidFill>
              <a:srgbClr val="12274A"/>
            </a:solidFill>
            <a:prstDash val="solid"/>
          </a:ln>
        </p:spPr>
        <p:txBody>
          <a:bodyPr/>
          <a:lstStyle/>
          <a:p>
            <a:endParaRPr lang="ko-KR" altLang="en-US"/>
          </a:p>
        </p:txBody>
      </p:sp>
      <p:sp>
        <p:nvSpPr>
          <p:cNvPr id="33" name="Shape 29"/>
          <p:cNvSpPr/>
          <p:nvPr/>
        </p:nvSpPr>
        <p:spPr>
          <a:xfrm>
            <a:off x="8321040" y="1920240"/>
            <a:ext cx="384048" cy="384048"/>
          </a:xfrm>
          <a:prstGeom prst="ellipse">
            <a:avLst/>
          </a:prstGeom>
          <a:solidFill>
            <a:srgbClr val="FF7A7E"/>
          </a:solidFill>
          <a:ln w="12700">
            <a:solidFill>
              <a:srgbClr val="FF7A7E"/>
            </a:solidFill>
            <a:prstDash val="solid"/>
          </a:ln>
        </p:spPr>
        <p:txBody>
          <a:bodyPr/>
          <a:lstStyle/>
          <a:p>
            <a:endParaRPr lang="ko-KR" altLang="en-US"/>
          </a:p>
        </p:txBody>
      </p:sp>
      <p:pic>
        <p:nvPicPr>
          <p:cNvPr id="34" name="Image 2" descr="preencoded.png"/>
          <p:cNvPicPr>
            <a:picLocks noChangeAspect="1"/>
          </p:cNvPicPr>
          <p:nvPr/>
        </p:nvPicPr>
        <p:blipFill>
          <a:blip r:embed="rId5"/>
          <a:stretch>
            <a:fillRect/>
          </a:stretch>
        </p:blipFill>
        <p:spPr>
          <a:xfrm>
            <a:off x="8407451" y="2006651"/>
            <a:ext cx="211226" cy="211226"/>
          </a:xfrm>
          <a:prstGeom prst="rect">
            <a:avLst/>
          </a:prstGeom>
        </p:spPr>
      </p:pic>
      <p:sp>
        <p:nvSpPr>
          <p:cNvPr id="35" name="Text 30"/>
          <p:cNvSpPr txBox="1"/>
          <p:nvPr/>
        </p:nvSpPr>
        <p:spPr>
          <a:xfrm>
            <a:off x="8833104" y="1920240"/>
            <a:ext cx="2651760" cy="384048"/>
          </a:xfrm>
          <a:prstGeom prst="rect">
            <a:avLst/>
          </a:prstGeom>
          <a:noFill/>
          <a:ln/>
        </p:spPr>
        <p:txBody>
          <a:bodyPr wrap="square" lIns="0" tIns="0" rIns="0" bIns="0" rtlCol="0" anchor="ct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BC카드에 제안하는 것</a:t>
            </a:r>
            <a:endParaRPr lang="en-US" sz="1300" dirty="0"/>
          </a:p>
        </p:txBody>
      </p:sp>
      <p:sp>
        <p:nvSpPr>
          <p:cNvPr id="36" name="Shape 31"/>
          <p:cNvSpPr/>
          <p:nvPr/>
        </p:nvSpPr>
        <p:spPr>
          <a:xfrm>
            <a:off x="8321040" y="2542032"/>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37" name="Text 32"/>
          <p:cNvSpPr txBox="1"/>
          <p:nvPr/>
        </p:nvSpPr>
        <p:spPr>
          <a:xfrm>
            <a:off x="8321040" y="2542032"/>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1</a:t>
            </a:r>
            <a:endParaRPr lang="en-US" sz="850" dirty="0"/>
          </a:p>
        </p:txBody>
      </p:sp>
      <p:sp>
        <p:nvSpPr>
          <p:cNvPr id="38" name="Text 33"/>
          <p:cNvSpPr txBox="1"/>
          <p:nvPr/>
        </p:nvSpPr>
        <p:spPr>
          <a:xfrm>
            <a:off x="8988552" y="2514600"/>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체류자격 세분화 필드 — 관광 소비와 체류 인구 소비를 분리</a:t>
            </a:r>
            <a:endParaRPr lang="en-US" sz="1050" dirty="0"/>
          </a:p>
        </p:txBody>
      </p:sp>
      <p:sp>
        <p:nvSpPr>
          <p:cNvPr id="39" name="Shape 34"/>
          <p:cNvSpPr/>
          <p:nvPr/>
        </p:nvSpPr>
        <p:spPr>
          <a:xfrm>
            <a:off x="8321040" y="3328416"/>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40" name="Text 35"/>
          <p:cNvSpPr txBox="1"/>
          <p:nvPr/>
        </p:nvSpPr>
        <p:spPr>
          <a:xfrm>
            <a:off x="8321040" y="3328416"/>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2</a:t>
            </a:r>
            <a:endParaRPr lang="en-US" sz="850" dirty="0"/>
          </a:p>
        </p:txBody>
      </p:sp>
      <p:sp>
        <p:nvSpPr>
          <p:cNvPr id="41" name="Text 36"/>
          <p:cNvSpPr txBox="1"/>
          <p:nvPr/>
        </p:nvSpPr>
        <p:spPr>
          <a:xfrm>
            <a:off x="8988552" y="3300984"/>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월간 ‘주시 목록’ 리포트 — 성장률이 아닌 수준 상승·다업종 확산 기준</a:t>
            </a:r>
            <a:endParaRPr lang="en-US" sz="1050" dirty="0"/>
          </a:p>
        </p:txBody>
      </p:sp>
      <p:sp>
        <p:nvSpPr>
          <p:cNvPr id="42" name="Shape 37"/>
          <p:cNvSpPr/>
          <p:nvPr/>
        </p:nvSpPr>
        <p:spPr>
          <a:xfrm>
            <a:off x="8321040" y="4114800"/>
            <a:ext cx="548640" cy="201168"/>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43" name="Text 38"/>
          <p:cNvSpPr txBox="1"/>
          <p:nvPr/>
        </p:nvSpPr>
        <p:spPr>
          <a:xfrm>
            <a:off x="8321040" y="4114800"/>
            <a:ext cx="548640" cy="201168"/>
          </a:xfrm>
          <a:prstGeom prst="rect">
            <a:avLst/>
          </a:prstGeom>
          <a:noFill/>
          <a:ln/>
        </p:spPr>
        <p:txBody>
          <a:bodyPr wrap="square" lIns="0" tIns="0" rIns="0" bIns="0" rtlCol="0" anchor="ctr"/>
          <a:lstStyle/>
          <a:p>
            <a:pPr marL="0" indent="0" algn="ctr">
              <a:buNone/>
            </a:pPr>
            <a:r>
              <a:rPr lang="en-US" sz="850" b="1" dirty="0">
                <a:solidFill>
                  <a:srgbClr val="A9B8D0"/>
                </a:solidFill>
                <a:latin typeface="Malgun Gothic" pitchFamily="34" charset="0"/>
                <a:ea typeface="Malgun Gothic" pitchFamily="34" charset="-122"/>
                <a:cs typeface="Malgun Gothic" pitchFamily="34" charset="-120"/>
              </a:rPr>
              <a:t>3</a:t>
            </a:r>
            <a:endParaRPr lang="en-US" sz="850" dirty="0"/>
          </a:p>
        </p:txBody>
      </p:sp>
      <p:sp>
        <p:nvSpPr>
          <p:cNvPr id="44" name="Text 39"/>
          <p:cNvSpPr txBox="1"/>
          <p:nvPr/>
        </p:nvSpPr>
        <p:spPr>
          <a:xfrm>
            <a:off x="8988552" y="4087368"/>
            <a:ext cx="2468880" cy="731520"/>
          </a:xfrm>
          <a:prstGeom prst="rect">
            <a:avLst/>
          </a:prstGeom>
          <a:noFill/>
          <a:ln/>
        </p:spPr>
        <p:txBody>
          <a:bodyPr wrap="square" lIns="0" tIns="0" rIns="0" bIns="0" rtlCol="0" anchor="t"/>
          <a:lstStyle/>
          <a:p>
            <a:pPr marL="0" indent="0">
              <a:lnSpc>
                <a:spcPct val="110000"/>
              </a:lnSpc>
              <a:buNone/>
            </a:pPr>
            <a:r>
              <a:rPr lang="en-US" sz="1050" dirty="0">
                <a:solidFill>
                  <a:srgbClr val="FFFFFF"/>
                </a:solidFill>
                <a:latin typeface="Malgun Gothic" pitchFamily="34" charset="0"/>
                <a:ea typeface="Malgun Gothic" pitchFamily="34" charset="-122"/>
                <a:cs typeface="Malgun Gothic" pitchFamily="34" charset="-120"/>
              </a:rPr>
              <a:t>협약 인프라(출시 목표 2027) 연계 리워드 시범 — 지자체 2~3곳</a:t>
            </a:r>
            <a:endParaRPr lang="en-US" sz="1050" dirty="0"/>
          </a:p>
        </p:txBody>
      </p:sp>
      <p:sp>
        <p:nvSpPr>
          <p:cNvPr id="45" name="Shape 40"/>
          <p:cNvSpPr/>
          <p:nvPr/>
        </p:nvSpPr>
        <p:spPr>
          <a:xfrm>
            <a:off x="548640" y="5074920"/>
            <a:ext cx="11091672" cy="960120"/>
          </a:xfrm>
          <a:prstGeom prst="roundRect">
            <a:avLst>
              <a:gd name="adj" fmla="val 11429"/>
            </a:avLst>
          </a:prstGeom>
          <a:solidFill>
            <a:srgbClr val="1D3A6B"/>
          </a:solidFill>
          <a:ln w="12700">
            <a:solidFill>
              <a:srgbClr val="1D3A6B"/>
            </a:solidFill>
            <a:prstDash val="solid"/>
          </a:ln>
        </p:spPr>
        <p:txBody>
          <a:bodyPr/>
          <a:lstStyle/>
          <a:p>
            <a:endParaRPr lang="ko-KR" altLang="en-US"/>
          </a:p>
        </p:txBody>
      </p:sp>
      <p:sp>
        <p:nvSpPr>
          <p:cNvPr id="46" name="Text 41"/>
          <p:cNvSpPr txBox="1"/>
          <p:nvPr/>
        </p:nvSpPr>
        <p:spPr>
          <a:xfrm>
            <a:off x="697230" y="5074920"/>
            <a:ext cx="10787634" cy="960120"/>
          </a:xfrm>
          <a:prstGeom prst="rect">
            <a:avLst/>
          </a:prstGeom>
          <a:noFill/>
          <a:ln/>
        </p:spPr>
        <p:txBody>
          <a:bodyPr wrap="square" lIns="0" tIns="0" rIns="0" bIns="0" rtlCol="0" anchor="ctr"/>
          <a:lstStyle/>
          <a:p>
            <a:pPr marL="0" indent="0">
              <a:lnSpc>
                <a:spcPct val="115000"/>
              </a:lnSpc>
              <a:buNone/>
            </a:pPr>
            <a:r>
              <a:rPr lang="en-US" sz="1850" b="1" dirty="0">
                <a:solidFill>
                  <a:srgbClr val="FFFFFF"/>
                </a:solidFill>
                <a:latin typeface="Malgun Gothic" pitchFamily="34" charset="0"/>
                <a:ea typeface="Malgun Gothic" pitchFamily="34" charset="-122"/>
                <a:cs typeface="Malgun Gothic" pitchFamily="34" charset="-120"/>
              </a:rPr>
              <a:t>카드 결제는 리뷰가 쓰이기 전에 남는다. 다만 그 결제가 </a:t>
            </a:r>
            <a:r>
              <a:rPr lang="en-US" sz="1850" b="1" dirty="0">
                <a:solidFill>
                  <a:srgbClr val="FF7A7E"/>
                </a:solidFill>
                <a:latin typeface="Malgun Gothic" pitchFamily="34" charset="0"/>
                <a:ea typeface="Malgun Gothic" pitchFamily="34" charset="-122"/>
                <a:cs typeface="Malgun Gothic" pitchFamily="34" charset="-120"/>
              </a:rPr>
              <a:t>누구의 것인지</a:t>
            </a:r>
            <a:r>
              <a:rPr lang="en-US" sz="1850" b="1" dirty="0">
                <a:solidFill>
                  <a:srgbClr val="FFFFFF"/>
                </a:solidFill>
                <a:latin typeface="Malgun Gothic" pitchFamily="34" charset="0"/>
                <a:ea typeface="Malgun Gothic" pitchFamily="34" charset="-122"/>
                <a:cs typeface="Malgun Gothic" pitchFamily="34" charset="-120"/>
              </a:rPr>
              <a:t> 알아야, 신호가 서비스가 된다.</a:t>
            </a:r>
            <a:endParaRPr lang="en-US" sz="1850" dirty="0"/>
          </a:p>
        </p:txBody>
      </p:sp>
      <p:sp>
        <p:nvSpPr>
          <p:cNvPr id="47" name="Text 4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7A8BA6"/>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8" name="Text 4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7A8BA6"/>
                </a:solidFill>
                <a:latin typeface="Malgun Gothic" pitchFamily="34" charset="0"/>
                <a:ea typeface="Malgun Gothic" pitchFamily="34" charset="-122"/>
                <a:cs typeface="Malgun Gothic" pitchFamily="34" charset="-120"/>
              </a:rPr>
              <a:t>35 / 42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B33"/>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12274A"/>
          </a:solidFill>
          <a:ln w="12700">
            <a:solidFill>
              <a:srgbClr val="12274A"/>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  </a:t>
            </a:r>
            <a:r>
              <a:rPr lang="en-US" sz="1150" b="1" dirty="0">
                <a:solidFill>
                  <a:srgbClr val="A9B8D0"/>
                </a:solidFill>
                <a:latin typeface="Malgun Gothic" pitchFamily="34" charset="0"/>
                <a:ea typeface="Malgun Gothic" pitchFamily="34" charset="-122"/>
                <a:cs typeface="Malgun Gothic" pitchFamily="34" charset="-120"/>
              </a:rPr>
              <a:t>부록</a:t>
            </a:r>
            <a:endParaRPr lang="en-US" sz="1150" dirty="0"/>
          </a:p>
        </p:txBody>
      </p:sp>
      <p:sp>
        <p:nvSpPr>
          <p:cNvPr id="5" name="Text 3"/>
          <p:cNvSpPr txBox="1"/>
          <p:nvPr/>
        </p:nvSpPr>
        <p:spPr>
          <a:xfrm>
            <a:off x="548640" y="1645920"/>
            <a:ext cx="4389120" cy="1280160"/>
          </a:xfrm>
          <a:prstGeom prst="rect">
            <a:avLst/>
          </a:prstGeom>
          <a:noFill/>
          <a:ln/>
        </p:spPr>
        <p:txBody>
          <a:bodyPr wrap="square" lIns="0" tIns="0" rIns="0" bIns="0" rtlCol="0" anchor="ctr"/>
          <a:lstStyle/>
          <a:p>
            <a:pPr marL="0" indent="0">
              <a:buNone/>
            </a:pPr>
            <a:r>
              <a:rPr lang="en-US" sz="6800" b="1" dirty="0">
                <a:solidFill>
                  <a:srgbClr val="FFFFFF"/>
                </a:solidFill>
                <a:latin typeface="Malgun Gothic" pitchFamily="34" charset="0"/>
                <a:ea typeface="Malgun Gothic" pitchFamily="34" charset="-122"/>
                <a:cs typeface="Malgun Gothic" pitchFamily="34" charset="-120"/>
              </a:rPr>
              <a:t>부록</a:t>
            </a:r>
            <a:endParaRPr lang="en-US" sz="6800" dirty="0"/>
          </a:p>
        </p:txBody>
      </p:sp>
      <p:sp>
        <p:nvSpPr>
          <p:cNvPr id="6" name="Text 4"/>
          <p:cNvSpPr txBox="1"/>
          <p:nvPr/>
        </p:nvSpPr>
        <p:spPr>
          <a:xfrm>
            <a:off x="548640" y="2971800"/>
            <a:ext cx="4389120" cy="310896"/>
          </a:xfrm>
          <a:prstGeom prst="rect">
            <a:avLst/>
          </a:prstGeom>
          <a:noFill/>
          <a:ln/>
        </p:spPr>
        <p:txBody>
          <a:bodyPr wrap="square" lIns="0" tIns="0" rIns="0" bIns="0" rtlCol="0" anchor="ctr"/>
          <a:lstStyle/>
          <a:p>
            <a:pPr marL="0" indent="0">
              <a:buNone/>
            </a:pPr>
            <a:r>
              <a:rPr lang="en-US" sz="1400" b="1" kern="0" spc="500" dirty="0">
                <a:solidFill>
                  <a:srgbClr val="FF7A7E"/>
                </a:solidFill>
                <a:latin typeface="Malgun Gothic" pitchFamily="34" charset="0"/>
                <a:ea typeface="Malgun Gothic" pitchFamily="34" charset="-122"/>
                <a:cs typeface="Malgun Gothic" pitchFamily="34" charset="-120"/>
              </a:rPr>
              <a:t>APPENDIX</a:t>
            </a:r>
            <a:endParaRPr lang="en-US" sz="1400" dirty="0"/>
          </a:p>
        </p:txBody>
      </p:sp>
      <p:sp>
        <p:nvSpPr>
          <p:cNvPr id="7" name="Text 5"/>
          <p:cNvSpPr txBox="1"/>
          <p:nvPr/>
        </p:nvSpPr>
        <p:spPr>
          <a:xfrm>
            <a:off x="548640" y="3566160"/>
            <a:ext cx="4023360" cy="1280160"/>
          </a:xfrm>
          <a:prstGeom prst="rect">
            <a:avLst/>
          </a:prstGeom>
          <a:noFill/>
          <a:ln/>
        </p:spPr>
        <p:txBody>
          <a:bodyPr wrap="square" lIns="0" tIns="0" rIns="0" bIns="0" rtlCol="0" anchor="t"/>
          <a:lstStyle/>
          <a:p>
            <a:pPr marL="0" indent="0">
              <a:lnSpc>
                <a:spcPct val="130000"/>
              </a:lnSpc>
              <a:buNone/>
            </a:pPr>
            <a:r>
              <a:rPr lang="en-US" sz="1300" dirty="0">
                <a:solidFill>
                  <a:srgbClr val="A9B8D0"/>
                </a:solidFill>
                <a:latin typeface="Malgun Gothic" pitchFamily="34" charset="0"/>
                <a:ea typeface="Malgun Gothic" pitchFamily="34" charset="-122"/>
                <a:cs typeface="Malgun Gothic" pitchFamily="34" charset="-120"/>
              </a:rPr>
              <a:t>수치를 다시 계산해 볼 수 있는 코드와 재현 자료(A1~A2), 본문에는 싣지 않은 시행착오와 방향 전환의 기록(A3~A5), 그리고 출처(A6)를 붙인다.</a:t>
            </a:r>
            <a:endParaRPr lang="en-US" sz="1300" dirty="0"/>
          </a:p>
        </p:txBody>
      </p:sp>
      <p:sp>
        <p:nvSpPr>
          <p:cNvPr id="8" name="Shape 6"/>
          <p:cNvSpPr/>
          <p:nvPr/>
        </p:nvSpPr>
        <p:spPr>
          <a:xfrm>
            <a:off x="5257800" y="1298448"/>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9" name="Shape 7"/>
          <p:cNvSpPr/>
          <p:nvPr/>
        </p:nvSpPr>
        <p:spPr>
          <a:xfrm>
            <a:off x="5458968" y="1426464"/>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5561838" y="1529334"/>
            <a:ext cx="251460" cy="251460"/>
          </a:xfrm>
          <a:prstGeom prst="rect">
            <a:avLst/>
          </a:prstGeom>
        </p:spPr>
      </p:pic>
      <p:sp>
        <p:nvSpPr>
          <p:cNvPr id="11" name="Text 8"/>
          <p:cNvSpPr txBox="1"/>
          <p:nvPr/>
        </p:nvSpPr>
        <p:spPr>
          <a:xfrm>
            <a:off x="6080760" y="1399032"/>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A1  </a:t>
            </a:r>
            <a:r>
              <a:rPr lang="en-US" sz="1400" b="1" dirty="0">
                <a:solidFill>
                  <a:srgbClr val="FFFFFF"/>
                </a:solidFill>
                <a:latin typeface="Malgun Gothic" pitchFamily="34" charset="0"/>
                <a:ea typeface="Malgun Gothic" pitchFamily="34" charset="-122"/>
                <a:cs typeface="Malgun Gothic" pitchFamily="34" charset="-120"/>
              </a:rPr>
              <a:t>분석 코드</a:t>
            </a:r>
            <a:endParaRPr lang="en-US" sz="1400" dirty="0"/>
          </a:p>
        </p:txBody>
      </p:sp>
      <p:sp>
        <p:nvSpPr>
          <p:cNvPr id="12" name="Text 9"/>
          <p:cNvSpPr txBox="1"/>
          <p:nvPr/>
        </p:nvSpPr>
        <p:spPr>
          <a:xfrm>
            <a:off x="6080760" y="1700784"/>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노트북 5종과 수치 재현 스크립트 — 무엇을 하고, 무엇이 나오는가</a:t>
            </a:r>
            <a:endParaRPr lang="en-US" sz="1000" dirty="0"/>
          </a:p>
        </p:txBody>
      </p:sp>
      <p:sp>
        <p:nvSpPr>
          <p:cNvPr id="13" name="Shape 10"/>
          <p:cNvSpPr/>
          <p:nvPr/>
        </p:nvSpPr>
        <p:spPr>
          <a:xfrm>
            <a:off x="10725912" y="1517904"/>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14" name="Text 11"/>
          <p:cNvSpPr txBox="1"/>
          <p:nvPr/>
        </p:nvSpPr>
        <p:spPr>
          <a:xfrm>
            <a:off x="10725912" y="1517904"/>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37쪽</a:t>
            </a:r>
            <a:endParaRPr lang="en-US" sz="1000" dirty="0"/>
          </a:p>
        </p:txBody>
      </p:sp>
      <p:sp>
        <p:nvSpPr>
          <p:cNvPr id="15" name="Shape 12"/>
          <p:cNvSpPr/>
          <p:nvPr/>
        </p:nvSpPr>
        <p:spPr>
          <a:xfrm>
            <a:off x="5257800" y="2103120"/>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16" name="Shape 13"/>
          <p:cNvSpPr/>
          <p:nvPr/>
        </p:nvSpPr>
        <p:spPr>
          <a:xfrm>
            <a:off x="5458968" y="2231136"/>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17" name="Image 1" descr="preencoded.png"/>
          <p:cNvPicPr>
            <a:picLocks noChangeAspect="1"/>
          </p:cNvPicPr>
          <p:nvPr/>
        </p:nvPicPr>
        <p:blipFill>
          <a:blip r:embed="rId4"/>
          <a:stretch>
            <a:fillRect/>
          </a:stretch>
        </p:blipFill>
        <p:spPr>
          <a:xfrm>
            <a:off x="5561838" y="2334006"/>
            <a:ext cx="251460" cy="251460"/>
          </a:xfrm>
          <a:prstGeom prst="rect">
            <a:avLst/>
          </a:prstGeom>
        </p:spPr>
      </p:pic>
      <p:sp>
        <p:nvSpPr>
          <p:cNvPr id="18" name="Text 14"/>
          <p:cNvSpPr txBox="1"/>
          <p:nvPr/>
        </p:nvSpPr>
        <p:spPr>
          <a:xfrm>
            <a:off x="6080760" y="2203704"/>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A2  </a:t>
            </a:r>
            <a:r>
              <a:rPr lang="en-US" sz="1400" b="1" dirty="0">
                <a:solidFill>
                  <a:srgbClr val="FFFFFF"/>
                </a:solidFill>
                <a:latin typeface="Malgun Gothic" pitchFamily="34" charset="0"/>
                <a:ea typeface="Malgun Gothic" pitchFamily="34" charset="-122"/>
                <a:cs typeface="Malgun Gothic" pitchFamily="34" charset="-120"/>
              </a:rPr>
              <a:t>재현 가이드</a:t>
            </a:r>
            <a:endParaRPr lang="en-US" sz="1400" dirty="0"/>
          </a:p>
        </p:txBody>
      </p:sp>
      <p:sp>
        <p:nvSpPr>
          <p:cNvPr id="19" name="Text 15"/>
          <p:cNvSpPr txBox="1"/>
          <p:nvPr/>
        </p:nvSpPr>
        <p:spPr>
          <a:xfrm>
            <a:off x="6080760" y="2505456"/>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실행 순서와 주요 설정, 본문 수치를 다시 확인하는 표</a:t>
            </a:r>
            <a:endParaRPr lang="en-US" sz="1000" dirty="0"/>
          </a:p>
        </p:txBody>
      </p:sp>
      <p:sp>
        <p:nvSpPr>
          <p:cNvPr id="20" name="Shape 16"/>
          <p:cNvSpPr/>
          <p:nvPr/>
        </p:nvSpPr>
        <p:spPr>
          <a:xfrm>
            <a:off x="10725912" y="2322576"/>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21" name="Text 17"/>
          <p:cNvSpPr txBox="1"/>
          <p:nvPr/>
        </p:nvSpPr>
        <p:spPr>
          <a:xfrm>
            <a:off x="10725912" y="2322576"/>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38쪽</a:t>
            </a:r>
            <a:endParaRPr lang="en-US" sz="1000" dirty="0"/>
          </a:p>
        </p:txBody>
      </p:sp>
      <p:sp>
        <p:nvSpPr>
          <p:cNvPr id="22" name="Shape 18"/>
          <p:cNvSpPr/>
          <p:nvPr/>
        </p:nvSpPr>
        <p:spPr>
          <a:xfrm>
            <a:off x="5257800" y="2907792"/>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23" name="Shape 19"/>
          <p:cNvSpPr/>
          <p:nvPr/>
        </p:nvSpPr>
        <p:spPr>
          <a:xfrm>
            <a:off x="5458968" y="3035808"/>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24" name="Image 2" descr="preencoded.png"/>
          <p:cNvPicPr>
            <a:picLocks noChangeAspect="1"/>
          </p:cNvPicPr>
          <p:nvPr/>
        </p:nvPicPr>
        <p:blipFill>
          <a:blip r:embed="rId5"/>
          <a:stretch>
            <a:fillRect/>
          </a:stretch>
        </p:blipFill>
        <p:spPr>
          <a:xfrm>
            <a:off x="5561838" y="3138678"/>
            <a:ext cx="251460" cy="251460"/>
          </a:xfrm>
          <a:prstGeom prst="rect">
            <a:avLst/>
          </a:prstGeom>
        </p:spPr>
      </p:pic>
      <p:sp>
        <p:nvSpPr>
          <p:cNvPr id="25" name="Text 20"/>
          <p:cNvSpPr txBox="1"/>
          <p:nvPr/>
        </p:nvSpPr>
        <p:spPr>
          <a:xfrm>
            <a:off x="6080760" y="3008376"/>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A3  </a:t>
            </a:r>
            <a:r>
              <a:rPr lang="en-US" sz="1400" b="1" dirty="0">
                <a:solidFill>
                  <a:srgbClr val="FFFFFF"/>
                </a:solidFill>
                <a:latin typeface="Malgun Gothic" pitchFamily="34" charset="0"/>
                <a:ea typeface="Malgun Gothic" pitchFamily="34" charset="-122"/>
                <a:cs typeface="Malgun Gothic" pitchFamily="34" charset="-120"/>
              </a:rPr>
              <a:t>제작 과정 기록</a:t>
            </a:r>
            <a:endParaRPr lang="en-US" sz="1400" dirty="0"/>
          </a:p>
        </p:txBody>
      </p:sp>
      <p:sp>
        <p:nvSpPr>
          <p:cNvPr id="26" name="Text 21"/>
          <p:cNvSpPr txBox="1"/>
          <p:nvPr/>
        </p:nvSpPr>
        <p:spPr>
          <a:xfrm>
            <a:off x="6080760" y="3310128"/>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의사결정 타임라인(9/8~9/21)과 중간 산출물</a:t>
            </a:r>
            <a:endParaRPr lang="en-US" sz="1000" dirty="0"/>
          </a:p>
        </p:txBody>
      </p:sp>
      <p:sp>
        <p:nvSpPr>
          <p:cNvPr id="27" name="Shape 22"/>
          <p:cNvSpPr/>
          <p:nvPr/>
        </p:nvSpPr>
        <p:spPr>
          <a:xfrm>
            <a:off x="10725912" y="3127248"/>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28" name="Text 23"/>
          <p:cNvSpPr txBox="1"/>
          <p:nvPr/>
        </p:nvSpPr>
        <p:spPr>
          <a:xfrm>
            <a:off x="10725912" y="3127248"/>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39쪽</a:t>
            </a:r>
            <a:endParaRPr lang="en-US" sz="1000" dirty="0"/>
          </a:p>
        </p:txBody>
      </p:sp>
      <p:sp>
        <p:nvSpPr>
          <p:cNvPr id="29" name="Shape 24"/>
          <p:cNvSpPr/>
          <p:nvPr/>
        </p:nvSpPr>
        <p:spPr>
          <a:xfrm>
            <a:off x="5257800" y="3712464"/>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30" name="Shape 25"/>
          <p:cNvSpPr/>
          <p:nvPr/>
        </p:nvSpPr>
        <p:spPr>
          <a:xfrm>
            <a:off x="5458968" y="3840480"/>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31" name="Image 3" descr="preencoded.png"/>
          <p:cNvPicPr>
            <a:picLocks noChangeAspect="1"/>
          </p:cNvPicPr>
          <p:nvPr/>
        </p:nvPicPr>
        <p:blipFill>
          <a:blip r:embed="rId6"/>
          <a:stretch>
            <a:fillRect/>
          </a:stretch>
        </p:blipFill>
        <p:spPr>
          <a:xfrm>
            <a:off x="5561838" y="3943350"/>
            <a:ext cx="251460" cy="251460"/>
          </a:xfrm>
          <a:prstGeom prst="rect">
            <a:avLst/>
          </a:prstGeom>
        </p:spPr>
      </p:pic>
      <p:sp>
        <p:nvSpPr>
          <p:cNvPr id="32" name="Text 26"/>
          <p:cNvSpPr txBox="1"/>
          <p:nvPr/>
        </p:nvSpPr>
        <p:spPr>
          <a:xfrm>
            <a:off x="6080760" y="3813048"/>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A4  </a:t>
            </a:r>
            <a:r>
              <a:rPr lang="en-US" sz="1400" b="1" dirty="0">
                <a:solidFill>
                  <a:srgbClr val="FFFFFF"/>
                </a:solidFill>
                <a:latin typeface="Malgun Gothic" pitchFamily="34" charset="0"/>
                <a:ea typeface="Malgun Gothic" pitchFamily="34" charset="-122"/>
                <a:cs typeface="Malgun Gothic" pitchFamily="34" charset="-120"/>
              </a:rPr>
              <a:t>검증 계획과 실제 수행</a:t>
            </a:r>
            <a:endParaRPr lang="en-US" sz="1400" dirty="0"/>
          </a:p>
        </p:txBody>
      </p:sp>
      <p:sp>
        <p:nvSpPr>
          <p:cNvPr id="33" name="Text 27"/>
          <p:cNvSpPr txBox="1"/>
          <p:nvPr/>
        </p:nvSpPr>
        <p:spPr>
          <a:xfrm>
            <a:off x="6080760" y="4114800"/>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처음 계획한 검증과 실제로 수행한 검증의 차이</a:t>
            </a:r>
            <a:endParaRPr lang="en-US" sz="1000" dirty="0"/>
          </a:p>
        </p:txBody>
      </p:sp>
      <p:sp>
        <p:nvSpPr>
          <p:cNvPr id="34" name="Shape 28"/>
          <p:cNvSpPr/>
          <p:nvPr/>
        </p:nvSpPr>
        <p:spPr>
          <a:xfrm>
            <a:off x="10725912" y="3931920"/>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35" name="Text 29"/>
          <p:cNvSpPr txBox="1"/>
          <p:nvPr/>
        </p:nvSpPr>
        <p:spPr>
          <a:xfrm>
            <a:off x="10725912" y="3931920"/>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40쪽</a:t>
            </a:r>
            <a:endParaRPr lang="en-US" sz="1000" dirty="0"/>
          </a:p>
        </p:txBody>
      </p:sp>
      <p:sp>
        <p:nvSpPr>
          <p:cNvPr id="36" name="Shape 30"/>
          <p:cNvSpPr/>
          <p:nvPr/>
        </p:nvSpPr>
        <p:spPr>
          <a:xfrm>
            <a:off x="5257800" y="4517136"/>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37" name="Shape 31"/>
          <p:cNvSpPr/>
          <p:nvPr/>
        </p:nvSpPr>
        <p:spPr>
          <a:xfrm>
            <a:off x="5458968" y="4645152"/>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38" name="Image 4" descr="preencoded.png"/>
          <p:cNvPicPr>
            <a:picLocks noChangeAspect="1"/>
          </p:cNvPicPr>
          <p:nvPr/>
        </p:nvPicPr>
        <p:blipFill>
          <a:blip r:embed="rId7"/>
          <a:stretch>
            <a:fillRect/>
          </a:stretch>
        </p:blipFill>
        <p:spPr>
          <a:xfrm>
            <a:off x="5561838" y="4748022"/>
            <a:ext cx="251460" cy="251460"/>
          </a:xfrm>
          <a:prstGeom prst="rect">
            <a:avLst/>
          </a:prstGeom>
        </p:spPr>
      </p:pic>
      <p:sp>
        <p:nvSpPr>
          <p:cNvPr id="39" name="Text 32"/>
          <p:cNvSpPr txBox="1"/>
          <p:nvPr/>
        </p:nvSpPr>
        <p:spPr>
          <a:xfrm>
            <a:off x="6080760" y="4617720"/>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A5  </a:t>
            </a:r>
            <a:r>
              <a:rPr lang="en-US" sz="1400" b="1" dirty="0">
                <a:solidFill>
                  <a:srgbClr val="FFFFFF"/>
                </a:solidFill>
                <a:latin typeface="Malgun Gothic" pitchFamily="34" charset="0"/>
                <a:ea typeface="Malgun Gothic" pitchFamily="34" charset="-122"/>
                <a:cs typeface="Malgun Gothic" pitchFamily="34" charset="-120"/>
              </a:rPr>
              <a:t>접은 자료와 바꾼 결정</a:t>
            </a:r>
            <a:endParaRPr lang="en-US" sz="1400" dirty="0"/>
          </a:p>
        </p:txBody>
      </p:sp>
      <p:sp>
        <p:nvSpPr>
          <p:cNvPr id="40" name="Text 33"/>
          <p:cNvSpPr txBox="1"/>
          <p:nvPr/>
        </p:nvSpPr>
        <p:spPr>
          <a:xfrm>
            <a:off x="6080760" y="4919472"/>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시도했다가 접은 자료·지표와 본문에서의 대체 방법</a:t>
            </a:r>
            <a:endParaRPr lang="en-US" sz="1000" dirty="0"/>
          </a:p>
        </p:txBody>
      </p:sp>
      <p:sp>
        <p:nvSpPr>
          <p:cNvPr id="41" name="Shape 34"/>
          <p:cNvSpPr/>
          <p:nvPr/>
        </p:nvSpPr>
        <p:spPr>
          <a:xfrm>
            <a:off x="10725912" y="4736592"/>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42" name="Text 35"/>
          <p:cNvSpPr txBox="1"/>
          <p:nvPr/>
        </p:nvSpPr>
        <p:spPr>
          <a:xfrm>
            <a:off x="10725912" y="4736592"/>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41쪽</a:t>
            </a:r>
            <a:endParaRPr lang="en-US" sz="1000" dirty="0"/>
          </a:p>
        </p:txBody>
      </p:sp>
      <p:sp>
        <p:nvSpPr>
          <p:cNvPr id="43" name="Shape 36"/>
          <p:cNvSpPr/>
          <p:nvPr/>
        </p:nvSpPr>
        <p:spPr>
          <a:xfrm>
            <a:off x="5257800" y="5321808"/>
            <a:ext cx="6382512" cy="713232"/>
          </a:xfrm>
          <a:prstGeom prst="roundRect">
            <a:avLst>
              <a:gd name="adj" fmla="val 15385"/>
            </a:avLst>
          </a:prstGeom>
          <a:solidFill>
            <a:srgbClr val="12274A"/>
          </a:solidFill>
          <a:ln w="12700">
            <a:solidFill>
              <a:srgbClr val="12274A"/>
            </a:solidFill>
            <a:prstDash val="solid"/>
          </a:ln>
        </p:spPr>
        <p:txBody>
          <a:bodyPr/>
          <a:lstStyle/>
          <a:p>
            <a:endParaRPr lang="ko-KR" altLang="en-US"/>
          </a:p>
        </p:txBody>
      </p:sp>
      <p:sp>
        <p:nvSpPr>
          <p:cNvPr id="44" name="Shape 37"/>
          <p:cNvSpPr/>
          <p:nvPr/>
        </p:nvSpPr>
        <p:spPr>
          <a:xfrm>
            <a:off x="5458968" y="5449824"/>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45" name="Image 5" descr="preencoded.png"/>
          <p:cNvPicPr>
            <a:picLocks noChangeAspect="1"/>
          </p:cNvPicPr>
          <p:nvPr/>
        </p:nvPicPr>
        <p:blipFill>
          <a:blip r:embed="rId8"/>
          <a:stretch>
            <a:fillRect/>
          </a:stretch>
        </p:blipFill>
        <p:spPr>
          <a:xfrm>
            <a:off x="5561838" y="5552694"/>
            <a:ext cx="251460" cy="251460"/>
          </a:xfrm>
          <a:prstGeom prst="rect">
            <a:avLst/>
          </a:prstGeom>
        </p:spPr>
      </p:pic>
      <p:sp>
        <p:nvSpPr>
          <p:cNvPr id="46" name="Text 38"/>
          <p:cNvSpPr txBox="1"/>
          <p:nvPr/>
        </p:nvSpPr>
        <p:spPr>
          <a:xfrm>
            <a:off x="6080760" y="5422392"/>
            <a:ext cx="4462272" cy="274320"/>
          </a:xfrm>
          <a:prstGeom prst="rect">
            <a:avLst/>
          </a:prstGeom>
          <a:noFill/>
          <a:ln/>
        </p:spPr>
        <p:txBody>
          <a:bodyPr wrap="square" lIns="0" tIns="0" rIns="0" bIns="0" rtlCol="0" anchor="ctr"/>
          <a:lstStyle/>
          <a:p>
            <a:pPr marL="0" indent="0">
              <a:buNone/>
            </a:pPr>
            <a:r>
              <a:rPr lang="en-US" sz="1400" b="1" dirty="0">
                <a:solidFill>
                  <a:srgbClr val="FF7A7E"/>
                </a:solidFill>
                <a:latin typeface="Malgun Gothic" pitchFamily="34" charset="0"/>
                <a:ea typeface="Malgun Gothic" pitchFamily="34" charset="-122"/>
                <a:cs typeface="Malgun Gothic" pitchFamily="34" charset="-120"/>
              </a:rPr>
              <a:t>A6  </a:t>
            </a:r>
            <a:r>
              <a:rPr lang="en-US" sz="1400" b="1" dirty="0">
                <a:solidFill>
                  <a:srgbClr val="FFFFFF"/>
                </a:solidFill>
                <a:latin typeface="Malgun Gothic" pitchFamily="34" charset="0"/>
                <a:ea typeface="Malgun Gothic" pitchFamily="34" charset="-122"/>
                <a:cs typeface="Malgun Gothic" pitchFamily="34" charset="-120"/>
              </a:rPr>
              <a:t>출처 · 참고자료</a:t>
            </a:r>
            <a:endParaRPr lang="en-US" sz="1400" dirty="0"/>
          </a:p>
        </p:txBody>
      </p:sp>
      <p:sp>
        <p:nvSpPr>
          <p:cNvPr id="47" name="Text 39"/>
          <p:cNvSpPr txBox="1"/>
          <p:nvPr/>
        </p:nvSpPr>
        <p:spPr>
          <a:xfrm>
            <a:off x="6080760" y="5724144"/>
            <a:ext cx="4462272" cy="237744"/>
          </a:xfrm>
          <a:prstGeom prst="rect">
            <a:avLst/>
          </a:prstGeom>
          <a:noFill/>
          <a:ln/>
        </p:spPr>
        <p:txBody>
          <a:bodyPr wrap="square" lIns="0" tIns="0" rIns="0" bIns="0" rtlCol="0" anchor="ctr"/>
          <a:lstStyle/>
          <a:p>
            <a:pPr marL="0" indent="0">
              <a:buNone/>
            </a:pPr>
            <a:r>
              <a:rPr lang="en-US" sz="1000" dirty="0">
                <a:solidFill>
                  <a:srgbClr val="A9B8D0"/>
                </a:solidFill>
                <a:latin typeface="Malgun Gothic" pitchFamily="34" charset="0"/>
                <a:ea typeface="Malgun Gothic" pitchFamily="34" charset="-122"/>
                <a:cs typeface="Malgun Gothic" pitchFamily="34" charset="-120"/>
              </a:rPr>
              <a:t>데이터·뉴스·통계의 출처와 확인한 범위</a:t>
            </a:r>
            <a:endParaRPr lang="en-US" sz="1000" dirty="0"/>
          </a:p>
        </p:txBody>
      </p:sp>
      <p:sp>
        <p:nvSpPr>
          <p:cNvPr id="48" name="Shape 40"/>
          <p:cNvSpPr/>
          <p:nvPr/>
        </p:nvSpPr>
        <p:spPr>
          <a:xfrm>
            <a:off x="10725912" y="5541264"/>
            <a:ext cx="731520" cy="274320"/>
          </a:xfrm>
          <a:prstGeom prst="roundRect">
            <a:avLst>
              <a:gd name="adj" fmla="val 50000"/>
            </a:avLst>
          </a:prstGeom>
          <a:solidFill>
            <a:srgbClr val="1D3A6B"/>
          </a:solidFill>
          <a:ln w="12700">
            <a:solidFill>
              <a:srgbClr val="1D3A6B"/>
            </a:solidFill>
            <a:prstDash val="solid"/>
          </a:ln>
        </p:spPr>
        <p:txBody>
          <a:bodyPr/>
          <a:lstStyle/>
          <a:p>
            <a:endParaRPr lang="ko-KR" altLang="en-US"/>
          </a:p>
        </p:txBody>
      </p:sp>
      <p:sp>
        <p:nvSpPr>
          <p:cNvPr id="49" name="Text 41"/>
          <p:cNvSpPr txBox="1"/>
          <p:nvPr/>
        </p:nvSpPr>
        <p:spPr>
          <a:xfrm>
            <a:off x="10725912" y="5541264"/>
            <a:ext cx="731520" cy="274320"/>
          </a:xfrm>
          <a:prstGeom prst="rect">
            <a:avLst/>
          </a:prstGeom>
          <a:noFill/>
          <a:ln/>
        </p:spPr>
        <p:txBody>
          <a:bodyPr wrap="square" lIns="0" tIns="0" rIns="0" bIns="0" rtlCol="0" anchor="ctr"/>
          <a:lstStyle/>
          <a:p>
            <a:pPr marL="0" indent="0" algn="ctr">
              <a:buNone/>
            </a:pPr>
            <a:r>
              <a:rPr lang="en-US" sz="1000" b="1" dirty="0">
                <a:solidFill>
                  <a:srgbClr val="A9B8D0"/>
                </a:solidFill>
                <a:latin typeface="Malgun Gothic" pitchFamily="34" charset="0"/>
                <a:ea typeface="Malgun Gothic" pitchFamily="34" charset="-122"/>
                <a:cs typeface="Malgun Gothic" pitchFamily="34" charset="-120"/>
              </a:rPr>
              <a:t>42쪽</a:t>
            </a:r>
            <a:endParaRPr lang="en-US" sz="1000" dirty="0"/>
          </a:p>
        </p:txBody>
      </p:sp>
      <p:sp>
        <p:nvSpPr>
          <p:cNvPr id="50" name="Text 4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7A8BA6"/>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51" name="Text 4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7A8BA6"/>
                </a:solidFill>
                <a:latin typeface="Malgun Gothic" pitchFamily="34" charset="0"/>
                <a:ea typeface="Malgun Gothic" pitchFamily="34" charset="-122"/>
                <a:cs typeface="Malgun Gothic" pitchFamily="34" charset="-120"/>
              </a:rPr>
              <a:t>36 / 42</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A1  </a:t>
            </a:r>
            <a:r>
              <a:rPr lang="en-US" sz="1150" b="1" dirty="0">
                <a:solidFill>
                  <a:srgbClr val="64748B"/>
                </a:solidFill>
                <a:latin typeface="Malgun Gothic" pitchFamily="34" charset="0"/>
                <a:ea typeface="Malgun Gothic" pitchFamily="34" charset="-122"/>
                <a:cs typeface="Malgun Gothic" pitchFamily="34" charset="-120"/>
              </a:rPr>
              <a:t>분석 코드</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분석은 노트북 5종과 재현 스크립트 1종으로 이어진다</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803904"/>
        </p:xfrm>
        <a:graphic>
          <a:graphicData uri="http://schemas.openxmlformats.org/drawingml/2006/table">
            <a:tbl>
              <a:tblPr/>
              <a:tblGrid>
                <a:gridCol w="2606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292608">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파일</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단계</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하는 일</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입력 → 산출</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비고</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BC카드_1단계_전처리.ipynb</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1단계</a:t>
                      </a:r>
                      <a:endParaRPr lang="en-US" sz="900" dirty="0">
                        <a:latin typeface="Malgun Gothic" charset="0"/>
                        <a:ea typeface="Malgun Gothic" charset="0"/>
                        <a:cs typeface="Malgun Gothic" charset="0"/>
                      </a:endParaRPr>
                    </a:p>
                    <a:p>
                      <a:pPr marL="0" indent="0" algn="ctr">
                        <a:buNone/>
                      </a:pPr>
                      <a:r>
                        <a:rPr lang="en-US" sz="900" b="1" dirty="0">
                          <a:solidFill>
                            <a:srgbClr val="0B7A6D"/>
                          </a:solidFill>
                          <a:latin typeface="Malgun Gothic" pitchFamily="34" charset="0"/>
                          <a:ea typeface="Malgun Gothic" pitchFamily="34" charset="-122"/>
                          <a:cs typeface="Malgun Gothic" pitchFamily="34" charset="-120"/>
                        </a:rPr>
                        <a:t>3단계 (부록 셀)</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E3F6F3"/>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데이터 검증 · 업종명 공백 정규화 · 외국인 세그먼트 피벗 · 전국 baseline · 최소건수 필터 · 초과성장률 점수 · 육안 검수 제외</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ABP_CONTEST_DATA.csv</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bc_preprocessed.pkl</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bc_stage3_signals.pkl</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Colab · 드라이브 폴더 ‘BC카드’ 기준</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BC카드_2단계_EDA.ipynb</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2단계</a:t>
                      </a:r>
                      <a:endParaRPr lang="en-US" sz="900" dirty="0">
                        <a:latin typeface="Malgun Gothic" charset="0"/>
                        <a:ea typeface="Malgun Gothic" charset="0"/>
                        <a:cs typeface="Malgun Gothic" charset="0"/>
                      </a:endParaRPr>
                    </a:p>
                    <a:p>
                      <a:pPr marL="0" indent="0" algn="ctr">
                        <a:buNone/>
                      </a:pPr>
                      <a:r>
                        <a:rPr lang="en-US" sz="900" b="1" dirty="0">
                          <a:solidFill>
                            <a:srgbClr val="0B7A6D"/>
                          </a:solidFill>
                          <a:latin typeface="Malgun Gothic" pitchFamily="34" charset="0"/>
                          <a:ea typeface="Malgun Gothic" pitchFamily="34" charset="-122"/>
                          <a:cs typeface="Malgun Gothic" pitchFamily="34" charset="-120"/>
                        </a:rPr>
                        <a:t>4단계 (H2 · H3)</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E3F6F3"/>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월별 추이 · 시도×업종 히트맵 · 유명 관광지·산업단지형 baseline · H2 산점도 · H3 후보 20개 항목 확인(사후 확인)</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위 두 pkl</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bc_stage2_eda.pkl</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H2의 ‘후보군’에 보령시(대조군)가 들어 있어 9곳 기준으로 출력된다</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BC카드_5단계_</a:t>
                      </a:r>
                      <a:endParaRPr lang="en-US" sz="950" dirty="0">
                        <a:latin typeface="Malgun Gothic" charset="0"/>
                        <a:ea typeface="Malgun Gothic" charset="0"/>
                        <a:cs typeface="Malgun Gothic" charset="0"/>
                      </a:endParaRPr>
                    </a:p>
                    <a:p>
                      <a:pPr marL="0" indent="0">
                        <a:buNone/>
                      </a:pPr>
                      <a:r>
                        <a:rPr lang="en-US" sz="950" b="1" dirty="0">
                          <a:solidFill>
                            <a:srgbClr val="0B1B33"/>
                          </a:solidFill>
                          <a:latin typeface="Malgun Gothic" pitchFamily="34" charset="0"/>
                          <a:ea typeface="Malgun Gothic" pitchFamily="34" charset="-122"/>
                          <a:cs typeface="Malgun Gothic" pitchFamily="34" charset="-120"/>
                        </a:rPr>
                        <a:t>한국관광데이터랩_수집.ipynb</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5단계</a:t>
                      </a:r>
                      <a:endParaRPr lang="en-US" sz="900" dirty="0">
                        <a:latin typeface="Malgun Gothic" charset="0"/>
                        <a:ea typeface="Malgun Gothic" charset="0"/>
                        <a:cs typeface="Malgun Gothic" charset="0"/>
                      </a:endParaRPr>
                    </a:p>
                    <a:p>
                      <a:pPr marL="0" indent="0" algn="ctr">
                        <a:buNone/>
                      </a:pPr>
                      <a:r>
                        <a:rPr lang="en-US" sz="900" b="1" dirty="0">
                          <a:solidFill>
                            <a:srgbClr val="0B7A6D"/>
                          </a:solidFill>
                          <a:latin typeface="Malgun Gothic" pitchFamily="34" charset="0"/>
                          <a:ea typeface="Malgun Gothic" pitchFamily="34" charset="-122"/>
                          <a:cs typeface="Malgun Gothic" pitchFamily="34" charset="-120"/>
                        </a:rPr>
                        <a:t>(H1)</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E3F6F3"/>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TourAPI 기초지자체 지역방문자수(일별) 수집 → 후보 8곳의 외국인(touDivCd=3) 월별 합계</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서비스키 입력</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tour_datalab_foreign_</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visitors_monthly.csv</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서비스키는 입력 칸으로 비워 두었다</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BC카드_5단계_</a:t>
                      </a:r>
                      <a:endParaRPr lang="en-US" sz="950" dirty="0">
                        <a:latin typeface="Malgun Gothic" charset="0"/>
                        <a:ea typeface="Malgun Gothic" charset="0"/>
                        <a:cs typeface="Malgun Gothic" charset="0"/>
                      </a:endParaRPr>
                    </a:p>
                    <a:p>
                      <a:pPr marL="0" indent="0">
                        <a:buNone/>
                      </a:pPr>
                      <a:r>
                        <a:rPr lang="en-US" sz="950" b="1" dirty="0">
                          <a:solidFill>
                            <a:srgbClr val="0B1B33"/>
                          </a:solidFill>
                          <a:latin typeface="Malgun Gothic" pitchFamily="34" charset="0"/>
                          <a:ea typeface="Malgun Gothic" pitchFamily="34" charset="-122"/>
                          <a:cs typeface="Malgun Gothic" pitchFamily="34" charset="-120"/>
                        </a:rPr>
                        <a:t>시차상관_통계검증.ipynb</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5단계</a:t>
                      </a:r>
                      <a:endParaRPr lang="en-US" sz="900" dirty="0">
                        <a:latin typeface="Malgun Gothic" charset="0"/>
                        <a:ea typeface="Malgun Gothic" charset="0"/>
                        <a:cs typeface="Malgun Gothic" charset="0"/>
                      </a:endParaRPr>
                    </a:p>
                    <a:p>
                      <a:pPr marL="0" indent="0" algn="ctr">
                        <a:buNone/>
                      </a:pPr>
                      <a:r>
                        <a:rPr lang="en-US" sz="900" b="1" dirty="0">
                          <a:solidFill>
                            <a:srgbClr val="0B7A6D"/>
                          </a:solidFill>
                          <a:latin typeface="Malgun Gothic" pitchFamily="34" charset="0"/>
                          <a:ea typeface="Malgun Gothic" pitchFamily="34" charset="-122"/>
                          <a:cs typeface="Malgun Gothic" pitchFamily="34" charset="-120"/>
                        </a:rPr>
                        <a:t>(H1)</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E3F6F3"/>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카드 초과성장률 ↔ 방문자 증가율 시차상관 (Spearman · Pearson) · 지역 평균 제거 강건성</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bc_preprocessed.pkl</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방문자 월별 CSV → ρ · p</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기본값은 필터 통과 조합(ρ=−0.591), USE_RELIABLE=False면 −0.555</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BC카드_5단계_</a:t>
                      </a:r>
                      <a:endParaRPr lang="en-US" sz="950" dirty="0">
                        <a:latin typeface="Malgun Gothic" charset="0"/>
                        <a:ea typeface="Malgun Gothic" charset="0"/>
                        <a:cs typeface="Malgun Gothic" charset="0"/>
                      </a:endParaRPr>
                    </a:p>
                    <a:p>
                      <a:pPr marL="0" indent="0">
                        <a:buNone/>
                      </a:pPr>
                      <a:r>
                        <a:rPr lang="en-US" sz="950" b="1" dirty="0">
                          <a:solidFill>
                            <a:srgbClr val="0B1B33"/>
                          </a:solidFill>
                          <a:latin typeface="Malgun Gothic" pitchFamily="34" charset="0"/>
                          <a:ea typeface="Malgun Gothic" pitchFamily="34" charset="-122"/>
                          <a:cs typeface="Malgun Gothic" pitchFamily="34" charset="-120"/>
                        </a:rPr>
                        <a:t>외부데이터수집.ipynb</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9A6B00"/>
                          </a:solidFill>
                          <a:latin typeface="Malgun Gothic" pitchFamily="34" charset="0"/>
                          <a:ea typeface="Malgun Gothic" pitchFamily="34" charset="-122"/>
                          <a:cs typeface="Malgun Gothic" pitchFamily="34" charset="-120"/>
                        </a:rPr>
                        <a:t>5단계</a:t>
                      </a:r>
                      <a:endParaRPr lang="en-US" sz="900" dirty="0">
                        <a:latin typeface="Malgun Gothic" charset="0"/>
                        <a:ea typeface="Malgun Gothic" charset="0"/>
                        <a:cs typeface="Malgun Gothic" charset="0"/>
                      </a:endParaRPr>
                    </a:p>
                    <a:p>
                      <a:pPr marL="0" indent="0" algn="ctr">
                        <a:buNone/>
                      </a:pPr>
                      <a:r>
                        <a:rPr lang="en-US" sz="900" b="1" dirty="0">
                          <a:solidFill>
                            <a:srgbClr val="9A6B00"/>
                          </a:solidFill>
                          <a:latin typeface="Malgun Gothic" pitchFamily="34" charset="0"/>
                          <a:ea typeface="Malgun Gothic" pitchFamily="34" charset="-122"/>
                          <a:cs typeface="Malgun Gothic" pitchFamily="34" charset="-120"/>
                        </a:rPr>
                        <a:t>(폐기 기록)</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4DC"/>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구글트렌드(pytrends) 월별 검색 관심도 수집 시도 — 관광 · 이주노동 키워드 조합</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 google_trends_monthly.csv</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소규모 지역은 검색량이 희박해 쓰지 않았다 (22개 키워드 조합 중 13개 공백)</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BC카드_수치재현.py</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lgn="ctr">
                        <a:buNone/>
                      </a:pPr>
                      <a:r>
                        <a:rPr lang="en-US" sz="900" b="1" dirty="0">
                          <a:solidFill>
                            <a:srgbClr val="2F55B3"/>
                          </a:solidFill>
                          <a:latin typeface="Malgun Gothic" pitchFamily="34" charset="0"/>
                          <a:ea typeface="Malgun Gothic" pitchFamily="34" charset="-122"/>
                          <a:cs typeface="Malgun Gothic" pitchFamily="34" charset="-120"/>
                        </a:rPr>
                        <a:t>4~6단계</a:t>
                      </a:r>
                      <a:endParaRPr lang="en-US" sz="900" dirty="0">
                        <a:latin typeface="Malgun Gothic" charset="0"/>
                        <a:ea typeface="Malgun Gothic" charset="0"/>
                        <a:cs typeface="Malgun Gothic" charset="0"/>
                      </a:endParaRPr>
                    </a:p>
                    <a:p>
                      <a:pPr marL="0" indent="0" algn="ctr">
                        <a:buNone/>
                      </a:pPr>
                      <a:r>
                        <a:rPr lang="en-US" sz="900" b="1" dirty="0">
                          <a:solidFill>
                            <a:srgbClr val="2F55B3"/>
                          </a:solidFill>
                          <a:latin typeface="Malgun Gothic" pitchFamily="34" charset="0"/>
                          <a:ea typeface="Malgun Gothic" pitchFamily="34" charset="-122"/>
                          <a:cs typeface="Malgun Gothic" pitchFamily="34" charset="-120"/>
                        </a:rPr>
                        <a:t>재확인</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E8EFFC"/>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원본 CSV에서 H2 비교(규모 통제 포함) · AMT 효과 · H1 시차상관 · H3 전국 재검증까지 본문 핵심 수치를 처음부터 다시 계산</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ABP_CONTEST_DATA.csv</a:t>
                      </a:r>
                      <a:endParaRPr lang="en-US" sz="850" dirty="0">
                        <a:latin typeface="Malgun Gothic" charset="0"/>
                        <a:ea typeface="Malgun Gothic" charset="0"/>
                        <a:cs typeface="Malgun Gothic" charset="0"/>
                      </a:endParaRPr>
                    </a:p>
                    <a:p>
                      <a:pPr marL="0" indent="0">
                        <a:buNone/>
                      </a:pPr>
                      <a:r>
                        <a:rPr lang="en-US" sz="850" dirty="0">
                          <a:solidFill>
                            <a:srgbClr val="64748B"/>
                          </a:solidFill>
                          <a:latin typeface="Malgun Gothic" pitchFamily="34" charset="0"/>
                          <a:ea typeface="Malgun Gothic" pitchFamily="34" charset="-122"/>
                          <a:cs typeface="Malgun Gothic" pitchFamily="34" charset="-120"/>
                        </a:rPr>
                        <a:t>→ 항목별 ✓/✗ 리포트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14213D"/>
                          </a:solidFill>
                          <a:latin typeface="Malgun Gothic" pitchFamily="34" charset="0"/>
                          <a:ea typeface="Malgun Gothic" pitchFamily="34" charset="-122"/>
                          <a:cs typeface="Malgun Gothic" pitchFamily="34" charset="-120"/>
                        </a:rPr>
                        <a:t>노트북에 없던 H2 강건성·규모 통제 · H3 재검증 포함, API 키 불필요</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687568"/>
            <a:ext cx="1234440" cy="237744"/>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8" name="Text 5"/>
          <p:cNvSpPr txBox="1"/>
          <p:nvPr/>
        </p:nvSpPr>
        <p:spPr>
          <a:xfrm>
            <a:off x="548640" y="5687568"/>
            <a:ext cx="1234440" cy="237744"/>
          </a:xfrm>
          <a:prstGeom prst="rect">
            <a:avLst/>
          </a:prstGeom>
          <a:noFill/>
          <a:ln/>
        </p:spPr>
        <p:txBody>
          <a:bodyPr wrap="square" lIns="0" tIns="0" rIns="0" bIns="0" rtlCol="0" anchor="ctr"/>
          <a:lstStyle/>
          <a:p>
            <a:pPr marL="0" indent="0" algn="ctr">
              <a:buNone/>
            </a:pPr>
            <a:r>
              <a:rPr lang="en-US" sz="900" b="1" dirty="0">
                <a:solidFill>
                  <a:srgbClr val="0B7A6D"/>
                </a:solidFill>
                <a:latin typeface="Malgun Gothic" pitchFamily="34" charset="0"/>
                <a:ea typeface="Malgun Gothic" pitchFamily="34" charset="-122"/>
                <a:cs typeface="Malgun Gothic" pitchFamily="34" charset="-120"/>
              </a:rPr>
              <a:t>본문에 쓴 분석</a:t>
            </a:r>
            <a:endParaRPr lang="en-US" sz="900" dirty="0"/>
          </a:p>
        </p:txBody>
      </p:sp>
      <p:sp>
        <p:nvSpPr>
          <p:cNvPr id="9" name="Shape 6"/>
          <p:cNvSpPr/>
          <p:nvPr/>
        </p:nvSpPr>
        <p:spPr>
          <a:xfrm>
            <a:off x="1874520" y="5687568"/>
            <a:ext cx="1965960" cy="237744"/>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10" name="Text 7"/>
          <p:cNvSpPr txBox="1"/>
          <p:nvPr/>
        </p:nvSpPr>
        <p:spPr>
          <a:xfrm>
            <a:off x="1874520" y="5687568"/>
            <a:ext cx="1965960" cy="237744"/>
          </a:xfrm>
          <a:prstGeom prst="rect">
            <a:avLst/>
          </a:prstGeom>
          <a:noFill/>
          <a:ln/>
        </p:spPr>
        <p:txBody>
          <a:bodyPr wrap="square" lIns="0" tIns="0" rIns="0" bIns="0" rtlCol="0" anchor="ctr"/>
          <a:lstStyle/>
          <a:p>
            <a:pPr marL="0" indent="0" algn="ctr">
              <a:buNone/>
            </a:pPr>
            <a:r>
              <a:rPr lang="en-US" sz="900" b="1" dirty="0">
                <a:solidFill>
                  <a:srgbClr val="9A6B00"/>
                </a:solidFill>
                <a:latin typeface="Malgun Gothic" pitchFamily="34" charset="0"/>
                <a:ea typeface="Malgun Gothic" pitchFamily="34" charset="-122"/>
                <a:cs typeface="Malgun Gothic" pitchFamily="34" charset="-120"/>
              </a:rPr>
              <a:t>폐기한 시도 (기록으로 남김)</a:t>
            </a:r>
            <a:endParaRPr lang="en-US" sz="900" dirty="0"/>
          </a:p>
        </p:txBody>
      </p:sp>
      <p:sp>
        <p:nvSpPr>
          <p:cNvPr id="11" name="Shape 8"/>
          <p:cNvSpPr/>
          <p:nvPr/>
        </p:nvSpPr>
        <p:spPr>
          <a:xfrm>
            <a:off x="3931920" y="5687568"/>
            <a:ext cx="1554480" cy="237744"/>
          </a:xfrm>
          <a:prstGeom prst="roundRect">
            <a:avLst>
              <a:gd name="adj" fmla="val 50000"/>
            </a:avLst>
          </a:prstGeom>
          <a:solidFill>
            <a:srgbClr val="E8EFFC"/>
          </a:solidFill>
          <a:ln w="12700">
            <a:solidFill>
              <a:srgbClr val="E8EFFC"/>
            </a:solidFill>
            <a:prstDash val="solid"/>
          </a:ln>
        </p:spPr>
        <p:txBody>
          <a:bodyPr/>
          <a:lstStyle/>
          <a:p>
            <a:endParaRPr lang="ko-KR" altLang="en-US"/>
          </a:p>
        </p:txBody>
      </p:sp>
      <p:sp>
        <p:nvSpPr>
          <p:cNvPr id="12" name="Text 9"/>
          <p:cNvSpPr txBox="1"/>
          <p:nvPr/>
        </p:nvSpPr>
        <p:spPr>
          <a:xfrm>
            <a:off x="3931920" y="5687568"/>
            <a:ext cx="1554480" cy="237744"/>
          </a:xfrm>
          <a:prstGeom prst="rect">
            <a:avLst/>
          </a:prstGeom>
          <a:noFill/>
          <a:ln/>
        </p:spPr>
        <p:txBody>
          <a:bodyPr wrap="square" lIns="0" tIns="0" rIns="0" bIns="0" rtlCol="0" anchor="ctr"/>
          <a:lstStyle/>
          <a:p>
            <a:pPr marL="0" indent="0" algn="ctr">
              <a:buNone/>
            </a:pPr>
            <a:r>
              <a:rPr lang="en-US" sz="900" b="1" dirty="0">
                <a:solidFill>
                  <a:srgbClr val="2F55B3"/>
                </a:solidFill>
                <a:latin typeface="Malgun Gothic" pitchFamily="34" charset="0"/>
                <a:ea typeface="Malgun Gothic" pitchFamily="34" charset="-122"/>
                <a:cs typeface="Malgun Gothic" pitchFamily="34" charset="-120"/>
              </a:rPr>
              <a:t>재현용으로 새로 만듦</a:t>
            </a:r>
            <a:endParaRPr lang="en-US" sz="900" dirty="0"/>
          </a:p>
        </p:txBody>
      </p:sp>
      <p:sp>
        <p:nvSpPr>
          <p:cNvPr id="13" name="Text 10"/>
          <p:cNvSpPr txBox="1"/>
          <p:nvPr/>
        </p:nvSpPr>
        <p:spPr>
          <a:xfrm>
            <a:off x="5852160" y="5687568"/>
            <a:ext cx="5788152" cy="237744"/>
          </a:xfrm>
          <a:prstGeom prst="rect">
            <a:avLst/>
          </a:prstGeom>
          <a:noFill/>
          <a:ln/>
        </p:spPr>
        <p:txBody>
          <a:bodyPr wrap="square" lIns="0" tIns="0" rIns="0" bIns="0" rtlCol="0" anchor="ctr"/>
          <a:lstStyle/>
          <a:p>
            <a:pPr marL="0" indent="0" algn="r">
              <a:buNone/>
            </a:pPr>
            <a:r>
              <a:rPr lang="en-US" sz="900" dirty="0">
                <a:solidFill>
                  <a:srgbClr val="64748B"/>
                </a:solidFill>
                <a:latin typeface="Malgun Gothic" pitchFamily="34" charset="0"/>
                <a:ea typeface="Malgun Gothic" pitchFamily="34" charset="-122"/>
                <a:cs typeface="Malgun Gothic" pitchFamily="34" charset="-120"/>
              </a:rPr>
              <a:t>노트북은 Google Colab(드라이브 ‘BC카드’ 폴더), 재현 스크립트는 로컬 Python으로 실행한다.</a:t>
            </a:r>
            <a:endParaRPr lang="en-US" sz="900" dirty="0"/>
          </a:p>
        </p:txBody>
      </p:sp>
      <p:sp>
        <p:nvSpPr>
          <p:cNvPr id="14" name="Text 11"/>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파일 이름은 첨부 파일과 같다. 시차상관 노트북은 본 자료의 기준(최소건수 필터 통과 조합)으로 맞춰 두었고, TourAPI 서비스키는 제출용 파일에서 비웠다.</a:t>
            </a:r>
            <a:endParaRPr lang="en-US" sz="900" dirty="0"/>
          </a:p>
        </p:txBody>
      </p:sp>
      <p:sp>
        <p:nvSpPr>
          <p:cNvPr id="15" name="Text 1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6" name="Text 1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37 / 42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A2  </a:t>
            </a:r>
            <a:r>
              <a:rPr lang="en-US" sz="1150" b="1" dirty="0">
                <a:solidFill>
                  <a:srgbClr val="64748B"/>
                </a:solidFill>
                <a:latin typeface="Malgun Gothic" pitchFamily="34" charset="0"/>
                <a:ea typeface="Malgun Gothic" pitchFamily="34" charset="-122"/>
                <a:cs typeface="Malgun Gothic" pitchFamily="34" charset="-120"/>
              </a:rPr>
              <a:t>재현 가이드</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이 순서로 실행하면 본문의 숫자가 다시 나온다</a:t>
            </a:r>
            <a:endParaRPr lang="en-US" sz="2400" dirty="0"/>
          </a:p>
        </p:txBody>
      </p:sp>
      <p:sp>
        <p:nvSpPr>
          <p:cNvPr id="6" name="Shape 4"/>
          <p:cNvSpPr/>
          <p:nvPr/>
        </p:nvSpPr>
        <p:spPr>
          <a:xfrm>
            <a:off x="548640" y="1737360"/>
            <a:ext cx="5074920" cy="3017520"/>
          </a:xfrm>
          <a:prstGeom prst="roundRect">
            <a:avLst>
              <a:gd name="adj" fmla="val 3636"/>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10512"/>
            <a:ext cx="274320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실행 순서</a:t>
            </a:r>
            <a:endParaRPr lang="en-US" sz="1250" dirty="0"/>
          </a:p>
        </p:txBody>
      </p:sp>
      <p:sp>
        <p:nvSpPr>
          <p:cNvPr id="8" name="Shape 6"/>
          <p:cNvSpPr/>
          <p:nvPr/>
        </p:nvSpPr>
        <p:spPr>
          <a:xfrm>
            <a:off x="941832" y="2395728"/>
            <a:ext cx="0" cy="2011680"/>
          </a:xfrm>
          <a:prstGeom prst="line">
            <a:avLst/>
          </a:prstGeom>
          <a:noFill/>
          <a:ln w="19050">
            <a:solidFill>
              <a:srgbClr val="C4CEDC"/>
            </a:solidFill>
            <a:prstDash val="solid"/>
          </a:ln>
        </p:spPr>
        <p:txBody>
          <a:bodyPr/>
          <a:lstStyle/>
          <a:p>
            <a:endParaRPr lang="ko-KR" altLang="en-US"/>
          </a:p>
        </p:txBody>
      </p:sp>
      <p:sp>
        <p:nvSpPr>
          <p:cNvPr id="9" name="Shape 7"/>
          <p:cNvSpPr/>
          <p:nvPr/>
        </p:nvSpPr>
        <p:spPr>
          <a:xfrm>
            <a:off x="777240" y="223113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0" name="Text 8"/>
          <p:cNvSpPr txBox="1"/>
          <p:nvPr/>
        </p:nvSpPr>
        <p:spPr>
          <a:xfrm>
            <a:off x="777240" y="223113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1" name="Text 9"/>
          <p:cNvSpPr txBox="1"/>
          <p:nvPr/>
        </p:nvSpPr>
        <p:spPr>
          <a:xfrm>
            <a:off x="1280160" y="2194560"/>
            <a:ext cx="4160520" cy="201168"/>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1단계 전처리</a:t>
            </a:r>
            <a:endParaRPr lang="en-US" sz="1050" dirty="0"/>
          </a:p>
        </p:txBody>
      </p:sp>
      <p:sp>
        <p:nvSpPr>
          <p:cNvPr id="12" name="Text 10"/>
          <p:cNvSpPr txBox="1"/>
          <p:nvPr/>
        </p:nvSpPr>
        <p:spPr>
          <a:xfrm>
            <a:off x="1280160" y="2395728"/>
            <a:ext cx="4160520" cy="274320"/>
          </a:xfrm>
          <a:prstGeom prst="rect">
            <a:avLst/>
          </a:prstGeom>
          <a:noFill/>
          <a:ln/>
        </p:spPr>
        <p:txBody>
          <a:bodyPr wrap="square" lIns="0" tIns="0" rIns="0" bIns="0" rtlCol="0" anchor="t"/>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ABP_CONTEST_DATA.csv → bc_preprocessed.pkl · bc_stage3_signals.pkl</a:t>
            </a:r>
            <a:endParaRPr lang="en-US" sz="850" dirty="0"/>
          </a:p>
        </p:txBody>
      </p:sp>
      <p:sp>
        <p:nvSpPr>
          <p:cNvPr id="13" name="Shape 11"/>
          <p:cNvSpPr/>
          <p:nvPr/>
        </p:nvSpPr>
        <p:spPr>
          <a:xfrm>
            <a:off x="777240" y="273405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4" name="Text 12"/>
          <p:cNvSpPr txBox="1"/>
          <p:nvPr/>
        </p:nvSpPr>
        <p:spPr>
          <a:xfrm>
            <a:off x="777240" y="273405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5" name="Text 13"/>
          <p:cNvSpPr txBox="1"/>
          <p:nvPr/>
        </p:nvSpPr>
        <p:spPr>
          <a:xfrm>
            <a:off x="1280160" y="2697480"/>
            <a:ext cx="4160520" cy="201168"/>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2단계 EDA</a:t>
            </a:r>
            <a:endParaRPr lang="en-US" sz="1050" dirty="0"/>
          </a:p>
        </p:txBody>
      </p:sp>
      <p:sp>
        <p:nvSpPr>
          <p:cNvPr id="16" name="Text 14"/>
          <p:cNvSpPr txBox="1"/>
          <p:nvPr/>
        </p:nvSpPr>
        <p:spPr>
          <a:xfrm>
            <a:off x="1280160" y="2898648"/>
            <a:ext cx="4160520" cy="274320"/>
          </a:xfrm>
          <a:prstGeom prst="rect">
            <a:avLst/>
          </a:prstGeom>
          <a:noFill/>
          <a:ln/>
        </p:spPr>
        <p:txBody>
          <a:bodyPr wrap="square" lIns="0" tIns="0" rIns="0" bIns="0" rtlCol="0" anchor="t"/>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H2 산점도 · H3 후보 20개 항목 확인 → bc_stage2_eda.pkl</a:t>
            </a:r>
            <a:endParaRPr lang="en-US" sz="850" dirty="0"/>
          </a:p>
        </p:txBody>
      </p:sp>
      <p:sp>
        <p:nvSpPr>
          <p:cNvPr id="17" name="Shape 15"/>
          <p:cNvSpPr/>
          <p:nvPr/>
        </p:nvSpPr>
        <p:spPr>
          <a:xfrm>
            <a:off x="777240" y="323697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18" name="Text 16"/>
          <p:cNvSpPr txBox="1"/>
          <p:nvPr/>
        </p:nvSpPr>
        <p:spPr>
          <a:xfrm>
            <a:off x="777240" y="323697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9" name="Text 17"/>
          <p:cNvSpPr txBox="1"/>
          <p:nvPr/>
        </p:nvSpPr>
        <p:spPr>
          <a:xfrm>
            <a:off x="1280160" y="3200400"/>
            <a:ext cx="4160520" cy="201168"/>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5단계 방문자 수집</a:t>
            </a:r>
            <a:endParaRPr lang="en-US" sz="1050" dirty="0"/>
          </a:p>
        </p:txBody>
      </p:sp>
      <p:sp>
        <p:nvSpPr>
          <p:cNvPr id="20" name="Text 18"/>
          <p:cNvSpPr txBox="1"/>
          <p:nvPr/>
        </p:nvSpPr>
        <p:spPr>
          <a:xfrm>
            <a:off x="1280160" y="3401568"/>
            <a:ext cx="4160520" cy="274320"/>
          </a:xfrm>
          <a:prstGeom prst="rect">
            <a:avLst/>
          </a:prstGeom>
          <a:noFill/>
          <a:ln/>
        </p:spPr>
        <p:txBody>
          <a:bodyPr wrap="square" lIns="0" tIns="0" rIns="0" bIns="0" rtlCol="0" anchor="t"/>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TourAPI 서비스키 입력 → tour_datalab_foreign_visitors_monthly.csv</a:t>
            </a:r>
            <a:endParaRPr lang="en-US" sz="850" dirty="0"/>
          </a:p>
        </p:txBody>
      </p:sp>
      <p:sp>
        <p:nvSpPr>
          <p:cNvPr id="21" name="Shape 19"/>
          <p:cNvSpPr/>
          <p:nvPr/>
        </p:nvSpPr>
        <p:spPr>
          <a:xfrm>
            <a:off x="777240" y="3739896"/>
            <a:ext cx="329184" cy="329184"/>
          </a:xfrm>
          <a:prstGeom prst="ellipse">
            <a:avLst/>
          </a:prstGeom>
          <a:solidFill>
            <a:srgbClr val="0B1B33"/>
          </a:solidFill>
          <a:ln w="12700">
            <a:solidFill>
              <a:srgbClr val="E8383D"/>
            </a:solidFill>
            <a:prstDash val="solid"/>
          </a:ln>
        </p:spPr>
        <p:txBody>
          <a:bodyPr/>
          <a:lstStyle/>
          <a:p>
            <a:endParaRPr lang="ko-KR" altLang="en-US"/>
          </a:p>
        </p:txBody>
      </p:sp>
      <p:sp>
        <p:nvSpPr>
          <p:cNvPr id="22" name="Text 20"/>
          <p:cNvSpPr txBox="1"/>
          <p:nvPr/>
        </p:nvSpPr>
        <p:spPr>
          <a:xfrm>
            <a:off x="777240" y="373989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3" name="Text 21"/>
          <p:cNvSpPr txBox="1"/>
          <p:nvPr/>
        </p:nvSpPr>
        <p:spPr>
          <a:xfrm>
            <a:off x="1280160" y="3703320"/>
            <a:ext cx="4160520" cy="201168"/>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5단계 시차상관</a:t>
            </a:r>
            <a:endParaRPr lang="en-US" sz="1050" dirty="0"/>
          </a:p>
        </p:txBody>
      </p:sp>
      <p:sp>
        <p:nvSpPr>
          <p:cNvPr id="24" name="Text 22"/>
          <p:cNvSpPr txBox="1"/>
          <p:nvPr/>
        </p:nvSpPr>
        <p:spPr>
          <a:xfrm>
            <a:off x="1280160" y="3904488"/>
            <a:ext cx="4160520" cy="274320"/>
          </a:xfrm>
          <a:prstGeom prst="rect">
            <a:avLst/>
          </a:prstGeom>
          <a:noFill/>
          <a:ln/>
        </p:spPr>
        <p:txBody>
          <a:bodyPr wrap="square" lIns="0" tIns="0" rIns="0" bIns="0" rtlCol="0" anchor="t"/>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위 두 파일로 ρ · p 계산 (기본값: 필터 통과 조합, ρ=−0.591)</a:t>
            </a:r>
            <a:endParaRPr lang="en-US" sz="850" dirty="0"/>
          </a:p>
        </p:txBody>
      </p:sp>
      <p:sp>
        <p:nvSpPr>
          <p:cNvPr id="25" name="Shape 23"/>
          <p:cNvSpPr/>
          <p:nvPr/>
        </p:nvSpPr>
        <p:spPr>
          <a:xfrm>
            <a:off x="777240" y="4242816"/>
            <a:ext cx="329184" cy="329184"/>
          </a:xfrm>
          <a:prstGeom prst="ellipse">
            <a:avLst/>
          </a:prstGeom>
          <a:solidFill>
            <a:srgbClr val="E8383D"/>
          </a:solidFill>
          <a:ln w="12700">
            <a:solidFill>
              <a:srgbClr val="E8383D"/>
            </a:solidFill>
            <a:prstDash val="solid"/>
          </a:ln>
        </p:spPr>
        <p:txBody>
          <a:bodyPr/>
          <a:lstStyle/>
          <a:p>
            <a:endParaRPr lang="ko-KR" altLang="en-US"/>
          </a:p>
        </p:txBody>
      </p:sp>
      <p:sp>
        <p:nvSpPr>
          <p:cNvPr id="26" name="Text 24"/>
          <p:cNvSpPr txBox="1"/>
          <p:nvPr/>
        </p:nvSpPr>
        <p:spPr>
          <a:xfrm>
            <a:off x="777240" y="424281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27" name="Text 25"/>
          <p:cNvSpPr txBox="1"/>
          <p:nvPr/>
        </p:nvSpPr>
        <p:spPr>
          <a:xfrm>
            <a:off x="1280160" y="4206240"/>
            <a:ext cx="4160520" cy="201168"/>
          </a:xfrm>
          <a:prstGeom prst="rect">
            <a:avLst/>
          </a:prstGeom>
          <a:noFill/>
          <a:ln/>
        </p:spPr>
        <p:txBody>
          <a:bodyPr wrap="square" lIns="0" tIns="0" rIns="0" bIns="0" rtlCol="0" anchor="ctr"/>
          <a:lstStyle/>
          <a:p>
            <a:pPr marL="0" indent="0">
              <a:buNone/>
            </a:pPr>
            <a:r>
              <a:rPr lang="en-US" sz="1050" b="1" dirty="0">
                <a:solidFill>
                  <a:srgbClr val="B7232B"/>
                </a:solidFill>
                <a:latin typeface="Malgun Gothic" pitchFamily="34" charset="0"/>
                <a:ea typeface="Malgun Gothic" pitchFamily="34" charset="-122"/>
                <a:cs typeface="Malgun Gothic" pitchFamily="34" charset="-120"/>
              </a:rPr>
              <a:t>수치 재현 스크립트</a:t>
            </a:r>
            <a:endParaRPr lang="en-US" sz="1050" dirty="0"/>
          </a:p>
        </p:txBody>
      </p:sp>
      <p:sp>
        <p:nvSpPr>
          <p:cNvPr id="28" name="Text 26"/>
          <p:cNvSpPr txBox="1"/>
          <p:nvPr/>
        </p:nvSpPr>
        <p:spPr>
          <a:xfrm>
            <a:off x="1280160" y="4407408"/>
            <a:ext cx="4160520" cy="274320"/>
          </a:xfrm>
          <a:prstGeom prst="rect">
            <a:avLst/>
          </a:prstGeom>
          <a:noFill/>
          <a:ln/>
        </p:spPr>
        <p:txBody>
          <a:bodyPr wrap="square" lIns="0" tIns="0" rIns="0" bIns="0" rtlCol="0" anchor="t"/>
          <a:lstStyle/>
          <a:p>
            <a:pPr marL="0" indent="0">
              <a:lnSpc>
                <a:spcPct val="100000"/>
              </a:lnSpc>
              <a:buNone/>
            </a:pPr>
            <a:r>
              <a:rPr lang="en-US" sz="850" dirty="0">
                <a:solidFill>
                  <a:srgbClr val="64748B"/>
                </a:solidFill>
                <a:latin typeface="Malgun Gothic" pitchFamily="34" charset="0"/>
                <a:ea typeface="Malgun Gothic" pitchFamily="34" charset="-122"/>
                <a:cs typeface="Malgun Gothic" pitchFamily="34" charset="-120"/>
              </a:rPr>
              <a:t>CSV 한 개로 H2 강건성·규모 통제 · AMT · H3 전국 재검증까지 다시 계산</a:t>
            </a:r>
            <a:endParaRPr lang="en-US" sz="850" dirty="0"/>
          </a:p>
        </p:txBody>
      </p:sp>
      <p:sp>
        <p:nvSpPr>
          <p:cNvPr id="29" name="Shape 27"/>
          <p:cNvSpPr/>
          <p:nvPr/>
        </p:nvSpPr>
        <p:spPr>
          <a:xfrm>
            <a:off x="548640" y="4864608"/>
            <a:ext cx="5074920" cy="1170432"/>
          </a:xfrm>
          <a:prstGeom prst="roundRect">
            <a:avLst>
              <a:gd name="adj" fmla="val 9375"/>
            </a:avLst>
          </a:prstGeom>
          <a:solidFill>
            <a:srgbClr val="FFFFFF"/>
          </a:solidFill>
          <a:ln w="9525">
            <a:solidFill>
              <a:srgbClr val="D9E0EA"/>
            </a:solidFill>
            <a:prstDash val="solid"/>
          </a:ln>
        </p:spPr>
        <p:txBody>
          <a:bodyPr/>
          <a:lstStyle/>
          <a:p>
            <a:endParaRPr lang="ko-KR" altLang="en-US"/>
          </a:p>
        </p:txBody>
      </p:sp>
      <p:sp>
        <p:nvSpPr>
          <p:cNvPr id="30" name="Text 28"/>
          <p:cNvSpPr txBox="1"/>
          <p:nvPr/>
        </p:nvSpPr>
        <p:spPr>
          <a:xfrm>
            <a:off x="777240" y="4937760"/>
            <a:ext cx="2743200" cy="237744"/>
          </a:xfrm>
          <a:prstGeom prst="rect">
            <a:avLst/>
          </a:prstGeom>
          <a:noFill/>
          <a:ln/>
        </p:spPr>
        <p:txBody>
          <a:bodyPr wrap="square" lIns="0" tIns="0" rIns="0" bIns="0" rtlCol="0" anchor="ctr"/>
          <a:lstStyle/>
          <a:p>
            <a:pPr marL="0" indent="0">
              <a:buNone/>
            </a:pPr>
            <a:r>
              <a:rPr lang="en-US" sz="1050" b="1" dirty="0">
                <a:solidFill>
                  <a:srgbClr val="14213D"/>
                </a:solidFill>
                <a:latin typeface="Malgun Gothic" pitchFamily="34" charset="0"/>
                <a:ea typeface="Malgun Gothic" pitchFamily="34" charset="-122"/>
                <a:cs typeface="Malgun Gothic" pitchFamily="34" charset="-120"/>
              </a:rPr>
              <a:t>주요 설정</a:t>
            </a:r>
            <a:endParaRPr lang="en-US" sz="1050" dirty="0"/>
          </a:p>
        </p:txBody>
      </p:sp>
      <p:sp>
        <p:nvSpPr>
          <p:cNvPr id="31" name="Text 29"/>
          <p:cNvSpPr txBox="1"/>
          <p:nvPr/>
        </p:nvSpPr>
        <p:spPr>
          <a:xfrm>
            <a:off x="777240" y="5193792"/>
            <a:ext cx="4617720" cy="786384"/>
          </a:xfrm>
          <a:prstGeom prst="rect">
            <a:avLst/>
          </a:prstGeom>
          <a:noFill/>
          <a:ln/>
        </p:spPr>
        <p:txBody>
          <a:bodyPr wrap="square" lIns="0" tIns="0" rIns="0" bIns="0" rtlCol="0" anchor="t"/>
          <a:lstStyle/>
          <a:p>
            <a:pPr marL="0" indent="0">
              <a:lnSpc>
                <a:spcPct val="112000"/>
              </a:lnSpc>
              <a:spcAft>
                <a:spcPts val="200"/>
              </a:spcAft>
              <a:buNone/>
            </a:pPr>
            <a:r>
              <a:rPr lang="en-US" sz="850" b="1" dirty="0">
                <a:solidFill>
                  <a:srgbClr val="B7232B"/>
                </a:solidFill>
                <a:latin typeface="Malgun Gothic" pitchFamily="34" charset="0"/>
                <a:ea typeface="Malgun Gothic" pitchFamily="34" charset="-122"/>
                <a:cs typeface="Malgun Gothic" pitchFamily="34" charset="-120"/>
              </a:rPr>
              <a:t>최소건수 필터  </a:t>
            </a:r>
            <a:r>
              <a:rPr lang="en-US" sz="850" dirty="0">
                <a:solidFill>
                  <a:srgbClr val="3A475C"/>
                </a:solidFill>
                <a:latin typeface="Malgun Gothic" pitchFamily="34" charset="0"/>
                <a:ea typeface="Malgun Gothic" pitchFamily="34" charset="-122"/>
                <a:cs typeface="Malgun Gothic" pitchFamily="34" charset="-120"/>
              </a:rPr>
              <a:t>6개월 누적 ≥200건 · 최근월(6월) ≥30건</a:t>
            </a:r>
            <a:endParaRPr lang="en-US" sz="850" dirty="0"/>
          </a:p>
          <a:p>
            <a:pPr marL="0" indent="0">
              <a:lnSpc>
                <a:spcPct val="112000"/>
              </a:lnSpc>
              <a:spcAft>
                <a:spcPts val="200"/>
              </a:spcAft>
              <a:buNone/>
            </a:pPr>
            <a:r>
              <a:rPr lang="en-US" sz="850" b="1" dirty="0">
                <a:solidFill>
                  <a:srgbClr val="B7232B"/>
                </a:solidFill>
                <a:latin typeface="Malgun Gothic" pitchFamily="34" charset="0"/>
                <a:ea typeface="Malgun Gothic" pitchFamily="34" charset="-122"/>
                <a:cs typeface="Malgun Gothic" pitchFamily="34" charset="-120"/>
              </a:rPr>
              <a:t>초과성장률  </a:t>
            </a:r>
            <a:r>
              <a:rPr lang="en-US" sz="850" dirty="0">
                <a:solidFill>
                  <a:srgbClr val="3A475C"/>
                </a:solidFill>
                <a:latin typeface="Malgun Gothic" pitchFamily="34" charset="0"/>
                <a:ea typeface="Malgun Gothic" pitchFamily="34" charset="-122"/>
                <a:cs typeface="Malgun Gothic" pitchFamily="34" charset="-120"/>
              </a:rPr>
              <a:t>지역 MoM − 전국 동종업종 MoM, 최근 2개월 평균 (건수 기준)</a:t>
            </a:r>
            <a:endParaRPr lang="en-US" sz="850" dirty="0"/>
          </a:p>
          <a:p>
            <a:pPr marL="0" indent="0">
              <a:lnSpc>
                <a:spcPct val="112000"/>
              </a:lnSpc>
              <a:spcAft>
                <a:spcPts val="200"/>
              </a:spcAft>
              <a:buNone/>
            </a:pPr>
            <a:r>
              <a:rPr lang="en-US" sz="850" b="1" dirty="0">
                <a:solidFill>
                  <a:srgbClr val="B7232B"/>
                </a:solidFill>
                <a:latin typeface="Malgun Gothic" pitchFamily="34" charset="0"/>
                <a:ea typeface="Malgun Gothic" pitchFamily="34" charset="-122"/>
                <a:cs typeface="Malgun Gothic" pitchFamily="34" charset="-120"/>
              </a:rPr>
              <a:t>시차상관  </a:t>
            </a:r>
            <a:r>
              <a:rPr lang="en-US" sz="850" dirty="0">
                <a:solidFill>
                  <a:srgbClr val="3A475C"/>
                </a:solidFill>
                <a:latin typeface="Malgun Gothic" pitchFamily="34" charset="0"/>
                <a:ea typeface="Malgun Gothic" pitchFamily="34" charset="-122"/>
                <a:cs typeface="Malgun Gothic" pitchFamily="34" charset="-120"/>
              </a:rPr>
              <a:t>카드[m] ↔ 방문자[m+1], 8곳 × 4개월 = 32쌍</a:t>
            </a:r>
            <a:endParaRPr lang="en-US" sz="850" dirty="0"/>
          </a:p>
          <a:p>
            <a:pPr marL="0" indent="0">
              <a:lnSpc>
                <a:spcPct val="112000"/>
              </a:lnSpc>
              <a:spcAft>
                <a:spcPts val="200"/>
              </a:spcAft>
              <a:buNone/>
            </a:pPr>
            <a:r>
              <a:rPr lang="en-US" sz="850" b="1" dirty="0">
                <a:solidFill>
                  <a:srgbClr val="B7232B"/>
                </a:solidFill>
                <a:latin typeface="Malgun Gothic" pitchFamily="34" charset="0"/>
                <a:ea typeface="Malgun Gothic" pitchFamily="34" charset="-122"/>
                <a:cs typeface="Malgun Gothic" pitchFamily="34" charset="-120"/>
              </a:rPr>
              <a:t>무작위 기준선  </a:t>
            </a:r>
            <a:r>
              <a:rPr lang="en-US" sz="850" dirty="0">
                <a:solidFill>
                  <a:srgbClr val="3A475C"/>
                </a:solidFill>
                <a:latin typeface="Malgun Gothic" pitchFamily="34" charset="0"/>
                <a:ea typeface="Malgun Gothic" pitchFamily="34" charset="-122"/>
                <a:cs typeface="Malgun Gothic" pitchFamily="34" charset="-120"/>
              </a:rPr>
              <a:t>각 셀의 6개월 값 순서를 300회 섞음 (seed 0)</a:t>
            </a:r>
            <a:endParaRPr lang="en-US" sz="850" dirty="0"/>
          </a:p>
        </p:txBody>
      </p:sp>
      <p:sp>
        <p:nvSpPr>
          <p:cNvPr id="32" name="Text 30"/>
          <p:cNvSpPr txBox="1"/>
          <p:nvPr/>
        </p:nvSpPr>
        <p:spPr>
          <a:xfrm>
            <a:off x="5897880" y="1810512"/>
            <a:ext cx="457200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재현 확인 수치 (본문과 대조)</a:t>
            </a:r>
            <a:endParaRPr lang="en-US" sz="12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897880" y="2103120"/>
          <a:ext cx="5742432" cy="3694176"/>
        </p:xfrm>
        <a:graphic>
          <a:graphicData uri="http://schemas.openxmlformats.org/drawingml/2006/table">
            <a:tbl>
              <a:tblPr/>
              <a:tblGrid>
                <a:gridCol w="254203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항목</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재계산 값</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확인 위치</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원본 행 수 · 시도+시군구 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242,574 · 255</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필터 전 → 후 (지역×업종 조합)</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2,199 → 2,111</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1단계 · 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H2 후보 8곳 초과성장률, 원 산출값 (관광지 · 산업단지형)</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+21.03%p (+0.92 · +0.67)</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2단계 · 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H2 아티팩트 4셀 제외 (관광지 · 산업단지형 대비)</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+17.45%p (18.9배 · 26.1배)</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H2 규모 통제 — 7만 건 미만 비후보 63곳 (후보 대비)</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+4.58%p (3.8배)</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후보 8곳 AMT 1→6월 (전국)</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+58.2% (+3.3%)</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H1 Spearman ρ (n=32) · 지역 평균 제거</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−0.591 · −0.474</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시차상관 · 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H1 필터를 적용하지 않은 경우</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−0.555 (p=0.001)</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시차상관 · 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8"/>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H3 후보 20개 항목 (사후 확인)</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20 / 20</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2단계 · 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H3 전국 재검증 — 성장률 지속 (전체)</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36.7% (54.4%)</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10"/>
                  </a:ext>
                </a:extLst>
              </a:tr>
              <a:tr h="301752">
                <a:tc>
                  <a:txBody>
                    <a:bodyPr/>
                    <a:lstStyle/>
                    <a:p>
                      <a:pPr marL="0" indent="0">
                        <a:buNone/>
                      </a:pPr>
                      <a:r>
                        <a:rPr lang="en-US" sz="900" dirty="0">
                          <a:solidFill>
                            <a:srgbClr val="14213D"/>
                          </a:solidFill>
                          <a:latin typeface="Malgun Gothic" pitchFamily="34" charset="0"/>
                          <a:ea typeface="Malgun Gothic" pitchFamily="34" charset="-122"/>
                          <a:cs typeface="Malgun Gothic" pitchFamily="34" charset="-120"/>
                        </a:rPr>
                        <a:t>H3 전국 재검증 — 수준 지속 (무작위 기준)</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50" b="1" dirty="0">
                          <a:solidFill>
                            <a:srgbClr val="0B1B33"/>
                          </a:solidFill>
                          <a:latin typeface="Malgun Gothic" pitchFamily="34" charset="0"/>
                          <a:ea typeface="Malgun Gothic" pitchFamily="34" charset="-122"/>
                          <a:cs typeface="Malgun Gothic" pitchFamily="34" charset="-120"/>
                        </a:rPr>
                        <a:t>100% (83.5%)</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Malgun Gothic" pitchFamily="34" charset="0"/>
                          <a:ea typeface="Malgun Gothic" pitchFamily="34" charset="-122"/>
                          <a:cs typeface="Malgun Gothic" pitchFamily="34" charset="-120"/>
                        </a:rPr>
                        <a:t>스크립트</a:t>
                      </a:r>
                      <a:endParaRPr lang="en-US" sz="8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34" name="Text 31"/>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2026.9.21에 재현 스크립트를 원본 CSV에 실행해 위 항목이 모두 일치함을 확인했다. 방문자 수는 5단계 수집 결과를 스크립트에 옮겨 적었다. 괄호는 비교 대상의 값이다.</a:t>
            </a:r>
            <a:endParaRPr lang="en-US" sz="900" dirty="0"/>
          </a:p>
        </p:txBody>
      </p:sp>
      <p:sp>
        <p:nvSpPr>
          <p:cNvPr id="35" name="Text 32"/>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6" name="Text 33"/>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38 / 42</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A3  </a:t>
            </a:r>
            <a:r>
              <a:rPr lang="en-US" sz="1150" b="1" dirty="0">
                <a:solidFill>
                  <a:srgbClr val="64748B"/>
                </a:solidFill>
                <a:latin typeface="Malgun Gothic" pitchFamily="34" charset="0"/>
                <a:ea typeface="Malgun Gothic" pitchFamily="34" charset="-122"/>
                <a:cs typeface="Malgun Gothic" pitchFamily="34" charset="-120"/>
              </a:rPr>
              <a:t>제작 과정 기록</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제작 과정 기록 — 본문에는 싣지 않은 방향 전환과 의사결정 타임라인</a:t>
            </a:r>
            <a:endParaRPr lang="en-US" sz="2400" dirty="0"/>
          </a:p>
        </p:txBody>
      </p:sp>
      <p:sp>
        <p:nvSpPr>
          <p:cNvPr id="6" name="Shape 4"/>
          <p:cNvSpPr/>
          <p:nvPr/>
        </p:nvSpPr>
        <p:spPr>
          <a:xfrm>
            <a:off x="548640" y="1737360"/>
            <a:ext cx="6355080" cy="4297680"/>
          </a:xfrm>
          <a:prstGeom prst="roundRect">
            <a:avLst>
              <a:gd name="adj" fmla="val 2553"/>
            </a:avLst>
          </a:prstGeom>
          <a:solidFill>
            <a:srgbClr val="F3F6FB"/>
          </a:solidFill>
          <a:ln w="12700">
            <a:solidFill>
              <a:srgbClr val="F3F6FB"/>
            </a:solidFill>
            <a:prstDash val="solid"/>
          </a:ln>
        </p:spPr>
        <p:txBody>
          <a:bodyPr/>
          <a:lstStyle/>
          <a:p>
            <a:endParaRPr lang="ko-KR" altLang="en-US"/>
          </a:p>
        </p:txBody>
      </p:sp>
      <p:sp>
        <p:nvSpPr>
          <p:cNvPr id="7" name="Text 5"/>
          <p:cNvSpPr txBox="1"/>
          <p:nvPr/>
        </p:nvSpPr>
        <p:spPr>
          <a:xfrm>
            <a:off x="777240" y="1810512"/>
            <a:ext cx="384048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의사결정 타임라인 (회의록 기준)</a:t>
            </a:r>
            <a:endParaRPr lang="en-US" sz="1250" dirty="0"/>
          </a:p>
        </p:txBody>
      </p:sp>
      <p:sp>
        <p:nvSpPr>
          <p:cNvPr id="8" name="Shape 6"/>
          <p:cNvSpPr/>
          <p:nvPr/>
        </p:nvSpPr>
        <p:spPr>
          <a:xfrm>
            <a:off x="5120640" y="1892808"/>
            <a:ext cx="109728" cy="109728"/>
          </a:xfrm>
          <a:prstGeom prst="ellipse">
            <a:avLst/>
          </a:prstGeom>
          <a:solidFill>
            <a:srgbClr val="E8383D"/>
          </a:solidFill>
          <a:ln w="12700">
            <a:solidFill>
              <a:srgbClr val="E8383D"/>
            </a:solidFill>
            <a:prstDash val="solid"/>
          </a:ln>
        </p:spPr>
        <p:txBody>
          <a:bodyPr/>
          <a:lstStyle/>
          <a:p>
            <a:endParaRPr lang="ko-KR" altLang="en-US"/>
          </a:p>
        </p:txBody>
      </p:sp>
      <p:sp>
        <p:nvSpPr>
          <p:cNvPr id="9" name="Text 7"/>
          <p:cNvSpPr txBox="1"/>
          <p:nvPr/>
        </p:nvSpPr>
        <p:spPr>
          <a:xfrm>
            <a:off x="5303520" y="1810512"/>
            <a:ext cx="1463040" cy="274320"/>
          </a:xfrm>
          <a:prstGeom prst="rect">
            <a:avLst/>
          </a:prstGeom>
          <a:noFill/>
          <a:ln/>
        </p:spPr>
        <p:txBody>
          <a:bodyPr wrap="square" lIns="0" tIns="0" rIns="0" bIns="0" rtlCol="0" anchor="ctr"/>
          <a:lstStyle/>
          <a:p>
            <a:pPr marL="0" indent="0">
              <a:buNone/>
            </a:pPr>
            <a:r>
              <a:rPr lang="en-US" sz="900" dirty="0">
                <a:solidFill>
                  <a:srgbClr val="64748B"/>
                </a:solidFill>
                <a:latin typeface="Malgun Gothic" pitchFamily="34" charset="0"/>
                <a:ea typeface="Malgun Gothic" pitchFamily="34" charset="-122"/>
                <a:cs typeface="Malgun Gothic" pitchFamily="34" charset="-120"/>
              </a:rPr>
              <a:t>방향을 바꾼 결정</a:t>
            </a:r>
            <a:endParaRPr lang="en-US" sz="900" dirty="0"/>
          </a:p>
        </p:txBody>
      </p:sp>
      <p:sp>
        <p:nvSpPr>
          <p:cNvPr id="10" name="Shape 8"/>
          <p:cNvSpPr/>
          <p:nvPr/>
        </p:nvSpPr>
        <p:spPr>
          <a:xfrm>
            <a:off x="1536192" y="2414016"/>
            <a:ext cx="0" cy="3415284"/>
          </a:xfrm>
          <a:prstGeom prst="line">
            <a:avLst/>
          </a:prstGeom>
          <a:noFill/>
          <a:ln w="19050">
            <a:solidFill>
              <a:srgbClr val="C4CEDC"/>
            </a:solidFill>
            <a:prstDash val="solid"/>
          </a:ln>
        </p:spPr>
        <p:txBody>
          <a:bodyPr/>
          <a:lstStyle/>
          <a:p>
            <a:endParaRPr lang="ko-KR" altLang="en-US"/>
          </a:p>
        </p:txBody>
      </p:sp>
      <p:sp>
        <p:nvSpPr>
          <p:cNvPr id="11" name="Shape 9"/>
          <p:cNvSpPr/>
          <p:nvPr/>
        </p:nvSpPr>
        <p:spPr>
          <a:xfrm>
            <a:off x="731520" y="2322576"/>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2" name="Text 10"/>
          <p:cNvSpPr txBox="1"/>
          <p:nvPr/>
        </p:nvSpPr>
        <p:spPr>
          <a:xfrm>
            <a:off x="731520" y="2322576"/>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9/8</a:t>
            </a:r>
            <a:endParaRPr lang="en-US" sz="850" dirty="0"/>
          </a:p>
        </p:txBody>
      </p:sp>
      <p:sp>
        <p:nvSpPr>
          <p:cNvPr id="13" name="Shape 11"/>
          <p:cNvSpPr/>
          <p:nvPr/>
        </p:nvSpPr>
        <p:spPr>
          <a:xfrm>
            <a:off x="1481328" y="2359152"/>
            <a:ext cx="109728" cy="109728"/>
          </a:xfrm>
          <a:prstGeom prst="ellipse">
            <a:avLst/>
          </a:prstGeom>
          <a:solidFill>
            <a:srgbClr val="E8383D"/>
          </a:solidFill>
          <a:ln w="12700">
            <a:solidFill>
              <a:srgbClr val="E8383D"/>
            </a:solidFill>
            <a:prstDash val="solid"/>
          </a:ln>
        </p:spPr>
        <p:txBody>
          <a:bodyPr/>
          <a:lstStyle/>
          <a:p>
            <a:endParaRPr lang="ko-KR" altLang="en-US"/>
          </a:p>
        </p:txBody>
      </p:sp>
      <p:sp>
        <p:nvSpPr>
          <p:cNvPr id="14" name="Text 12"/>
          <p:cNvSpPr txBox="1"/>
          <p:nvPr/>
        </p:nvSpPr>
        <p:spPr>
          <a:xfrm>
            <a:off x="1737360" y="2240280"/>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B7232B"/>
                </a:solidFill>
                <a:latin typeface="Malgun Gothic" pitchFamily="34" charset="0"/>
                <a:ea typeface="Malgun Gothic" pitchFamily="34" charset="-122"/>
                <a:cs typeface="Malgun Gothic" pitchFamily="34" charset="-120"/>
              </a:rPr>
              <a:t>외국인 인바운드로 전면 재설계</a:t>
            </a:r>
            <a:r>
              <a:rPr lang="en-US" sz="900" dirty="0">
                <a:solidFill>
                  <a:srgbClr val="3A475C"/>
                </a:solidFill>
                <a:latin typeface="Malgun Gothic" pitchFamily="34" charset="0"/>
                <a:ea typeface="Malgun Gothic" pitchFamily="34" charset="-122"/>
                <a:cs typeface="Malgun Gothic" pitchFamily="34" charset="-120"/>
              </a:rPr>
              <a:t> — 국내 소비자 대상 안은 스토리가 약하다는 판단</a:t>
            </a:r>
            <a:endParaRPr lang="en-US" sz="900" dirty="0"/>
          </a:p>
        </p:txBody>
      </p:sp>
      <p:sp>
        <p:nvSpPr>
          <p:cNvPr id="15" name="Shape 13"/>
          <p:cNvSpPr/>
          <p:nvPr/>
        </p:nvSpPr>
        <p:spPr>
          <a:xfrm>
            <a:off x="731520" y="2702052"/>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16" name="Text 14"/>
          <p:cNvSpPr txBox="1"/>
          <p:nvPr/>
        </p:nvSpPr>
        <p:spPr>
          <a:xfrm>
            <a:off x="731520" y="2702052"/>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9/8~9</a:t>
            </a:r>
            <a:endParaRPr lang="en-US" sz="850" dirty="0"/>
          </a:p>
        </p:txBody>
      </p:sp>
      <p:sp>
        <p:nvSpPr>
          <p:cNvPr id="17" name="Shape 15"/>
          <p:cNvSpPr/>
          <p:nvPr/>
        </p:nvSpPr>
        <p:spPr>
          <a:xfrm>
            <a:off x="1481328" y="2738628"/>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18" name="Text 16"/>
          <p:cNvSpPr txBox="1"/>
          <p:nvPr/>
        </p:nvSpPr>
        <p:spPr>
          <a:xfrm>
            <a:off x="1737360" y="2619756"/>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데이터 점검</a:t>
            </a:r>
            <a:r>
              <a:rPr lang="en-US" sz="900" dirty="0">
                <a:solidFill>
                  <a:srgbClr val="3A475C"/>
                </a:solidFill>
                <a:latin typeface="Malgun Gothic" pitchFamily="34" charset="0"/>
                <a:ea typeface="Malgun Gothic" pitchFamily="34" charset="-122"/>
                <a:cs typeface="Malgun Gothic" pitchFamily="34" charset="-120"/>
              </a:rPr>
              <a:t> — 인코딩 확인(정상 UTF-8) · 업종명 공백 정규화</a:t>
            </a:r>
            <a:endParaRPr lang="en-US" sz="900" dirty="0"/>
          </a:p>
        </p:txBody>
      </p:sp>
      <p:sp>
        <p:nvSpPr>
          <p:cNvPr id="19" name="Shape 17"/>
          <p:cNvSpPr/>
          <p:nvPr/>
        </p:nvSpPr>
        <p:spPr>
          <a:xfrm>
            <a:off x="731520" y="3081528"/>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0" name="Text 18"/>
          <p:cNvSpPr txBox="1"/>
          <p:nvPr/>
        </p:nvSpPr>
        <p:spPr>
          <a:xfrm>
            <a:off x="731520" y="3081528"/>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9/11</a:t>
            </a:r>
            <a:endParaRPr lang="en-US" sz="850" dirty="0"/>
          </a:p>
        </p:txBody>
      </p:sp>
      <p:sp>
        <p:nvSpPr>
          <p:cNvPr id="21" name="Shape 19"/>
          <p:cNvSpPr/>
          <p:nvPr/>
        </p:nvSpPr>
        <p:spPr>
          <a:xfrm>
            <a:off x="1481328" y="3118104"/>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22" name="Text 20"/>
          <p:cNvSpPr txBox="1"/>
          <p:nvPr/>
        </p:nvSpPr>
        <p:spPr>
          <a:xfrm>
            <a:off x="1737360" y="2999232"/>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목적 재정의</a:t>
            </a:r>
            <a:r>
              <a:rPr lang="en-US" sz="900" dirty="0">
                <a:solidFill>
                  <a:srgbClr val="3A475C"/>
                </a:solidFill>
                <a:latin typeface="Malgun Gothic" pitchFamily="34" charset="0"/>
                <a:ea typeface="Malgun Gothic" pitchFamily="34" charset="-122"/>
                <a:cs typeface="Malgun Gothic" pitchFamily="34" charset="-120"/>
              </a:rPr>
              <a:t> — 결론보다 ‘사고 과정’을 기록하는 자료로</a:t>
            </a:r>
            <a:endParaRPr lang="en-US" sz="900" dirty="0"/>
          </a:p>
        </p:txBody>
      </p:sp>
      <p:sp>
        <p:nvSpPr>
          <p:cNvPr id="23" name="Shape 21"/>
          <p:cNvSpPr/>
          <p:nvPr/>
        </p:nvSpPr>
        <p:spPr>
          <a:xfrm>
            <a:off x="731520" y="3461004"/>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4" name="Text 22"/>
          <p:cNvSpPr txBox="1"/>
          <p:nvPr/>
        </p:nvSpPr>
        <p:spPr>
          <a:xfrm>
            <a:off x="731520" y="3461004"/>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9/14</a:t>
            </a:r>
            <a:endParaRPr lang="en-US" sz="850" dirty="0"/>
          </a:p>
        </p:txBody>
      </p:sp>
      <p:sp>
        <p:nvSpPr>
          <p:cNvPr id="25" name="Shape 23"/>
          <p:cNvSpPr/>
          <p:nvPr/>
        </p:nvSpPr>
        <p:spPr>
          <a:xfrm>
            <a:off x="1481328" y="3497580"/>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26" name="Text 24"/>
          <p:cNvSpPr txBox="1"/>
          <p:nvPr/>
        </p:nvSpPr>
        <p:spPr>
          <a:xfrm>
            <a:off x="1737360" y="3378708"/>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신호 탐지 1~9차</a:t>
            </a:r>
            <a:r>
              <a:rPr lang="en-US" sz="900" dirty="0">
                <a:solidFill>
                  <a:srgbClr val="3A475C"/>
                </a:solidFill>
                <a:latin typeface="Malgun Gothic" pitchFamily="34" charset="0"/>
                <a:ea typeface="Malgun Gothic" pitchFamily="34" charset="-122"/>
                <a:cs typeface="Malgun Gothic" pitchFamily="34" charset="-120"/>
              </a:rPr>
              <a:t> — 저베이스 반등 · 지역축제 교란 · 상위 20개 편향을 잡고, 건수(CNT) · 지역 단위 재집계로 전환 (ML 미사용)</a:t>
            </a:r>
            <a:endParaRPr lang="en-US" sz="900" dirty="0"/>
          </a:p>
        </p:txBody>
      </p:sp>
      <p:sp>
        <p:nvSpPr>
          <p:cNvPr id="27" name="Shape 25"/>
          <p:cNvSpPr/>
          <p:nvPr/>
        </p:nvSpPr>
        <p:spPr>
          <a:xfrm>
            <a:off x="731520" y="3840480"/>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8" name="Text 26"/>
          <p:cNvSpPr txBox="1"/>
          <p:nvPr/>
        </p:nvSpPr>
        <p:spPr>
          <a:xfrm>
            <a:off x="731520" y="3840480"/>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9/15</a:t>
            </a:r>
            <a:endParaRPr lang="en-US" sz="850" dirty="0"/>
          </a:p>
        </p:txBody>
      </p:sp>
      <p:sp>
        <p:nvSpPr>
          <p:cNvPr id="29" name="Shape 27"/>
          <p:cNvSpPr/>
          <p:nvPr/>
        </p:nvSpPr>
        <p:spPr>
          <a:xfrm>
            <a:off x="1481328" y="3877056"/>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30" name="Text 28"/>
          <p:cNvSpPr txBox="1"/>
          <p:nvPr/>
        </p:nvSpPr>
        <p:spPr>
          <a:xfrm>
            <a:off x="1737360" y="3758184"/>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필터 경계선 재검증</a:t>
            </a:r>
            <a:r>
              <a:rPr lang="en-US" sz="900" dirty="0">
                <a:solidFill>
                  <a:srgbClr val="3A475C"/>
                </a:solidFill>
                <a:latin typeface="Malgun Gothic" pitchFamily="34" charset="0"/>
                <a:ea typeface="Malgun Gothic" pitchFamily="34" charset="-122"/>
                <a:cs typeface="Malgun Gothic" pitchFamily="34" charset="-120"/>
              </a:rPr>
              <a:t> — “청송군만 확인하면 충분한가” → 필터에 걸려 빠진 업종 확인</a:t>
            </a:r>
            <a:endParaRPr lang="en-US" sz="900" dirty="0"/>
          </a:p>
        </p:txBody>
      </p:sp>
      <p:sp>
        <p:nvSpPr>
          <p:cNvPr id="31" name="Shape 29"/>
          <p:cNvSpPr/>
          <p:nvPr/>
        </p:nvSpPr>
        <p:spPr>
          <a:xfrm>
            <a:off x="731520" y="4219956"/>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2" name="Text 30"/>
          <p:cNvSpPr txBox="1"/>
          <p:nvPr/>
        </p:nvSpPr>
        <p:spPr>
          <a:xfrm>
            <a:off x="731520" y="4219956"/>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9/15</a:t>
            </a:r>
            <a:endParaRPr lang="en-US" sz="850" dirty="0"/>
          </a:p>
        </p:txBody>
      </p:sp>
      <p:sp>
        <p:nvSpPr>
          <p:cNvPr id="33" name="Shape 31"/>
          <p:cNvSpPr/>
          <p:nvPr/>
        </p:nvSpPr>
        <p:spPr>
          <a:xfrm>
            <a:off x="1481328" y="4256532"/>
            <a:ext cx="109728" cy="109728"/>
          </a:xfrm>
          <a:prstGeom prst="ellipse">
            <a:avLst/>
          </a:prstGeom>
          <a:solidFill>
            <a:srgbClr val="E8383D"/>
          </a:solidFill>
          <a:ln w="12700">
            <a:solidFill>
              <a:srgbClr val="E8383D"/>
            </a:solidFill>
            <a:prstDash val="solid"/>
          </a:ln>
        </p:spPr>
        <p:txBody>
          <a:bodyPr/>
          <a:lstStyle/>
          <a:p>
            <a:endParaRPr lang="ko-KR" altLang="en-US"/>
          </a:p>
        </p:txBody>
      </p:sp>
      <p:sp>
        <p:nvSpPr>
          <p:cNvPr id="34" name="Text 32"/>
          <p:cNvSpPr txBox="1"/>
          <p:nvPr/>
        </p:nvSpPr>
        <p:spPr>
          <a:xfrm>
            <a:off x="1737360" y="4137660"/>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B7232B"/>
                </a:solidFill>
                <a:latin typeface="Malgun Gothic" pitchFamily="34" charset="0"/>
                <a:ea typeface="Malgun Gothic" pitchFamily="34" charset="-122"/>
                <a:cs typeface="Malgun Gothic" pitchFamily="34" charset="-120"/>
              </a:rPr>
              <a:t>계절근로자 오염 가능성</a:t>
            </a:r>
            <a:r>
              <a:rPr lang="en-US" sz="900" dirty="0">
                <a:solidFill>
                  <a:srgbClr val="3A475C"/>
                </a:solidFill>
                <a:latin typeface="Malgun Gothic" pitchFamily="34" charset="0"/>
                <a:ea typeface="Malgun Gothic" pitchFamily="34" charset="-122"/>
                <a:cs typeface="Malgun Gothic" pitchFamily="34" charset="-120"/>
              </a:rPr>
              <a:t> — 가장 큰 방향 수정. 후보 재분류, Track A(관광) · B(이주정착) 분리</a:t>
            </a:r>
            <a:endParaRPr lang="en-US" sz="900" dirty="0"/>
          </a:p>
        </p:txBody>
      </p:sp>
      <p:sp>
        <p:nvSpPr>
          <p:cNvPr id="35" name="Shape 33"/>
          <p:cNvSpPr/>
          <p:nvPr/>
        </p:nvSpPr>
        <p:spPr>
          <a:xfrm>
            <a:off x="731520" y="4599432"/>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6" name="Text 34"/>
          <p:cNvSpPr txBox="1"/>
          <p:nvPr/>
        </p:nvSpPr>
        <p:spPr>
          <a:xfrm>
            <a:off x="731520" y="4599432"/>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9/16</a:t>
            </a:r>
            <a:endParaRPr lang="en-US" sz="850" dirty="0"/>
          </a:p>
        </p:txBody>
      </p:sp>
      <p:sp>
        <p:nvSpPr>
          <p:cNvPr id="37" name="Shape 35"/>
          <p:cNvSpPr/>
          <p:nvPr/>
        </p:nvSpPr>
        <p:spPr>
          <a:xfrm>
            <a:off x="1481328" y="4636008"/>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38" name="Text 36"/>
          <p:cNvSpPr txBox="1"/>
          <p:nvPr/>
        </p:nvSpPr>
        <p:spPr>
          <a:xfrm>
            <a:off x="1737360" y="4517136"/>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연령분포 스크리닝</a:t>
            </a:r>
            <a:r>
              <a:rPr lang="en-US" sz="900" dirty="0">
                <a:solidFill>
                  <a:srgbClr val="3A475C"/>
                </a:solidFill>
                <a:latin typeface="Malgun Gothic" pitchFamily="34" charset="0"/>
                <a:ea typeface="Malgun Gothic" pitchFamily="34" charset="-122"/>
                <a:cs typeface="Malgun Gothic" pitchFamily="34" charset="-120"/>
              </a:rPr>
              <a:t> — 도입한 지 하루 만에 폐기</a:t>
            </a:r>
            <a:endParaRPr lang="en-US" sz="900" dirty="0"/>
          </a:p>
        </p:txBody>
      </p:sp>
      <p:sp>
        <p:nvSpPr>
          <p:cNvPr id="39" name="Shape 37"/>
          <p:cNvSpPr/>
          <p:nvPr/>
        </p:nvSpPr>
        <p:spPr>
          <a:xfrm>
            <a:off x="731520" y="4978908"/>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0" name="Text 38"/>
          <p:cNvSpPr txBox="1"/>
          <p:nvPr/>
        </p:nvSpPr>
        <p:spPr>
          <a:xfrm>
            <a:off x="731520" y="4978908"/>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9/17</a:t>
            </a:r>
            <a:endParaRPr lang="en-US" sz="850" dirty="0"/>
          </a:p>
        </p:txBody>
      </p:sp>
      <p:sp>
        <p:nvSpPr>
          <p:cNvPr id="41" name="Shape 39"/>
          <p:cNvSpPr/>
          <p:nvPr/>
        </p:nvSpPr>
        <p:spPr>
          <a:xfrm>
            <a:off x="1481328" y="5015484"/>
            <a:ext cx="109728" cy="109728"/>
          </a:xfrm>
          <a:prstGeom prst="ellipse">
            <a:avLst/>
          </a:prstGeom>
          <a:solidFill>
            <a:srgbClr val="E8383D"/>
          </a:solidFill>
          <a:ln w="12700">
            <a:solidFill>
              <a:srgbClr val="E8383D"/>
            </a:solidFill>
            <a:prstDash val="solid"/>
          </a:ln>
        </p:spPr>
        <p:txBody>
          <a:bodyPr/>
          <a:lstStyle/>
          <a:p>
            <a:endParaRPr lang="ko-KR" altLang="en-US"/>
          </a:p>
        </p:txBody>
      </p:sp>
      <p:sp>
        <p:nvSpPr>
          <p:cNvPr id="42" name="Text 40"/>
          <p:cNvSpPr txBox="1"/>
          <p:nvPr/>
        </p:nvSpPr>
        <p:spPr>
          <a:xfrm>
            <a:off x="1737360" y="4896612"/>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B7232B"/>
                </a:solidFill>
                <a:latin typeface="Malgun Gothic" pitchFamily="34" charset="0"/>
                <a:ea typeface="Malgun Gothic" pitchFamily="34" charset="-122"/>
                <a:cs typeface="Malgun Gothic" pitchFamily="34" charset="-120"/>
              </a:rPr>
              <a:t>구글트렌드 · 유튜브 폐기</a:t>
            </a:r>
            <a:r>
              <a:rPr lang="en-US" sz="900" dirty="0">
                <a:solidFill>
                  <a:srgbClr val="3A475C"/>
                </a:solidFill>
                <a:latin typeface="Malgun Gothic" pitchFamily="34" charset="0"/>
                <a:ea typeface="Malgun Gothic" pitchFamily="34" charset="-122"/>
                <a:cs typeface="Malgun Gothic" pitchFamily="34" charset="-120"/>
              </a:rPr>
              <a:t> — 소규모 지역은 검색량이 희박해 TourAPI 방문자수 · 시차상관으로 대체</a:t>
            </a:r>
            <a:endParaRPr lang="en-US" sz="900" dirty="0"/>
          </a:p>
        </p:txBody>
      </p:sp>
      <p:sp>
        <p:nvSpPr>
          <p:cNvPr id="43" name="Shape 41"/>
          <p:cNvSpPr/>
          <p:nvPr/>
        </p:nvSpPr>
        <p:spPr>
          <a:xfrm>
            <a:off x="731520" y="5358384"/>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4" name="Text 42"/>
          <p:cNvSpPr txBox="1"/>
          <p:nvPr/>
        </p:nvSpPr>
        <p:spPr>
          <a:xfrm>
            <a:off x="731520" y="5358384"/>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9/20</a:t>
            </a:r>
            <a:endParaRPr lang="en-US" sz="850" dirty="0"/>
          </a:p>
        </p:txBody>
      </p:sp>
      <p:sp>
        <p:nvSpPr>
          <p:cNvPr id="45" name="Shape 43"/>
          <p:cNvSpPr/>
          <p:nvPr/>
        </p:nvSpPr>
        <p:spPr>
          <a:xfrm>
            <a:off x="1481328" y="5394960"/>
            <a:ext cx="109728" cy="109728"/>
          </a:xfrm>
          <a:prstGeom prst="ellipse">
            <a:avLst/>
          </a:prstGeom>
          <a:solidFill>
            <a:srgbClr val="0B1B33"/>
          </a:solidFill>
          <a:ln w="12700">
            <a:solidFill>
              <a:srgbClr val="E8383D"/>
            </a:solidFill>
            <a:prstDash val="solid"/>
          </a:ln>
        </p:spPr>
        <p:txBody>
          <a:bodyPr/>
          <a:lstStyle/>
          <a:p>
            <a:endParaRPr lang="ko-KR" altLang="en-US"/>
          </a:p>
        </p:txBody>
      </p:sp>
      <p:sp>
        <p:nvSpPr>
          <p:cNvPr id="46" name="Text 44"/>
          <p:cNvSpPr txBox="1"/>
          <p:nvPr/>
        </p:nvSpPr>
        <p:spPr>
          <a:xfrm>
            <a:off x="1737360" y="5276088"/>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14213D"/>
                </a:solidFill>
                <a:latin typeface="Malgun Gothic" pitchFamily="34" charset="0"/>
                <a:ea typeface="Malgun Gothic" pitchFamily="34" charset="-122"/>
                <a:cs typeface="Malgun Gothic" pitchFamily="34" charset="-120"/>
              </a:rPr>
              <a:t>서술 정정</a:t>
            </a:r>
            <a:r>
              <a:rPr lang="en-US" sz="900" dirty="0">
                <a:solidFill>
                  <a:srgbClr val="3A475C"/>
                </a:solidFill>
                <a:latin typeface="Malgun Gothic" pitchFamily="34" charset="0"/>
                <a:ea typeface="Malgun Gothic" pitchFamily="34" charset="-122"/>
                <a:cs typeface="Malgun Gothic" pitchFamily="34" charset="-120"/>
              </a:rPr>
              <a:t> — TourAPI도 관광객 전용이 아님, ‘옹진 클린’ → ‘확인된 반증 없음’</a:t>
            </a:r>
            <a:endParaRPr lang="en-US" sz="900" dirty="0"/>
          </a:p>
        </p:txBody>
      </p:sp>
      <p:sp>
        <p:nvSpPr>
          <p:cNvPr id="47" name="Shape 45"/>
          <p:cNvSpPr/>
          <p:nvPr/>
        </p:nvSpPr>
        <p:spPr>
          <a:xfrm>
            <a:off x="731520" y="5737860"/>
            <a:ext cx="566928" cy="192024"/>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8" name="Text 46"/>
          <p:cNvSpPr txBox="1"/>
          <p:nvPr/>
        </p:nvSpPr>
        <p:spPr>
          <a:xfrm>
            <a:off x="731520" y="5737860"/>
            <a:ext cx="566928" cy="192024"/>
          </a:xfrm>
          <a:prstGeom prst="rect">
            <a:avLst/>
          </a:prstGeom>
          <a:noFill/>
          <a:ln/>
        </p:spPr>
        <p:txBody>
          <a:bodyPr wrap="square" lIns="0" tIns="0" rIns="0" bIns="0" rtlCol="0" anchor="ctr"/>
          <a:lstStyle/>
          <a:p>
            <a:pPr marL="0" indent="0" algn="ctr">
              <a:buNone/>
            </a:pPr>
            <a:r>
              <a:rPr lang="en-US" sz="850" b="1" dirty="0">
                <a:solidFill>
                  <a:srgbClr val="B7232B"/>
                </a:solidFill>
                <a:latin typeface="Malgun Gothic" pitchFamily="34" charset="0"/>
                <a:ea typeface="Malgun Gothic" pitchFamily="34" charset="-122"/>
                <a:cs typeface="Malgun Gothic" pitchFamily="34" charset="-120"/>
              </a:rPr>
              <a:t>9/21</a:t>
            </a:r>
            <a:endParaRPr lang="en-US" sz="850" dirty="0"/>
          </a:p>
        </p:txBody>
      </p:sp>
      <p:sp>
        <p:nvSpPr>
          <p:cNvPr id="49" name="Shape 47"/>
          <p:cNvSpPr/>
          <p:nvPr/>
        </p:nvSpPr>
        <p:spPr>
          <a:xfrm>
            <a:off x="1481328" y="5774436"/>
            <a:ext cx="109728" cy="109728"/>
          </a:xfrm>
          <a:prstGeom prst="ellipse">
            <a:avLst/>
          </a:prstGeom>
          <a:solidFill>
            <a:srgbClr val="E8383D"/>
          </a:solidFill>
          <a:ln w="12700">
            <a:solidFill>
              <a:srgbClr val="E8383D"/>
            </a:solidFill>
            <a:prstDash val="solid"/>
          </a:ln>
        </p:spPr>
        <p:txBody>
          <a:bodyPr/>
          <a:lstStyle/>
          <a:p>
            <a:endParaRPr lang="ko-KR" altLang="en-US"/>
          </a:p>
        </p:txBody>
      </p:sp>
      <p:sp>
        <p:nvSpPr>
          <p:cNvPr id="50" name="Text 48"/>
          <p:cNvSpPr txBox="1"/>
          <p:nvPr/>
        </p:nvSpPr>
        <p:spPr>
          <a:xfrm>
            <a:off x="1737360" y="5655564"/>
            <a:ext cx="4983480" cy="365760"/>
          </a:xfrm>
          <a:prstGeom prst="rect">
            <a:avLst/>
          </a:prstGeom>
          <a:noFill/>
          <a:ln/>
        </p:spPr>
        <p:txBody>
          <a:bodyPr wrap="square" lIns="0" tIns="0" rIns="0" bIns="0" rtlCol="0" anchor="ctr"/>
          <a:lstStyle/>
          <a:p>
            <a:pPr marL="0" indent="0">
              <a:lnSpc>
                <a:spcPct val="100000"/>
              </a:lnSpc>
              <a:buNone/>
            </a:pPr>
            <a:r>
              <a:rPr lang="en-US" sz="900" b="1" dirty="0">
                <a:solidFill>
                  <a:srgbClr val="B7232B"/>
                </a:solidFill>
                <a:latin typeface="Malgun Gothic" pitchFamily="34" charset="0"/>
                <a:ea typeface="Malgun Gothic" pitchFamily="34" charset="-122"/>
                <a:cs typeface="Malgun Gothic" pitchFamily="34" charset="-120"/>
              </a:rPr>
              <a:t>H3 순환 선택 발견</a:t>
            </a:r>
            <a:r>
              <a:rPr lang="en-US" sz="900" dirty="0">
                <a:solidFill>
                  <a:srgbClr val="3A475C"/>
                </a:solidFill>
                <a:latin typeface="Malgun Gothic" pitchFamily="34" charset="0"/>
                <a:ea typeface="Malgun Gothic" pitchFamily="34" charset="-122"/>
                <a:cs typeface="Malgun Gothic" pitchFamily="34" charset="-120"/>
              </a:rPr>
              <a:t> — 전국 2,111개 조합으로 재검증, ‘조건부 채택(사후 확인)’으로 조정 · H2에 규모 통제 대조군 추가</a:t>
            </a:r>
            <a:endParaRPr lang="en-US" sz="900" dirty="0"/>
          </a:p>
        </p:txBody>
      </p:sp>
      <p:sp>
        <p:nvSpPr>
          <p:cNvPr id="51" name="Shape 49"/>
          <p:cNvSpPr/>
          <p:nvPr/>
        </p:nvSpPr>
        <p:spPr>
          <a:xfrm>
            <a:off x="7132320" y="1737360"/>
            <a:ext cx="4507992" cy="4297680"/>
          </a:xfrm>
          <a:prstGeom prst="roundRect">
            <a:avLst>
              <a:gd name="adj" fmla="val 2553"/>
            </a:avLst>
          </a:prstGeom>
          <a:solidFill>
            <a:srgbClr val="F3F6FB"/>
          </a:solidFill>
          <a:ln w="12700">
            <a:solidFill>
              <a:srgbClr val="F3F6FB"/>
            </a:solidFill>
            <a:prstDash val="solid"/>
          </a:ln>
        </p:spPr>
        <p:txBody>
          <a:bodyPr/>
          <a:lstStyle/>
          <a:p>
            <a:endParaRPr lang="ko-KR" altLang="en-US"/>
          </a:p>
        </p:txBody>
      </p:sp>
      <p:sp>
        <p:nvSpPr>
          <p:cNvPr id="52" name="Text 50"/>
          <p:cNvSpPr txBox="1"/>
          <p:nvPr/>
        </p:nvSpPr>
        <p:spPr>
          <a:xfrm>
            <a:off x="7360920" y="1810512"/>
            <a:ext cx="3840480" cy="274320"/>
          </a:xfrm>
          <a:prstGeom prst="rect">
            <a:avLst/>
          </a:prstGeom>
          <a:noFill/>
          <a:ln/>
        </p:spPr>
        <p:txBody>
          <a:bodyPr wrap="square" lIns="0" tIns="0" rIns="0" bIns="0" rtlCol="0" anchor="ctr"/>
          <a:lstStyle/>
          <a:p>
            <a:pPr marL="0" indent="0">
              <a:buNone/>
            </a:pPr>
            <a:r>
              <a:rPr lang="en-US" sz="1250" b="1" dirty="0">
                <a:solidFill>
                  <a:srgbClr val="14213D"/>
                </a:solidFill>
                <a:latin typeface="Malgun Gothic" pitchFamily="34" charset="0"/>
                <a:ea typeface="Malgun Gothic" pitchFamily="34" charset="-122"/>
                <a:cs typeface="Malgun Gothic" pitchFamily="34" charset="-120"/>
              </a:rPr>
              <a:t>중간 산출물 (당시 그대로)</a:t>
            </a:r>
            <a:endParaRPr lang="en-US" sz="1250" dirty="0"/>
          </a:p>
        </p:txBody>
      </p:sp>
      <p:sp>
        <p:nvSpPr>
          <p:cNvPr id="53" name="Shape 51"/>
          <p:cNvSpPr/>
          <p:nvPr/>
        </p:nvSpPr>
        <p:spPr>
          <a:xfrm>
            <a:off x="7269480" y="2212848"/>
            <a:ext cx="4233672" cy="1188720"/>
          </a:xfrm>
          <a:prstGeom prst="roundRect">
            <a:avLst>
              <a:gd name="adj" fmla="val 6154"/>
            </a:avLst>
          </a:prstGeom>
          <a:solidFill>
            <a:srgbClr val="FFFFFF"/>
          </a:solidFill>
          <a:ln w="9525">
            <a:solidFill>
              <a:srgbClr val="D9E0EA"/>
            </a:solidFill>
            <a:prstDash val="solid"/>
          </a:ln>
        </p:spPr>
        <p:txBody>
          <a:bodyPr/>
          <a:lstStyle/>
          <a:p>
            <a:endParaRPr lang="ko-KR" altLang="en-US"/>
          </a:p>
        </p:txBody>
      </p:sp>
      <p:pic>
        <p:nvPicPr>
          <p:cNvPr id="54" name="Image 0" descr="figs/evid_h2.png"/>
          <p:cNvPicPr>
            <a:picLocks noChangeAspect="1"/>
          </p:cNvPicPr>
          <p:nvPr/>
        </p:nvPicPr>
        <p:blipFill>
          <a:blip r:embed="rId3"/>
          <a:stretch>
            <a:fillRect/>
          </a:stretch>
        </p:blipFill>
        <p:spPr>
          <a:xfrm>
            <a:off x="7551682" y="2304288"/>
            <a:ext cx="1483852" cy="1005840"/>
          </a:xfrm>
          <a:prstGeom prst="rect">
            <a:avLst/>
          </a:prstGeom>
        </p:spPr>
      </p:pic>
      <p:sp>
        <p:nvSpPr>
          <p:cNvPr id="55" name="Text 52"/>
          <p:cNvSpPr txBox="1"/>
          <p:nvPr/>
        </p:nvSpPr>
        <p:spPr>
          <a:xfrm>
            <a:off x="9317736" y="2304288"/>
            <a:ext cx="2075688" cy="237744"/>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H2 산점도</a:t>
            </a:r>
            <a:endParaRPr lang="en-US" sz="950" dirty="0"/>
          </a:p>
        </p:txBody>
      </p:sp>
      <p:sp>
        <p:nvSpPr>
          <p:cNvPr id="56" name="Text 53"/>
          <p:cNvSpPr txBox="1"/>
          <p:nvPr/>
        </p:nvSpPr>
        <p:spPr>
          <a:xfrm>
            <a:off x="9317736" y="2578608"/>
            <a:ext cx="2075688" cy="777240"/>
          </a:xfrm>
          <a:prstGeom prst="rect">
            <a:avLst/>
          </a:prstGeom>
          <a:noFill/>
          <a:ln/>
        </p:spPr>
        <p:txBody>
          <a:bodyPr wrap="square" lIns="0" tIns="0" rIns="0" bIns="0" rtlCol="0" anchor="t"/>
          <a:lstStyle/>
          <a:p>
            <a:pPr marL="0" indent="0">
              <a:lnSpc>
                <a:spcPct val="108000"/>
              </a:lnSpc>
              <a:buNone/>
            </a:pPr>
            <a:r>
              <a:rPr lang="en-US" sz="850" dirty="0">
                <a:solidFill>
                  <a:srgbClr val="3A475C"/>
                </a:solidFill>
                <a:latin typeface="Malgun Gothic" pitchFamily="34" charset="0"/>
                <a:ea typeface="Malgun Gothic" pitchFamily="34" charset="-122"/>
                <a:cs typeface="Malgun Gothic" pitchFamily="34" charset="-120"/>
              </a:rPr>
              <a:t>소비 규모 대비 초과성장률. 후보 8곳이 좌상단에 몰린다 → 본문 25쪽에서 4셀 제외·규모 통제 대조군을 더해 다시 계산</a:t>
            </a:r>
            <a:endParaRPr lang="en-US" sz="850" dirty="0"/>
          </a:p>
        </p:txBody>
      </p:sp>
      <p:sp>
        <p:nvSpPr>
          <p:cNvPr id="57" name="Shape 54"/>
          <p:cNvSpPr/>
          <p:nvPr/>
        </p:nvSpPr>
        <p:spPr>
          <a:xfrm>
            <a:off x="7269480" y="3493008"/>
            <a:ext cx="4233672" cy="1188720"/>
          </a:xfrm>
          <a:prstGeom prst="roundRect">
            <a:avLst>
              <a:gd name="adj" fmla="val 6154"/>
            </a:avLst>
          </a:prstGeom>
          <a:solidFill>
            <a:srgbClr val="FFFFFF"/>
          </a:solidFill>
          <a:ln w="9525">
            <a:solidFill>
              <a:srgbClr val="D9E0EA"/>
            </a:solidFill>
            <a:prstDash val="solid"/>
          </a:ln>
        </p:spPr>
        <p:txBody>
          <a:bodyPr/>
          <a:lstStyle/>
          <a:p>
            <a:endParaRPr lang="ko-KR" altLang="en-US"/>
          </a:p>
        </p:txBody>
      </p:sp>
      <p:pic>
        <p:nvPicPr>
          <p:cNvPr id="58" name="Image 1" descr="figs/evid_lag.png"/>
          <p:cNvPicPr>
            <a:picLocks noChangeAspect="1"/>
          </p:cNvPicPr>
          <p:nvPr/>
        </p:nvPicPr>
        <p:blipFill>
          <a:blip r:embed="rId4"/>
          <a:stretch>
            <a:fillRect/>
          </a:stretch>
        </p:blipFill>
        <p:spPr>
          <a:xfrm>
            <a:off x="7654690" y="3584448"/>
            <a:ext cx="1277837" cy="1005840"/>
          </a:xfrm>
          <a:prstGeom prst="rect">
            <a:avLst/>
          </a:prstGeom>
        </p:spPr>
      </p:pic>
      <p:sp>
        <p:nvSpPr>
          <p:cNvPr id="59" name="Text 55"/>
          <p:cNvSpPr txBox="1"/>
          <p:nvPr/>
        </p:nvSpPr>
        <p:spPr>
          <a:xfrm>
            <a:off x="9317736" y="3584448"/>
            <a:ext cx="2075688" cy="237744"/>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H1 시차상관 산점도</a:t>
            </a:r>
            <a:endParaRPr lang="en-US" sz="950" dirty="0"/>
          </a:p>
        </p:txBody>
      </p:sp>
      <p:sp>
        <p:nvSpPr>
          <p:cNvPr id="60" name="Text 56"/>
          <p:cNvSpPr txBox="1"/>
          <p:nvPr/>
        </p:nvSpPr>
        <p:spPr>
          <a:xfrm>
            <a:off x="9317736" y="3858768"/>
            <a:ext cx="2075688" cy="777240"/>
          </a:xfrm>
          <a:prstGeom prst="rect">
            <a:avLst/>
          </a:prstGeom>
          <a:noFill/>
          <a:ln/>
        </p:spPr>
        <p:txBody>
          <a:bodyPr wrap="square" lIns="0" tIns="0" rIns="0" bIns="0" rtlCol="0" anchor="t"/>
          <a:lstStyle/>
          <a:p>
            <a:pPr marL="0" indent="0">
              <a:lnSpc>
                <a:spcPct val="108000"/>
              </a:lnSpc>
              <a:buNone/>
            </a:pPr>
            <a:r>
              <a:rPr lang="en-US" sz="850" dirty="0">
                <a:solidFill>
                  <a:srgbClr val="3A475C"/>
                </a:solidFill>
                <a:latin typeface="Malgun Gothic" pitchFamily="34" charset="0"/>
                <a:ea typeface="Malgun Gothic" pitchFamily="34" charset="-122"/>
                <a:cs typeface="Malgun Gothic" pitchFamily="34" charset="-120"/>
              </a:rPr>
              <a:t>제목의 ‘카드→방문자’ 표현은 본문 21~24쪽에서 ‘방문자 정점이 먼저’로 정정</a:t>
            </a:r>
            <a:endParaRPr lang="en-US" sz="850" dirty="0"/>
          </a:p>
        </p:txBody>
      </p:sp>
      <p:sp>
        <p:nvSpPr>
          <p:cNvPr id="61" name="Shape 57"/>
          <p:cNvSpPr/>
          <p:nvPr/>
        </p:nvSpPr>
        <p:spPr>
          <a:xfrm>
            <a:off x="7269480" y="4773168"/>
            <a:ext cx="4233672" cy="1188720"/>
          </a:xfrm>
          <a:prstGeom prst="roundRect">
            <a:avLst>
              <a:gd name="adj" fmla="val 6154"/>
            </a:avLst>
          </a:prstGeom>
          <a:solidFill>
            <a:srgbClr val="FFFFFF"/>
          </a:solidFill>
          <a:ln w="9525">
            <a:solidFill>
              <a:srgbClr val="D9E0EA"/>
            </a:solidFill>
            <a:prstDash val="solid"/>
          </a:ln>
        </p:spPr>
        <p:txBody>
          <a:bodyPr/>
          <a:lstStyle/>
          <a:p>
            <a:endParaRPr lang="ko-KR" altLang="en-US"/>
          </a:p>
        </p:txBody>
      </p:sp>
      <p:pic>
        <p:nvPicPr>
          <p:cNvPr id="62" name="Image 2" descr="figs/evid_effect.png"/>
          <p:cNvPicPr>
            <a:picLocks noChangeAspect="1"/>
          </p:cNvPicPr>
          <p:nvPr/>
        </p:nvPicPr>
        <p:blipFill>
          <a:blip r:embed="rId5"/>
          <a:stretch>
            <a:fillRect/>
          </a:stretch>
        </p:blipFill>
        <p:spPr>
          <a:xfrm>
            <a:off x="7414597" y="4864608"/>
            <a:ext cx="1758022" cy="1005840"/>
          </a:xfrm>
          <a:prstGeom prst="rect">
            <a:avLst/>
          </a:prstGeom>
        </p:spPr>
      </p:pic>
      <p:sp>
        <p:nvSpPr>
          <p:cNvPr id="63" name="Text 58"/>
          <p:cNvSpPr txBox="1"/>
          <p:nvPr/>
        </p:nvSpPr>
        <p:spPr>
          <a:xfrm>
            <a:off x="9317736" y="4864608"/>
            <a:ext cx="2075688" cy="237744"/>
          </a:xfrm>
          <a:prstGeom prst="rect">
            <a:avLst/>
          </a:prstGeom>
          <a:noFill/>
          <a:ln/>
        </p:spPr>
        <p:txBody>
          <a:bodyPr wrap="square" lIns="0" tIns="0" rIns="0" bIns="0" rtlCol="0" anchor="ct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기대효과 바차트</a:t>
            </a:r>
            <a:endParaRPr lang="en-US" sz="950" dirty="0"/>
          </a:p>
        </p:txBody>
      </p:sp>
      <p:sp>
        <p:nvSpPr>
          <p:cNvPr id="64" name="Text 59"/>
          <p:cNvSpPr txBox="1"/>
          <p:nvPr/>
        </p:nvSpPr>
        <p:spPr>
          <a:xfrm>
            <a:off x="9317736" y="5138928"/>
            <a:ext cx="2075688" cy="777240"/>
          </a:xfrm>
          <a:prstGeom prst="rect">
            <a:avLst/>
          </a:prstGeom>
          <a:noFill/>
          <a:ln/>
        </p:spPr>
        <p:txBody>
          <a:bodyPr wrap="square" lIns="0" tIns="0" rIns="0" bIns="0" rtlCol="0" anchor="t"/>
          <a:lstStyle/>
          <a:p>
            <a:pPr marL="0" indent="0">
              <a:lnSpc>
                <a:spcPct val="108000"/>
              </a:lnSpc>
              <a:buNone/>
            </a:pPr>
            <a:r>
              <a:rPr lang="en-US" sz="850" dirty="0">
                <a:solidFill>
                  <a:srgbClr val="3A475C"/>
                </a:solidFill>
                <a:latin typeface="Malgun Gothic" pitchFamily="34" charset="0"/>
                <a:ea typeface="Malgun Gothic" pitchFamily="34" charset="-122"/>
                <a:cs typeface="Malgun Gothic" pitchFamily="34" charset="-120"/>
              </a:rPr>
              <a:t>후보 8곳 AMT +58.2% vs 전국 +3.3%. 매출 예측이 아님을 본문 32쪽에 명시</a:t>
            </a:r>
            <a:endParaRPr lang="en-US" sz="850" dirty="0"/>
          </a:p>
        </p:txBody>
      </p:sp>
      <p:sp>
        <p:nvSpPr>
          <p:cNvPr id="65" name="Text 60"/>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66" name="Text 61"/>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39 / 42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A4  </a:t>
            </a:r>
            <a:r>
              <a:rPr lang="en-US" sz="1150" b="1" dirty="0">
                <a:solidFill>
                  <a:srgbClr val="64748B"/>
                </a:solidFill>
                <a:latin typeface="Malgun Gothic" pitchFamily="34" charset="0"/>
                <a:ea typeface="Malgun Gothic" pitchFamily="34" charset="-122"/>
                <a:cs typeface="Malgun Gothic" pitchFamily="34" charset="-120"/>
              </a:rPr>
              <a:t>검증 계획과 실제 수행</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처음 계획한 검증과 실제로 수행한 검증 — 달라진 부분까지 함께 기록한다</a:t>
            </a:r>
            <a:endParaRPr lang="en-US" sz="2400" dirty="0"/>
          </a:p>
        </p:txBody>
      </p:sp>
      <p:sp>
        <p:nvSpPr>
          <p:cNvPr id="6" name="Text 4"/>
          <p:cNvSpPr txBox="1"/>
          <p:nvPr/>
        </p:nvSpPr>
        <p:spPr>
          <a:xfrm>
            <a:off x="2331720" y="1700784"/>
            <a:ext cx="2834640" cy="274320"/>
          </a:xfrm>
          <a:prstGeom prst="rect">
            <a:avLst/>
          </a:prstGeom>
          <a:noFill/>
          <a:ln/>
        </p:spPr>
        <p:txBody>
          <a:bodyPr wrap="square" lIns="0" tIns="0" rIns="0" bIns="0" rtlCol="0" anchor="ctr"/>
          <a:lstStyle/>
          <a:p>
            <a:pPr marL="0" indent="0">
              <a:buNone/>
            </a:pPr>
            <a:r>
              <a:rPr lang="en-US" sz="1050" b="1" dirty="0">
                <a:solidFill>
                  <a:srgbClr val="64748B"/>
                </a:solidFill>
                <a:latin typeface="Malgun Gothic" pitchFamily="34" charset="0"/>
                <a:ea typeface="Malgun Gothic" pitchFamily="34" charset="-122"/>
                <a:cs typeface="Malgun Gothic" pitchFamily="34" charset="-120"/>
              </a:rPr>
              <a:t>처음 계획</a:t>
            </a:r>
            <a:endParaRPr lang="en-US" sz="1050" dirty="0"/>
          </a:p>
        </p:txBody>
      </p:sp>
      <p:sp>
        <p:nvSpPr>
          <p:cNvPr id="7" name="Text 5"/>
          <p:cNvSpPr txBox="1"/>
          <p:nvPr/>
        </p:nvSpPr>
        <p:spPr>
          <a:xfrm>
            <a:off x="5486400" y="1700784"/>
            <a:ext cx="4023360" cy="274320"/>
          </a:xfrm>
          <a:prstGeom prst="rect">
            <a:avLst/>
          </a:prstGeom>
          <a:noFill/>
          <a:ln/>
        </p:spPr>
        <p:txBody>
          <a:bodyPr wrap="square" lIns="0" tIns="0" rIns="0" bIns="0" rtlCol="0" anchor="ctr"/>
          <a:lstStyle/>
          <a:p>
            <a:pPr marL="0" indent="0">
              <a:buNone/>
            </a:pPr>
            <a:r>
              <a:rPr lang="en-US" sz="1050" b="1" dirty="0">
                <a:solidFill>
                  <a:srgbClr val="64748B"/>
                </a:solidFill>
                <a:latin typeface="Malgun Gothic" pitchFamily="34" charset="0"/>
                <a:ea typeface="Malgun Gothic" pitchFamily="34" charset="-122"/>
                <a:cs typeface="Malgun Gothic" pitchFamily="34" charset="-120"/>
              </a:rPr>
              <a:t>실제로 수행한 것</a:t>
            </a:r>
            <a:endParaRPr lang="en-US" sz="1050" dirty="0"/>
          </a:p>
        </p:txBody>
      </p:sp>
      <p:sp>
        <p:nvSpPr>
          <p:cNvPr id="8" name="Text 6"/>
          <p:cNvSpPr txBox="1"/>
          <p:nvPr/>
        </p:nvSpPr>
        <p:spPr>
          <a:xfrm>
            <a:off x="9710928" y="1700784"/>
            <a:ext cx="1828800" cy="274320"/>
          </a:xfrm>
          <a:prstGeom prst="rect">
            <a:avLst/>
          </a:prstGeom>
          <a:noFill/>
          <a:ln/>
        </p:spPr>
        <p:txBody>
          <a:bodyPr wrap="square" lIns="0" tIns="0" rIns="0" bIns="0" rtlCol="0" anchor="ctr"/>
          <a:lstStyle/>
          <a:p>
            <a:pPr marL="0" indent="0">
              <a:buNone/>
            </a:pPr>
            <a:r>
              <a:rPr lang="en-US" sz="1050" b="1" dirty="0">
                <a:solidFill>
                  <a:srgbClr val="64748B"/>
                </a:solidFill>
                <a:latin typeface="Malgun Gothic" pitchFamily="34" charset="0"/>
                <a:ea typeface="Malgun Gothic" pitchFamily="34" charset="-122"/>
                <a:cs typeface="Malgun Gothic" pitchFamily="34" charset="-120"/>
              </a:rPr>
              <a:t>판정</a:t>
            </a:r>
            <a:endParaRPr lang="en-US" sz="1050" dirty="0"/>
          </a:p>
        </p:txBody>
      </p:sp>
      <p:sp>
        <p:nvSpPr>
          <p:cNvPr id="9" name="Shape 7"/>
          <p:cNvSpPr/>
          <p:nvPr/>
        </p:nvSpPr>
        <p:spPr>
          <a:xfrm>
            <a:off x="548640" y="2011680"/>
            <a:ext cx="11091672" cy="1280160"/>
          </a:xfrm>
          <a:prstGeom prst="roundRect">
            <a:avLst>
              <a:gd name="adj" fmla="val 8571"/>
            </a:avLst>
          </a:prstGeom>
          <a:solidFill>
            <a:srgbClr val="F3F6FB"/>
          </a:solidFill>
          <a:ln w="12700">
            <a:solidFill>
              <a:srgbClr val="F3F6FB"/>
            </a:solidFill>
            <a:prstDash val="solid"/>
          </a:ln>
        </p:spPr>
        <p:txBody>
          <a:bodyPr/>
          <a:lstStyle/>
          <a:p>
            <a:endParaRPr lang="ko-KR" altLang="en-US"/>
          </a:p>
        </p:txBody>
      </p:sp>
      <p:sp>
        <p:nvSpPr>
          <p:cNvPr id="10" name="Shape 8"/>
          <p:cNvSpPr/>
          <p:nvPr/>
        </p:nvSpPr>
        <p:spPr>
          <a:xfrm>
            <a:off x="731520" y="2423160"/>
            <a:ext cx="457200" cy="457200"/>
          </a:xfrm>
          <a:prstGeom prst="ellipse">
            <a:avLst/>
          </a:prstGeom>
          <a:solidFill>
            <a:srgbClr val="E8383D"/>
          </a:solidFill>
          <a:ln w="12700">
            <a:solidFill>
              <a:srgbClr val="E8383D"/>
            </a:solidFill>
            <a:prstDash val="solid"/>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834390" y="2526030"/>
            <a:ext cx="251460" cy="251460"/>
          </a:xfrm>
          <a:prstGeom prst="rect">
            <a:avLst/>
          </a:prstGeom>
        </p:spPr>
      </p:pic>
      <p:sp>
        <p:nvSpPr>
          <p:cNvPr id="12" name="Text 9"/>
          <p:cNvSpPr txBox="1"/>
          <p:nvPr/>
        </p:nvSpPr>
        <p:spPr>
          <a:xfrm>
            <a:off x="1325880" y="2286000"/>
            <a:ext cx="960120" cy="731520"/>
          </a:xfrm>
          <a:prstGeom prst="rect">
            <a:avLst/>
          </a:prstGeom>
          <a:noFill/>
          <a:ln/>
        </p:spPr>
        <p:txBody>
          <a:bodyPr wrap="square" lIns="0" tIns="0" rIns="0" bIns="0" rtlCol="0" anchor="ctr"/>
          <a:lstStyle/>
          <a:p>
            <a:pPr marL="0" indent="0">
              <a:lnSpc>
                <a:spcPct val="100000"/>
              </a:lnSpc>
              <a:buNone/>
            </a:pPr>
            <a:r>
              <a:rPr lang="en-US" sz="2000" b="1" dirty="0">
                <a:solidFill>
                  <a:srgbClr val="E8383D"/>
                </a:solidFill>
                <a:latin typeface="Malgun Gothic" pitchFamily="34" charset="0"/>
                <a:ea typeface="Malgun Gothic" pitchFamily="34" charset="-122"/>
                <a:cs typeface="Malgun Gothic" pitchFamily="34" charset="-120"/>
              </a:rPr>
              <a:t>H1</a:t>
            </a:r>
            <a:endParaRPr lang="en-US" sz="1300" dirty="0"/>
          </a:p>
          <a:p>
            <a:pPr marL="0" indent="0">
              <a:lnSpc>
                <a:spcPct val="100000"/>
              </a:lnSpc>
              <a:buNone/>
            </a:pPr>
            <a:r>
              <a:rPr lang="en-US" sz="1300" b="1" dirty="0">
                <a:solidFill>
                  <a:srgbClr val="14213D"/>
                </a:solidFill>
                <a:latin typeface="Malgun Gothic" pitchFamily="34" charset="0"/>
                <a:ea typeface="Malgun Gothic" pitchFamily="34" charset="-122"/>
                <a:cs typeface="Malgun Gothic" pitchFamily="34" charset="-120"/>
              </a:rPr>
              <a:t>선행성</a:t>
            </a:r>
            <a:endParaRPr lang="en-US" sz="1300" dirty="0"/>
          </a:p>
        </p:txBody>
      </p:sp>
      <p:sp>
        <p:nvSpPr>
          <p:cNvPr id="13" name="Text 10"/>
          <p:cNvSpPr txBox="1"/>
          <p:nvPr/>
        </p:nvSpPr>
        <p:spPr>
          <a:xfrm>
            <a:off x="2331720" y="2176272"/>
            <a:ext cx="2788920" cy="950976"/>
          </a:xfrm>
          <a:prstGeom prst="rect">
            <a:avLst/>
          </a:prstGeom>
          <a:noFill/>
          <a:ln/>
        </p:spPr>
        <p:txBody>
          <a:bodyPr wrap="square" lIns="0" tIns="0" rIns="0" bIns="0" rtlCol="0" anchor="ctr"/>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구글트렌드(검색량)·빅카인즈(뉴스 언급량)와 카드 신호의 시차상관 분석</a:t>
            </a:r>
            <a:endParaRPr lang="en-US" sz="1100" dirty="0"/>
          </a:p>
        </p:txBody>
      </p:sp>
      <p:pic>
        <p:nvPicPr>
          <p:cNvPr id="14" name="Image 1" descr="preencoded.png"/>
          <p:cNvPicPr>
            <a:picLocks noChangeAspect="1"/>
          </p:cNvPicPr>
          <p:nvPr/>
        </p:nvPicPr>
        <p:blipFill>
          <a:blip r:embed="rId4"/>
          <a:stretch>
            <a:fillRect/>
          </a:stretch>
        </p:blipFill>
        <p:spPr>
          <a:xfrm>
            <a:off x="5230368" y="2560320"/>
            <a:ext cx="182880" cy="182880"/>
          </a:xfrm>
          <a:prstGeom prst="rect">
            <a:avLst/>
          </a:prstGeom>
        </p:spPr>
      </p:pic>
      <p:sp>
        <p:nvSpPr>
          <p:cNvPr id="15" name="Text 11"/>
          <p:cNvSpPr txBox="1"/>
          <p:nvPr/>
        </p:nvSpPr>
        <p:spPr>
          <a:xfrm>
            <a:off x="5486400" y="2121408"/>
            <a:ext cx="4023360" cy="1060704"/>
          </a:xfrm>
          <a:prstGeom prst="rect">
            <a:avLst/>
          </a:prstGeom>
          <a:noFill/>
          <a:ln/>
        </p:spPr>
        <p:txBody>
          <a:bodyPr wrap="square" lIns="0" tIns="0" rIns="0" bIns="0" rtlCol="0" anchor="ctr"/>
          <a:lstStyle/>
          <a:p>
            <a:pPr marL="0" indent="0">
              <a:lnSpc>
                <a:spcPct val="110000"/>
              </a:lnSpc>
              <a:spcAft>
                <a:spcPts val="400"/>
              </a:spcAft>
              <a:buNone/>
            </a:pPr>
            <a:r>
              <a:rPr lang="en-US" sz="1100" b="1" dirty="0">
                <a:solidFill>
                  <a:srgbClr val="14213D"/>
                </a:solidFill>
                <a:latin typeface="Malgun Gothic" pitchFamily="34" charset="0"/>
                <a:ea typeface="Malgun Gothic" pitchFamily="34" charset="-122"/>
                <a:cs typeface="Malgun Gothic" pitchFamily="34" charset="-120"/>
              </a:rPr>
              <a:t>구글트렌드·유튜브는 폐기, 빅카인즈는 미확보 → 한국관광 데이터랩 외국인 방문자수로 교차검증</a:t>
            </a:r>
            <a:endParaRPr lang="en-US" sz="1300" dirty="0"/>
          </a:p>
          <a:p>
            <a:pPr marL="0" indent="0">
              <a:lnSpc>
                <a:spcPct val="110000"/>
              </a:lnSpc>
              <a:buNone/>
            </a:pPr>
            <a:r>
              <a:rPr lang="en-US" sz="1000" dirty="0">
                <a:solidFill>
                  <a:srgbClr val="64748B"/>
                </a:solidFill>
                <a:latin typeface="Malgun Gothic" pitchFamily="34" charset="0"/>
                <a:ea typeface="Malgun Gothic" pitchFamily="34" charset="-122"/>
                <a:cs typeface="Malgun Gothic" pitchFamily="34" charset="-120"/>
              </a:rPr>
              <a:t>구글트렌드는 22개 키워드 조합 중 13개가 결과 없음. 이미 유명한 보령시는 뉴스 보도 시점으로 대조했다.</a:t>
            </a:r>
            <a:endParaRPr lang="en-US" sz="1300" dirty="0"/>
          </a:p>
        </p:txBody>
      </p:sp>
      <p:sp>
        <p:nvSpPr>
          <p:cNvPr id="16" name="Shape 12"/>
          <p:cNvSpPr/>
          <p:nvPr/>
        </p:nvSpPr>
        <p:spPr>
          <a:xfrm>
            <a:off x="9710928" y="2212848"/>
            <a:ext cx="1371600" cy="310896"/>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17" name="Text 13"/>
          <p:cNvSpPr txBox="1"/>
          <p:nvPr/>
        </p:nvSpPr>
        <p:spPr>
          <a:xfrm>
            <a:off x="9710928" y="2212848"/>
            <a:ext cx="1371600" cy="310896"/>
          </a:xfrm>
          <a:prstGeom prst="rect">
            <a:avLst/>
          </a:prstGeom>
          <a:noFill/>
          <a:ln/>
        </p:spPr>
        <p:txBody>
          <a:bodyPr wrap="square" lIns="0" tIns="0" rIns="0" bIns="0" rtlCol="0" anchor="ctr"/>
          <a:lstStyle/>
          <a:p>
            <a:pPr marL="0" indent="0" algn="ctr">
              <a:buNone/>
            </a:pPr>
            <a:r>
              <a:rPr lang="en-US" sz="1100" b="1" dirty="0">
                <a:solidFill>
                  <a:srgbClr val="9A6B00"/>
                </a:solidFill>
                <a:latin typeface="Malgun Gothic" pitchFamily="34" charset="0"/>
                <a:ea typeface="Malgun Gothic" pitchFamily="34" charset="-122"/>
                <a:cs typeface="Malgun Gothic" pitchFamily="34" charset="-120"/>
              </a:rPr>
              <a:t>조건부 채택</a:t>
            </a:r>
            <a:endParaRPr lang="en-US" sz="1100" dirty="0"/>
          </a:p>
        </p:txBody>
      </p:sp>
      <p:sp>
        <p:nvSpPr>
          <p:cNvPr id="18" name="Text 14"/>
          <p:cNvSpPr txBox="1"/>
          <p:nvPr/>
        </p:nvSpPr>
        <p:spPr>
          <a:xfrm>
            <a:off x="9710928" y="2615184"/>
            <a:ext cx="1783080" cy="566928"/>
          </a:xfrm>
          <a:prstGeom prst="rect">
            <a:avLst/>
          </a:prstGeom>
          <a:noFill/>
          <a:ln/>
        </p:spPr>
        <p:txBody>
          <a:bodyPr wrap="square" lIns="0" tIns="0" rIns="0" bIns="0" rtlCol="0" anchor="t"/>
          <a:lstStyle/>
          <a:p>
            <a:pPr marL="0" indent="0">
              <a:lnSpc>
                <a:spcPct val="110000"/>
              </a:lnSpc>
              <a:buNone/>
            </a:pPr>
            <a:r>
              <a:rPr lang="en-US" sz="950" dirty="0">
                <a:solidFill>
                  <a:srgbClr val="64748B"/>
                </a:solidFill>
                <a:latin typeface="Malgun Gothic" pitchFamily="34" charset="0"/>
                <a:ea typeface="Malgun Gothic" pitchFamily="34" charset="-122"/>
                <a:cs typeface="Malgun Gothic" pitchFamily="34" charset="-120"/>
              </a:rPr>
              <a:t>원래 의미(대중 인지 대비 선행)는 직접 검증하지 못했다</a:t>
            </a:r>
            <a:endParaRPr lang="en-US" sz="950" dirty="0"/>
          </a:p>
        </p:txBody>
      </p:sp>
      <p:sp>
        <p:nvSpPr>
          <p:cNvPr id="19" name="Shape 15"/>
          <p:cNvSpPr/>
          <p:nvPr/>
        </p:nvSpPr>
        <p:spPr>
          <a:xfrm>
            <a:off x="548640" y="3383280"/>
            <a:ext cx="11091672" cy="1280160"/>
          </a:xfrm>
          <a:prstGeom prst="roundRect">
            <a:avLst>
              <a:gd name="adj" fmla="val 8571"/>
            </a:avLst>
          </a:prstGeom>
          <a:solidFill>
            <a:srgbClr val="F3F6FB"/>
          </a:solidFill>
          <a:ln w="12700">
            <a:solidFill>
              <a:srgbClr val="F3F6FB"/>
            </a:solidFill>
            <a:prstDash val="solid"/>
          </a:ln>
        </p:spPr>
        <p:txBody>
          <a:bodyPr/>
          <a:lstStyle/>
          <a:p>
            <a:endParaRPr lang="ko-KR" altLang="en-US"/>
          </a:p>
        </p:txBody>
      </p:sp>
      <p:sp>
        <p:nvSpPr>
          <p:cNvPr id="20" name="Shape 16"/>
          <p:cNvSpPr/>
          <p:nvPr/>
        </p:nvSpPr>
        <p:spPr>
          <a:xfrm>
            <a:off x="731520" y="3794760"/>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21" name="Image 2" descr="preencoded.png"/>
          <p:cNvPicPr>
            <a:picLocks noChangeAspect="1"/>
          </p:cNvPicPr>
          <p:nvPr/>
        </p:nvPicPr>
        <p:blipFill>
          <a:blip r:embed="rId5"/>
          <a:stretch>
            <a:fillRect/>
          </a:stretch>
        </p:blipFill>
        <p:spPr>
          <a:xfrm>
            <a:off x="834390" y="3897630"/>
            <a:ext cx="251460" cy="251460"/>
          </a:xfrm>
          <a:prstGeom prst="rect">
            <a:avLst/>
          </a:prstGeom>
        </p:spPr>
      </p:pic>
      <p:sp>
        <p:nvSpPr>
          <p:cNvPr id="22" name="Text 17"/>
          <p:cNvSpPr txBox="1"/>
          <p:nvPr/>
        </p:nvSpPr>
        <p:spPr>
          <a:xfrm>
            <a:off x="1325880" y="3657600"/>
            <a:ext cx="960120" cy="731520"/>
          </a:xfrm>
          <a:prstGeom prst="rect">
            <a:avLst/>
          </a:prstGeom>
          <a:noFill/>
          <a:ln/>
        </p:spPr>
        <p:txBody>
          <a:bodyPr wrap="square" lIns="0" tIns="0" rIns="0" bIns="0" rtlCol="0" anchor="ctr"/>
          <a:lstStyle/>
          <a:p>
            <a:pPr marL="0" indent="0">
              <a:lnSpc>
                <a:spcPct val="100000"/>
              </a:lnSpc>
              <a:buNone/>
            </a:pPr>
            <a:r>
              <a:rPr lang="en-US" sz="2000" b="1" dirty="0">
                <a:solidFill>
                  <a:srgbClr val="E8383D"/>
                </a:solidFill>
                <a:latin typeface="Malgun Gothic" pitchFamily="34" charset="0"/>
                <a:ea typeface="Malgun Gothic" pitchFamily="34" charset="-122"/>
                <a:cs typeface="Malgun Gothic" pitchFamily="34" charset="-120"/>
              </a:rPr>
              <a:t>H2</a:t>
            </a:r>
            <a:endParaRPr lang="en-US" sz="1300" dirty="0"/>
          </a:p>
          <a:p>
            <a:pPr marL="0" indent="0">
              <a:lnSpc>
                <a:spcPct val="100000"/>
              </a:lnSpc>
              <a:buNone/>
            </a:pPr>
            <a:r>
              <a:rPr lang="en-US" sz="1300" b="1" dirty="0">
                <a:solidFill>
                  <a:srgbClr val="14213D"/>
                </a:solidFill>
                <a:latin typeface="Malgun Gothic" pitchFamily="34" charset="0"/>
                <a:ea typeface="Malgun Gothic" pitchFamily="34" charset="-122"/>
                <a:cs typeface="Malgun Gothic" pitchFamily="34" charset="-120"/>
              </a:rPr>
              <a:t>사각지대</a:t>
            </a:r>
            <a:endParaRPr lang="en-US" sz="1300" dirty="0"/>
          </a:p>
        </p:txBody>
      </p:sp>
      <p:sp>
        <p:nvSpPr>
          <p:cNvPr id="23" name="Text 18"/>
          <p:cNvSpPr txBox="1"/>
          <p:nvPr/>
        </p:nvSpPr>
        <p:spPr>
          <a:xfrm>
            <a:off x="2331720" y="3547872"/>
            <a:ext cx="2788920" cy="950976"/>
          </a:xfrm>
          <a:prstGeom prst="rect">
            <a:avLst/>
          </a:prstGeom>
          <a:noFill/>
          <a:ln/>
        </p:spPr>
        <p:txBody>
          <a:bodyPr wrap="square" lIns="0" tIns="0" rIns="0" bIns="0" rtlCol="0" anchor="ctr"/>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소비 규모 × 초과성장률 산점도 비교 + 구글맵 스냅샷(리뷰 수·외국어 리뷰 비중)으로 정보 노출도 직접 확인</a:t>
            </a:r>
            <a:endParaRPr lang="en-US" sz="1100" dirty="0"/>
          </a:p>
        </p:txBody>
      </p:sp>
      <p:pic>
        <p:nvPicPr>
          <p:cNvPr id="24" name="Image 3" descr="preencoded.png"/>
          <p:cNvPicPr>
            <a:picLocks noChangeAspect="1"/>
          </p:cNvPicPr>
          <p:nvPr/>
        </p:nvPicPr>
        <p:blipFill>
          <a:blip r:embed="rId4"/>
          <a:stretch>
            <a:fillRect/>
          </a:stretch>
        </p:blipFill>
        <p:spPr>
          <a:xfrm>
            <a:off x="5230368" y="3931920"/>
            <a:ext cx="182880" cy="182880"/>
          </a:xfrm>
          <a:prstGeom prst="rect">
            <a:avLst/>
          </a:prstGeom>
        </p:spPr>
      </p:pic>
      <p:sp>
        <p:nvSpPr>
          <p:cNvPr id="25" name="Text 19"/>
          <p:cNvSpPr txBox="1"/>
          <p:nvPr/>
        </p:nvSpPr>
        <p:spPr>
          <a:xfrm>
            <a:off x="5486400" y="3493008"/>
            <a:ext cx="4023360" cy="1060704"/>
          </a:xfrm>
          <a:prstGeom prst="rect">
            <a:avLst/>
          </a:prstGeom>
          <a:noFill/>
          <a:ln/>
        </p:spPr>
        <p:txBody>
          <a:bodyPr wrap="square" lIns="0" tIns="0" rIns="0" bIns="0" rtlCol="0" anchor="ctr"/>
          <a:lstStyle/>
          <a:p>
            <a:pPr marL="0" indent="0">
              <a:lnSpc>
                <a:spcPct val="110000"/>
              </a:lnSpc>
              <a:spcAft>
                <a:spcPts val="400"/>
              </a:spcAft>
              <a:buNone/>
            </a:pPr>
            <a:r>
              <a:rPr lang="en-US" sz="1100" b="1" dirty="0">
                <a:solidFill>
                  <a:srgbClr val="14213D"/>
                </a:solidFill>
                <a:latin typeface="Malgun Gothic" pitchFamily="34" charset="0"/>
                <a:ea typeface="Malgun Gothic" pitchFamily="34" charset="-122"/>
                <a:cs typeface="Malgun Gothic" pitchFamily="34" charset="-120"/>
              </a:rPr>
              <a:t>산점도로 유명 관광지 10곳·산업단지형 10곳과 비교 (완료) — 구글맵 스냅샷은 수행하지 못함</a:t>
            </a:r>
            <a:endParaRPr lang="en-US" sz="1300" dirty="0"/>
          </a:p>
          <a:p>
            <a:pPr marL="0" indent="0">
              <a:lnSpc>
                <a:spcPct val="110000"/>
              </a:lnSpc>
              <a:buNone/>
            </a:pPr>
            <a:r>
              <a:rPr lang="en-US" sz="1000" dirty="0">
                <a:solidFill>
                  <a:srgbClr val="64748B"/>
                </a:solidFill>
                <a:latin typeface="Malgun Gothic" pitchFamily="34" charset="0"/>
                <a:ea typeface="Malgun Gothic" pitchFamily="34" charset="-122"/>
                <a:cs typeface="Malgun Gothic" pitchFamily="34" charset="-120"/>
              </a:rPr>
              <a:t>리뷰 수·외국어 리뷰 비중은 이번 일정에서 수집하지 못해, 소비 규모(6개월 누적 이용 건수)를 노출도의 대리 지표로 썼다.</a:t>
            </a:r>
            <a:endParaRPr lang="en-US" sz="1300" dirty="0"/>
          </a:p>
        </p:txBody>
      </p:sp>
      <p:sp>
        <p:nvSpPr>
          <p:cNvPr id="26" name="Shape 20"/>
          <p:cNvSpPr/>
          <p:nvPr/>
        </p:nvSpPr>
        <p:spPr>
          <a:xfrm>
            <a:off x="9710928" y="3584448"/>
            <a:ext cx="1371600" cy="310896"/>
          </a:xfrm>
          <a:prstGeom prst="roundRect">
            <a:avLst>
              <a:gd name="adj" fmla="val 50000"/>
            </a:avLst>
          </a:prstGeom>
          <a:solidFill>
            <a:srgbClr val="E3F6F3"/>
          </a:solidFill>
          <a:ln w="12700">
            <a:solidFill>
              <a:srgbClr val="E3F6F3"/>
            </a:solidFill>
            <a:prstDash val="solid"/>
          </a:ln>
        </p:spPr>
        <p:txBody>
          <a:bodyPr/>
          <a:lstStyle/>
          <a:p>
            <a:endParaRPr lang="ko-KR" altLang="en-US"/>
          </a:p>
        </p:txBody>
      </p:sp>
      <p:sp>
        <p:nvSpPr>
          <p:cNvPr id="27" name="Text 21"/>
          <p:cNvSpPr txBox="1"/>
          <p:nvPr/>
        </p:nvSpPr>
        <p:spPr>
          <a:xfrm>
            <a:off x="9710928" y="3584448"/>
            <a:ext cx="1371600" cy="310896"/>
          </a:xfrm>
          <a:prstGeom prst="rect">
            <a:avLst/>
          </a:prstGeom>
          <a:noFill/>
          <a:ln/>
        </p:spPr>
        <p:txBody>
          <a:bodyPr wrap="square" lIns="0" tIns="0" rIns="0" bIns="0" rtlCol="0" anchor="ctr"/>
          <a:lstStyle/>
          <a:p>
            <a:pPr marL="0" indent="0" algn="ctr">
              <a:buNone/>
            </a:pPr>
            <a:r>
              <a:rPr lang="en-US" sz="1100" b="1" dirty="0">
                <a:solidFill>
                  <a:srgbClr val="0B7A6D"/>
                </a:solidFill>
                <a:latin typeface="Malgun Gothic" pitchFamily="34" charset="0"/>
                <a:ea typeface="Malgun Gothic" pitchFamily="34" charset="-122"/>
                <a:cs typeface="Malgun Gothic" pitchFamily="34" charset="-120"/>
              </a:rPr>
              <a:t>채택</a:t>
            </a:r>
            <a:endParaRPr lang="en-US" sz="1100" dirty="0"/>
          </a:p>
        </p:txBody>
      </p:sp>
      <p:sp>
        <p:nvSpPr>
          <p:cNvPr id="28" name="Text 22"/>
          <p:cNvSpPr txBox="1"/>
          <p:nvPr/>
        </p:nvSpPr>
        <p:spPr>
          <a:xfrm>
            <a:off x="9710928" y="3986784"/>
            <a:ext cx="1783080" cy="566928"/>
          </a:xfrm>
          <a:prstGeom prst="rect">
            <a:avLst/>
          </a:prstGeom>
          <a:noFill/>
          <a:ln/>
        </p:spPr>
        <p:txBody>
          <a:bodyPr wrap="square" lIns="0" tIns="0" rIns="0" bIns="0" rtlCol="0" anchor="t"/>
          <a:lstStyle/>
          <a:p>
            <a:pPr marL="0" indent="0">
              <a:lnSpc>
                <a:spcPct val="110000"/>
              </a:lnSpc>
              <a:buNone/>
            </a:pPr>
            <a:r>
              <a:rPr lang="en-US" sz="950" dirty="0">
                <a:solidFill>
                  <a:srgbClr val="64748B"/>
                </a:solidFill>
                <a:latin typeface="Malgun Gothic" pitchFamily="34" charset="0"/>
                <a:ea typeface="Malgun Gothic" pitchFamily="34" charset="-122"/>
                <a:cs typeface="Malgun Gothic" pitchFamily="34" charset="-120"/>
              </a:rPr>
              <a:t>노출도의 직접 측정은 후속 과제로 남긴다</a:t>
            </a:r>
            <a:endParaRPr lang="en-US" sz="950" dirty="0"/>
          </a:p>
        </p:txBody>
      </p:sp>
      <p:sp>
        <p:nvSpPr>
          <p:cNvPr id="29" name="Shape 23"/>
          <p:cNvSpPr/>
          <p:nvPr/>
        </p:nvSpPr>
        <p:spPr>
          <a:xfrm>
            <a:off x="548640" y="4754880"/>
            <a:ext cx="11091672" cy="1280160"/>
          </a:xfrm>
          <a:prstGeom prst="roundRect">
            <a:avLst>
              <a:gd name="adj" fmla="val 8571"/>
            </a:avLst>
          </a:prstGeom>
          <a:solidFill>
            <a:srgbClr val="F3F6FB"/>
          </a:solidFill>
          <a:ln w="12700">
            <a:solidFill>
              <a:srgbClr val="F3F6FB"/>
            </a:solidFill>
            <a:prstDash val="solid"/>
          </a:ln>
        </p:spPr>
        <p:txBody>
          <a:bodyPr/>
          <a:lstStyle/>
          <a:p>
            <a:endParaRPr lang="ko-KR" altLang="en-US"/>
          </a:p>
        </p:txBody>
      </p:sp>
      <p:sp>
        <p:nvSpPr>
          <p:cNvPr id="30" name="Shape 24"/>
          <p:cNvSpPr/>
          <p:nvPr/>
        </p:nvSpPr>
        <p:spPr>
          <a:xfrm>
            <a:off x="731520" y="5166360"/>
            <a:ext cx="457200" cy="457200"/>
          </a:xfrm>
          <a:prstGeom prst="ellipse">
            <a:avLst/>
          </a:prstGeom>
          <a:solidFill>
            <a:srgbClr val="0B1B33"/>
          </a:solidFill>
          <a:ln w="12700">
            <a:solidFill>
              <a:srgbClr val="0B1B33"/>
            </a:solidFill>
            <a:prstDash val="solid"/>
          </a:ln>
        </p:spPr>
        <p:txBody>
          <a:bodyPr/>
          <a:lstStyle/>
          <a:p>
            <a:endParaRPr lang="ko-KR" altLang="en-US"/>
          </a:p>
        </p:txBody>
      </p:sp>
      <p:pic>
        <p:nvPicPr>
          <p:cNvPr id="31" name="Image 4" descr="preencoded.png"/>
          <p:cNvPicPr>
            <a:picLocks noChangeAspect="1"/>
          </p:cNvPicPr>
          <p:nvPr/>
        </p:nvPicPr>
        <p:blipFill>
          <a:blip r:embed="rId6"/>
          <a:stretch>
            <a:fillRect/>
          </a:stretch>
        </p:blipFill>
        <p:spPr>
          <a:xfrm>
            <a:off x="834390" y="5269230"/>
            <a:ext cx="251460" cy="251460"/>
          </a:xfrm>
          <a:prstGeom prst="rect">
            <a:avLst/>
          </a:prstGeom>
        </p:spPr>
      </p:pic>
      <p:sp>
        <p:nvSpPr>
          <p:cNvPr id="32" name="Text 25"/>
          <p:cNvSpPr txBox="1"/>
          <p:nvPr/>
        </p:nvSpPr>
        <p:spPr>
          <a:xfrm>
            <a:off x="1325880" y="5029200"/>
            <a:ext cx="960120" cy="731520"/>
          </a:xfrm>
          <a:prstGeom prst="rect">
            <a:avLst/>
          </a:prstGeom>
          <a:noFill/>
          <a:ln/>
        </p:spPr>
        <p:txBody>
          <a:bodyPr wrap="square" lIns="0" tIns="0" rIns="0" bIns="0" rtlCol="0" anchor="ctr"/>
          <a:lstStyle/>
          <a:p>
            <a:pPr marL="0" indent="0">
              <a:lnSpc>
                <a:spcPct val="100000"/>
              </a:lnSpc>
              <a:buNone/>
            </a:pPr>
            <a:r>
              <a:rPr lang="en-US" sz="2000" b="1" dirty="0">
                <a:solidFill>
                  <a:srgbClr val="E8383D"/>
                </a:solidFill>
                <a:latin typeface="Malgun Gothic" pitchFamily="34" charset="0"/>
                <a:ea typeface="Malgun Gothic" pitchFamily="34" charset="-122"/>
                <a:cs typeface="Malgun Gothic" pitchFamily="34" charset="-120"/>
              </a:rPr>
              <a:t>H3</a:t>
            </a:r>
            <a:endParaRPr lang="en-US" sz="1300" dirty="0"/>
          </a:p>
          <a:p>
            <a:pPr marL="0" indent="0">
              <a:lnSpc>
                <a:spcPct val="100000"/>
              </a:lnSpc>
              <a:buNone/>
            </a:pPr>
            <a:r>
              <a:rPr lang="en-US" sz="1300" b="1" dirty="0">
                <a:solidFill>
                  <a:srgbClr val="14213D"/>
                </a:solidFill>
                <a:latin typeface="Malgun Gothic" pitchFamily="34" charset="0"/>
                <a:ea typeface="Malgun Gothic" pitchFamily="34" charset="-122"/>
                <a:cs typeface="Malgun Gothic" pitchFamily="34" charset="-120"/>
              </a:rPr>
              <a:t>지속성</a:t>
            </a:r>
            <a:endParaRPr lang="en-US" sz="1300" dirty="0"/>
          </a:p>
        </p:txBody>
      </p:sp>
      <p:sp>
        <p:nvSpPr>
          <p:cNvPr id="33" name="Text 26"/>
          <p:cNvSpPr txBox="1"/>
          <p:nvPr/>
        </p:nvSpPr>
        <p:spPr>
          <a:xfrm>
            <a:off x="2331720" y="4919472"/>
            <a:ext cx="2788920" cy="950976"/>
          </a:xfrm>
          <a:prstGeom prst="rect">
            <a:avLst/>
          </a:prstGeom>
          <a:noFill/>
          <a:ln/>
        </p:spPr>
        <p:txBody>
          <a:bodyPr wrap="square" lIns="0" tIns="0" rIns="0" bIns="0" rtlCol="0" anchor="ctr"/>
          <a:lstStyle/>
          <a:p>
            <a:pPr marL="0" indent="0">
              <a:lnSpc>
                <a:spcPct val="115000"/>
              </a:lnSpc>
              <a:buNone/>
            </a:pPr>
            <a:r>
              <a:rPr lang="en-US" sz="1100" dirty="0">
                <a:solidFill>
                  <a:srgbClr val="3A475C"/>
                </a:solidFill>
                <a:latin typeface="Malgun Gothic" pitchFamily="34" charset="0"/>
                <a:ea typeface="Malgun Gothic" pitchFamily="34" charset="-122"/>
                <a:cs typeface="Malgun Gothic" pitchFamily="34" charset="-120"/>
              </a:rPr>
              <a:t>1~4월 데이터로 후보를 선정하고 5~6월 실측으로 지속 여부를 홀드아웃 검증</a:t>
            </a:r>
            <a:endParaRPr lang="en-US" sz="1100" dirty="0"/>
          </a:p>
        </p:txBody>
      </p:sp>
      <p:pic>
        <p:nvPicPr>
          <p:cNvPr id="34" name="Image 5" descr="preencoded.png"/>
          <p:cNvPicPr>
            <a:picLocks noChangeAspect="1"/>
          </p:cNvPicPr>
          <p:nvPr/>
        </p:nvPicPr>
        <p:blipFill>
          <a:blip r:embed="rId4"/>
          <a:stretch>
            <a:fillRect/>
          </a:stretch>
        </p:blipFill>
        <p:spPr>
          <a:xfrm>
            <a:off x="5230368" y="5303520"/>
            <a:ext cx="182880" cy="182880"/>
          </a:xfrm>
          <a:prstGeom prst="rect">
            <a:avLst/>
          </a:prstGeom>
        </p:spPr>
      </p:pic>
      <p:sp>
        <p:nvSpPr>
          <p:cNvPr id="35" name="Text 27"/>
          <p:cNvSpPr txBox="1"/>
          <p:nvPr/>
        </p:nvSpPr>
        <p:spPr>
          <a:xfrm>
            <a:off x="5486400" y="4864608"/>
            <a:ext cx="4023360" cy="1060704"/>
          </a:xfrm>
          <a:prstGeom prst="rect">
            <a:avLst/>
          </a:prstGeom>
          <a:noFill/>
          <a:ln/>
        </p:spPr>
        <p:txBody>
          <a:bodyPr wrap="square" lIns="0" tIns="0" rIns="0" bIns="0" rtlCol="0" anchor="ctr"/>
          <a:lstStyle/>
          <a:p>
            <a:pPr marL="0" indent="0">
              <a:lnSpc>
                <a:spcPct val="110000"/>
              </a:lnSpc>
              <a:spcAft>
                <a:spcPts val="400"/>
              </a:spcAft>
              <a:buNone/>
            </a:pPr>
            <a:r>
              <a:rPr lang="en-US" sz="1100" b="1" dirty="0">
                <a:solidFill>
                  <a:srgbClr val="14213D"/>
                </a:solidFill>
                <a:latin typeface="Malgun Gothic" pitchFamily="34" charset="0"/>
                <a:ea typeface="Malgun Gothic" pitchFamily="34" charset="-122"/>
                <a:cs typeface="Malgun Gothic" pitchFamily="34" charset="-120"/>
              </a:rPr>
              <a:t>후보 20개 항목이 5~6월에도 20/20 유지 — 그러나 ‘사후 확인’이라 전국 재검증을 추가</a:t>
            </a:r>
            <a:endParaRPr lang="en-US" sz="1300" dirty="0"/>
          </a:p>
          <a:p>
            <a:pPr marL="0" indent="0">
              <a:lnSpc>
                <a:spcPct val="110000"/>
              </a:lnSpc>
              <a:buNone/>
            </a:pPr>
            <a:r>
              <a:rPr lang="en-US" sz="1000" dirty="0">
                <a:solidFill>
                  <a:srgbClr val="64748B"/>
                </a:solidFill>
                <a:latin typeface="Malgun Gothic" pitchFamily="34" charset="0"/>
                <a:ea typeface="Malgun Gothic" pitchFamily="34" charset="-122"/>
                <a:cs typeface="Malgun Gothic" pitchFamily="34" charset="-120"/>
              </a:rPr>
              <a:t>후보를 6개월 전체 신호로 골랐다는 점을 9/21 재점검에서 발견해, 전국 2,111개 조합으로 넓혀 다시 확인했다.</a:t>
            </a:r>
            <a:endParaRPr lang="en-US" sz="1300" dirty="0"/>
          </a:p>
        </p:txBody>
      </p:sp>
      <p:sp>
        <p:nvSpPr>
          <p:cNvPr id="36" name="Shape 28"/>
          <p:cNvSpPr/>
          <p:nvPr/>
        </p:nvSpPr>
        <p:spPr>
          <a:xfrm>
            <a:off x="9710928" y="4956048"/>
            <a:ext cx="1371600" cy="310896"/>
          </a:xfrm>
          <a:prstGeom prst="roundRect">
            <a:avLst>
              <a:gd name="adj" fmla="val 50000"/>
            </a:avLst>
          </a:prstGeom>
          <a:solidFill>
            <a:srgbClr val="FFF4DC"/>
          </a:solidFill>
          <a:ln w="12700">
            <a:solidFill>
              <a:srgbClr val="FFF4DC"/>
            </a:solidFill>
            <a:prstDash val="solid"/>
          </a:ln>
        </p:spPr>
        <p:txBody>
          <a:bodyPr/>
          <a:lstStyle/>
          <a:p>
            <a:endParaRPr lang="ko-KR" altLang="en-US"/>
          </a:p>
        </p:txBody>
      </p:sp>
      <p:sp>
        <p:nvSpPr>
          <p:cNvPr id="37" name="Text 29"/>
          <p:cNvSpPr txBox="1"/>
          <p:nvPr/>
        </p:nvSpPr>
        <p:spPr>
          <a:xfrm>
            <a:off x="9710928" y="4956048"/>
            <a:ext cx="1371600" cy="310896"/>
          </a:xfrm>
          <a:prstGeom prst="rect">
            <a:avLst/>
          </a:prstGeom>
          <a:noFill/>
          <a:ln/>
        </p:spPr>
        <p:txBody>
          <a:bodyPr wrap="square" lIns="0" tIns="0" rIns="0" bIns="0" rtlCol="0" anchor="ctr"/>
          <a:lstStyle/>
          <a:p>
            <a:pPr marL="0" indent="0" algn="ctr">
              <a:buNone/>
            </a:pPr>
            <a:r>
              <a:rPr lang="en-US" sz="1100" b="1" dirty="0">
                <a:solidFill>
                  <a:srgbClr val="9A6B00"/>
                </a:solidFill>
                <a:latin typeface="Malgun Gothic" pitchFamily="34" charset="0"/>
                <a:ea typeface="Malgun Gothic" pitchFamily="34" charset="-122"/>
                <a:cs typeface="Malgun Gothic" pitchFamily="34" charset="-120"/>
              </a:rPr>
              <a:t>조건부 채택</a:t>
            </a:r>
            <a:endParaRPr lang="en-US" sz="1100" dirty="0"/>
          </a:p>
        </p:txBody>
      </p:sp>
      <p:sp>
        <p:nvSpPr>
          <p:cNvPr id="38" name="Text 30"/>
          <p:cNvSpPr txBox="1"/>
          <p:nvPr/>
        </p:nvSpPr>
        <p:spPr>
          <a:xfrm>
            <a:off x="9710928" y="5358384"/>
            <a:ext cx="1783080" cy="566928"/>
          </a:xfrm>
          <a:prstGeom prst="rect">
            <a:avLst/>
          </a:prstGeom>
          <a:noFill/>
          <a:ln/>
        </p:spPr>
        <p:txBody>
          <a:bodyPr wrap="square" lIns="0" tIns="0" rIns="0" bIns="0" rtlCol="0" anchor="t"/>
          <a:lstStyle/>
          <a:p>
            <a:pPr marL="0" indent="0">
              <a:lnSpc>
                <a:spcPct val="110000"/>
              </a:lnSpc>
              <a:buNone/>
            </a:pPr>
            <a:r>
              <a:rPr lang="en-US" sz="950" dirty="0">
                <a:solidFill>
                  <a:srgbClr val="64748B"/>
                </a:solidFill>
                <a:latin typeface="Malgun Gothic" pitchFamily="34" charset="0"/>
                <a:ea typeface="Malgun Gothic" pitchFamily="34" charset="-122"/>
                <a:cs typeface="Malgun Gothic" pitchFamily="34" charset="-120"/>
              </a:rPr>
              <a:t>성장률이 아닌 ‘수준’의 지속만 확인했다</a:t>
            </a:r>
            <a:endParaRPr lang="en-US" sz="950" dirty="0"/>
          </a:p>
        </p:txBody>
      </p:sp>
      <p:sp>
        <p:nvSpPr>
          <p:cNvPr id="39" name="Text 31"/>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40" name="Text 32"/>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40 / 42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A5  </a:t>
            </a:r>
            <a:r>
              <a:rPr lang="en-US" sz="1150" b="1" dirty="0">
                <a:solidFill>
                  <a:srgbClr val="64748B"/>
                </a:solidFill>
                <a:latin typeface="Malgun Gothic" pitchFamily="34" charset="0"/>
                <a:ea typeface="Malgun Gothic" pitchFamily="34" charset="-122"/>
                <a:cs typeface="Malgun Gothic" pitchFamily="34" charset="-120"/>
              </a:rPr>
              <a:t>접은 자료와 바꾼 결정</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시도했다가 접은 자료와 지표 — 본문에는 결과적으로 쓴 방법만 실었다</a:t>
            </a:r>
            <a:endParaRPr lang="en-US" sz="2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11091672" cy="4224528"/>
        </p:xfrm>
        <a:graphic>
          <a:graphicData uri="http://schemas.openxmlformats.org/drawingml/2006/table">
            <a:tbl>
              <a:tblPr/>
              <a:tblGrid>
                <a:gridCol w="2788920">
                  <a:extLst>
                    <a:ext uri="{9D8B030D-6E8A-4147-A177-3AD203B41FA5}">
                      <a16:colId xmlns:a16="http://schemas.microsoft.com/office/drawing/2014/main" val="20000"/>
                    </a:ext>
                  </a:extLst>
                </a:gridCol>
                <a:gridCol w="5074920">
                  <a:extLst>
                    <a:ext uri="{9D8B030D-6E8A-4147-A177-3AD203B41FA5}">
                      <a16:colId xmlns:a16="http://schemas.microsoft.com/office/drawing/2014/main" val="20001"/>
                    </a:ext>
                  </a:extLst>
                </a:gridCol>
                <a:gridCol w="3227832">
                  <a:extLst>
                    <a:ext uri="{9D8B030D-6E8A-4147-A177-3AD203B41FA5}">
                      <a16:colId xmlns:a16="http://schemas.microsoft.com/office/drawing/2014/main" val="20002"/>
                    </a:ext>
                  </a:extLst>
                </a:gridCol>
              </a:tblGrid>
              <a:tr h="292608">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시도 · 초기 가정</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접은 이유</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tc>
                  <a:txBody>
                    <a:bodyPr/>
                    <a:lstStyle/>
                    <a:p>
                      <a:pPr marL="0" indent="0">
                        <a:buNone/>
                      </a:pPr>
                      <a:r>
                        <a:rPr lang="en-US" sz="1000" b="1" dirty="0">
                          <a:solidFill>
                            <a:srgbClr val="FFFFFF"/>
                          </a:solidFill>
                          <a:latin typeface="Malgun Gothic" pitchFamily="34" charset="0"/>
                          <a:ea typeface="Malgun Gothic" pitchFamily="34" charset="-122"/>
                          <a:cs typeface="Malgun Gothic" pitchFamily="34" charset="-120"/>
                        </a:rPr>
                        <a:t>본문에서 쓴 것</a:t>
                      </a:r>
                      <a:endParaRPr lang="en-US" sz="10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0B1B33"/>
                    </a:solidFill>
                  </a:tcPr>
                </a:tc>
                <a:extLst>
                  <a:ext uri="{0D108BD9-81ED-4DB2-BD59-A6C34878D82A}">
                    <a16:rowId xmlns:a16="http://schemas.microsoft.com/office/drawing/2014/main" val="10000"/>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구글트렌드(pytrends) 검색 관심도</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22개 키워드 조합 중 13개는 결과가 비어 있고, 나머지 9개도 한 달에 하루치 값만 잡혀 정량 분석이 불가능했다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한국관광 데이터랩 방문자수 (21~24쪽)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유튜브 Data API 영상 수</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검색된 영상 수가 청송군 6만 건대로 비현실적이었다 — totalResults는 근사치이고 검색어도 느슨하게 매칭된다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위와 같음</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2"/>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빅카인즈 뉴스 언급량</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API 승인 절차가 필요해 이번 일정 안에 확보하지 못했다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후속 과제 (한계점 33쪽)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네이버 데이터랩 ‘카드 사용통계’</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BC카드 데이터에 기반한 코너라 카드 신호와 순환 참조가 생긴다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쓰지 않음 — 독립 원천 원칙 (21쪽)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4"/>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구글맵 스냅샷 (리뷰 수·외국어 리뷰 비중)</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노출도를 직접 재려던 계획이었으나 이번 일정에서 수집하지 못했다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소비 규모를 노출도의 대리 지표로 사용 (25쪽)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연령대(40세 미만 비율)로 구분</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관광지 9곳에서 31~66%로 제각각이라 관광객과 체류자를 가르는 구분력이 없었다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뉴스로 원인 확인 → Track 분류 (20쪽)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6"/>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후보 8곳을 모두 관광 신호로 해석</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청송·영양·봉화·고성이 계절근로자 입국 시점과 겹쳤다 — 후보 재분류가 가장 큰 방향 수정이었다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계절근로자 변수 통제 → Track A·B (16쪽)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양양군 일식회집을 대표 신호로 사용</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점수 1.50으로 1위였지만 월 14~59건의 작은 표본이 출렁인 저베이스 반등이었다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큰 표본 3개 업종으로 교체 (19쪽)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08"/>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H3를 1~4월 후보 선정 → 5~6월 홀드아웃으로 검증</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후보를 6개월 전체 신호로 골랐다는 점을 뒤늦게 확인했다 (순환 선택)</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사후 확인 + 전국 재검증 (26~27쪽)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buNone/>
                      </a:pPr>
                      <a:r>
                        <a:rPr lang="en-US" sz="950" b="1" dirty="0">
                          <a:solidFill>
                            <a:srgbClr val="14213D"/>
                          </a:solidFill>
                          <a:latin typeface="Malgun Gothic" pitchFamily="34" charset="0"/>
                          <a:ea typeface="Malgun Gothic" pitchFamily="34" charset="-122"/>
                          <a:cs typeface="Malgun Gothic" pitchFamily="34" charset="-120"/>
                        </a:rPr>
                        <a:t>시차상관 해석 ‘카드가 방문자를 앞선다’</a:t>
                      </a:r>
                      <a:endParaRPr lang="en-US" sz="95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dirty="0">
                          <a:solidFill>
                            <a:srgbClr val="3A475C"/>
                          </a:solidFill>
                          <a:latin typeface="Malgun Gothic" pitchFamily="34" charset="0"/>
                          <a:ea typeface="Malgun Gothic" pitchFamily="34" charset="-122"/>
                          <a:cs typeface="Malgun Gothic" pitchFamily="34" charset="-120"/>
                        </a:rPr>
                        <a:t>음(−)의 상관은 방문자 정점이 카드 정점보다 먼저라서 나온 부호였다</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tc>
                  <a:txBody>
                    <a:bodyPr/>
                    <a:lstStyle/>
                    <a:p>
                      <a:pPr marL="0" indent="0">
                        <a:buNone/>
                      </a:pPr>
                      <a:r>
                        <a:rPr lang="en-US" sz="900" b="1" dirty="0">
                          <a:solidFill>
                            <a:srgbClr val="0B7A6D"/>
                          </a:solidFill>
                          <a:latin typeface="Malgun Gothic" pitchFamily="34" charset="0"/>
                          <a:ea typeface="Malgun Gothic" pitchFamily="34" charset="-122"/>
                          <a:cs typeface="Malgun Gothic" pitchFamily="34" charset="-120"/>
                        </a:rPr>
                        <a:t>‘방문자 증가 주기가 먼저’로 정정 (23쪽)</a:t>
                      </a:r>
                      <a:endParaRPr lang="en-US" sz="900" dirty="0">
                        <a:latin typeface="Malgun Gothic" charset="0"/>
                        <a:ea typeface="Malgun Gothic" charset="0"/>
                        <a:cs typeface="Malgun Gothic" charset="0"/>
                      </a:endParaRPr>
                    </a:p>
                  </a:txBody>
                  <a:tcPr marL="73152" marR="73152" marT="27432" marB="27432" anchor="ctr">
                    <a:lnL w="12700" cap="flat" cmpd="sng" algn="ctr">
                      <a:solidFill>
                        <a:srgbClr val="D9E0EA"/>
                      </a:solidFill>
                      <a:prstDash val="solid"/>
                      <a:round/>
                      <a:headEnd type="none" w="med" len="med"/>
                      <a:tailEnd type="none" w="med" len="med"/>
                    </a:lnL>
                    <a:lnR w="12700" cap="flat" cmpd="sng" algn="ctr">
                      <a:solidFill>
                        <a:srgbClr val="D9E0EA"/>
                      </a:solidFill>
                      <a:prstDash val="solid"/>
                      <a:round/>
                      <a:headEnd type="none" w="med" len="med"/>
                      <a:tailEnd type="none" w="med" len="med"/>
                    </a:lnR>
                    <a:lnT w="12700" cap="flat" cmpd="sng" algn="ctr">
                      <a:solidFill>
                        <a:srgbClr val="D9E0EA"/>
                      </a:solidFill>
                      <a:prstDash val="solid"/>
                      <a:round/>
                      <a:headEnd type="none" w="med" len="med"/>
                      <a:tailEnd type="none" w="med" len="med"/>
                    </a:lnT>
                    <a:lnB w="12700" cap="flat" cmpd="sng" algn="ctr">
                      <a:solidFill>
                        <a:srgbClr val="D9E0EA"/>
                      </a:solidFill>
                      <a:prstDash val="solid"/>
                      <a:round/>
                      <a:headEnd type="none" w="med" len="med"/>
                      <a:tailEnd type="none" w="med" len="med"/>
                    </a:lnB>
                    <a:solidFill>
                      <a:srgbClr val="F3F6FB"/>
                    </a:solidFill>
                  </a:tcPr>
                </a:tc>
                <a:extLst>
                  <a:ext uri="{0D108BD9-81ED-4DB2-BD59-A6C34878D82A}">
                    <a16:rowId xmlns:a16="http://schemas.microsoft.com/office/drawing/2014/main" val="10010"/>
                  </a:ext>
                </a:extLst>
              </a:tr>
            </a:tbl>
          </a:graphicData>
        </a:graphic>
      </p:graphicFrame>
      <p:sp>
        <p:nvSpPr>
          <p:cNvPr id="7" name="Shape 4"/>
          <p:cNvSpPr/>
          <p:nvPr/>
        </p:nvSpPr>
        <p:spPr>
          <a:xfrm>
            <a:off x="548640" y="5998464"/>
            <a:ext cx="11091672" cy="347472"/>
          </a:xfrm>
          <a:prstGeom prst="roundRect">
            <a:avLst>
              <a:gd name="adj" fmla="val 21053"/>
            </a:avLst>
          </a:prstGeom>
          <a:solidFill>
            <a:srgbClr val="FFF4DC"/>
          </a:solidFill>
          <a:ln w="12700">
            <a:solidFill>
              <a:srgbClr val="FFF4DC"/>
            </a:solidFill>
            <a:prstDash val="solid"/>
          </a:ln>
        </p:spPr>
        <p:txBody>
          <a:bodyPr/>
          <a:lstStyle/>
          <a:p>
            <a:endParaRPr lang="ko-KR" altLang="en-US"/>
          </a:p>
        </p:txBody>
      </p:sp>
      <p:sp>
        <p:nvSpPr>
          <p:cNvPr id="8" name="Text 5"/>
          <p:cNvSpPr txBox="1"/>
          <p:nvPr/>
        </p:nvSpPr>
        <p:spPr>
          <a:xfrm>
            <a:off x="777240" y="5998464"/>
            <a:ext cx="10698480" cy="347472"/>
          </a:xfrm>
          <a:prstGeom prst="rect">
            <a:avLst/>
          </a:prstGeom>
          <a:noFill/>
          <a:ln/>
        </p:spPr>
        <p:txBody>
          <a:bodyPr wrap="square" lIns="0" tIns="0" rIns="0" bIns="0" rtlCol="0" anchor="ctr"/>
          <a:lstStyle/>
          <a:p>
            <a:pPr marL="0" indent="0">
              <a:buNone/>
            </a:pPr>
            <a:r>
              <a:rPr lang="en-US" sz="1000" b="1" dirty="0">
                <a:solidFill>
                  <a:srgbClr val="9A6B00"/>
                </a:solidFill>
                <a:latin typeface="Malgun Gothic" pitchFamily="34" charset="0"/>
                <a:ea typeface="Malgun Gothic" pitchFamily="34" charset="-122"/>
                <a:cs typeface="Malgun Gothic" pitchFamily="34" charset="-120"/>
              </a:rPr>
              <a:t>본문에 실은 것  </a:t>
            </a:r>
            <a:r>
              <a:rPr lang="en-US" sz="1000" dirty="0">
                <a:solidFill>
                  <a:srgbClr val="14213D"/>
                </a:solidFill>
                <a:latin typeface="Malgun Gothic" pitchFamily="34" charset="0"/>
                <a:ea typeface="Malgun Gothic" pitchFamily="34" charset="-122"/>
                <a:cs typeface="Malgun Gothic" pitchFamily="34" charset="-120"/>
              </a:rPr>
              <a:t>결과적으로 사용한 자료·변수 — 한국관광 데이터랩 방문자수, 계절근로자·지역 축제 변수. 위 표는 그 과정에서 접거나 바꾼 결정의 기록이다.</a:t>
            </a:r>
            <a:endParaRPr lang="en-US" sz="1000" dirty="0"/>
          </a:p>
        </p:txBody>
      </p:sp>
      <p:sp>
        <p:nvSpPr>
          <p:cNvPr id="9" name="Text 6"/>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10" name="Text 7"/>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41 / 42</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93776" y="352044"/>
            <a:ext cx="246888" cy="246888"/>
          </a:xfrm>
          <a:prstGeom prst="ellipse">
            <a:avLst/>
          </a:prstGeom>
          <a:solidFill>
            <a:srgbClr val="FDECEC"/>
          </a:solidFill>
          <a:ln w="12700">
            <a:solidFill>
              <a:srgbClr val="FDECEC"/>
            </a:solidFill>
            <a:prstDash val="solid"/>
          </a:ln>
        </p:spPr>
        <p:txBody>
          <a:bodyPr/>
          <a:lstStyle/>
          <a:p>
            <a:endParaRPr lang="ko-KR" altLang="en-US"/>
          </a:p>
        </p:txBody>
      </p:sp>
      <p:sp>
        <p:nvSpPr>
          <p:cNvPr id="3" name="Shape 1"/>
          <p:cNvSpPr/>
          <p:nvPr/>
        </p:nvSpPr>
        <p:spPr>
          <a:xfrm>
            <a:off x="555498" y="404622"/>
            <a:ext cx="141732" cy="141732"/>
          </a:xfrm>
          <a:prstGeom prst="ellipse">
            <a:avLst/>
          </a:prstGeom>
          <a:solidFill>
            <a:srgbClr val="E8383D"/>
          </a:solidFill>
          <a:ln w="12700">
            <a:solidFill>
              <a:srgbClr val="E8383D"/>
            </a:solidFill>
            <a:prstDash val="solid"/>
          </a:ln>
        </p:spPr>
        <p:txBody>
          <a:bodyPr/>
          <a:lstStyle/>
          <a:p>
            <a:endParaRPr lang="ko-KR" altLang="en-US"/>
          </a:p>
        </p:txBody>
      </p:sp>
      <p:sp>
        <p:nvSpPr>
          <p:cNvPr id="4" name="Text 2"/>
          <p:cNvSpPr txBox="1"/>
          <p:nvPr/>
        </p:nvSpPr>
        <p:spPr>
          <a:xfrm>
            <a:off x="868680" y="329184"/>
            <a:ext cx="7315200" cy="292608"/>
          </a:xfrm>
          <a:prstGeom prst="rect">
            <a:avLst/>
          </a:prstGeom>
          <a:noFill/>
          <a:ln/>
        </p:spPr>
        <p:txBody>
          <a:bodyPr wrap="square" lIns="0" tIns="0" rIns="0" bIns="0" rtlCol="0" anchor="ctr"/>
          <a:lstStyle/>
          <a:p>
            <a:pPr marL="0" indent="0">
              <a:buNone/>
            </a:pPr>
            <a:r>
              <a:rPr lang="en-US" sz="1150" b="1" dirty="0">
                <a:solidFill>
                  <a:srgbClr val="E8383D"/>
                </a:solidFill>
                <a:latin typeface="Malgun Gothic" pitchFamily="34" charset="0"/>
                <a:ea typeface="Malgun Gothic" pitchFamily="34" charset="-122"/>
                <a:cs typeface="Malgun Gothic" pitchFamily="34" charset="-120"/>
              </a:rPr>
              <a:t>A6  </a:t>
            </a:r>
            <a:r>
              <a:rPr lang="en-US" sz="1150" b="1" dirty="0">
                <a:solidFill>
                  <a:srgbClr val="64748B"/>
                </a:solidFill>
                <a:latin typeface="Malgun Gothic" pitchFamily="34" charset="0"/>
                <a:ea typeface="Malgun Gothic" pitchFamily="34" charset="-122"/>
                <a:cs typeface="Malgun Gothic" pitchFamily="34" charset="-120"/>
              </a:rPr>
              <a:t>출처 · 참고자료</a:t>
            </a:r>
            <a:endParaRPr lang="en-US" sz="1150" dirty="0"/>
          </a:p>
        </p:txBody>
      </p:sp>
      <p:sp>
        <p:nvSpPr>
          <p:cNvPr id="5" name="Text 3"/>
          <p:cNvSpPr txBox="1"/>
          <p:nvPr/>
        </p:nvSpPr>
        <p:spPr>
          <a:xfrm>
            <a:off x="548640" y="713232"/>
            <a:ext cx="11091672" cy="868680"/>
          </a:xfrm>
          <a:prstGeom prst="rect">
            <a:avLst/>
          </a:prstGeom>
          <a:noFill/>
          <a:ln/>
        </p:spPr>
        <p:txBody>
          <a:bodyPr wrap="square" lIns="0" tIns="0" rIns="0" bIns="0" rtlCol="0" anchor="t"/>
          <a:lstStyle/>
          <a:p>
            <a:pPr marL="0" indent="0">
              <a:lnSpc>
                <a:spcPct val="105000"/>
              </a:lnSpc>
              <a:buNone/>
            </a:pPr>
            <a:r>
              <a:rPr lang="en-US" sz="2400" b="1" dirty="0">
                <a:solidFill>
                  <a:srgbClr val="14213D"/>
                </a:solidFill>
                <a:latin typeface="Malgun Gothic" pitchFamily="34" charset="0"/>
                <a:ea typeface="Malgun Gothic" pitchFamily="34" charset="-122"/>
                <a:cs typeface="Malgun Gothic" pitchFamily="34" charset="-120"/>
              </a:rPr>
              <a:t>외부 자료와 출처 — 확인한 범위만 인용했다</a:t>
            </a:r>
            <a:endParaRPr lang="en-US" sz="2400" dirty="0"/>
          </a:p>
        </p:txBody>
      </p:sp>
      <p:sp>
        <p:nvSpPr>
          <p:cNvPr id="6" name="Shape 4"/>
          <p:cNvSpPr/>
          <p:nvPr/>
        </p:nvSpPr>
        <p:spPr>
          <a:xfrm>
            <a:off x="548640" y="1737360"/>
            <a:ext cx="5440680" cy="1481328"/>
          </a:xfrm>
          <a:prstGeom prst="roundRect">
            <a:avLst>
              <a:gd name="adj" fmla="val 7407"/>
            </a:avLst>
          </a:prstGeom>
          <a:solidFill>
            <a:srgbClr val="F3F6FB"/>
          </a:solidFill>
          <a:ln w="12700">
            <a:solidFill>
              <a:srgbClr val="F3F6FB"/>
            </a:solidFill>
            <a:prstDash val="solid"/>
          </a:ln>
        </p:spPr>
        <p:txBody>
          <a:bodyPr/>
          <a:lstStyle/>
          <a:p>
            <a:endParaRPr lang="ko-KR" altLang="en-US"/>
          </a:p>
        </p:txBody>
      </p:sp>
      <p:sp>
        <p:nvSpPr>
          <p:cNvPr id="7" name="Shape 5"/>
          <p:cNvSpPr/>
          <p:nvPr/>
        </p:nvSpPr>
        <p:spPr>
          <a:xfrm>
            <a:off x="731520" y="1847088"/>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797357" y="1912925"/>
            <a:ext cx="160934" cy="160934"/>
          </a:xfrm>
          <a:prstGeom prst="rect">
            <a:avLst/>
          </a:prstGeom>
        </p:spPr>
      </p:pic>
      <p:sp>
        <p:nvSpPr>
          <p:cNvPr id="9" name="Text 6"/>
          <p:cNvSpPr txBox="1"/>
          <p:nvPr/>
        </p:nvSpPr>
        <p:spPr>
          <a:xfrm>
            <a:off x="1115568" y="1847088"/>
            <a:ext cx="4709160" cy="292608"/>
          </a:xfrm>
          <a:prstGeom prst="rect">
            <a:avLst/>
          </a:prstGeom>
          <a:noFill/>
          <a:ln/>
        </p:spPr>
        <p:txBody>
          <a:bodyPr wrap="square" lIns="0" tIns="0" rIns="0" bIns="0" rtlCol="0" anchor="ct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데이터 · 지도</a:t>
            </a:r>
            <a:endParaRPr lang="en-US" sz="1150" dirty="0"/>
          </a:p>
        </p:txBody>
      </p:sp>
      <p:sp>
        <p:nvSpPr>
          <p:cNvPr id="10" name="Text 7"/>
          <p:cNvSpPr txBox="1"/>
          <p:nvPr/>
        </p:nvSpPr>
        <p:spPr>
          <a:xfrm>
            <a:off x="777240" y="2212848"/>
            <a:ext cx="4983480" cy="932688"/>
          </a:xfrm>
          <a:prstGeom prst="rect">
            <a:avLst/>
          </a:prstGeom>
          <a:noFill/>
          <a:ln/>
        </p:spPr>
        <p:txBody>
          <a:bodyPr wrap="square" lIns="0" tIns="0" rIns="0" bIns="0" rtlCol="0" anchor="t"/>
          <a:lstStyle/>
          <a:p>
            <a:pPr marL="0" indent="0">
              <a:lnSpc>
                <a:spcPct val="108000"/>
              </a:lnSpc>
              <a:spcAft>
                <a:spcPts val="300"/>
              </a:spcAft>
              <a:buNone/>
            </a:pPr>
            <a:r>
              <a:rPr lang="en-US" sz="950" b="1" dirty="0">
                <a:solidFill>
                  <a:srgbClr val="14213D"/>
                </a:solidFill>
                <a:latin typeface="Malgun Gothic" pitchFamily="34" charset="0"/>
                <a:ea typeface="Malgun Gothic" pitchFamily="34" charset="-122"/>
                <a:cs typeface="Malgun Gothic" pitchFamily="34" charset="-120"/>
              </a:rPr>
              <a:t>비씨카드 </a:t>
            </a:r>
            <a:r>
              <a:rPr lang="en-US" sz="950" dirty="0">
                <a:solidFill>
                  <a:srgbClr val="3A475C"/>
                </a:solidFill>
                <a:latin typeface="Malgun Gothic" pitchFamily="34" charset="0"/>
                <a:ea typeface="Malgun Gothic" pitchFamily="34" charset="-122"/>
                <a:cs typeface="Malgun Gothic" pitchFamily="34" charset="-120"/>
              </a:rPr>
              <a:t>ABP_CONTEST_DATA.csv — 제1회 AI금융빅데이터플랫폼 소비데이터 활용 공모전 제공 (전국 시군구·업종별 집계, 2026.1~6월)</a:t>
            </a:r>
            <a:endParaRPr lang="en-US" sz="950" dirty="0"/>
          </a:p>
          <a:p>
            <a:pPr marL="0" indent="0">
              <a:lnSpc>
                <a:spcPct val="108000"/>
              </a:lnSpc>
              <a:spcAft>
                <a:spcPts val="300"/>
              </a:spcAft>
              <a:buNone/>
            </a:pPr>
            <a:r>
              <a:rPr lang="en-US" sz="950" b="1" dirty="0">
                <a:solidFill>
                  <a:srgbClr val="14213D"/>
                </a:solidFill>
                <a:latin typeface="Malgun Gothic" pitchFamily="34" charset="0"/>
                <a:ea typeface="Malgun Gothic" pitchFamily="34" charset="-122"/>
                <a:cs typeface="Malgun Gothic" pitchFamily="34" charset="-120"/>
              </a:rPr>
              <a:t>한국관광공사 TourAPI </a:t>
            </a:r>
            <a:r>
              <a:rPr lang="en-US" sz="950" dirty="0">
                <a:solidFill>
                  <a:srgbClr val="3A475C"/>
                </a:solidFill>
                <a:latin typeface="Malgun Gothic" pitchFamily="34" charset="0"/>
                <a:ea typeface="Malgun Gothic" pitchFamily="34" charset="-122"/>
                <a:cs typeface="Malgun Gothic" pitchFamily="34" charset="-120"/>
              </a:rPr>
              <a:t>관광빅데이터(DataLabService) 기초지자체 지역방문자수 — 외국인(touDivCd=3), 이동통신 데이터 기반</a:t>
            </a:r>
            <a:endParaRPr lang="en-US" sz="950" dirty="0"/>
          </a:p>
          <a:p>
            <a:pPr marL="0" indent="0">
              <a:lnSpc>
                <a:spcPct val="108000"/>
              </a:lnSpc>
              <a:spcAft>
                <a:spcPts val="300"/>
              </a:spcAft>
              <a:buNone/>
            </a:pPr>
            <a:r>
              <a:rPr lang="en-US" sz="950" b="1" dirty="0">
                <a:solidFill>
                  <a:srgbClr val="14213D"/>
                </a:solidFill>
                <a:latin typeface="Malgun Gothic" pitchFamily="34" charset="0"/>
                <a:ea typeface="Malgun Gothic" pitchFamily="34" charset="-122"/>
                <a:cs typeface="Malgun Gothic" pitchFamily="34" charset="-120"/>
              </a:rPr>
              <a:t>통계청 2018 행정구역 경계 </a:t>
            </a:r>
            <a:r>
              <a:rPr lang="en-US" sz="950" dirty="0">
                <a:solidFill>
                  <a:srgbClr val="3A475C"/>
                </a:solidFill>
                <a:latin typeface="Malgun Gothic" pitchFamily="34" charset="0"/>
                <a:ea typeface="Malgun Gothic" pitchFamily="34" charset="-122"/>
                <a:cs typeface="Malgun Gothic" pitchFamily="34" charset="-120"/>
              </a:rPr>
              <a:t>(southkorea-maps) — 지도 시각화, 최신 개편과 일부 다를 수 있음</a:t>
            </a:r>
            <a:endParaRPr lang="en-US" sz="950" dirty="0"/>
          </a:p>
        </p:txBody>
      </p:sp>
      <p:sp>
        <p:nvSpPr>
          <p:cNvPr id="11" name="Shape 8"/>
          <p:cNvSpPr/>
          <p:nvPr/>
        </p:nvSpPr>
        <p:spPr>
          <a:xfrm>
            <a:off x="548640" y="3355848"/>
            <a:ext cx="5440680" cy="1920240"/>
          </a:xfrm>
          <a:prstGeom prst="roundRect">
            <a:avLst>
              <a:gd name="adj" fmla="val 5714"/>
            </a:avLst>
          </a:prstGeom>
          <a:solidFill>
            <a:srgbClr val="F3F6FB"/>
          </a:solidFill>
          <a:ln w="12700">
            <a:solidFill>
              <a:srgbClr val="F3F6FB"/>
            </a:solidFill>
            <a:prstDash val="solid"/>
          </a:ln>
        </p:spPr>
        <p:txBody>
          <a:bodyPr/>
          <a:lstStyle/>
          <a:p>
            <a:endParaRPr lang="ko-KR" altLang="en-US"/>
          </a:p>
        </p:txBody>
      </p:sp>
      <p:sp>
        <p:nvSpPr>
          <p:cNvPr id="12" name="Shape 9"/>
          <p:cNvSpPr/>
          <p:nvPr/>
        </p:nvSpPr>
        <p:spPr>
          <a:xfrm>
            <a:off x="731520" y="3465576"/>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797357" y="3531413"/>
            <a:ext cx="160934" cy="160934"/>
          </a:xfrm>
          <a:prstGeom prst="rect">
            <a:avLst/>
          </a:prstGeom>
        </p:spPr>
      </p:pic>
      <p:sp>
        <p:nvSpPr>
          <p:cNvPr id="14" name="Text 10"/>
          <p:cNvSpPr txBox="1"/>
          <p:nvPr/>
        </p:nvSpPr>
        <p:spPr>
          <a:xfrm>
            <a:off x="1115568" y="3465576"/>
            <a:ext cx="4709160" cy="292608"/>
          </a:xfrm>
          <a:prstGeom prst="rect">
            <a:avLst/>
          </a:prstGeom>
          <a:noFill/>
          <a:ln/>
        </p:spPr>
        <p:txBody>
          <a:bodyPr wrap="square" lIns="0" tIns="0" rIns="0" bIns="0" rtlCol="0" anchor="ct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카드업계 배경 (문제 인식)</a:t>
            </a:r>
            <a:endParaRPr lang="en-US" sz="1150" dirty="0"/>
          </a:p>
        </p:txBody>
      </p:sp>
      <p:sp>
        <p:nvSpPr>
          <p:cNvPr id="15" name="Text 11"/>
          <p:cNvSpPr txBox="1"/>
          <p:nvPr/>
        </p:nvSpPr>
        <p:spPr>
          <a:xfrm>
            <a:off x="777240" y="3831336"/>
            <a:ext cx="4983480" cy="1371600"/>
          </a:xfrm>
          <a:prstGeom prst="rect">
            <a:avLst/>
          </a:prstGeom>
          <a:noFill/>
          <a:ln/>
        </p:spPr>
        <p:txBody>
          <a:bodyPr wrap="square" lIns="0" tIns="0" rIns="0" bIns="0" rtlCol="0" anchor="t"/>
          <a:lstStyle/>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5" tooltip="https://www.g-enews.com/article/Finance/2026/08/202608211537018754a6e8311f64_1">
                  <a:extLst>
                    <a:ext uri="{A12FA001-AC4F-418D-AE19-62706E023703}">
                      <ahyp:hlinkClr xmlns:ahyp="http://schemas.microsoft.com/office/drawing/2018/hyperlinkcolor" val="tx"/>
                    </a:ext>
                  </a:extLst>
                </a:hlinkClick>
              </a:rPr>
              <a:t>글로벌이코노믹</a:t>
            </a:r>
            <a:r>
              <a:rPr lang="en-US" sz="950" dirty="0">
                <a:solidFill>
                  <a:srgbClr val="3A475C"/>
                </a:solidFill>
                <a:latin typeface="Malgun Gothic" pitchFamily="34" charset="0"/>
                <a:ea typeface="Malgun Gothic" pitchFamily="34" charset="-122"/>
                <a:cs typeface="Malgun Gothic" pitchFamily="34" charset="-120"/>
              </a:rPr>
              <a:t> 「수수료 깎고 또 깎고…카드사, 가맹점 늘어도 수익은 뒷걸음」 (2026.8)</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6" tooltip="https://thecheck.co.kr/2026%EB%85%84-%EC%B9%B4%EB%93%9C%EC%88%98%EC%88%98%EB%A3%8C-%EC%9D%B8%ED%95%98-%EC%B5%9C%EC%A0%80-0-4-%EC%86%8C%EC%83%81%EA%B3%B5%EC%9D%B8-%ED%98%9C%ED%83%9D-%EB%B0%8F-%ED%99%98%EA%B8%89-%EC%A0%95/">
                  <a:extLst>
                    <a:ext uri="{A12FA001-AC4F-418D-AE19-62706E023703}">
                      <ahyp:hlinkClr xmlns:ahyp="http://schemas.microsoft.com/office/drawing/2018/hyperlinkcolor" val="tx"/>
                    </a:ext>
                  </a:extLst>
                </a:hlinkClick>
              </a:rPr>
              <a:t>더체크</a:t>
            </a:r>
            <a:r>
              <a:rPr lang="en-US" sz="950" dirty="0">
                <a:solidFill>
                  <a:srgbClr val="3A475C"/>
                </a:solidFill>
                <a:latin typeface="Malgun Gothic" pitchFamily="34" charset="0"/>
                <a:ea typeface="Malgun Gothic" pitchFamily="34" charset="-122"/>
                <a:cs typeface="Malgun Gothic" pitchFamily="34" charset="-120"/>
              </a:rPr>
              <a:t> 「2026년 카드수수료 인하 최저 0.4%, 소상공인 혜택 및 환급 정리」 (2026.4.4 작성 · 8.18 수정)</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7" tooltip="https://www.sisajournal-e.com/news/articleView.html?idxno=411307">
                  <a:extLst>
                    <a:ext uri="{A12FA001-AC4F-418D-AE19-62706E023703}">
                      <ahyp:hlinkClr xmlns:ahyp="http://schemas.microsoft.com/office/drawing/2018/hyperlinkcolor" val="tx"/>
                    </a:ext>
                  </a:extLst>
                </a:hlinkClick>
              </a:rPr>
              <a:t>시사저널e</a:t>
            </a:r>
            <a:r>
              <a:rPr lang="en-US" sz="950" dirty="0">
                <a:solidFill>
                  <a:srgbClr val="3A475C"/>
                </a:solidFill>
                <a:latin typeface="Malgun Gothic" pitchFamily="34" charset="0"/>
                <a:ea typeface="Malgun Gothic" pitchFamily="34" charset="-122"/>
                <a:cs typeface="Malgun Gothic" pitchFamily="34" charset="-120"/>
              </a:rPr>
              <a:t> 「BC카드, 매입업무 의존도 80% 밑으로···사업다각화 결실 맺나」 (2025.4.25)</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8" tooltip="https://www.ceoscoredaily.com/page/view/2025082716442978582">
                  <a:extLst>
                    <a:ext uri="{A12FA001-AC4F-418D-AE19-62706E023703}">
                      <ahyp:hlinkClr xmlns:ahyp="http://schemas.microsoft.com/office/drawing/2018/hyperlinkcolor" val="tx"/>
                    </a:ext>
                  </a:extLst>
                </a:hlinkClick>
              </a:rPr>
              <a:t>CEOSCORE Daily</a:t>
            </a:r>
            <a:r>
              <a:rPr lang="en-US" sz="950" dirty="0">
                <a:solidFill>
                  <a:srgbClr val="3A475C"/>
                </a:solidFill>
                <a:latin typeface="Malgun Gothic" pitchFamily="34" charset="0"/>
                <a:ea typeface="Malgun Gothic" pitchFamily="34" charset="-122"/>
                <a:cs typeface="Malgun Gothic" pitchFamily="34" charset="-120"/>
              </a:rPr>
              <a:t> 「결제망 대행으로 큰 BC카드, 자체카드 사업 ‘속도’…회원 수 2년새 두 배↑」 (2025.8.28)</a:t>
            </a:r>
            <a:endParaRPr lang="en-US" sz="950" dirty="0"/>
          </a:p>
        </p:txBody>
      </p:sp>
      <p:sp>
        <p:nvSpPr>
          <p:cNvPr id="16" name="Shape 12"/>
          <p:cNvSpPr/>
          <p:nvPr/>
        </p:nvSpPr>
        <p:spPr>
          <a:xfrm>
            <a:off x="6199632" y="1737360"/>
            <a:ext cx="5440680" cy="1481328"/>
          </a:xfrm>
          <a:prstGeom prst="roundRect">
            <a:avLst>
              <a:gd name="adj" fmla="val 7407"/>
            </a:avLst>
          </a:prstGeom>
          <a:solidFill>
            <a:srgbClr val="F3F6FB"/>
          </a:solidFill>
          <a:ln w="12700">
            <a:solidFill>
              <a:srgbClr val="F3F6FB"/>
            </a:solidFill>
            <a:prstDash val="solid"/>
          </a:ln>
        </p:spPr>
        <p:txBody>
          <a:bodyPr/>
          <a:lstStyle/>
          <a:p>
            <a:endParaRPr lang="ko-KR" altLang="en-US"/>
          </a:p>
        </p:txBody>
      </p:sp>
      <p:sp>
        <p:nvSpPr>
          <p:cNvPr id="17" name="Shape 13"/>
          <p:cNvSpPr/>
          <p:nvPr/>
        </p:nvSpPr>
        <p:spPr>
          <a:xfrm>
            <a:off x="6382512" y="1847088"/>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18" name="Image 2" descr="preencoded.png"/>
          <p:cNvPicPr>
            <a:picLocks noChangeAspect="1"/>
          </p:cNvPicPr>
          <p:nvPr/>
        </p:nvPicPr>
        <p:blipFill>
          <a:blip r:embed="rId9"/>
          <a:stretch>
            <a:fillRect/>
          </a:stretch>
        </p:blipFill>
        <p:spPr>
          <a:xfrm>
            <a:off x="6448349" y="1912925"/>
            <a:ext cx="160934" cy="160934"/>
          </a:xfrm>
          <a:prstGeom prst="rect">
            <a:avLst/>
          </a:prstGeom>
        </p:spPr>
      </p:pic>
      <p:sp>
        <p:nvSpPr>
          <p:cNvPr id="19" name="Text 14"/>
          <p:cNvSpPr txBox="1"/>
          <p:nvPr/>
        </p:nvSpPr>
        <p:spPr>
          <a:xfrm>
            <a:off x="6766560" y="1847088"/>
            <a:ext cx="4709160" cy="292608"/>
          </a:xfrm>
          <a:prstGeom prst="rect">
            <a:avLst/>
          </a:prstGeom>
          <a:noFill/>
          <a:ln/>
        </p:spPr>
        <p:txBody>
          <a:bodyPr wrap="square" lIns="0" tIns="0" rIns="0" bIns="0" rtlCol="0" anchor="ct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외국인 방문 · 결제 시장 · 대조군 행사</a:t>
            </a:r>
            <a:endParaRPr lang="en-US" sz="1150" dirty="0"/>
          </a:p>
        </p:txBody>
      </p:sp>
      <p:sp>
        <p:nvSpPr>
          <p:cNvPr id="20" name="Text 15"/>
          <p:cNvSpPr txBox="1"/>
          <p:nvPr/>
        </p:nvSpPr>
        <p:spPr>
          <a:xfrm>
            <a:off x="6428232" y="2212848"/>
            <a:ext cx="4983480" cy="932688"/>
          </a:xfrm>
          <a:prstGeom prst="rect">
            <a:avLst/>
          </a:prstGeom>
          <a:noFill/>
          <a:ln/>
        </p:spPr>
        <p:txBody>
          <a:bodyPr wrap="square" lIns="0" tIns="0" rIns="0" bIns="0" rtlCol="0" anchor="t"/>
          <a:lstStyle/>
          <a:p>
            <a:pPr marL="0" indent="0">
              <a:lnSpc>
                <a:spcPct val="108000"/>
              </a:lnSpc>
              <a:spcAft>
                <a:spcPts val="300"/>
              </a:spcAft>
              <a:buNone/>
            </a:pPr>
            <a:r>
              <a:rPr lang="en-US" sz="950" b="1" dirty="0">
                <a:solidFill>
                  <a:srgbClr val="14213D"/>
                </a:solidFill>
                <a:latin typeface="Malgun Gothic" pitchFamily="34" charset="0"/>
                <a:ea typeface="Malgun Gothic" pitchFamily="34" charset="-122"/>
                <a:cs typeface="Malgun Gothic" pitchFamily="34" charset="-120"/>
              </a:rPr>
              <a:t>문화체육관광부 </a:t>
            </a:r>
            <a:r>
              <a:rPr lang="en-US" sz="950" dirty="0">
                <a:solidFill>
                  <a:srgbClr val="3A475C"/>
                </a:solidFill>
                <a:latin typeface="Malgun Gothic" pitchFamily="34" charset="0"/>
                <a:ea typeface="Malgun Gothic" pitchFamily="34" charset="-122"/>
                <a:cs typeface="Malgun Gothic" pitchFamily="34" charset="-120"/>
              </a:rPr>
              <a:t>방한 외래관광객 통계 보도 (1분기 2026.4.14 · 4.16, 상반기 2026.7.28) — </a:t>
            </a:r>
            <a:r>
              <a:rPr lang="en-US" sz="950" b="1" u="sng" dirty="0">
                <a:solidFill>
                  <a:srgbClr val="14213D"/>
                </a:solidFill>
                <a:latin typeface="Malgun Gothic" pitchFamily="34" charset="0"/>
                <a:ea typeface="Malgun Gothic" pitchFamily="34" charset="-122"/>
                <a:cs typeface="Malgun Gothic" pitchFamily="34" charset="-120"/>
                <a:hlinkClick r:id="rId10" tooltip="https://www.etoday.co.kr/news/view/2576276">
                  <a:extLst>
                    <a:ext uri="{A12FA001-AC4F-418D-AE19-62706E023703}">
                      <ahyp:hlinkClr xmlns:ahyp="http://schemas.microsoft.com/office/drawing/2018/hyperlinkcolor" val="tx"/>
                    </a:ext>
                  </a:extLst>
                </a:hlinkClick>
              </a:rPr>
              <a:t>이투데이</a:t>
            </a:r>
            <a:r>
              <a:rPr lang="en-US" sz="950" dirty="0">
                <a:solidFill>
                  <a:srgbClr val="3A475C"/>
                </a:solidFill>
                <a:latin typeface="Malgun Gothic" pitchFamily="34" charset="0"/>
                <a:ea typeface="Malgun Gothic" pitchFamily="34" charset="-122"/>
                <a:cs typeface="Malgun Gothic" pitchFamily="34" charset="-120"/>
              </a:rPr>
              <a:t> 「방한 외래객 476만명…1분기 역대 최대 기록 경신」</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11" tooltip="https://economist.co.kr/article/view/ecn202603310058">
                  <a:extLst>
                    <a:ext uri="{A12FA001-AC4F-418D-AE19-62706E023703}">
                      <ahyp:hlinkClr xmlns:ahyp="http://schemas.microsoft.com/office/drawing/2018/hyperlinkcolor" val="tx"/>
                    </a:ext>
                  </a:extLst>
                </a:hlinkClick>
              </a:rPr>
              <a:t>이코노미스트</a:t>
            </a:r>
            <a:r>
              <a:rPr lang="en-US" sz="950" dirty="0">
                <a:solidFill>
                  <a:srgbClr val="3A475C"/>
                </a:solidFill>
                <a:latin typeface="Malgun Gothic" pitchFamily="34" charset="0"/>
                <a:ea typeface="Malgun Gothic" pitchFamily="34" charset="-122"/>
                <a:cs typeface="Malgun Gothic" pitchFamily="34" charset="-120"/>
              </a:rPr>
              <a:t> 「“와우(WOW)! 너무 편해요”…외국인 관광객 필수템된 이 ‘결제 카드’」 (2026.4.4) — WOWPASS 가입자 · 키오스크 · 매출</a:t>
            </a:r>
            <a:endParaRPr lang="en-US" sz="950" dirty="0"/>
          </a:p>
          <a:p>
            <a:pPr marL="0" indent="0">
              <a:lnSpc>
                <a:spcPct val="108000"/>
              </a:lnSpc>
              <a:spcAft>
                <a:spcPts val="300"/>
              </a:spcAft>
              <a:buNone/>
            </a:pPr>
            <a:r>
              <a:rPr lang="en-US" sz="950" b="1" dirty="0">
                <a:solidFill>
                  <a:srgbClr val="14213D"/>
                </a:solidFill>
                <a:latin typeface="Malgun Gothic" pitchFamily="34" charset="0"/>
                <a:ea typeface="Malgun Gothic" pitchFamily="34" charset="-122"/>
                <a:cs typeface="Malgun Gothic" pitchFamily="34" charset="-120"/>
              </a:rPr>
              <a:t>YTN </a:t>
            </a:r>
            <a:r>
              <a:rPr lang="en-US" sz="950" dirty="0">
                <a:solidFill>
                  <a:srgbClr val="3A475C"/>
                </a:solidFill>
                <a:latin typeface="Malgun Gothic" pitchFamily="34" charset="0"/>
                <a:ea typeface="Malgun Gothic" pitchFamily="34" charset="-122"/>
                <a:cs typeface="Malgun Gothic" pitchFamily="34" charset="-120"/>
              </a:rPr>
              <a:t>보령·AMC 국제 모터페스티벌 사전 보도 (2026.4.24) — 대조군 보령시의 축제월 확인</a:t>
            </a:r>
            <a:endParaRPr lang="en-US" sz="950" dirty="0"/>
          </a:p>
        </p:txBody>
      </p:sp>
      <p:sp>
        <p:nvSpPr>
          <p:cNvPr id="21" name="Shape 16"/>
          <p:cNvSpPr/>
          <p:nvPr/>
        </p:nvSpPr>
        <p:spPr>
          <a:xfrm>
            <a:off x="6199632" y="3355848"/>
            <a:ext cx="5440680" cy="1920240"/>
          </a:xfrm>
          <a:prstGeom prst="roundRect">
            <a:avLst>
              <a:gd name="adj" fmla="val 5714"/>
            </a:avLst>
          </a:prstGeom>
          <a:solidFill>
            <a:srgbClr val="F3F6FB"/>
          </a:solidFill>
          <a:ln w="12700">
            <a:solidFill>
              <a:srgbClr val="F3F6FB"/>
            </a:solidFill>
            <a:prstDash val="solid"/>
          </a:ln>
        </p:spPr>
        <p:txBody>
          <a:bodyPr/>
          <a:lstStyle/>
          <a:p>
            <a:endParaRPr lang="ko-KR" altLang="en-US"/>
          </a:p>
        </p:txBody>
      </p:sp>
      <p:sp>
        <p:nvSpPr>
          <p:cNvPr id="22" name="Shape 17"/>
          <p:cNvSpPr/>
          <p:nvPr/>
        </p:nvSpPr>
        <p:spPr>
          <a:xfrm>
            <a:off x="6382512" y="3465576"/>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23" name="Image 3" descr="preencoded.png"/>
          <p:cNvPicPr>
            <a:picLocks noChangeAspect="1"/>
          </p:cNvPicPr>
          <p:nvPr/>
        </p:nvPicPr>
        <p:blipFill>
          <a:blip r:embed="rId12"/>
          <a:stretch>
            <a:fillRect/>
          </a:stretch>
        </p:blipFill>
        <p:spPr>
          <a:xfrm>
            <a:off x="6448349" y="3531413"/>
            <a:ext cx="160934" cy="160934"/>
          </a:xfrm>
          <a:prstGeom prst="rect">
            <a:avLst/>
          </a:prstGeom>
        </p:spPr>
      </p:pic>
      <p:sp>
        <p:nvSpPr>
          <p:cNvPr id="24" name="Text 18"/>
          <p:cNvSpPr txBox="1"/>
          <p:nvPr/>
        </p:nvSpPr>
        <p:spPr>
          <a:xfrm>
            <a:off x="6766560" y="3465576"/>
            <a:ext cx="4709160" cy="292608"/>
          </a:xfrm>
          <a:prstGeom prst="rect">
            <a:avLst/>
          </a:prstGeom>
          <a:noFill/>
          <a:ln/>
        </p:spPr>
        <p:txBody>
          <a:bodyPr wrap="square" lIns="0" tIns="0" rIns="0" bIns="0" rtlCol="0" anchor="ctr"/>
          <a:lstStyle/>
          <a:p>
            <a:pPr marL="0" indent="0">
              <a:buNone/>
            </a:pPr>
            <a:r>
              <a:rPr lang="en-US" sz="1150" b="1" dirty="0">
                <a:solidFill>
                  <a:srgbClr val="14213D"/>
                </a:solidFill>
                <a:latin typeface="Malgun Gothic" pitchFamily="34" charset="0"/>
                <a:ea typeface="Malgun Gothic" pitchFamily="34" charset="-122"/>
                <a:cs typeface="Malgun Gothic" pitchFamily="34" charset="-120"/>
              </a:rPr>
              <a:t>2026.8.24 협약 (보도 기준)</a:t>
            </a:r>
            <a:endParaRPr lang="en-US" sz="1150" dirty="0"/>
          </a:p>
        </p:txBody>
      </p:sp>
      <p:sp>
        <p:nvSpPr>
          <p:cNvPr id="25" name="Text 19"/>
          <p:cNvSpPr txBox="1"/>
          <p:nvPr/>
        </p:nvSpPr>
        <p:spPr>
          <a:xfrm>
            <a:off x="6428232" y="3831336"/>
            <a:ext cx="4983480" cy="1371600"/>
          </a:xfrm>
          <a:prstGeom prst="rect">
            <a:avLst/>
          </a:prstGeom>
          <a:noFill/>
          <a:ln/>
        </p:spPr>
        <p:txBody>
          <a:bodyPr wrap="square" lIns="0" tIns="0" rIns="0" bIns="0" rtlCol="0" anchor="t"/>
          <a:lstStyle/>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13" tooltip="https://www.newspim.com/news/view/20260825000715">
                  <a:extLst>
                    <a:ext uri="{A12FA001-AC4F-418D-AE19-62706E023703}">
                      <ahyp:hlinkClr xmlns:ahyp="http://schemas.microsoft.com/office/drawing/2018/hyperlinkcolor" val="tx"/>
                    </a:ext>
                  </a:extLst>
                </a:hlinkClick>
              </a:rPr>
              <a:t>뉴스핌</a:t>
            </a:r>
            <a:r>
              <a:rPr lang="en-US" sz="950" dirty="0">
                <a:solidFill>
                  <a:srgbClr val="3A475C"/>
                </a:solidFill>
                <a:latin typeface="Malgun Gothic" pitchFamily="34" charset="0"/>
                <a:ea typeface="Malgun Gothic" pitchFamily="34" charset="-122"/>
                <a:cs typeface="Malgun Gothic" pitchFamily="34" charset="-120"/>
              </a:rPr>
              <a:t> 「BC카드, 유니온페이·네이버페이와 외국인 국내 결제 편의 확대」 (2026.8.25)</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14" tooltip="https://www.asiatoday.co.kr/kn/view.php?key=20260825010008353">
                  <a:extLst>
                    <a:ext uri="{A12FA001-AC4F-418D-AE19-62706E023703}">
                      <ahyp:hlinkClr xmlns:ahyp="http://schemas.microsoft.com/office/drawing/2018/hyperlinkcolor" val="tx"/>
                    </a:ext>
                  </a:extLst>
                </a:hlinkClick>
              </a:rPr>
              <a:t>아시아투데이</a:t>
            </a:r>
            <a:r>
              <a:rPr lang="en-US" sz="950" dirty="0">
                <a:solidFill>
                  <a:srgbClr val="3A475C"/>
                </a:solidFill>
                <a:latin typeface="Malgun Gothic" pitchFamily="34" charset="0"/>
                <a:ea typeface="Malgun Gothic" pitchFamily="34" charset="-122"/>
                <a:cs typeface="Malgun Gothic" pitchFamily="34" charset="-120"/>
              </a:rPr>
              <a:t> 「BC카드, 유니온페이·네이버페이와 외국인 국내 결제 편의 확대 나선다」 (2026.8.25)</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15" tooltip="https://www.g-enews.com/article/Finance/2026/08/202608251658492785e30fcb1ba8_1">
                  <a:extLst>
                    <a:ext uri="{A12FA001-AC4F-418D-AE19-62706E023703}">
                      <ahyp:hlinkClr xmlns:ahyp="http://schemas.microsoft.com/office/drawing/2018/hyperlinkcolor" val="tx"/>
                    </a:ext>
                  </a:extLst>
                </a:hlinkClick>
              </a:rPr>
              <a:t>글로벌이코노믹</a:t>
            </a:r>
            <a:r>
              <a:rPr lang="en-US" sz="950" dirty="0">
                <a:solidFill>
                  <a:srgbClr val="3A475C"/>
                </a:solidFill>
                <a:latin typeface="Malgun Gothic" pitchFamily="34" charset="0"/>
                <a:ea typeface="Malgun Gothic" pitchFamily="34" charset="-122"/>
                <a:cs typeface="Malgun Gothic" pitchFamily="34" charset="-120"/>
              </a:rPr>
              <a:t> 「BC카드, 네이버·유니온페이와 방한 외국인 결제망 확대」 (2026.8.26)</a:t>
            </a:r>
            <a:endParaRPr lang="en-US" sz="950" dirty="0"/>
          </a:p>
          <a:p>
            <a:pPr marL="0" indent="0">
              <a:lnSpc>
                <a:spcPct val="108000"/>
              </a:lnSpc>
              <a:spcAft>
                <a:spcPts val="300"/>
              </a:spcAft>
              <a:buNone/>
            </a:pPr>
            <a:r>
              <a:rPr lang="en-US" sz="950" b="1" u="sng" dirty="0">
                <a:solidFill>
                  <a:srgbClr val="14213D"/>
                </a:solidFill>
                <a:latin typeface="Malgun Gothic" pitchFamily="34" charset="0"/>
                <a:ea typeface="Malgun Gothic" pitchFamily="34" charset="-122"/>
                <a:cs typeface="Malgun Gothic" pitchFamily="34" charset="-120"/>
                <a:hlinkClick r:id="rId16" tooltip="https://edaily.co.kr/News/Read?mediaCodeNo=257&amp;newsId=02912646645550928">
                  <a:extLst>
                    <a:ext uri="{A12FA001-AC4F-418D-AE19-62706E023703}">
                      <ahyp:hlinkClr xmlns:ahyp="http://schemas.microsoft.com/office/drawing/2018/hyperlinkcolor" val="tx"/>
                    </a:ext>
                  </a:extLst>
                </a:hlinkClick>
              </a:rPr>
              <a:t>이데일리</a:t>
            </a:r>
            <a:r>
              <a:rPr lang="en-US" sz="950" dirty="0">
                <a:solidFill>
                  <a:srgbClr val="3A475C"/>
                </a:solidFill>
                <a:latin typeface="Malgun Gothic" pitchFamily="34" charset="0"/>
                <a:ea typeface="Malgun Gothic" pitchFamily="34" charset="-122"/>
                <a:cs typeface="Malgun Gothic" pitchFamily="34" charset="-120"/>
              </a:rPr>
              <a:t> 「네이버페이·BC카드·유니온페이, 방한 외국인 결제 활성화 협력」 (2026.8.25) — 서비스 출시 목표(내년). 협약의 세부 사업 조건은 공개되지 않았다</a:t>
            </a:r>
            <a:endParaRPr lang="en-US" sz="950" dirty="0"/>
          </a:p>
        </p:txBody>
      </p:sp>
      <p:sp>
        <p:nvSpPr>
          <p:cNvPr id="26" name="Shape 20"/>
          <p:cNvSpPr/>
          <p:nvPr/>
        </p:nvSpPr>
        <p:spPr>
          <a:xfrm>
            <a:off x="548640" y="5367528"/>
            <a:ext cx="5440680" cy="667512"/>
          </a:xfrm>
          <a:prstGeom prst="roundRect">
            <a:avLst>
              <a:gd name="adj" fmla="val 16438"/>
            </a:avLst>
          </a:prstGeom>
          <a:solidFill>
            <a:srgbClr val="F3F6FB"/>
          </a:solidFill>
          <a:ln w="12700">
            <a:solidFill>
              <a:srgbClr val="F3F6FB"/>
            </a:solidFill>
            <a:prstDash val="solid"/>
          </a:ln>
        </p:spPr>
        <p:txBody>
          <a:bodyPr/>
          <a:lstStyle/>
          <a:p>
            <a:endParaRPr lang="ko-KR" altLang="en-US"/>
          </a:p>
        </p:txBody>
      </p:sp>
      <p:sp>
        <p:nvSpPr>
          <p:cNvPr id="27" name="Shape 21"/>
          <p:cNvSpPr/>
          <p:nvPr/>
        </p:nvSpPr>
        <p:spPr>
          <a:xfrm>
            <a:off x="731520" y="5532120"/>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28" name="Image 4" descr="preencoded.png"/>
          <p:cNvPicPr>
            <a:picLocks noChangeAspect="1"/>
          </p:cNvPicPr>
          <p:nvPr/>
        </p:nvPicPr>
        <p:blipFill>
          <a:blip r:embed="rId17"/>
          <a:stretch>
            <a:fillRect/>
          </a:stretch>
        </p:blipFill>
        <p:spPr>
          <a:xfrm>
            <a:off x="797357" y="5597957"/>
            <a:ext cx="160934" cy="160934"/>
          </a:xfrm>
          <a:prstGeom prst="rect">
            <a:avLst/>
          </a:prstGeom>
        </p:spPr>
      </p:pic>
      <p:sp>
        <p:nvSpPr>
          <p:cNvPr id="29" name="Text 22"/>
          <p:cNvSpPr txBox="1"/>
          <p:nvPr/>
        </p:nvSpPr>
        <p:spPr>
          <a:xfrm>
            <a:off x="1115568" y="5422392"/>
            <a:ext cx="4709160" cy="219456"/>
          </a:xfrm>
          <a:prstGeom prst="rect">
            <a:avLst/>
          </a:prstGeom>
          <a:noFill/>
          <a:ln/>
        </p:spPr>
        <p:txBody>
          <a:bodyPr wrap="square" lIns="0" tIns="0" rIns="0" bIns="0" rtlCol="0" anchor="ct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계절근로자 입국 (후보 원인 분류)</a:t>
            </a:r>
            <a:endParaRPr lang="en-US" sz="1000" dirty="0"/>
          </a:p>
        </p:txBody>
      </p:sp>
      <p:sp>
        <p:nvSpPr>
          <p:cNvPr id="30" name="Text 23"/>
          <p:cNvSpPr txBox="1"/>
          <p:nvPr/>
        </p:nvSpPr>
        <p:spPr>
          <a:xfrm>
            <a:off x="1115568" y="5641848"/>
            <a:ext cx="4709160" cy="329184"/>
          </a:xfrm>
          <a:prstGeom prst="rect">
            <a:avLst/>
          </a:prstGeom>
          <a:noFill/>
          <a:ln/>
        </p:spPr>
        <p:txBody>
          <a:bodyPr wrap="square" lIns="0" tIns="0" rIns="0" bIns="0" rtlCol="0" anchor="t"/>
          <a:lstStyle/>
          <a:p>
            <a:pPr marL="0" indent="0">
              <a:lnSpc>
                <a:spcPct val="105000"/>
              </a:lnSpc>
              <a:buNone/>
            </a:pPr>
            <a:r>
              <a:rPr lang="en-US" sz="900" dirty="0">
                <a:solidFill>
                  <a:srgbClr val="3A475C"/>
                </a:solidFill>
                <a:latin typeface="Malgun Gothic" pitchFamily="34" charset="0"/>
                <a:ea typeface="Malgun Gothic" pitchFamily="34" charset="-122"/>
                <a:cs typeface="Malgun Gothic" pitchFamily="34" charset="-120"/>
              </a:rPr>
              <a:t>청송 </a:t>
            </a:r>
            <a:r>
              <a:rPr lang="en-US" sz="900" b="1" u="sng" dirty="0">
                <a:solidFill>
                  <a:srgbClr val="14213D"/>
                </a:solidFill>
                <a:latin typeface="Malgun Gothic" pitchFamily="34" charset="0"/>
                <a:ea typeface="Malgun Gothic" pitchFamily="34" charset="-122"/>
                <a:cs typeface="Malgun Gothic" pitchFamily="34" charset="-120"/>
                <a:hlinkClick r:id="rId18" tooltip="https://www.kyongbuk.co.kr/news/articleView.html?idxno=4071365">
                  <a:extLst>
                    <a:ext uri="{A12FA001-AC4F-418D-AE19-62706E023703}">
                      <ahyp:hlinkClr xmlns:ahyp="http://schemas.microsoft.com/office/drawing/2018/hyperlinkcolor" val="tx"/>
                    </a:ext>
                  </a:extLst>
                </a:hlinkClick>
              </a:rPr>
              <a:t>경북일보</a:t>
            </a:r>
            <a:r>
              <a:rPr lang="en-US" sz="900" dirty="0">
                <a:solidFill>
                  <a:srgbClr val="3A475C"/>
                </a:solidFill>
                <a:latin typeface="Malgun Gothic" pitchFamily="34" charset="0"/>
                <a:ea typeface="Malgun Gothic" pitchFamily="34" charset="-122"/>
                <a:cs typeface="Malgun Gothic" pitchFamily="34" charset="-120"/>
              </a:rPr>
              <a:t> 4.29 · 영양 </a:t>
            </a:r>
            <a:r>
              <a:rPr lang="en-US" sz="900" b="1" u="sng" dirty="0">
                <a:solidFill>
                  <a:srgbClr val="14213D"/>
                </a:solidFill>
                <a:latin typeface="Malgun Gothic" pitchFamily="34" charset="0"/>
                <a:ea typeface="Malgun Gothic" pitchFamily="34" charset="-122"/>
                <a:cs typeface="Malgun Gothic" pitchFamily="34" charset="-120"/>
                <a:hlinkClick r:id="rId19" tooltip="https://www.kyongbuk.co.kr/news/articleView.html?idxno=4075282">
                  <a:extLst>
                    <a:ext uri="{A12FA001-AC4F-418D-AE19-62706E023703}">
                      <ahyp:hlinkClr xmlns:ahyp="http://schemas.microsoft.com/office/drawing/2018/hyperlinkcolor" val="tx"/>
                    </a:ext>
                  </a:extLst>
                </a:hlinkClick>
              </a:rPr>
              <a:t>경북일보</a:t>
            </a:r>
            <a:r>
              <a:rPr lang="en-US" sz="900" dirty="0">
                <a:solidFill>
                  <a:srgbClr val="3A475C"/>
                </a:solidFill>
                <a:latin typeface="Malgun Gothic" pitchFamily="34" charset="0"/>
                <a:ea typeface="Malgun Gothic" pitchFamily="34" charset="-122"/>
                <a:cs typeface="Malgun Gothic" pitchFamily="34" charset="-120"/>
              </a:rPr>
              <a:t> 6.12 · 의성 </a:t>
            </a:r>
            <a:r>
              <a:rPr lang="en-US" sz="900" b="1" u="sng" dirty="0">
                <a:solidFill>
                  <a:srgbClr val="14213D"/>
                </a:solidFill>
                <a:latin typeface="Malgun Gothic" pitchFamily="34" charset="0"/>
                <a:ea typeface="Malgun Gothic" pitchFamily="34" charset="-122"/>
                <a:cs typeface="Malgun Gothic" pitchFamily="34" charset="-120"/>
                <a:hlinkClick r:id="rId20" tooltip="https://www.kyongbuk.co.kr/news/articleView.html?idxno=4081736">
                  <a:extLst>
                    <a:ext uri="{A12FA001-AC4F-418D-AE19-62706E023703}">
                      <ahyp:hlinkClr xmlns:ahyp="http://schemas.microsoft.com/office/drawing/2018/hyperlinkcolor" val="tx"/>
                    </a:ext>
                  </a:extLst>
                </a:hlinkClick>
              </a:rPr>
              <a:t>경북일보</a:t>
            </a:r>
            <a:r>
              <a:rPr lang="en-US" sz="900" dirty="0">
                <a:solidFill>
                  <a:srgbClr val="3A475C"/>
                </a:solidFill>
                <a:latin typeface="Malgun Gothic" pitchFamily="34" charset="0"/>
                <a:ea typeface="Malgun Gothic" pitchFamily="34" charset="-122"/>
                <a:cs typeface="Malgun Gothic" pitchFamily="34" charset="-120"/>
              </a:rPr>
              <a:t> 8.21 · 봉화 </a:t>
            </a:r>
            <a:r>
              <a:rPr lang="en-US" sz="900" b="1" u="sng" dirty="0">
                <a:solidFill>
                  <a:srgbClr val="14213D"/>
                </a:solidFill>
                <a:latin typeface="Malgun Gothic" pitchFamily="34" charset="0"/>
                <a:ea typeface="Malgun Gothic" pitchFamily="34" charset="-122"/>
                <a:cs typeface="Malgun Gothic" pitchFamily="34" charset="-120"/>
                <a:hlinkClick r:id="rId21" tooltip="https://www.eroun.net/news/articleView.html?idxno=76343">
                  <a:extLst>
                    <a:ext uri="{A12FA001-AC4F-418D-AE19-62706E023703}">
                      <ahyp:hlinkClr xmlns:ahyp="http://schemas.microsoft.com/office/drawing/2018/hyperlinkcolor" val="tx"/>
                    </a:ext>
                  </a:extLst>
                </a:hlinkClick>
              </a:rPr>
              <a:t>이로운넷</a:t>
            </a:r>
            <a:r>
              <a:rPr lang="en-US" sz="900" dirty="0">
                <a:solidFill>
                  <a:srgbClr val="3A475C"/>
                </a:solidFill>
                <a:latin typeface="Malgun Gothic" pitchFamily="34" charset="0"/>
                <a:ea typeface="Malgun Gothic" pitchFamily="34" charset="-122"/>
                <a:cs typeface="Malgun Gothic" pitchFamily="34" charset="-120"/>
              </a:rPr>
              <a:t> 3.24 · 고성 </a:t>
            </a:r>
            <a:r>
              <a:rPr lang="en-US" sz="900" b="1" u="sng" dirty="0">
                <a:solidFill>
                  <a:srgbClr val="14213D"/>
                </a:solidFill>
                <a:latin typeface="Malgun Gothic" pitchFamily="34" charset="0"/>
                <a:ea typeface="Malgun Gothic" pitchFamily="34" charset="-122"/>
                <a:cs typeface="Malgun Gothic" pitchFamily="34" charset="-120"/>
                <a:hlinkClick r:id="rId22" tooltip="https://www.theuniontimes.co.kr/2067421">
                  <a:extLst>
                    <a:ext uri="{A12FA001-AC4F-418D-AE19-62706E023703}">
                      <ahyp:hlinkClr xmlns:ahyp="http://schemas.microsoft.com/office/drawing/2018/hyperlinkcolor" val="tx"/>
                    </a:ext>
                  </a:extLst>
                </a:hlinkClick>
              </a:rPr>
              <a:t>더연합타임즈</a:t>
            </a:r>
            <a:r>
              <a:rPr lang="en-US" sz="900" dirty="0">
                <a:solidFill>
                  <a:srgbClr val="3A475C"/>
                </a:solidFill>
                <a:latin typeface="Malgun Gothic" pitchFamily="34" charset="0"/>
                <a:ea typeface="Malgun Gothic" pitchFamily="34" charset="-122"/>
                <a:cs typeface="Malgun Gothic" pitchFamily="34" charset="-120"/>
              </a:rPr>
              <a:t> 5.26 · 옹진 </a:t>
            </a:r>
            <a:r>
              <a:rPr lang="en-US" sz="900" b="1" u="sng" dirty="0">
                <a:solidFill>
                  <a:srgbClr val="14213D"/>
                </a:solidFill>
                <a:latin typeface="Malgun Gothic" pitchFamily="34" charset="0"/>
                <a:ea typeface="Malgun Gothic" pitchFamily="34" charset="-122"/>
                <a:cs typeface="Malgun Gothic" pitchFamily="34" charset="-120"/>
                <a:hlinkClick r:id="rId23" tooltip="https://www.naewoeilbo.com/news/articleView.html?idxno=2406137">
                  <a:extLst>
                    <a:ext uri="{A12FA001-AC4F-418D-AE19-62706E023703}">
                      <ahyp:hlinkClr xmlns:ahyp="http://schemas.microsoft.com/office/drawing/2018/hyperlinkcolor" val="tx"/>
                    </a:ext>
                  </a:extLst>
                </a:hlinkClick>
              </a:rPr>
              <a:t>내외일보</a:t>
            </a:r>
            <a:r>
              <a:rPr lang="en-US" sz="900" dirty="0">
                <a:solidFill>
                  <a:srgbClr val="3A475C"/>
                </a:solidFill>
                <a:latin typeface="Malgun Gothic" pitchFamily="34" charset="0"/>
                <a:ea typeface="Malgun Gothic" pitchFamily="34" charset="-122"/>
                <a:cs typeface="Malgun Gothic" pitchFamily="34" charset="-120"/>
              </a:rPr>
              <a:t> 9.1 (모두 2026)</a:t>
            </a:r>
            <a:endParaRPr lang="en-US" sz="900" dirty="0"/>
          </a:p>
        </p:txBody>
      </p:sp>
      <p:sp>
        <p:nvSpPr>
          <p:cNvPr id="31" name="Shape 24"/>
          <p:cNvSpPr/>
          <p:nvPr/>
        </p:nvSpPr>
        <p:spPr>
          <a:xfrm>
            <a:off x="6199632" y="5367528"/>
            <a:ext cx="5440680" cy="667512"/>
          </a:xfrm>
          <a:prstGeom prst="roundRect">
            <a:avLst>
              <a:gd name="adj" fmla="val 16438"/>
            </a:avLst>
          </a:prstGeom>
          <a:solidFill>
            <a:srgbClr val="F3F6FB"/>
          </a:solidFill>
          <a:ln w="12700">
            <a:solidFill>
              <a:srgbClr val="F3F6FB"/>
            </a:solidFill>
            <a:prstDash val="solid"/>
          </a:ln>
        </p:spPr>
        <p:txBody>
          <a:bodyPr/>
          <a:lstStyle/>
          <a:p>
            <a:endParaRPr lang="ko-KR" altLang="en-US"/>
          </a:p>
        </p:txBody>
      </p:sp>
      <p:sp>
        <p:nvSpPr>
          <p:cNvPr id="32" name="Shape 25"/>
          <p:cNvSpPr/>
          <p:nvPr/>
        </p:nvSpPr>
        <p:spPr>
          <a:xfrm>
            <a:off x="6382512" y="5532120"/>
            <a:ext cx="292608" cy="292608"/>
          </a:xfrm>
          <a:prstGeom prst="ellipse">
            <a:avLst/>
          </a:prstGeom>
          <a:solidFill>
            <a:srgbClr val="0B1B33"/>
          </a:solidFill>
          <a:ln w="12700">
            <a:solidFill>
              <a:srgbClr val="0B1B33"/>
            </a:solidFill>
            <a:prstDash val="solid"/>
          </a:ln>
        </p:spPr>
        <p:txBody>
          <a:bodyPr/>
          <a:lstStyle/>
          <a:p>
            <a:endParaRPr lang="ko-KR" altLang="en-US"/>
          </a:p>
        </p:txBody>
      </p:sp>
      <p:pic>
        <p:nvPicPr>
          <p:cNvPr id="33" name="Image 5" descr="preencoded.png"/>
          <p:cNvPicPr>
            <a:picLocks noChangeAspect="1"/>
          </p:cNvPicPr>
          <p:nvPr/>
        </p:nvPicPr>
        <p:blipFill>
          <a:blip r:embed="rId24"/>
          <a:stretch>
            <a:fillRect/>
          </a:stretch>
        </p:blipFill>
        <p:spPr>
          <a:xfrm>
            <a:off x="6448349" y="5597957"/>
            <a:ext cx="160934" cy="160934"/>
          </a:xfrm>
          <a:prstGeom prst="rect">
            <a:avLst/>
          </a:prstGeom>
        </p:spPr>
      </p:pic>
      <p:sp>
        <p:nvSpPr>
          <p:cNvPr id="34" name="Text 26"/>
          <p:cNvSpPr txBox="1"/>
          <p:nvPr/>
        </p:nvSpPr>
        <p:spPr>
          <a:xfrm>
            <a:off x="6766560" y="5422392"/>
            <a:ext cx="4709160" cy="219456"/>
          </a:xfrm>
          <a:prstGeom prst="rect">
            <a:avLst/>
          </a:prstGeom>
          <a:noFill/>
          <a:ln/>
        </p:spPr>
        <p:txBody>
          <a:bodyPr wrap="square" lIns="0" tIns="0" rIns="0" bIns="0" rtlCol="0" anchor="ctr"/>
          <a:lstStyle/>
          <a:p>
            <a:pPr marL="0" indent="0">
              <a:buNone/>
            </a:pPr>
            <a:r>
              <a:rPr lang="en-US" sz="1000" b="1" dirty="0">
                <a:solidFill>
                  <a:srgbClr val="14213D"/>
                </a:solidFill>
                <a:latin typeface="Malgun Gothic" pitchFamily="34" charset="0"/>
                <a:ea typeface="Malgun Gothic" pitchFamily="34" charset="-122"/>
                <a:cs typeface="Malgun Gothic" pitchFamily="34" charset="-120"/>
              </a:rPr>
              <a:t>분석 도구</a:t>
            </a:r>
            <a:endParaRPr lang="en-US" sz="1000" dirty="0"/>
          </a:p>
        </p:txBody>
      </p:sp>
      <p:sp>
        <p:nvSpPr>
          <p:cNvPr id="35" name="Text 27"/>
          <p:cNvSpPr txBox="1"/>
          <p:nvPr/>
        </p:nvSpPr>
        <p:spPr>
          <a:xfrm>
            <a:off x="6766560" y="5641848"/>
            <a:ext cx="4709160" cy="329184"/>
          </a:xfrm>
          <a:prstGeom prst="rect">
            <a:avLst/>
          </a:prstGeom>
          <a:noFill/>
          <a:ln/>
        </p:spPr>
        <p:txBody>
          <a:bodyPr wrap="square" lIns="0" tIns="0" rIns="0" bIns="0" rtlCol="0" anchor="t"/>
          <a:lstStyle/>
          <a:p>
            <a:pPr marL="0" indent="0">
              <a:lnSpc>
                <a:spcPct val="105000"/>
              </a:lnSpc>
              <a:buNone/>
            </a:pPr>
            <a:r>
              <a:rPr lang="en-US" sz="900" b="1" dirty="0">
                <a:solidFill>
                  <a:srgbClr val="14213D"/>
                </a:solidFill>
                <a:latin typeface="Malgun Gothic" pitchFamily="34" charset="0"/>
                <a:ea typeface="Malgun Gothic" pitchFamily="34" charset="-122"/>
                <a:cs typeface="Malgun Gothic" pitchFamily="34" charset="-120"/>
              </a:rPr>
              <a:t>Python </a:t>
            </a:r>
            <a:r>
              <a:rPr lang="en-US" sz="900" dirty="0">
                <a:solidFill>
                  <a:srgbClr val="3A475C"/>
                </a:solidFill>
                <a:latin typeface="Malgun Gothic" pitchFamily="34" charset="0"/>
                <a:ea typeface="Malgun Gothic" pitchFamily="34" charset="-122"/>
                <a:cs typeface="Malgun Gothic" pitchFamily="34" charset="-120"/>
              </a:rPr>
              <a:t>pandas · numpy · scipy(Spearman · Pearson · Mann-Whitney · Kruskal-Wallis · Shapiro-Wilk) · matplotlib, Google Colab</a:t>
            </a:r>
            <a:endParaRPr lang="en-US" sz="900" dirty="0"/>
          </a:p>
        </p:txBody>
      </p:sp>
      <p:sp>
        <p:nvSpPr>
          <p:cNvPr id="36" name="Text 28"/>
          <p:cNvSpPr txBox="1"/>
          <p:nvPr/>
        </p:nvSpPr>
        <p:spPr>
          <a:xfrm>
            <a:off x="548640" y="6108192"/>
            <a:ext cx="11091672" cy="274320"/>
          </a:xfrm>
          <a:prstGeom prst="rect">
            <a:avLst/>
          </a:prstGeom>
          <a:noFill/>
          <a:ln/>
        </p:spPr>
        <p:txBody>
          <a:bodyPr wrap="square" lIns="0" tIns="0" rIns="0" bIns="0" rtlCol="0" anchor="b"/>
          <a:lstStyle/>
          <a:p>
            <a:pPr marL="0" indent="0">
              <a:buNone/>
            </a:pPr>
            <a:r>
              <a:rPr lang="en-US" sz="900" dirty="0">
                <a:solidFill>
                  <a:srgbClr val="8391A5"/>
                </a:solidFill>
                <a:latin typeface="Malgun Gothic" pitchFamily="34" charset="0"/>
                <a:ea typeface="Malgun Gothic" pitchFamily="34" charset="-122"/>
                <a:cs typeface="Malgun Gothic" pitchFamily="34" charset="-120"/>
              </a:rPr>
              <a:t>※ 링크는 매체명에 걸려 있다. 수치·날짜는 본문에서 확인한 범위만 옮겼고, 기사 원문의 다른 내용은 인용하지 않았다.</a:t>
            </a:r>
            <a:endParaRPr lang="en-US" sz="900" dirty="0"/>
          </a:p>
        </p:txBody>
      </p:sp>
      <p:sp>
        <p:nvSpPr>
          <p:cNvPr id="37" name="Text 29"/>
          <p:cNvSpPr txBox="1"/>
          <p:nvPr/>
        </p:nvSpPr>
        <p:spPr>
          <a:xfrm>
            <a:off x="548640" y="6455664"/>
            <a:ext cx="6400800" cy="201168"/>
          </a:xfrm>
          <a:prstGeom prst="rect">
            <a:avLst/>
          </a:prstGeom>
          <a:noFill/>
          <a:ln/>
        </p:spPr>
        <p:txBody>
          <a:bodyPr wrap="square" lIns="0" tIns="0" rIns="0" bIns="0" rtlCol="0" anchor="ctr"/>
          <a:lstStyle/>
          <a:p>
            <a:pPr marL="0" indent="0">
              <a:buNone/>
            </a:pPr>
            <a:r>
              <a:rPr lang="en-US" sz="900" dirty="0">
                <a:solidFill>
                  <a:srgbClr val="94A3B8"/>
                </a:solidFill>
                <a:latin typeface="Malgun Gothic" pitchFamily="34" charset="0"/>
                <a:ea typeface="Malgun Gothic" pitchFamily="34" charset="-122"/>
                <a:cs typeface="Malgun Gothic" pitchFamily="34" charset="-120"/>
              </a:rPr>
              <a:t>BC카드 소비데이터 활용 분석·아이디어 공모전  ·  윤서영</a:t>
            </a:r>
            <a:endParaRPr lang="en-US" sz="900" dirty="0"/>
          </a:p>
        </p:txBody>
      </p:sp>
      <p:sp>
        <p:nvSpPr>
          <p:cNvPr id="38" name="Text 30"/>
          <p:cNvSpPr txBox="1"/>
          <p:nvPr/>
        </p:nvSpPr>
        <p:spPr>
          <a:xfrm>
            <a:off x="10725912" y="6455664"/>
            <a:ext cx="914400" cy="201168"/>
          </a:xfrm>
          <a:prstGeom prst="rect">
            <a:avLst/>
          </a:prstGeom>
          <a:noFill/>
          <a:ln/>
        </p:spPr>
        <p:txBody>
          <a:bodyPr wrap="square" lIns="0" tIns="0" rIns="0" bIns="0" rtlCol="0" anchor="ctr"/>
          <a:lstStyle/>
          <a:p>
            <a:pPr marL="0" indent="0" algn="r">
              <a:buNone/>
            </a:pPr>
            <a:r>
              <a:rPr lang="en-US" sz="900" dirty="0">
                <a:solidFill>
                  <a:srgbClr val="94A3B8"/>
                </a:solidFill>
                <a:latin typeface="Malgun Gothic" pitchFamily="34" charset="0"/>
                <a:ea typeface="Malgun Gothic" pitchFamily="34" charset="-122"/>
                <a:cs typeface="Malgun Gothic" pitchFamily="34" charset="-120"/>
              </a:rPr>
              <a:t>42 / 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15213</Words>
  <Application>Microsoft Office PowerPoint</Application>
  <PresentationFormat>와이드스크린</PresentationFormat>
  <Paragraphs>1464</Paragraphs>
  <Slides>42</Slides>
  <Notes>42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42</vt:i4>
      </vt:variant>
    </vt:vector>
  </HeadingPairs>
  <TitlesOfParts>
    <vt:vector size="45"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충북대학교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SNS보다 카드가 먼저 안다 — 외국인 인바운드 로컬 디스커버리</dc:title>
  <dc:subject>제1회 AI금융빅데이터플랫폼 소비데이터 활용 분석·아이디어 공모전</dc:subject>
  <dc:creator>윤서영</dc:creator>
  <cp:lastModifiedBy>윤서영</cp:lastModifiedBy>
  <cp:revision>5</cp:revision>
  <dcterms:created xsi:type="dcterms:W3CDTF">2026-09-22T05:31:18Z</dcterms:created>
  <dcterms:modified xsi:type="dcterms:W3CDTF">2026-09-22T08:03:31Z</dcterms:modified>
</cp:coreProperties>
</file>